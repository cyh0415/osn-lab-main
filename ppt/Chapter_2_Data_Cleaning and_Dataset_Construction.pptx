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9"/>
  </p:notesMasterIdLst>
  <p:sldIdLst>
    <p:sldId id="259" r:id="rId3"/>
    <p:sldId id="256" r:id="rId4"/>
    <p:sldId id="260" r:id="rId5"/>
    <p:sldId id="262" r:id="rId6"/>
    <p:sldId id="263" r:id="rId7"/>
    <p:sldId id="265" r:id="rId8"/>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ED"/>
    <a:srgbClr val="AFABAB"/>
    <a:srgbClr val="595959"/>
    <a:srgbClr val="10B981"/>
    <a:srgbClr val="3B82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38603" autoAdjust="0"/>
  </p:normalViewPr>
  <p:slideViewPr>
    <p:cSldViewPr snapToGrid="0">
      <p:cViewPr varScale="1">
        <p:scale>
          <a:sx n="36" d="100"/>
          <a:sy n="36" d="100"/>
        </p:scale>
        <p:origin x="544" y="32"/>
      </p:cViewPr>
      <p:guideLst>
        <p:guide orient="horz" pos="1620"/>
        <p:guide pos="2880"/>
      </p:guideLst>
    </p:cSldViewPr>
  </p:slideViewPr>
  <p:notesTextViewPr>
    <p:cViewPr>
      <p:scale>
        <a:sx n="1" d="1"/>
        <a:sy n="1" d="1"/>
      </p:scale>
      <p:origin x="0" y="0"/>
    </p:cViewPr>
  </p:notesTextViewPr>
  <p:notesViewPr>
    <p:cSldViewPr snapToGrid="0">
      <p:cViewPr varScale="1">
        <p:scale>
          <a:sx n="71" d="100"/>
          <a:sy n="71" d="100"/>
        </p:scale>
        <p:origin x="3540"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22.06.2026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dirty="0"/>
              <a:t>In this section, I will introduce the data cleaning and dataset construction stage of our project.</a:t>
            </a:r>
            <a:br>
              <a:rPr lang="en-US" altLang="zh-CN" dirty="0"/>
            </a:br>
            <a:r>
              <a:rPr lang="en-US" altLang="zh-CN" dirty="0"/>
              <a:t>The goal of this stage is to turn the raw questionnaire collection records into a structured, clean, and auditable dataset.</a:t>
            </a:r>
          </a:p>
          <a:p>
            <a:r>
              <a:rPr lang="en-US" altLang="zh-CN" dirty="0"/>
              <a:t>This part has a clear boundary. We do not perform feature encoding, label transformation, or model training here. Instead, we focus on standardizing the collected records, validating their structure, handling missing values, and producing reproducible train and test datasets.</a:t>
            </a:r>
          </a:p>
          <a:p>
            <a:r>
              <a:rPr lang="en-US" altLang="zh-CN" dirty="0"/>
              <a:t>After validation and consistency checks, we retained 1,265 clean samples. These samples were split into 1,012 training rows and 253 test rows. All cleaning-stage integrity checks passed, and upstream anomalies or conflicts were preserved in audit files for traceability.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dirty="0"/>
              <a:t>This slide shows the validation pipeline from raw JSONL records to valid samples.</a:t>
            </a:r>
          </a:p>
          <a:p>
            <a:r>
              <a:rPr lang="en-US" altLang="zh-CN" dirty="0"/>
              <a:t>The input records contain questionnaire states and rating outputs. First, we check the structural schema, including the schema version, sample ID, category, and required fields. Then, we validate answer consistency, making sure radio and checkbox selections match the recorded explicit answers.</a:t>
            </a:r>
          </a:p>
          <a:p>
            <a:r>
              <a:rPr lang="en-US" altLang="zh-CN" dirty="0"/>
              <a:t>Next, we use the questionnaire dependency graph to recompute active branches. This helps detect skipped child questions or inactive questions that should not appear in a sample. Finally, we check rating completeness by app category. For example, game samples include additional regions such as Australia, Saudi Arabia, and Taiwan.</a:t>
            </a:r>
          </a:p>
          <a:p>
            <a:r>
              <a:rPr lang="en-US" altLang="zh-CN" dirty="0"/>
              <a:t>As a result, 1,265 records were retained, with zero validation errors in this cleaning stage and zero unexpected blank output cells.</a:t>
            </a:r>
          </a:p>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1334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dirty="0"/>
              <a:t>This slide summarizes how we handled duplicates, anomalies, and missing values.</a:t>
            </a:r>
          </a:p>
          <a:p>
            <a:r>
              <a:rPr lang="en-US" altLang="zh-CN" dirty="0"/>
              <a:t>For deduplication, we did not compare only the explicit answer list. Instead, we used the complete questionnaire state as the duplicate key. Exact duplicate groups retain one record, while samples with the same questionnaire state but different rating outputs are treated as rating conflicts and excluded as a group.</a:t>
            </a:r>
          </a:p>
          <a:p>
            <a:r>
              <a:rPr lang="en-US" altLang="zh-CN" dirty="0"/>
              <a:t>For anomaly audit, this cleaning stage did not newly exclude any sample from the current clean dataset. However, upstream anomalies are still preserved for transparency, including 30 category anomalies and 13 upstream rating conflicts.</a:t>
            </a:r>
          </a:p>
          <a:p>
            <a:r>
              <a:rPr lang="en-US" altLang="zh-CN" dirty="0"/>
              <a:t>For missing values, we did not use mean or mode imputation. Instead, structural missingness is explicitly marked using __INACTIVE__, __NOT_APPLICABLE__, and __NONE__, so every special value has a documented meaning.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73618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dirty="0"/>
              <a:t>After validation and cleaning, the nested questionnaire records are flattened into a unified wide-table format.</a:t>
            </a:r>
          </a:p>
          <a:p>
            <a:r>
              <a:rPr lang="en-US" altLang="zh-CN" dirty="0"/>
              <a:t>Each row represents one cleaned questionnaire sample. The table contains sample identifiers, the app category, normalized questionnaire answers, and regional rating outputs. The answer__* columns store standardized questionnaire responses. For radio questions, the selected option is kept directly. For checkbox questions, multiple selected options are joined using the || delimiter.</a:t>
            </a:r>
          </a:p>
          <a:p>
            <a:r>
              <a:rPr lang="en-US" altLang="zh-CN" dirty="0"/>
              <a:t>The rating__* columns store the original regional rating labels returned by the questionnaire result page. These are output labels, not cleaned answer fields.</a:t>
            </a:r>
          </a:p>
          <a:p>
            <a:r>
              <a:rPr lang="en-US" altLang="zh-CN" dirty="0"/>
              <a:t>In total, the schema includes 164 answer columns and 10 regional rating columns. The full cleaned dataset contains a split column, while train.csv and test.csv share identical column structures.</a:t>
            </a:r>
          </a:p>
          <a:p>
            <a:pPr marL="0" indent="0" algn="l">
              <a:lnSpc>
                <a:spcPct val="100000"/>
              </a:lnSpc>
            </a:pPr>
            <a:endParaRPr lang="en-US" sz="14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dirty="0"/>
              <a:t>The final step of this stage is to produce a reproducible train and test split.</a:t>
            </a:r>
          </a:p>
          <a:p>
            <a:r>
              <a:rPr lang="en-US" altLang="zh-CN" dirty="0"/>
              <a:t>From the 1,265 clean samples, we generated 1,012 training rows and 253 test rows. The split uses deterministic stratified holdout. The stratification is based on app category and the North America rating label, with a 20% test ratio. This makes the split reproducible while preserving the main category and rating distribution.</a:t>
            </a:r>
          </a:p>
          <a:p>
            <a:r>
              <a:rPr lang="en-US" altLang="zh-CN" dirty="0"/>
              <a:t>The category distribution is also recorded: 616 samples are from All Other App Types, 633 are Game samples, and 16 are Social or Communication samples.</a:t>
            </a:r>
          </a:p>
          <a:p>
            <a:r>
              <a:rPr lang="en-US" altLang="zh-CN" dirty="0"/>
              <a:t>The delivered artifacts include the cleaned dataset, the train/test split, field documentation, and audit evidence. Together, these outputs provide clean rows, traceable exclusions, consistent field names, and reproducible splits for the following stages of the project.</a:t>
            </a:r>
          </a:p>
          <a:p>
            <a:pPr marL="0" indent="0" algn="l">
              <a:lnSpc>
                <a:spcPct val="100000"/>
              </a:lnSpc>
            </a:pPr>
            <a:endParaRPr lang="en-US" sz="14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70239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1048581" name="标题 1"/>
          <p:cNvSpPr>
            <a:spLocks noGrp="1"/>
          </p:cNvSpPr>
          <p:nvPr>
            <p:ph type="title"/>
          </p:nvPr>
        </p:nvSpPr>
        <p:spPr/>
        <p:txBody>
          <a:bodyPr/>
          <a:lstStyle/>
          <a:p>
            <a:r>
              <a:rPr lang="zh-CN" altLang="en-US"/>
              <a:t>单击此处编辑母版标题样式</a:t>
            </a:r>
          </a:p>
        </p:txBody>
      </p:sp>
      <p:sp>
        <p:nvSpPr>
          <p:cNvPr id="1048582"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83" name="日期占位符 3"/>
          <p:cNvSpPr>
            <a:spLocks noGrp="1"/>
          </p:cNvSpPr>
          <p:nvPr>
            <p:ph type="dt" sz="half" idx="10"/>
          </p:nvPr>
        </p:nvSpPr>
        <p:spPr/>
        <p:txBody>
          <a:bodyPr/>
          <a:lstStyle/>
          <a:p>
            <a:fld id="{4AABA10D-2B2D-471A-9601-27474E66AA77}" type="datetimeFigureOut">
              <a:rPr lang="zh-CN" altLang="en-US" smtClean="0"/>
              <a:t>2026/6/22</a:t>
            </a:fld>
            <a:endParaRPr lang="zh-CN" altLang="en-US"/>
          </a:p>
        </p:txBody>
      </p:sp>
      <p:sp>
        <p:nvSpPr>
          <p:cNvPr id="1048584" name="页脚占位符 4"/>
          <p:cNvSpPr>
            <a:spLocks noGrp="1"/>
          </p:cNvSpPr>
          <p:nvPr>
            <p:ph type="ftr" sz="quarter" idx="11"/>
          </p:nvPr>
        </p:nvSpPr>
        <p:spPr/>
        <p:txBody>
          <a:bodyPr/>
          <a:lstStyle/>
          <a:p>
            <a:endParaRPr lang="zh-CN" altLang="en-US"/>
          </a:p>
        </p:txBody>
      </p:sp>
      <p:sp>
        <p:nvSpPr>
          <p:cNvPr id="1048585" name="灯片编号占位符 5"/>
          <p:cNvSpPr>
            <a:spLocks noGrp="1"/>
          </p:cNvSpPr>
          <p:nvPr>
            <p:ph type="sldNum" sz="quarter" idx="12"/>
          </p:nvPr>
        </p:nvSpPr>
        <p:spPr/>
        <p:txBody>
          <a:bodyPr/>
          <a:lstStyle/>
          <a:p>
            <a:fld id="{B8EC629E-8DEA-4C3D-8B15-BEE892BCF927}" type="slidenum">
              <a:rPr lang="zh-CN" altLang="en-US" smtClean="0"/>
              <a:t>‹#›</a:t>
            </a:fld>
            <a:endParaRPr lang="zh-CN" altLang="en-US"/>
          </a:p>
        </p:txBody>
      </p:sp>
    </p:spTree>
    <p:extLst>
      <p:ext uri="{BB962C8B-B14F-4D97-AF65-F5344CB8AC3E}">
        <p14:creationId xmlns:p14="http://schemas.microsoft.com/office/powerpoint/2010/main" val="876805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 id="215748370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任意多边形 3"/>
          <p:cNvSpPr/>
          <p:nvPr/>
        </p:nvSpPr>
        <p:spPr>
          <a:xfrm rot="16872204">
            <a:off x="1095680" y="2934035"/>
            <a:ext cx="2679375" cy="1489619"/>
          </a:xfrm>
          <a:custGeom>
            <a:avLst/>
            <a:gdLst>
              <a:gd name="connsiteX0" fmla="*/ 0 w 1010195"/>
              <a:gd name="connsiteY0" fmla="*/ 0 h 217714"/>
              <a:gd name="connsiteX1" fmla="*/ 8709 w 1010195"/>
              <a:gd name="connsiteY1" fmla="*/ 217714 h 217714"/>
              <a:gd name="connsiteX2" fmla="*/ 1010195 w 1010195"/>
              <a:gd name="connsiteY2" fmla="*/ 87086 h 217714"/>
              <a:gd name="connsiteX3" fmla="*/ 0 w 1010195"/>
              <a:gd name="connsiteY3" fmla="*/ 0 h 217714"/>
              <a:gd name="connsiteX0-1" fmla="*/ 0 w 1017338"/>
              <a:gd name="connsiteY0-2" fmla="*/ 0 h 217714"/>
              <a:gd name="connsiteX1-3" fmla="*/ 8709 w 1017338"/>
              <a:gd name="connsiteY1-4" fmla="*/ 217714 h 217714"/>
              <a:gd name="connsiteX2-5" fmla="*/ 1017338 w 1017338"/>
              <a:gd name="connsiteY2-6" fmla="*/ 87086 h 217714"/>
              <a:gd name="connsiteX3-7" fmla="*/ 0 w 1017338"/>
              <a:gd name="connsiteY3-8" fmla="*/ 0 h 217714"/>
              <a:gd name="connsiteX0-1-1" fmla="*/ 0 w 1017338"/>
              <a:gd name="connsiteY0-2-2" fmla="*/ 0 h 248457"/>
              <a:gd name="connsiteX1-3-3" fmla="*/ 98341 w 1017338"/>
              <a:gd name="connsiteY1-4-4" fmla="*/ 248457 h 248457"/>
              <a:gd name="connsiteX2-5-5" fmla="*/ 1017338 w 1017338"/>
              <a:gd name="connsiteY2-6-6" fmla="*/ 87086 h 248457"/>
              <a:gd name="connsiteX3-7-7" fmla="*/ 0 w 1017338"/>
              <a:gd name="connsiteY3-8-8" fmla="*/ 0 h 248457"/>
              <a:gd name="connsiteX0-9" fmla="*/ 0 w 1041847"/>
              <a:gd name="connsiteY0-10" fmla="*/ 0 h 264949"/>
              <a:gd name="connsiteX1-11" fmla="*/ 122850 w 1041847"/>
              <a:gd name="connsiteY1-12" fmla="*/ 264949 h 264949"/>
              <a:gd name="connsiteX2-13" fmla="*/ 1041847 w 1041847"/>
              <a:gd name="connsiteY2-14" fmla="*/ 103578 h 264949"/>
              <a:gd name="connsiteX3-15" fmla="*/ 0 w 1041847"/>
              <a:gd name="connsiteY3-16" fmla="*/ 0 h 264949"/>
              <a:gd name="connsiteX0-17" fmla="*/ 0 w 1041847"/>
              <a:gd name="connsiteY0-18" fmla="*/ 0 h 252106"/>
              <a:gd name="connsiteX1-19" fmla="*/ 188050 w 1041847"/>
              <a:gd name="connsiteY1-20" fmla="*/ 252106 h 252106"/>
              <a:gd name="connsiteX2-21" fmla="*/ 1041847 w 1041847"/>
              <a:gd name="connsiteY2-22" fmla="*/ 103578 h 252106"/>
              <a:gd name="connsiteX3-23" fmla="*/ 0 w 1041847"/>
              <a:gd name="connsiteY3-24" fmla="*/ 0 h 252106"/>
              <a:gd name="connsiteX0-25" fmla="*/ 0 w 1041847"/>
              <a:gd name="connsiteY0-26" fmla="*/ 0 h 269441"/>
              <a:gd name="connsiteX1-27" fmla="*/ 182425 w 1041847"/>
              <a:gd name="connsiteY1-28" fmla="*/ 269441 h 269441"/>
              <a:gd name="connsiteX2-29" fmla="*/ 1041847 w 1041847"/>
              <a:gd name="connsiteY2-30" fmla="*/ 103578 h 269441"/>
              <a:gd name="connsiteX3-31" fmla="*/ 0 w 1041847"/>
              <a:gd name="connsiteY3-32" fmla="*/ 0 h 269441"/>
            </a:gdLst>
            <a:ahLst/>
            <a:cxnLst>
              <a:cxn ang="0">
                <a:pos x="connsiteX0-1-1" y="connsiteY0-2-2"/>
              </a:cxn>
              <a:cxn ang="0">
                <a:pos x="connsiteX1-3-3" y="connsiteY1-4-4"/>
              </a:cxn>
              <a:cxn ang="0">
                <a:pos x="connsiteX2-5-5" y="connsiteY2-6-6"/>
              </a:cxn>
              <a:cxn ang="0">
                <a:pos x="connsiteX3-7-7" y="connsiteY3-8-8"/>
              </a:cxn>
            </a:cxnLst>
            <a:rect l="l" t="t" r="r" b="b"/>
            <a:pathLst>
              <a:path w="1041847" h="269441">
                <a:moveTo>
                  <a:pt x="0" y="0"/>
                </a:moveTo>
                <a:lnTo>
                  <a:pt x="182425" y="269441"/>
                </a:lnTo>
                <a:lnTo>
                  <a:pt x="1041847" y="103578"/>
                </a:lnTo>
                <a:lnTo>
                  <a:pt x="0" y="0"/>
                </a:lnTo>
                <a:close/>
              </a:path>
            </a:pathLst>
          </a:custGeom>
          <a:gradFill>
            <a:gsLst>
              <a:gs pos="0">
                <a:schemeClr val="accent3">
                  <a:lumMod val="89000"/>
                </a:schemeClr>
              </a:gs>
              <a:gs pos="22000">
                <a:schemeClr val="accent3">
                  <a:lumMod val="75000"/>
                </a:schemeClr>
              </a:gs>
              <a:gs pos="63000">
                <a:schemeClr val="bg2">
                  <a:lumMod val="2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FFFFFF"/>
              </a:solidFill>
              <a:latin typeface="Arial" panose="020B0604020202020204"/>
              <a:ea typeface="微软雅黑" panose="020B0503020204020204" pitchFamily="34" charset="-122"/>
            </a:endParaRPr>
          </a:p>
        </p:txBody>
      </p:sp>
      <p:sp>
        <p:nvSpPr>
          <p:cNvPr id="1048608" name="任意多边形 5"/>
          <p:cNvSpPr/>
          <p:nvPr/>
        </p:nvSpPr>
        <p:spPr>
          <a:xfrm>
            <a:off x="9101921" y="4739894"/>
            <a:ext cx="1762818" cy="825844"/>
          </a:xfrm>
          <a:custGeom>
            <a:avLst/>
            <a:gdLst>
              <a:gd name="connsiteX0" fmla="*/ 0 w 1670050"/>
              <a:gd name="connsiteY0" fmla="*/ 666750 h 666750"/>
              <a:gd name="connsiteX1" fmla="*/ 139700 w 1670050"/>
              <a:gd name="connsiteY1" fmla="*/ 0 h 666750"/>
              <a:gd name="connsiteX2" fmla="*/ 1670050 w 1670050"/>
              <a:gd name="connsiteY2" fmla="*/ 12700 h 666750"/>
              <a:gd name="connsiteX3" fmla="*/ 0 w 1670050"/>
              <a:gd name="connsiteY3" fmla="*/ 666750 h 666750"/>
              <a:gd name="connsiteX0-1" fmla="*/ 0 w 1676400"/>
              <a:gd name="connsiteY0-2" fmla="*/ 666750 h 666750"/>
              <a:gd name="connsiteX1-3" fmla="*/ 139700 w 1676400"/>
              <a:gd name="connsiteY1-4" fmla="*/ 0 h 666750"/>
              <a:gd name="connsiteX2-5" fmla="*/ 1676400 w 1676400"/>
              <a:gd name="connsiteY2-6" fmla="*/ 38100 h 666750"/>
              <a:gd name="connsiteX3-7" fmla="*/ 0 w 1676400"/>
              <a:gd name="connsiteY3-8" fmla="*/ 666750 h 666750"/>
              <a:gd name="connsiteX0-9" fmla="*/ 0 w 1668780"/>
              <a:gd name="connsiteY0-10" fmla="*/ 666750 h 666750"/>
              <a:gd name="connsiteX1-11" fmla="*/ 139700 w 1668780"/>
              <a:gd name="connsiteY1-12" fmla="*/ 0 h 666750"/>
              <a:gd name="connsiteX2-13" fmla="*/ 1668780 w 1668780"/>
              <a:gd name="connsiteY2-14" fmla="*/ 22860 h 666750"/>
              <a:gd name="connsiteX3-15" fmla="*/ 0 w 1668780"/>
              <a:gd name="connsiteY3-16" fmla="*/ 666750 h 666750"/>
              <a:gd name="connsiteX0-1-1" fmla="*/ 0 w 1668780"/>
              <a:gd name="connsiteY0-2-2" fmla="*/ 666750 h 666750"/>
              <a:gd name="connsiteX1-3-3" fmla="*/ 139700 w 1668780"/>
              <a:gd name="connsiteY1-4-4" fmla="*/ 0 h 666750"/>
              <a:gd name="connsiteX2-5-5" fmla="*/ 1668780 w 1668780"/>
              <a:gd name="connsiteY2-6-6" fmla="*/ 83463 h 666750"/>
              <a:gd name="connsiteX3-7-7" fmla="*/ 0 w 1668780"/>
              <a:gd name="connsiteY3-8-8" fmla="*/ 666750 h 666750"/>
              <a:gd name="connsiteX0-9-9" fmla="*/ 0 w 1722808"/>
              <a:gd name="connsiteY0-10-10" fmla="*/ 681901 h 681901"/>
              <a:gd name="connsiteX1-11-11" fmla="*/ 193728 w 1722808"/>
              <a:gd name="connsiteY1-12-12" fmla="*/ 0 h 681901"/>
              <a:gd name="connsiteX2-13-13" fmla="*/ 1722808 w 1722808"/>
              <a:gd name="connsiteY2-14-14" fmla="*/ 83463 h 681901"/>
              <a:gd name="connsiteX3-15-15" fmla="*/ 0 w 1722808"/>
              <a:gd name="connsiteY3-16-16" fmla="*/ 681901 h 681901"/>
            </a:gdLst>
            <a:ahLst/>
            <a:cxnLst>
              <a:cxn ang="0">
                <a:pos x="connsiteX0-1-1" y="connsiteY0-2-2"/>
              </a:cxn>
              <a:cxn ang="0">
                <a:pos x="connsiteX1-3-3" y="connsiteY1-4-4"/>
              </a:cxn>
              <a:cxn ang="0">
                <a:pos x="connsiteX2-5-5" y="connsiteY2-6-6"/>
              </a:cxn>
              <a:cxn ang="0">
                <a:pos x="connsiteX3-7-7" y="connsiteY3-8-8"/>
              </a:cxn>
            </a:cxnLst>
            <a:rect l="l" t="t" r="r" b="b"/>
            <a:pathLst>
              <a:path w="1722808" h="681901">
                <a:moveTo>
                  <a:pt x="0" y="681901"/>
                </a:moveTo>
                <a:lnTo>
                  <a:pt x="193728" y="0"/>
                </a:lnTo>
                <a:lnTo>
                  <a:pt x="1722808" y="83463"/>
                </a:lnTo>
                <a:lnTo>
                  <a:pt x="0" y="681901"/>
                </a:lnTo>
                <a:close/>
              </a:path>
            </a:pathLst>
          </a:custGeom>
          <a:gradFill>
            <a:gsLst>
              <a:gs pos="23000">
                <a:schemeClr val="bg2">
                  <a:lumMod val="25000"/>
                </a:schemeClr>
              </a:gs>
              <a:gs pos="62000">
                <a:schemeClr val="accent3">
                  <a:lumMod val="43000"/>
                </a:schemeClr>
              </a:gs>
              <a:gs pos="100000">
                <a:schemeClr val="accent3">
                  <a:lumMod val="70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FFFFFF"/>
              </a:solidFill>
              <a:latin typeface="Arial" panose="020B0604020202020204"/>
              <a:ea typeface="微软雅黑" panose="020B0503020204020204" pitchFamily="34" charset="-122"/>
            </a:endParaRPr>
          </a:p>
        </p:txBody>
      </p:sp>
      <p:sp>
        <p:nvSpPr>
          <p:cNvPr id="1048609" name="任意多边形 4"/>
          <p:cNvSpPr/>
          <p:nvPr/>
        </p:nvSpPr>
        <p:spPr>
          <a:xfrm>
            <a:off x="1411354" y="2665244"/>
            <a:ext cx="9479512" cy="2182507"/>
          </a:xfrm>
          <a:custGeom>
            <a:avLst/>
            <a:gdLst>
              <a:gd name="connsiteX0" fmla="*/ 899160 w 6408420"/>
              <a:gd name="connsiteY0" fmla="*/ 0 h 2240280"/>
              <a:gd name="connsiteX1" fmla="*/ 6134100 w 6408420"/>
              <a:gd name="connsiteY1" fmla="*/ 15240 h 2240280"/>
              <a:gd name="connsiteX2" fmla="*/ 6408420 w 6408420"/>
              <a:gd name="connsiteY2" fmla="*/ 2240280 h 2240280"/>
              <a:gd name="connsiteX3" fmla="*/ 0 w 6408420"/>
              <a:gd name="connsiteY3" fmla="*/ 2240280 h 2240280"/>
              <a:gd name="connsiteX4" fmla="*/ 1013460 w 6408420"/>
              <a:gd name="connsiteY4" fmla="*/ 2095500 h 2240280"/>
              <a:gd name="connsiteX5" fmla="*/ 899160 w 6408420"/>
              <a:gd name="connsiteY5" fmla="*/ 0 h 2240280"/>
              <a:gd name="connsiteX0-1" fmla="*/ 892810 w 6402070"/>
              <a:gd name="connsiteY0-2" fmla="*/ 0 h 2240280"/>
              <a:gd name="connsiteX1-3" fmla="*/ 6127750 w 6402070"/>
              <a:gd name="connsiteY1-4" fmla="*/ 15240 h 2240280"/>
              <a:gd name="connsiteX2-5" fmla="*/ 6402070 w 6402070"/>
              <a:gd name="connsiteY2-6" fmla="*/ 2240280 h 2240280"/>
              <a:gd name="connsiteX3-7" fmla="*/ 0 w 6402070"/>
              <a:gd name="connsiteY3-8" fmla="*/ 2227580 h 2240280"/>
              <a:gd name="connsiteX4-9" fmla="*/ 1007110 w 6402070"/>
              <a:gd name="connsiteY4-10" fmla="*/ 2095500 h 2240280"/>
              <a:gd name="connsiteX5-11" fmla="*/ 892810 w 6402070"/>
              <a:gd name="connsiteY5-12" fmla="*/ 0 h 2240280"/>
              <a:gd name="connsiteX0-13" fmla="*/ 892810 w 6402070"/>
              <a:gd name="connsiteY0-14" fmla="*/ 0 h 2240280"/>
              <a:gd name="connsiteX1-15" fmla="*/ 6127750 w 6402070"/>
              <a:gd name="connsiteY1-16" fmla="*/ 15240 h 2240280"/>
              <a:gd name="connsiteX2-17" fmla="*/ 6402070 w 6402070"/>
              <a:gd name="connsiteY2-18" fmla="*/ 2240280 h 2240280"/>
              <a:gd name="connsiteX3-19" fmla="*/ 0 w 6402070"/>
              <a:gd name="connsiteY3-20" fmla="*/ 2227580 h 2240280"/>
              <a:gd name="connsiteX4-21" fmla="*/ 988060 w 6402070"/>
              <a:gd name="connsiteY4-22" fmla="*/ 2051050 h 2240280"/>
              <a:gd name="connsiteX5-23" fmla="*/ 892810 w 6402070"/>
              <a:gd name="connsiteY5-24" fmla="*/ 0 h 224028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402070" h="2240280">
                <a:moveTo>
                  <a:pt x="892810" y="0"/>
                </a:moveTo>
                <a:lnTo>
                  <a:pt x="6127750" y="15240"/>
                </a:lnTo>
                <a:lnTo>
                  <a:pt x="6402070" y="2240280"/>
                </a:lnTo>
                <a:lnTo>
                  <a:pt x="0" y="2227580"/>
                </a:lnTo>
                <a:lnTo>
                  <a:pt x="988060" y="2051050"/>
                </a:lnTo>
                <a:lnTo>
                  <a:pt x="892810" y="0"/>
                </a:lnTo>
                <a:close/>
              </a:path>
            </a:pathLst>
          </a:custGeom>
          <a:solidFill>
            <a:schemeClr val="accent1">
              <a:lumMod val="75000"/>
            </a:schemeClr>
          </a:solidFill>
          <a:ln>
            <a:noFill/>
          </a:ln>
          <a:effectLst>
            <a:outerShdw blurRad="25400" dist="254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ltLang="zh-CN" sz="32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汉仪雅酷黑-85J" panose="00020600040101010101" charset="-122"/>
              <a:ea typeface="汉仪雅酷黑-85J" panose="00020600040101010101" charset="-122"/>
              <a:cs typeface="汉仪雅酷黑-85J" panose="00020600040101010101" charset="-122"/>
            </a:endParaRPr>
          </a:p>
        </p:txBody>
      </p:sp>
      <p:sp>
        <p:nvSpPr>
          <p:cNvPr id="1048610" name="任意多边形 2"/>
          <p:cNvSpPr/>
          <p:nvPr/>
        </p:nvSpPr>
        <p:spPr>
          <a:xfrm>
            <a:off x="184" y="1776649"/>
            <a:ext cx="2893125" cy="2861146"/>
          </a:xfrm>
          <a:custGeom>
            <a:avLst/>
            <a:gdLst>
              <a:gd name="connsiteX0" fmla="*/ 0 w 2438400"/>
              <a:gd name="connsiteY0" fmla="*/ 0 h 2400300"/>
              <a:gd name="connsiteX1" fmla="*/ 2413000 w 2438400"/>
              <a:gd name="connsiteY1" fmla="*/ 139700 h 2400300"/>
              <a:gd name="connsiteX2" fmla="*/ 2438400 w 2438400"/>
              <a:gd name="connsiteY2" fmla="*/ 2400300 h 2400300"/>
              <a:gd name="connsiteX3" fmla="*/ 12700 w 2438400"/>
              <a:gd name="connsiteY3" fmla="*/ 2222500 h 2400300"/>
              <a:gd name="connsiteX4" fmla="*/ 0 w 2438400"/>
              <a:gd name="connsiteY4" fmla="*/ 0 h 2400300"/>
              <a:gd name="connsiteX0-1" fmla="*/ 9896 w 2448296"/>
              <a:gd name="connsiteY0-2" fmla="*/ 0 h 2400300"/>
              <a:gd name="connsiteX1-3" fmla="*/ 2422896 w 2448296"/>
              <a:gd name="connsiteY1-4" fmla="*/ 139700 h 2400300"/>
              <a:gd name="connsiteX2-5" fmla="*/ 2448296 w 2448296"/>
              <a:gd name="connsiteY2-6" fmla="*/ 2400300 h 2400300"/>
              <a:gd name="connsiteX3-7" fmla="*/ 659 w 2448296"/>
              <a:gd name="connsiteY3-8" fmla="*/ 2214986 h 2400300"/>
              <a:gd name="connsiteX4-9" fmla="*/ 9896 w 2448296"/>
              <a:gd name="connsiteY4-10" fmla="*/ 0 h 2400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48296" h="2400300">
                <a:moveTo>
                  <a:pt x="9896" y="0"/>
                </a:moveTo>
                <a:lnTo>
                  <a:pt x="2422896" y="139700"/>
                </a:lnTo>
                <a:lnTo>
                  <a:pt x="2448296" y="2400300"/>
                </a:lnTo>
                <a:lnTo>
                  <a:pt x="659" y="2214986"/>
                </a:lnTo>
                <a:cubicBezTo>
                  <a:pt x="-3574" y="1478386"/>
                  <a:pt x="14129" y="749300"/>
                  <a:pt x="9896" y="0"/>
                </a:cubicBezTo>
                <a:close/>
              </a:path>
            </a:pathLst>
          </a:custGeom>
          <a:solidFill>
            <a:srgbClr val="AFABAB"/>
          </a:solidFill>
          <a:ln>
            <a:noFill/>
          </a:ln>
          <a:effectLst>
            <a:outerShdw blurRad="736600" dist="330200" dir="2400000" sx="95000" sy="95000" algn="l" rotWithShape="0">
              <a:schemeClr val="accent1">
                <a:lumMod val="50000"/>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1048611" name="任意多边形 6"/>
          <p:cNvSpPr/>
          <p:nvPr/>
        </p:nvSpPr>
        <p:spPr>
          <a:xfrm>
            <a:off x="9073112" y="2590534"/>
            <a:ext cx="3118706" cy="2975205"/>
          </a:xfrm>
          <a:custGeom>
            <a:avLst/>
            <a:gdLst>
              <a:gd name="connsiteX0" fmla="*/ 2997200 w 2997200"/>
              <a:gd name="connsiteY0" fmla="*/ 0 h 3028950"/>
              <a:gd name="connsiteX1" fmla="*/ 2997200 w 2997200"/>
              <a:gd name="connsiteY1" fmla="*/ 2540000 h 3028950"/>
              <a:gd name="connsiteX2" fmla="*/ 0 w 2997200"/>
              <a:gd name="connsiteY2" fmla="*/ 3028950 h 3028950"/>
              <a:gd name="connsiteX3" fmla="*/ 1676400 w 2997200"/>
              <a:gd name="connsiteY3" fmla="*/ 2362200 h 3028950"/>
              <a:gd name="connsiteX4" fmla="*/ 1536700 w 2997200"/>
              <a:gd name="connsiteY4" fmla="*/ 1460500 h 3028950"/>
              <a:gd name="connsiteX5" fmla="*/ 2997200 w 2997200"/>
              <a:gd name="connsiteY5" fmla="*/ 0 h 3028950"/>
              <a:gd name="connsiteX0-1" fmla="*/ 2997200 w 2997200"/>
              <a:gd name="connsiteY0-2" fmla="*/ 0 h 3028950"/>
              <a:gd name="connsiteX1-3" fmla="*/ 2997200 w 2997200"/>
              <a:gd name="connsiteY1-4" fmla="*/ 2540000 h 3028950"/>
              <a:gd name="connsiteX2-5" fmla="*/ 0 w 2997200"/>
              <a:gd name="connsiteY2-6" fmla="*/ 3028950 h 3028950"/>
              <a:gd name="connsiteX3-7" fmla="*/ 1644650 w 2997200"/>
              <a:gd name="connsiteY3-8" fmla="*/ 2362200 h 3028950"/>
              <a:gd name="connsiteX4-9" fmla="*/ 1536700 w 2997200"/>
              <a:gd name="connsiteY4-10" fmla="*/ 1460500 h 3028950"/>
              <a:gd name="connsiteX5-11" fmla="*/ 2997200 w 2997200"/>
              <a:gd name="connsiteY5-12" fmla="*/ 0 h 3028950"/>
              <a:gd name="connsiteX0-13" fmla="*/ 3009900 w 3009900"/>
              <a:gd name="connsiteY0-14" fmla="*/ 0 h 3028950"/>
              <a:gd name="connsiteX1-15" fmla="*/ 3009900 w 3009900"/>
              <a:gd name="connsiteY1-16" fmla="*/ 2540000 h 3028950"/>
              <a:gd name="connsiteX2-17" fmla="*/ 0 w 3009900"/>
              <a:gd name="connsiteY2-18" fmla="*/ 3028950 h 3028950"/>
              <a:gd name="connsiteX3-19" fmla="*/ 1657350 w 3009900"/>
              <a:gd name="connsiteY3-20" fmla="*/ 2362200 h 3028950"/>
              <a:gd name="connsiteX4-21" fmla="*/ 1549400 w 3009900"/>
              <a:gd name="connsiteY4-22" fmla="*/ 1460500 h 3028950"/>
              <a:gd name="connsiteX5-23" fmla="*/ 3009900 w 3009900"/>
              <a:gd name="connsiteY5-24" fmla="*/ 0 h 3028950"/>
              <a:gd name="connsiteX0-1-1" fmla="*/ 3009900 w 3009900"/>
              <a:gd name="connsiteY0-2-2" fmla="*/ 0 h 3028950"/>
              <a:gd name="connsiteX1-3-3" fmla="*/ 3009900 w 3009900"/>
              <a:gd name="connsiteY1-4-4" fmla="*/ 2540000 h 3028950"/>
              <a:gd name="connsiteX2-5-5" fmla="*/ 0 w 3009900"/>
              <a:gd name="connsiteY2-6-6" fmla="*/ 3028950 h 3028950"/>
              <a:gd name="connsiteX3-7-7" fmla="*/ 1657350 w 3009900"/>
              <a:gd name="connsiteY3-8-8" fmla="*/ 2362200 h 3028950"/>
              <a:gd name="connsiteX4-9-9" fmla="*/ 1469369 w 3009900"/>
              <a:gd name="connsiteY4-10-10" fmla="*/ 1382526 h 3028950"/>
              <a:gd name="connsiteX5-11-11" fmla="*/ 3009900 w 3009900"/>
              <a:gd name="connsiteY5-12-12" fmla="*/ 0 h 3028950"/>
              <a:gd name="connsiteX0-13-13" fmla="*/ 3009900 w 3009900"/>
              <a:gd name="connsiteY0-14-14" fmla="*/ 0 h 3028950"/>
              <a:gd name="connsiteX1-15-15" fmla="*/ 3009900 w 3009900"/>
              <a:gd name="connsiteY1-16-16" fmla="*/ 2540000 h 3028950"/>
              <a:gd name="connsiteX2-17-17" fmla="*/ 0 w 3009900"/>
              <a:gd name="connsiteY2-18-18" fmla="*/ 3028950 h 3028950"/>
              <a:gd name="connsiteX3-19-19" fmla="*/ 1621780 w 3009900"/>
              <a:gd name="connsiteY3-20-20" fmla="*/ 2274478 h 3028950"/>
              <a:gd name="connsiteX4-21-21" fmla="*/ 1469369 w 3009900"/>
              <a:gd name="connsiteY4-22-22" fmla="*/ 1382526 h 3028950"/>
              <a:gd name="connsiteX5-23-23" fmla="*/ 3009900 w 3009900"/>
              <a:gd name="connsiteY5-24-24" fmla="*/ 0 h 3028950"/>
              <a:gd name="connsiteX0-25" fmla="*/ 3009900 w 3009900"/>
              <a:gd name="connsiteY0-26" fmla="*/ 0 h 3028950"/>
              <a:gd name="connsiteX1-27" fmla="*/ 3009900 w 3009900"/>
              <a:gd name="connsiteY1-28" fmla="*/ 2540000 h 3028950"/>
              <a:gd name="connsiteX2-29" fmla="*/ 0 w 3009900"/>
              <a:gd name="connsiteY2-30" fmla="*/ 3028950 h 3028950"/>
              <a:gd name="connsiteX3-31" fmla="*/ 1621780 w 3009900"/>
              <a:gd name="connsiteY3-32" fmla="*/ 2209096 h 3028950"/>
              <a:gd name="connsiteX4-33" fmla="*/ 1469369 w 3009900"/>
              <a:gd name="connsiteY4-34" fmla="*/ 1382526 h 3028950"/>
              <a:gd name="connsiteX5-35" fmla="*/ 3009900 w 3009900"/>
              <a:gd name="connsiteY5-36" fmla="*/ 0 h 3028950"/>
              <a:gd name="connsiteX0-37" fmla="*/ 3009900 w 3009900"/>
              <a:gd name="connsiteY0-38" fmla="*/ 0 h 3028950"/>
              <a:gd name="connsiteX1-39" fmla="*/ 3009900 w 3009900"/>
              <a:gd name="connsiteY1-40" fmla="*/ 2540000 h 3028950"/>
              <a:gd name="connsiteX2-41" fmla="*/ 0 w 3009900"/>
              <a:gd name="connsiteY2-42" fmla="*/ 3028950 h 3028950"/>
              <a:gd name="connsiteX3-43" fmla="*/ 1621780 w 3009900"/>
              <a:gd name="connsiteY3-44" fmla="*/ 2209096 h 3028950"/>
              <a:gd name="connsiteX4-45" fmla="*/ 1576077 w 3009900"/>
              <a:gd name="connsiteY4-46" fmla="*/ 1354505 h 3028950"/>
              <a:gd name="connsiteX5-47" fmla="*/ 3009900 w 3009900"/>
              <a:gd name="connsiteY5-48" fmla="*/ 0 h 3028950"/>
              <a:gd name="connsiteX0-49" fmla="*/ 3009900 w 3009900"/>
              <a:gd name="connsiteY0-50" fmla="*/ 0 h 3028950"/>
              <a:gd name="connsiteX1-51" fmla="*/ 3009900 w 3009900"/>
              <a:gd name="connsiteY1-52" fmla="*/ 2540000 h 3028950"/>
              <a:gd name="connsiteX2-53" fmla="*/ 0 w 3009900"/>
              <a:gd name="connsiteY2-54" fmla="*/ 3028950 h 3028950"/>
              <a:gd name="connsiteX3-55" fmla="*/ 1755165 w 3009900"/>
              <a:gd name="connsiteY3-56" fmla="*/ 2405243 h 3028950"/>
              <a:gd name="connsiteX4-57" fmla="*/ 1576077 w 3009900"/>
              <a:gd name="connsiteY4-58" fmla="*/ 1354505 h 3028950"/>
              <a:gd name="connsiteX5-59" fmla="*/ 3009900 w 3009900"/>
              <a:gd name="connsiteY5-60" fmla="*/ 0 h 3028950"/>
              <a:gd name="connsiteX0-61" fmla="*/ 3009900 w 3009900"/>
              <a:gd name="connsiteY0-62" fmla="*/ 0 h 3028950"/>
              <a:gd name="connsiteX1-63" fmla="*/ 3009900 w 3009900"/>
              <a:gd name="connsiteY1-64" fmla="*/ 2540000 h 3028950"/>
              <a:gd name="connsiteX2-65" fmla="*/ 0 w 3009900"/>
              <a:gd name="connsiteY2-66" fmla="*/ 3028950 h 3028950"/>
              <a:gd name="connsiteX3-67" fmla="*/ 1719596 w 3009900"/>
              <a:gd name="connsiteY3-68" fmla="*/ 2302500 h 3028950"/>
              <a:gd name="connsiteX4-69" fmla="*/ 1576077 w 3009900"/>
              <a:gd name="connsiteY4-70" fmla="*/ 1354505 h 3028950"/>
              <a:gd name="connsiteX5-71" fmla="*/ 3009900 w 3009900"/>
              <a:gd name="connsiteY5-72" fmla="*/ 0 h 3028950"/>
              <a:gd name="connsiteX0-73" fmla="*/ 3009900 w 3009900"/>
              <a:gd name="connsiteY0-74" fmla="*/ 0 h 3028950"/>
              <a:gd name="connsiteX1-75" fmla="*/ 3009900 w 3009900"/>
              <a:gd name="connsiteY1-76" fmla="*/ 2540000 h 3028950"/>
              <a:gd name="connsiteX2-77" fmla="*/ 0 w 3009900"/>
              <a:gd name="connsiteY2-78" fmla="*/ 3028950 h 3028950"/>
              <a:gd name="connsiteX3-79" fmla="*/ 1719596 w 3009900"/>
              <a:gd name="connsiteY3-80" fmla="*/ 2302500 h 3028950"/>
              <a:gd name="connsiteX4-81" fmla="*/ 1549400 w 3009900"/>
              <a:gd name="connsiteY4-82" fmla="*/ 1382525 h 3028950"/>
              <a:gd name="connsiteX5-83" fmla="*/ 3009900 w 3009900"/>
              <a:gd name="connsiteY5-84" fmla="*/ 0 h 3028950"/>
              <a:gd name="connsiteX0-85" fmla="*/ 3009900 w 3009900"/>
              <a:gd name="connsiteY0-86" fmla="*/ 0 h 3028950"/>
              <a:gd name="connsiteX1-87" fmla="*/ 3009900 w 3009900"/>
              <a:gd name="connsiteY1-88" fmla="*/ 2540000 h 3028950"/>
              <a:gd name="connsiteX2-89" fmla="*/ 0 w 3009900"/>
              <a:gd name="connsiteY2-90" fmla="*/ 3028950 h 3028950"/>
              <a:gd name="connsiteX3-91" fmla="*/ 1675135 w 3009900"/>
              <a:gd name="connsiteY3-92" fmla="*/ 2302500 h 3028950"/>
              <a:gd name="connsiteX4-93" fmla="*/ 1549400 w 3009900"/>
              <a:gd name="connsiteY4-94" fmla="*/ 1382525 h 3028950"/>
              <a:gd name="connsiteX5-95" fmla="*/ 3009900 w 3009900"/>
              <a:gd name="connsiteY5-96" fmla="*/ 0 h 3028950"/>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11" y="connsiteY5-12-12"/>
              </a:cxn>
            </a:cxnLst>
            <a:rect l="l" t="t" r="r" b="b"/>
            <a:pathLst>
              <a:path w="3009900" h="3028950">
                <a:moveTo>
                  <a:pt x="3009900" y="0"/>
                </a:moveTo>
                <a:lnTo>
                  <a:pt x="3009900" y="2540000"/>
                </a:lnTo>
                <a:lnTo>
                  <a:pt x="0" y="3028950"/>
                </a:lnTo>
                <a:lnTo>
                  <a:pt x="1675135" y="2302500"/>
                </a:lnTo>
                <a:lnTo>
                  <a:pt x="1549400" y="1382525"/>
                </a:lnTo>
                <a:lnTo>
                  <a:pt x="3009900" y="0"/>
                </a:lnTo>
                <a:close/>
              </a:path>
            </a:pathLst>
          </a:custGeom>
          <a:gradFill>
            <a:gsLst>
              <a:gs pos="12000">
                <a:schemeClr val="accent1">
                  <a:lumMod val="50000"/>
                </a:schemeClr>
              </a:gs>
              <a:gs pos="92000">
                <a:schemeClr val="accent1">
                  <a:lumMod val="7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pic>
        <p:nvPicPr>
          <p:cNvPr id="2097162" name="图片 7"/>
          <p:cNvPicPr>
            <a:picLocks noChangeAspect="1"/>
          </p:cNvPicPr>
          <p:nvPr/>
        </p:nvPicPr>
        <p:blipFill rotWithShape="1">
          <a:blip r:embed="rId2"/>
          <a:srcRect l="15806" t="13440" r="18511" b="11972"/>
          <a:stretch>
            <a:fillRect/>
          </a:stretch>
        </p:blipFill>
        <p:spPr>
          <a:xfrm>
            <a:off x="251950" y="2096308"/>
            <a:ext cx="2385019" cy="2154768"/>
          </a:xfrm>
          <a:prstGeom prst="rect">
            <a:avLst/>
          </a:prstGeom>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7135" y="139700"/>
            <a:ext cx="3365500" cy="1301750"/>
          </a:xfrm>
          <a:prstGeom prst="rect">
            <a:avLst/>
          </a:prstGeom>
        </p:spPr>
      </p:pic>
      <p:sp>
        <p:nvSpPr>
          <p:cNvPr id="3" name="文本框 2"/>
          <p:cNvSpPr txBox="1"/>
          <p:nvPr/>
        </p:nvSpPr>
        <p:spPr>
          <a:xfrm>
            <a:off x="2893060" y="2978785"/>
            <a:ext cx="9371330" cy="1108075"/>
          </a:xfrm>
          <a:prstGeom prst="rect">
            <a:avLst/>
          </a:prstGeom>
          <a:noFill/>
        </p:spPr>
        <p:txBody>
          <a:bodyPr wrap="square" rtlCol="0">
            <a:noAutofit/>
          </a:bodyPr>
          <a:lstStyle/>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Chapter 4: </a:t>
            </a:r>
          </a:p>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Machine Learning Model Training &amp; Evaluation</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Algorithm Benchmarking: </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From High-Dimensional Sparse Features to Age Rating Prediction</a:t>
            </a:r>
          </a:p>
        </p:txBody>
      </p:sp>
      <p:sp>
        <p:nvSpPr>
          <p:cNvPr id="4" name="任意多边形 4"/>
          <p:cNvSpPr/>
          <p:nvPr/>
        </p:nvSpPr>
        <p:spPr>
          <a:xfrm>
            <a:off x="1411989" y="2665244"/>
            <a:ext cx="9479512" cy="2182507"/>
          </a:xfrm>
          <a:custGeom>
            <a:avLst/>
            <a:gdLst>
              <a:gd name="connsiteX0" fmla="*/ 899160 w 6408420"/>
              <a:gd name="connsiteY0" fmla="*/ 0 h 2240280"/>
              <a:gd name="connsiteX1" fmla="*/ 6134100 w 6408420"/>
              <a:gd name="connsiteY1" fmla="*/ 15240 h 2240280"/>
              <a:gd name="connsiteX2" fmla="*/ 6408420 w 6408420"/>
              <a:gd name="connsiteY2" fmla="*/ 2240280 h 2240280"/>
              <a:gd name="connsiteX3" fmla="*/ 0 w 6408420"/>
              <a:gd name="connsiteY3" fmla="*/ 2240280 h 2240280"/>
              <a:gd name="connsiteX4" fmla="*/ 1013460 w 6408420"/>
              <a:gd name="connsiteY4" fmla="*/ 2095500 h 2240280"/>
              <a:gd name="connsiteX5" fmla="*/ 899160 w 6408420"/>
              <a:gd name="connsiteY5" fmla="*/ 0 h 2240280"/>
              <a:gd name="connsiteX0-1" fmla="*/ 892810 w 6402070"/>
              <a:gd name="connsiteY0-2" fmla="*/ 0 h 2240280"/>
              <a:gd name="connsiteX1-3" fmla="*/ 6127750 w 6402070"/>
              <a:gd name="connsiteY1-4" fmla="*/ 15240 h 2240280"/>
              <a:gd name="connsiteX2-5" fmla="*/ 6402070 w 6402070"/>
              <a:gd name="connsiteY2-6" fmla="*/ 2240280 h 2240280"/>
              <a:gd name="connsiteX3-7" fmla="*/ 0 w 6402070"/>
              <a:gd name="connsiteY3-8" fmla="*/ 2227580 h 2240280"/>
              <a:gd name="connsiteX4-9" fmla="*/ 1007110 w 6402070"/>
              <a:gd name="connsiteY4-10" fmla="*/ 2095500 h 2240280"/>
              <a:gd name="connsiteX5-11" fmla="*/ 892810 w 6402070"/>
              <a:gd name="connsiteY5-12" fmla="*/ 0 h 2240280"/>
              <a:gd name="connsiteX0-13" fmla="*/ 892810 w 6402070"/>
              <a:gd name="connsiteY0-14" fmla="*/ 0 h 2240280"/>
              <a:gd name="connsiteX1-15" fmla="*/ 6127750 w 6402070"/>
              <a:gd name="connsiteY1-16" fmla="*/ 15240 h 2240280"/>
              <a:gd name="connsiteX2-17" fmla="*/ 6402070 w 6402070"/>
              <a:gd name="connsiteY2-18" fmla="*/ 2240280 h 2240280"/>
              <a:gd name="connsiteX3-19" fmla="*/ 0 w 6402070"/>
              <a:gd name="connsiteY3-20" fmla="*/ 2227580 h 2240280"/>
              <a:gd name="connsiteX4-21" fmla="*/ 988060 w 6402070"/>
              <a:gd name="connsiteY4-22" fmla="*/ 2051050 h 2240280"/>
              <a:gd name="connsiteX5-23" fmla="*/ 892810 w 6402070"/>
              <a:gd name="connsiteY5-24" fmla="*/ 0 h 224028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402070" h="2240280">
                <a:moveTo>
                  <a:pt x="892810" y="0"/>
                </a:moveTo>
                <a:lnTo>
                  <a:pt x="6127750" y="15240"/>
                </a:lnTo>
                <a:lnTo>
                  <a:pt x="6402070" y="2240280"/>
                </a:lnTo>
                <a:lnTo>
                  <a:pt x="0" y="2227580"/>
                </a:lnTo>
                <a:lnTo>
                  <a:pt x="988060" y="2051050"/>
                </a:lnTo>
                <a:lnTo>
                  <a:pt x="892810" y="0"/>
                </a:lnTo>
                <a:close/>
              </a:path>
            </a:pathLst>
          </a:custGeom>
          <a:solidFill>
            <a:schemeClr val="accent1">
              <a:lumMod val="75000"/>
            </a:schemeClr>
          </a:solidFill>
          <a:ln>
            <a:noFill/>
          </a:ln>
          <a:effectLst>
            <a:outerShdw blurRad="25400" dist="25400" algn="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en-US" altLang="zh-CN" sz="32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汉仪雅酷黑-85J" panose="00020600040101010101" charset="-122"/>
              <a:ea typeface="汉仪雅酷黑-85J" panose="00020600040101010101" charset="-122"/>
              <a:cs typeface="汉仪雅酷黑-85J" panose="00020600040101010101" charset="-122"/>
            </a:endParaRPr>
          </a:p>
        </p:txBody>
      </p:sp>
      <p:sp>
        <p:nvSpPr>
          <p:cNvPr id="5" name="任意多边形 2"/>
          <p:cNvSpPr/>
          <p:nvPr/>
        </p:nvSpPr>
        <p:spPr>
          <a:xfrm>
            <a:off x="819" y="1776649"/>
            <a:ext cx="2893125" cy="2861146"/>
          </a:xfrm>
          <a:custGeom>
            <a:avLst/>
            <a:gdLst>
              <a:gd name="connsiteX0" fmla="*/ 0 w 2438400"/>
              <a:gd name="connsiteY0" fmla="*/ 0 h 2400300"/>
              <a:gd name="connsiteX1" fmla="*/ 2413000 w 2438400"/>
              <a:gd name="connsiteY1" fmla="*/ 139700 h 2400300"/>
              <a:gd name="connsiteX2" fmla="*/ 2438400 w 2438400"/>
              <a:gd name="connsiteY2" fmla="*/ 2400300 h 2400300"/>
              <a:gd name="connsiteX3" fmla="*/ 12700 w 2438400"/>
              <a:gd name="connsiteY3" fmla="*/ 2222500 h 2400300"/>
              <a:gd name="connsiteX4" fmla="*/ 0 w 2438400"/>
              <a:gd name="connsiteY4" fmla="*/ 0 h 2400300"/>
              <a:gd name="connsiteX0-1" fmla="*/ 9896 w 2448296"/>
              <a:gd name="connsiteY0-2" fmla="*/ 0 h 2400300"/>
              <a:gd name="connsiteX1-3" fmla="*/ 2422896 w 2448296"/>
              <a:gd name="connsiteY1-4" fmla="*/ 139700 h 2400300"/>
              <a:gd name="connsiteX2-5" fmla="*/ 2448296 w 2448296"/>
              <a:gd name="connsiteY2-6" fmla="*/ 2400300 h 2400300"/>
              <a:gd name="connsiteX3-7" fmla="*/ 659 w 2448296"/>
              <a:gd name="connsiteY3-8" fmla="*/ 2214986 h 2400300"/>
              <a:gd name="connsiteX4-9" fmla="*/ 9896 w 2448296"/>
              <a:gd name="connsiteY4-10" fmla="*/ 0 h 24003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48296" h="2400300">
                <a:moveTo>
                  <a:pt x="9896" y="0"/>
                </a:moveTo>
                <a:lnTo>
                  <a:pt x="2422896" y="139700"/>
                </a:lnTo>
                <a:lnTo>
                  <a:pt x="2448296" y="2400300"/>
                </a:lnTo>
                <a:lnTo>
                  <a:pt x="659" y="2214986"/>
                </a:lnTo>
                <a:cubicBezTo>
                  <a:pt x="-3574" y="1478386"/>
                  <a:pt x="14129" y="749300"/>
                  <a:pt x="9896" y="0"/>
                </a:cubicBezTo>
                <a:close/>
              </a:path>
            </a:pathLst>
          </a:custGeom>
          <a:solidFill>
            <a:srgbClr val="AFABAB"/>
          </a:solidFill>
          <a:ln>
            <a:noFill/>
          </a:ln>
          <a:effectLst>
            <a:outerShdw blurRad="736600" dist="330200" dir="2400000" sx="95000" sy="95000" algn="l" rotWithShape="0">
              <a:schemeClr val="accent1">
                <a:lumMod val="50000"/>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6" name="任意多边形 6"/>
          <p:cNvSpPr/>
          <p:nvPr/>
        </p:nvSpPr>
        <p:spPr>
          <a:xfrm>
            <a:off x="9073747" y="2590534"/>
            <a:ext cx="3118706" cy="2975205"/>
          </a:xfrm>
          <a:custGeom>
            <a:avLst/>
            <a:gdLst>
              <a:gd name="connsiteX0" fmla="*/ 2997200 w 2997200"/>
              <a:gd name="connsiteY0" fmla="*/ 0 h 3028950"/>
              <a:gd name="connsiteX1" fmla="*/ 2997200 w 2997200"/>
              <a:gd name="connsiteY1" fmla="*/ 2540000 h 3028950"/>
              <a:gd name="connsiteX2" fmla="*/ 0 w 2997200"/>
              <a:gd name="connsiteY2" fmla="*/ 3028950 h 3028950"/>
              <a:gd name="connsiteX3" fmla="*/ 1676400 w 2997200"/>
              <a:gd name="connsiteY3" fmla="*/ 2362200 h 3028950"/>
              <a:gd name="connsiteX4" fmla="*/ 1536700 w 2997200"/>
              <a:gd name="connsiteY4" fmla="*/ 1460500 h 3028950"/>
              <a:gd name="connsiteX5" fmla="*/ 2997200 w 2997200"/>
              <a:gd name="connsiteY5" fmla="*/ 0 h 3028950"/>
              <a:gd name="connsiteX0-1" fmla="*/ 2997200 w 2997200"/>
              <a:gd name="connsiteY0-2" fmla="*/ 0 h 3028950"/>
              <a:gd name="connsiteX1-3" fmla="*/ 2997200 w 2997200"/>
              <a:gd name="connsiteY1-4" fmla="*/ 2540000 h 3028950"/>
              <a:gd name="connsiteX2-5" fmla="*/ 0 w 2997200"/>
              <a:gd name="connsiteY2-6" fmla="*/ 3028950 h 3028950"/>
              <a:gd name="connsiteX3-7" fmla="*/ 1644650 w 2997200"/>
              <a:gd name="connsiteY3-8" fmla="*/ 2362200 h 3028950"/>
              <a:gd name="connsiteX4-9" fmla="*/ 1536700 w 2997200"/>
              <a:gd name="connsiteY4-10" fmla="*/ 1460500 h 3028950"/>
              <a:gd name="connsiteX5-11" fmla="*/ 2997200 w 2997200"/>
              <a:gd name="connsiteY5-12" fmla="*/ 0 h 3028950"/>
              <a:gd name="connsiteX0-13" fmla="*/ 3009900 w 3009900"/>
              <a:gd name="connsiteY0-14" fmla="*/ 0 h 3028950"/>
              <a:gd name="connsiteX1-15" fmla="*/ 3009900 w 3009900"/>
              <a:gd name="connsiteY1-16" fmla="*/ 2540000 h 3028950"/>
              <a:gd name="connsiteX2-17" fmla="*/ 0 w 3009900"/>
              <a:gd name="connsiteY2-18" fmla="*/ 3028950 h 3028950"/>
              <a:gd name="connsiteX3-19" fmla="*/ 1657350 w 3009900"/>
              <a:gd name="connsiteY3-20" fmla="*/ 2362200 h 3028950"/>
              <a:gd name="connsiteX4-21" fmla="*/ 1549400 w 3009900"/>
              <a:gd name="connsiteY4-22" fmla="*/ 1460500 h 3028950"/>
              <a:gd name="connsiteX5-23" fmla="*/ 3009900 w 3009900"/>
              <a:gd name="connsiteY5-24" fmla="*/ 0 h 3028950"/>
              <a:gd name="connsiteX0-1-1" fmla="*/ 3009900 w 3009900"/>
              <a:gd name="connsiteY0-2-2" fmla="*/ 0 h 3028950"/>
              <a:gd name="connsiteX1-3-3" fmla="*/ 3009900 w 3009900"/>
              <a:gd name="connsiteY1-4-4" fmla="*/ 2540000 h 3028950"/>
              <a:gd name="connsiteX2-5-5" fmla="*/ 0 w 3009900"/>
              <a:gd name="connsiteY2-6-6" fmla="*/ 3028950 h 3028950"/>
              <a:gd name="connsiteX3-7-7" fmla="*/ 1657350 w 3009900"/>
              <a:gd name="connsiteY3-8-8" fmla="*/ 2362200 h 3028950"/>
              <a:gd name="connsiteX4-9-9" fmla="*/ 1469369 w 3009900"/>
              <a:gd name="connsiteY4-10-10" fmla="*/ 1382526 h 3028950"/>
              <a:gd name="connsiteX5-11-11" fmla="*/ 3009900 w 3009900"/>
              <a:gd name="connsiteY5-12-12" fmla="*/ 0 h 3028950"/>
              <a:gd name="connsiteX0-13-13" fmla="*/ 3009900 w 3009900"/>
              <a:gd name="connsiteY0-14-14" fmla="*/ 0 h 3028950"/>
              <a:gd name="connsiteX1-15-15" fmla="*/ 3009900 w 3009900"/>
              <a:gd name="connsiteY1-16-16" fmla="*/ 2540000 h 3028950"/>
              <a:gd name="connsiteX2-17-17" fmla="*/ 0 w 3009900"/>
              <a:gd name="connsiteY2-18-18" fmla="*/ 3028950 h 3028950"/>
              <a:gd name="connsiteX3-19-19" fmla="*/ 1621780 w 3009900"/>
              <a:gd name="connsiteY3-20-20" fmla="*/ 2274478 h 3028950"/>
              <a:gd name="connsiteX4-21-21" fmla="*/ 1469369 w 3009900"/>
              <a:gd name="connsiteY4-22-22" fmla="*/ 1382526 h 3028950"/>
              <a:gd name="connsiteX5-23-23" fmla="*/ 3009900 w 3009900"/>
              <a:gd name="connsiteY5-24-24" fmla="*/ 0 h 3028950"/>
              <a:gd name="connsiteX0-25" fmla="*/ 3009900 w 3009900"/>
              <a:gd name="connsiteY0-26" fmla="*/ 0 h 3028950"/>
              <a:gd name="connsiteX1-27" fmla="*/ 3009900 w 3009900"/>
              <a:gd name="connsiteY1-28" fmla="*/ 2540000 h 3028950"/>
              <a:gd name="connsiteX2-29" fmla="*/ 0 w 3009900"/>
              <a:gd name="connsiteY2-30" fmla="*/ 3028950 h 3028950"/>
              <a:gd name="connsiteX3-31" fmla="*/ 1621780 w 3009900"/>
              <a:gd name="connsiteY3-32" fmla="*/ 2209096 h 3028950"/>
              <a:gd name="connsiteX4-33" fmla="*/ 1469369 w 3009900"/>
              <a:gd name="connsiteY4-34" fmla="*/ 1382526 h 3028950"/>
              <a:gd name="connsiteX5-35" fmla="*/ 3009900 w 3009900"/>
              <a:gd name="connsiteY5-36" fmla="*/ 0 h 3028950"/>
              <a:gd name="connsiteX0-37" fmla="*/ 3009900 w 3009900"/>
              <a:gd name="connsiteY0-38" fmla="*/ 0 h 3028950"/>
              <a:gd name="connsiteX1-39" fmla="*/ 3009900 w 3009900"/>
              <a:gd name="connsiteY1-40" fmla="*/ 2540000 h 3028950"/>
              <a:gd name="connsiteX2-41" fmla="*/ 0 w 3009900"/>
              <a:gd name="connsiteY2-42" fmla="*/ 3028950 h 3028950"/>
              <a:gd name="connsiteX3-43" fmla="*/ 1621780 w 3009900"/>
              <a:gd name="connsiteY3-44" fmla="*/ 2209096 h 3028950"/>
              <a:gd name="connsiteX4-45" fmla="*/ 1576077 w 3009900"/>
              <a:gd name="connsiteY4-46" fmla="*/ 1354505 h 3028950"/>
              <a:gd name="connsiteX5-47" fmla="*/ 3009900 w 3009900"/>
              <a:gd name="connsiteY5-48" fmla="*/ 0 h 3028950"/>
              <a:gd name="connsiteX0-49" fmla="*/ 3009900 w 3009900"/>
              <a:gd name="connsiteY0-50" fmla="*/ 0 h 3028950"/>
              <a:gd name="connsiteX1-51" fmla="*/ 3009900 w 3009900"/>
              <a:gd name="connsiteY1-52" fmla="*/ 2540000 h 3028950"/>
              <a:gd name="connsiteX2-53" fmla="*/ 0 w 3009900"/>
              <a:gd name="connsiteY2-54" fmla="*/ 3028950 h 3028950"/>
              <a:gd name="connsiteX3-55" fmla="*/ 1755165 w 3009900"/>
              <a:gd name="connsiteY3-56" fmla="*/ 2405243 h 3028950"/>
              <a:gd name="connsiteX4-57" fmla="*/ 1576077 w 3009900"/>
              <a:gd name="connsiteY4-58" fmla="*/ 1354505 h 3028950"/>
              <a:gd name="connsiteX5-59" fmla="*/ 3009900 w 3009900"/>
              <a:gd name="connsiteY5-60" fmla="*/ 0 h 3028950"/>
              <a:gd name="connsiteX0-61" fmla="*/ 3009900 w 3009900"/>
              <a:gd name="connsiteY0-62" fmla="*/ 0 h 3028950"/>
              <a:gd name="connsiteX1-63" fmla="*/ 3009900 w 3009900"/>
              <a:gd name="connsiteY1-64" fmla="*/ 2540000 h 3028950"/>
              <a:gd name="connsiteX2-65" fmla="*/ 0 w 3009900"/>
              <a:gd name="connsiteY2-66" fmla="*/ 3028950 h 3028950"/>
              <a:gd name="connsiteX3-67" fmla="*/ 1719596 w 3009900"/>
              <a:gd name="connsiteY3-68" fmla="*/ 2302500 h 3028950"/>
              <a:gd name="connsiteX4-69" fmla="*/ 1576077 w 3009900"/>
              <a:gd name="connsiteY4-70" fmla="*/ 1354505 h 3028950"/>
              <a:gd name="connsiteX5-71" fmla="*/ 3009900 w 3009900"/>
              <a:gd name="connsiteY5-72" fmla="*/ 0 h 3028950"/>
              <a:gd name="connsiteX0-73" fmla="*/ 3009900 w 3009900"/>
              <a:gd name="connsiteY0-74" fmla="*/ 0 h 3028950"/>
              <a:gd name="connsiteX1-75" fmla="*/ 3009900 w 3009900"/>
              <a:gd name="connsiteY1-76" fmla="*/ 2540000 h 3028950"/>
              <a:gd name="connsiteX2-77" fmla="*/ 0 w 3009900"/>
              <a:gd name="connsiteY2-78" fmla="*/ 3028950 h 3028950"/>
              <a:gd name="connsiteX3-79" fmla="*/ 1719596 w 3009900"/>
              <a:gd name="connsiteY3-80" fmla="*/ 2302500 h 3028950"/>
              <a:gd name="connsiteX4-81" fmla="*/ 1549400 w 3009900"/>
              <a:gd name="connsiteY4-82" fmla="*/ 1382525 h 3028950"/>
              <a:gd name="connsiteX5-83" fmla="*/ 3009900 w 3009900"/>
              <a:gd name="connsiteY5-84" fmla="*/ 0 h 3028950"/>
              <a:gd name="connsiteX0-85" fmla="*/ 3009900 w 3009900"/>
              <a:gd name="connsiteY0-86" fmla="*/ 0 h 3028950"/>
              <a:gd name="connsiteX1-87" fmla="*/ 3009900 w 3009900"/>
              <a:gd name="connsiteY1-88" fmla="*/ 2540000 h 3028950"/>
              <a:gd name="connsiteX2-89" fmla="*/ 0 w 3009900"/>
              <a:gd name="connsiteY2-90" fmla="*/ 3028950 h 3028950"/>
              <a:gd name="connsiteX3-91" fmla="*/ 1675135 w 3009900"/>
              <a:gd name="connsiteY3-92" fmla="*/ 2302500 h 3028950"/>
              <a:gd name="connsiteX4-93" fmla="*/ 1549400 w 3009900"/>
              <a:gd name="connsiteY4-94" fmla="*/ 1382525 h 3028950"/>
              <a:gd name="connsiteX5-95" fmla="*/ 3009900 w 3009900"/>
              <a:gd name="connsiteY5-96" fmla="*/ 0 h 3028950"/>
            </a:gdLst>
            <a:ahLst/>
            <a:cxnLst>
              <a:cxn ang="0">
                <a:pos x="connsiteX0-1-1" y="connsiteY0-2-2"/>
              </a:cxn>
              <a:cxn ang="0">
                <a:pos x="connsiteX1-3-3" y="connsiteY1-4-4"/>
              </a:cxn>
              <a:cxn ang="0">
                <a:pos x="connsiteX2-5-5" y="connsiteY2-6-6"/>
              </a:cxn>
              <a:cxn ang="0">
                <a:pos x="connsiteX3-7-7" y="connsiteY3-8-8"/>
              </a:cxn>
              <a:cxn ang="0">
                <a:pos x="connsiteX4-9-9" y="connsiteY4-10-10"/>
              </a:cxn>
              <a:cxn ang="0">
                <a:pos x="connsiteX5-11-11" y="connsiteY5-12-12"/>
              </a:cxn>
            </a:cxnLst>
            <a:rect l="l" t="t" r="r" b="b"/>
            <a:pathLst>
              <a:path w="3009900" h="3028950">
                <a:moveTo>
                  <a:pt x="3009900" y="0"/>
                </a:moveTo>
                <a:lnTo>
                  <a:pt x="3009900" y="2540000"/>
                </a:lnTo>
                <a:lnTo>
                  <a:pt x="0" y="3028950"/>
                </a:lnTo>
                <a:lnTo>
                  <a:pt x="1675135" y="2302500"/>
                </a:lnTo>
                <a:lnTo>
                  <a:pt x="1549400" y="1382525"/>
                </a:lnTo>
                <a:lnTo>
                  <a:pt x="3009900" y="0"/>
                </a:lnTo>
                <a:close/>
              </a:path>
            </a:pathLst>
          </a:custGeom>
          <a:gradFill>
            <a:gsLst>
              <a:gs pos="12000">
                <a:schemeClr val="accent1">
                  <a:lumMod val="50000"/>
                </a:schemeClr>
              </a:gs>
              <a:gs pos="92000">
                <a:schemeClr val="accent1">
                  <a:lumMod val="7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16230"/>
            <a:endParaRPr lang="zh-CN" altLang="en-US" sz="1245" dirty="0">
              <a:solidFill>
                <a:srgbClr val="A3005B"/>
              </a:solidFill>
              <a:latin typeface="Arial" panose="020B0604020202020204"/>
              <a:ea typeface="微软雅黑" panose="020B0503020204020204" pitchFamily="34" charset="-122"/>
            </a:endParaRPr>
          </a:p>
        </p:txBody>
      </p:sp>
      <p:sp>
        <p:nvSpPr>
          <p:cNvPr id="7" name="文本框 6"/>
          <p:cNvSpPr txBox="1"/>
          <p:nvPr/>
        </p:nvSpPr>
        <p:spPr>
          <a:xfrm>
            <a:off x="3145790" y="2926080"/>
            <a:ext cx="7802880" cy="1449977"/>
          </a:xfrm>
          <a:prstGeom prst="rect">
            <a:avLst/>
          </a:prstGeom>
          <a:noFill/>
        </p:spPr>
        <p:txBody>
          <a:bodyPr wrap="square" rtlCol="0">
            <a:noAutofit/>
          </a:bodyPr>
          <a:lstStyle/>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Chapter 2: </a:t>
            </a:r>
          </a:p>
          <a:p>
            <a:r>
              <a:rPr lang="en-US" altLang="zh-CN" sz="2400" b="1" dirty="0">
                <a:solidFill>
                  <a:srgbClr val="EAEAEA"/>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Data Cleaning and Dataset Construction</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Dataset Standardization:</a:t>
            </a:r>
          </a:p>
          <a:p>
            <a:r>
              <a:rPr lang="en-US" altLang="zh-CN" b="1" dirty="0">
                <a:solidFill>
                  <a:schemeClr val="bg1">
                    <a:lumMod val="50000"/>
                  </a:schemeClr>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From Raw Questionnaire Records to Reproducible Train/Test Splits</a:t>
            </a:r>
          </a:p>
          <a:p>
            <a:r>
              <a:rPr lang="en-US" altLang="zh-CN" sz="1400" b="1" dirty="0" err="1">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Presenter:JiaShun</a:t>
            </a:r>
            <a:r>
              <a:rPr lang="en-US" altLang="zh-CN" sz="1400" b="1" dirty="0">
                <a:solidFill>
                  <a:schemeClr val="tx1"/>
                </a:solidFill>
                <a:effectLst>
                  <a:outerShdw blurRad="63500" dist="12700" dir="1500000" sx="103000" sy="103000" algn="ctr" rotWithShape="0">
                    <a:schemeClr val="bg2">
                      <a:lumMod val="25000"/>
                      <a:alpha val="39000"/>
                    </a:schemeClr>
                  </a:outerShdw>
                  <a:reflection stA="45000" endPos="0" dist="50800" dir="5400000" sy="-100000" algn="bl" rotWithShape="0"/>
                </a:effectLst>
                <a:latin typeface="Arial" panose="020B0604020202020204" pitchFamily="34" charset="0"/>
                <a:ea typeface="汉仪雅酷黑-85J" panose="00020600040101010101" charset="-122"/>
                <a:cs typeface="Arial" panose="020B0604020202020204" pitchFamily="34" charset="0"/>
              </a:rPr>
              <a:t> Shi</a:t>
            </a:r>
          </a:p>
        </p:txBody>
      </p:sp>
      <p:pic>
        <p:nvPicPr>
          <p:cNvPr id="8" name="图片 7"/>
          <p:cNvPicPr>
            <a:picLocks noChangeAspect="1"/>
          </p:cNvPicPr>
          <p:nvPr/>
        </p:nvPicPr>
        <p:blipFill rotWithShape="1">
          <a:blip r:embed="rId2"/>
          <a:srcRect l="15806" t="13440" r="18511" b="11972"/>
          <a:stretch>
            <a:fillRect/>
          </a:stretch>
        </p:blipFill>
        <p:spPr>
          <a:xfrm>
            <a:off x="184005" y="2037253"/>
            <a:ext cx="2385019" cy="21547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48611"/>
                                        </p:tgtEl>
                                        <p:attrNameLst>
                                          <p:attrName>style.visibility</p:attrName>
                                        </p:attrNameLst>
                                      </p:cBhvr>
                                      <p:to>
                                        <p:strVal val="visible"/>
                                      </p:to>
                                    </p:set>
                                    <p:animEffect transition="in" filter="wipe(down)">
                                      <p:cBhvr>
                                        <p:cTn id="7" dur="500"/>
                                        <p:tgtEl>
                                          <p:spTgt spid="1048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329"/>
                </a:solidFill>
                <a:latin typeface="Arial"/>
                <a:ea typeface="Arial"/>
                <a:cs typeface="Arial"/>
                <a:sym typeface="Arial"/>
              </a:rPr>
              <a:t>Data Cleaning and Dataset Construction</a:t>
            </a:r>
            <a:endParaRPr lang="en-US" sz="1100" dirty="0"/>
          </a:p>
        </p:txBody>
      </p:sp>
      <p:sp>
        <p:nvSpPr>
          <p:cNvPr id="4" name="AutoShape 4"/>
          <p:cNvSpPr/>
          <p:nvPr/>
        </p:nvSpPr>
        <p:spPr>
          <a:xfrm>
            <a:off x="508000" y="1689100"/>
            <a:ext cx="5270500" cy="4216400"/>
          </a:xfrm>
          <a:prstGeom prst="roundRect">
            <a:avLst>
              <a:gd name="adj" fmla="val 0"/>
            </a:avLst>
          </a:prstGeom>
          <a:solidFill>
            <a:srgbClr val="FFFFFF">
              <a:alpha val="100000"/>
            </a:srgbClr>
          </a:solidFill>
          <a:ln w="38100" cap="flat" cmpd="sng">
            <a:solidFill>
              <a:srgbClr val="AFABAB"/>
            </a:solidFill>
            <a:prstDash val="solid"/>
            <a:miter lim="100000000"/>
          </a:ln>
        </p:spPr>
        <p:txBody>
          <a:bodyPr vert="horz" wrap="square" lIns="63500" tIns="63500" rIns="63500" bIns="63500" rtlCol="0" anchor="ctr"/>
          <a:lstStyle/>
          <a:p>
            <a:pPr algn="ctr">
              <a:defRPr/>
            </a:pPr>
            <a:endParaRPr/>
          </a:p>
        </p:txBody>
      </p:sp>
      <p:sp>
        <p:nvSpPr>
          <p:cNvPr id="5" name="AutoShape 5"/>
          <p:cNvSpPr/>
          <p:nvPr/>
        </p:nvSpPr>
        <p:spPr>
          <a:xfrm>
            <a:off x="647700" y="1689100"/>
            <a:ext cx="4826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D93025"/>
                </a:solidFill>
                <a:latin typeface="+mn-lt"/>
                <a:ea typeface="Arial"/>
                <a:cs typeface="Arial"/>
                <a:sym typeface="Arial"/>
              </a:rPr>
              <a:t>📋 What this stage Does</a:t>
            </a:r>
            <a:endParaRPr lang="en-US" sz="1100" dirty="0">
              <a:latin typeface="+mn-lt"/>
            </a:endParaRPr>
          </a:p>
        </p:txBody>
      </p:sp>
      <p:cxnSp>
        <p:nvCxnSpPr>
          <p:cNvPr id="6" name="Connector 6"/>
          <p:cNvCxnSpPr/>
          <p:nvPr/>
        </p:nvCxnSpPr>
        <p:spPr>
          <a:xfrm rot="-9046">
            <a:off x="647708" y="2292350"/>
            <a:ext cx="4826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7" name="AutoShape 7"/>
          <p:cNvSpPr/>
          <p:nvPr/>
        </p:nvSpPr>
        <p:spPr>
          <a:xfrm>
            <a:off x="647700" y="2349500"/>
            <a:ext cx="4889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a:solidFill>
                  <a:srgbClr val="1F2329"/>
                </a:solidFill>
                <a:latin typeface="+mn-lt"/>
                <a:ea typeface="Segoe UI"/>
                <a:cs typeface="Segoe UI"/>
                <a:sym typeface="Segoe UI"/>
              </a:rPr>
              <a:t>Core Objective: Standardization &amp; Boundaries</a:t>
            </a:r>
            <a:endParaRPr lang="en-US" sz="1100" dirty="0">
              <a:latin typeface="+mn-lt"/>
            </a:endParaRPr>
          </a:p>
          <a:p>
            <a:pPr marL="0" indent="0" algn="l">
              <a:lnSpc>
                <a:spcPct val="108333"/>
              </a:lnSpc>
            </a:pPr>
            <a:r>
              <a:rPr lang="en-US" sz="1300" b="0" i="0" u="none" strike="noStrike" dirty="0">
                <a:solidFill>
                  <a:srgbClr val="595959"/>
                </a:solidFill>
                <a:latin typeface="+mn-lt"/>
                <a:ea typeface="Segoe UI"/>
                <a:cs typeface="Segoe UI"/>
                <a:sym typeface="Segoe UI"/>
              </a:rPr>
              <a:t>Processes raw questionnaire records into a structured, clean dataset. This phase strictly stops at dataset construction—no feature encoding, label transformation, or model training is included here.</a:t>
            </a:r>
          </a:p>
        </p:txBody>
      </p:sp>
      <p:cxnSp>
        <p:nvCxnSpPr>
          <p:cNvPr id="8" name="Connector 8"/>
          <p:cNvCxnSpPr/>
          <p:nvPr/>
        </p:nvCxnSpPr>
        <p:spPr>
          <a:xfrm rot="-9046">
            <a:off x="647708" y="3613150"/>
            <a:ext cx="4826000" cy="12700"/>
          </a:xfrm>
          <a:prstGeom prst="straightConnector1">
            <a:avLst/>
          </a:prstGeom>
          <a:solidFill>
            <a:srgbClr val="DEE0E3">
              <a:alpha val="100000"/>
            </a:srgbClr>
          </a:solidFill>
          <a:ln w="12700" cap="flat" cmpd="sng">
            <a:solidFill>
              <a:srgbClr val="F0F0F0">
                <a:alpha val="100000"/>
              </a:srgbClr>
            </a:solidFill>
            <a:prstDash val="dash"/>
            <a:round/>
            <a:headEnd type="none" w="med" len="med"/>
            <a:tailEnd type="none" w="med" len="med"/>
          </a:ln>
        </p:spPr>
      </p:cxnSp>
      <p:sp>
        <p:nvSpPr>
          <p:cNvPr id="9" name="AutoShape 9"/>
          <p:cNvSpPr/>
          <p:nvPr/>
        </p:nvSpPr>
        <p:spPr>
          <a:xfrm>
            <a:off x="647700" y="3810000"/>
            <a:ext cx="2387600" cy="1638968"/>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a:solidFill>
                  <a:srgbClr val="286090"/>
                </a:solidFill>
                <a:latin typeface="+mn-lt"/>
                <a:ea typeface="Segoe UI"/>
                <a:cs typeface="Segoe UI"/>
                <a:sym typeface="Segoe UI"/>
              </a:rPr>
              <a:t>🔍 Input Boundary</a:t>
            </a:r>
            <a:endParaRPr lang="en-US" sz="1100" dirty="0">
              <a:latin typeface="+mn-lt"/>
            </a:endParaRPr>
          </a:p>
          <a:p>
            <a:pPr marL="0" indent="0" algn="l">
              <a:lnSpc>
                <a:spcPct val="100000"/>
              </a:lnSpc>
            </a:pPr>
            <a:r>
              <a:rPr lang="en-US" sz="1200" b="0" i="0" u="none" strike="noStrike" dirty="0">
                <a:solidFill>
                  <a:srgbClr val="595959"/>
                </a:solidFill>
                <a:latin typeface="+mn-lt"/>
                <a:ea typeface="Segoe UI"/>
                <a:cs typeface="Segoe UI"/>
                <a:sym typeface="Segoe UI"/>
              </a:rPr>
              <a:t>Source: dataset_v2/</a:t>
            </a:r>
            <a:r>
              <a:rPr lang="en-US" sz="1200" b="0" i="0" u="none" strike="noStrike" dirty="0" err="1">
                <a:solidFill>
                  <a:srgbClr val="595959"/>
                </a:solidFill>
                <a:latin typeface="+mn-lt"/>
                <a:ea typeface="Segoe UI"/>
                <a:cs typeface="Segoe UI"/>
                <a:sym typeface="Segoe UI"/>
              </a:rPr>
              <a:t>samples.jsonl</a:t>
            </a:r>
            <a:r>
              <a:rPr lang="en-US" sz="1200" b="0" i="0" u="none" strike="noStrike" dirty="0">
                <a:solidFill>
                  <a:srgbClr val="595959"/>
                </a:solidFill>
                <a:latin typeface="+mn-lt"/>
                <a:ea typeface="Segoe UI"/>
                <a:cs typeface="Segoe UI"/>
                <a:sym typeface="Segoe UI"/>
              </a:rPr>
              <a:t>. Validated against schema files, question dependency graphs, quarantine logs, and rating-conflict reports.</a:t>
            </a:r>
          </a:p>
        </p:txBody>
      </p:sp>
      <p:cxnSp>
        <p:nvCxnSpPr>
          <p:cNvPr id="10" name="Connector 10"/>
          <p:cNvCxnSpPr/>
          <p:nvPr/>
        </p:nvCxnSpPr>
        <p:spPr>
          <a:xfrm rot="5363814">
            <a:off x="2508250" y="4533933"/>
            <a:ext cx="12065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1" name="AutoShape 11"/>
          <p:cNvSpPr/>
          <p:nvPr/>
        </p:nvSpPr>
        <p:spPr>
          <a:xfrm>
            <a:off x="3213100" y="3809999"/>
            <a:ext cx="2387600" cy="1794563"/>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dirty="0">
                <a:solidFill>
                  <a:srgbClr val="286090"/>
                </a:solidFill>
                <a:latin typeface="+mn-lt"/>
                <a:ea typeface="Segoe UI"/>
                <a:cs typeface="Segoe UI"/>
                <a:sym typeface="Segoe UI"/>
              </a:rPr>
              <a:t>📂 Output Boundary</a:t>
            </a:r>
            <a:endParaRPr lang="en-US" sz="1100" dirty="0">
              <a:latin typeface="+mn-lt"/>
            </a:endParaRPr>
          </a:p>
          <a:p>
            <a:pPr marL="0" indent="0" algn="l">
              <a:lnSpc>
                <a:spcPct val="100000"/>
              </a:lnSpc>
            </a:pPr>
            <a:r>
              <a:rPr lang="en-US" sz="1200" b="0" i="0" u="none" strike="noStrike" dirty="0">
                <a:solidFill>
                  <a:srgbClr val="595959"/>
                </a:solidFill>
                <a:latin typeface="+mn-lt"/>
                <a:ea typeface="Segoe UI"/>
                <a:cs typeface="Segoe UI"/>
                <a:sym typeface="Segoe UI"/>
              </a:rPr>
              <a:t>Generated under task3_data_cleaning/output: clean_dataset.csv, split train/test CSVs, and audit files for exclusions, split distribution, source hashes, and cleaning summary.</a:t>
            </a:r>
          </a:p>
        </p:txBody>
      </p:sp>
      <p:cxnSp>
        <p:nvCxnSpPr>
          <p:cNvPr id="12" name="Connector 12"/>
          <p:cNvCxnSpPr>
            <a:cxnSpLocks/>
          </p:cNvCxnSpPr>
          <p:nvPr/>
        </p:nvCxnSpPr>
        <p:spPr>
          <a:xfrm>
            <a:off x="6146800" y="1664821"/>
            <a:ext cx="50801" cy="4354997"/>
          </a:xfrm>
          <a:prstGeom prst="straightConnector1">
            <a:avLst/>
          </a:prstGeom>
          <a:solidFill>
            <a:srgbClr val="DEE0E3">
              <a:alpha val="100000"/>
            </a:srgbClr>
          </a:solidFill>
          <a:ln w="12700" cap="flat" cmpd="sng">
            <a:solidFill>
              <a:srgbClr val="AFABAB">
                <a:alpha val="50000"/>
              </a:srgbClr>
            </a:solidFill>
            <a:prstDash val="solid"/>
            <a:round/>
            <a:headEnd type="none" w="med" len="med"/>
            <a:tailEnd type="none" w="med" len="med"/>
          </a:ln>
        </p:spPr>
      </p:cxnSp>
      <p:sp>
        <p:nvSpPr>
          <p:cNvPr id="13" name="AutoShape 13"/>
          <p:cNvSpPr/>
          <p:nvPr/>
        </p:nvSpPr>
        <p:spPr>
          <a:xfrm>
            <a:off x="6591300" y="1828800"/>
            <a:ext cx="5270500" cy="1206500"/>
          </a:xfrm>
          <a:prstGeom prst="roundRect">
            <a:avLst>
              <a:gd name="adj" fmla="val 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718300" y="1892300"/>
            <a:ext cx="501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a:solidFill>
                  <a:srgbClr val="286090"/>
                </a:solidFill>
                <a:latin typeface="+mn-lt"/>
                <a:ea typeface="Arial"/>
                <a:cs typeface="Arial"/>
                <a:sym typeface="Arial"/>
              </a:rPr>
              <a:t>📊 1,265 Validated Clean Samples</a:t>
            </a:r>
            <a:endParaRPr lang="en-US" sz="1100" dirty="0">
              <a:latin typeface="+mn-lt"/>
            </a:endParaRPr>
          </a:p>
          <a:p>
            <a:pPr marL="0" indent="0" algn="l">
              <a:lnSpc>
                <a:spcPct val="108333"/>
              </a:lnSpc>
            </a:pPr>
            <a:r>
              <a:rPr lang="en-US" sz="1300" b="0" i="0" u="none" strike="noStrike" dirty="0">
                <a:solidFill>
                  <a:srgbClr val="595959"/>
                </a:solidFill>
                <a:latin typeface="+mn-lt"/>
                <a:ea typeface="Segoe UI"/>
                <a:cs typeface="Segoe UI"/>
                <a:sym typeface="Segoe UI"/>
              </a:rPr>
              <a:t>After validation and consistency checks, all 1,265 retained records formed the clean dataset.</a:t>
            </a:r>
          </a:p>
        </p:txBody>
      </p:sp>
      <p:sp>
        <p:nvSpPr>
          <p:cNvPr id="15" name="AutoShape 15"/>
          <p:cNvSpPr/>
          <p:nvPr/>
        </p:nvSpPr>
        <p:spPr>
          <a:xfrm>
            <a:off x="6591300" y="3225800"/>
            <a:ext cx="5270500" cy="1206500"/>
          </a:xfrm>
          <a:prstGeom prst="roundRect">
            <a:avLst>
              <a:gd name="adj" fmla="val 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718300" y="3289300"/>
            <a:ext cx="501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a:solidFill>
                  <a:srgbClr val="286090"/>
                </a:solidFill>
                <a:latin typeface="+mn-lt"/>
                <a:ea typeface="Arial"/>
                <a:cs typeface="Arial"/>
                <a:sym typeface="Arial"/>
              </a:rPr>
              <a:t>📂 Deterministic Train / Test Split (80/20)</a:t>
            </a:r>
            <a:endParaRPr lang="en-US" sz="1100" dirty="0">
              <a:latin typeface="+mn-lt"/>
            </a:endParaRPr>
          </a:p>
          <a:p>
            <a:pPr marL="0" indent="0" algn="l">
              <a:lnSpc>
                <a:spcPct val="108333"/>
              </a:lnSpc>
            </a:pPr>
            <a:r>
              <a:rPr lang="en-US" sz="1300" b="0" i="0" u="none" strike="noStrike" dirty="0">
                <a:solidFill>
                  <a:srgbClr val="595959"/>
                </a:solidFill>
                <a:latin typeface="+mn-lt"/>
                <a:ea typeface="Segoe UI"/>
                <a:cs typeface="Segoe UI"/>
                <a:sym typeface="Segoe UI"/>
              </a:rPr>
              <a:t>The clean data was partitioned into 1,012 training rows and 253 test rows, stratified by app category and North America rating label.</a:t>
            </a:r>
          </a:p>
        </p:txBody>
      </p:sp>
      <p:sp>
        <p:nvSpPr>
          <p:cNvPr id="17" name="AutoShape 17"/>
          <p:cNvSpPr/>
          <p:nvPr/>
        </p:nvSpPr>
        <p:spPr>
          <a:xfrm>
            <a:off x="6591300" y="4622800"/>
            <a:ext cx="5270500" cy="1206500"/>
          </a:xfrm>
          <a:prstGeom prst="roundRect">
            <a:avLst>
              <a:gd name="adj" fmla="val 0"/>
            </a:avLst>
          </a:prstGeom>
          <a:solidFill>
            <a:srgbClr val="FFFFFF">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718300" y="4686300"/>
            <a:ext cx="501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a:solidFill>
                  <a:srgbClr val="286090"/>
                </a:solidFill>
                <a:latin typeface="+mn-lt"/>
                <a:ea typeface="Arial"/>
                <a:cs typeface="Arial"/>
                <a:sym typeface="Arial"/>
              </a:rPr>
              <a:t>✅ 0 Validation Errors in Pipeline</a:t>
            </a:r>
            <a:endParaRPr lang="en-US" sz="1100" dirty="0">
              <a:latin typeface="+mn-lt"/>
            </a:endParaRPr>
          </a:p>
          <a:p>
            <a:pPr marL="0" indent="0" algn="l">
              <a:lnSpc>
                <a:spcPct val="108333"/>
              </a:lnSpc>
            </a:pPr>
            <a:r>
              <a:rPr lang="en-US" sz="1300" b="0" i="0" u="none" strike="noStrike" dirty="0">
                <a:solidFill>
                  <a:srgbClr val="595959"/>
                </a:solidFill>
                <a:latin typeface="+mn-lt"/>
                <a:ea typeface="Segoe UI"/>
                <a:cs typeface="Segoe UI"/>
                <a:sym typeface="Segoe UI"/>
              </a:rPr>
              <a:t>All data integrity checks passed without exceptions. Upstream anomalies and conflicts are preserved in audit files for traceability.</a:t>
            </a:r>
          </a:p>
        </p:txBody>
      </p:sp>
      <p:sp>
        <p:nvSpPr>
          <p:cNvPr id="19" name="AutoShape 19"/>
          <p:cNvSpPr/>
          <p:nvPr/>
        </p:nvSpPr>
        <p:spPr>
          <a:xfrm>
            <a:off x="355600" y="6096000"/>
            <a:ext cx="11430000" cy="571500"/>
          </a:xfrm>
          <a:prstGeom prst="roundRect">
            <a:avLst>
              <a:gd name="adj" fmla="val 0"/>
            </a:avLst>
          </a:prstGeom>
          <a:solidFill>
            <a:srgbClr val="F5F5F5">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482600" y="6159500"/>
            <a:ext cx="11176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D93025"/>
                </a:solidFill>
                <a:latin typeface="+mn-lt"/>
                <a:ea typeface="Noto Sans SC"/>
                <a:cs typeface="Noto Sans SC"/>
                <a:sym typeface="Noto Sans SC"/>
              </a:rPr>
              <a:t>Outcome: </a:t>
            </a:r>
            <a:r>
              <a:rPr lang="en-US" sz="1300" dirty="0">
                <a:solidFill>
                  <a:srgbClr val="3C3C3C"/>
                </a:solidFill>
                <a:latin typeface="+mn-lt"/>
                <a:ea typeface="Noto Sans SC"/>
                <a:sym typeface="Noto Sans SC"/>
              </a:rPr>
              <a:t>a fully reproducible cleaned dataset with unified fields, explicit missing-value markers, and auditable exclusion records</a:t>
            </a:r>
            <a:r>
              <a:rPr lang="en-US" sz="1300" b="1" dirty="0">
                <a:solidFill>
                  <a:srgbClr val="D93025"/>
                </a:solidFill>
                <a:latin typeface="+mn-lt"/>
                <a:ea typeface="Noto Sans SC"/>
                <a:sym typeface="Noto Sans SC"/>
              </a:rPr>
              <a:t>.</a:t>
            </a:r>
            <a:endParaRPr lang="en-US" sz="1100" dirty="0">
              <a:latin typeface="+mn-lt"/>
            </a:endParaRPr>
          </a:p>
        </p:txBody>
      </p:sp>
      <p:pic>
        <p:nvPicPr>
          <p:cNvPr id="22" name="Picture 17">
            <a:extLst>
              <a:ext uri="{FF2B5EF4-FFF2-40B4-BE49-F238E27FC236}">
                <a16:creationId xmlns:a16="http://schemas.microsoft.com/office/drawing/2014/main" id="{A622665D-4188-4392-9035-222702732DAB}"/>
              </a:ext>
            </a:extLst>
          </p:cNvPr>
          <p:cNvPicPr>
            <a:picLocks noChangeAspect="1"/>
          </p:cNvPicPr>
          <p:nvPr/>
        </p:nvPicPr>
        <p:blipFill>
          <a:blip r:embed="rId3"/>
          <a:srcRect/>
          <a:stretch>
            <a:fillRect/>
          </a:stretch>
        </p:blipFill>
        <p:spPr>
          <a:xfrm>
            <a:off x="8826500" y="139700"/>
            <a:ext cx="3365500" cy="1308100"/>
          </a:xfrm>
          <a:prstGeom prst="rect">
            <a:avLst/>
          </a:prstGeom>
          <a:noFill/>
          <a:ln w="25400" cap="flat" cmpd="sng">
            <a:noFill/>
            <a:prstDash val="solid"/>
            <a:round/>
          </a:ln>
        </p:spPr>
      </p:pic>
      <p:cxnSp>
        <p:nvCxnSpPr>
          <p:cNvPr id="23" name="Connector 3">
            <a:extLst>
              <a:ext uri="{FF2B5EF4-FFF2-40B4-BE49-F238E27FC236}">
                <a16:creationId xmlns:a16="http://schemas.microsoft.com/office/drawing/2014/main" id="{D1782F96-CBFC-490A-829C-F98D34E5874F}"/>
              </a:ext>
            </a:extLst>
          </p:cNvPr>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sp>
        <p:nvSpPr>
          <p:cNvPr id="27" name="矩形 26">
            <a:extLst>
              <a:ext uri="{FF2B5EF4-FFF2-40B4-BE49-F238E27FC236}">
                <a16:creationId xmlns:a16="http://schemas.microsoft.com/office/drawing/2014/main" id="{63D3F3C6-0585-4401-A2BF-9745AA329995}"/>
              </a:ext>
            </a:extLst>
          </p:cNvPr>
          <p:cNvSpPr>
            <a:spLocks noGrp="1"/>
          </p:cNvSpPr>
          <p:nvPr/>
        </p:nvSpPr>
        <p:spPr>
          <a:xfrm>
            <a:off x="355600" y="1253437"/>
            <a:ext cx="10289001" cy="411384"/>
          </a:xfrm>
          <a:prstGeom prst="rect">
            <a:avLst/>
          </a:prstGeom>
          <a:noFill/>
          <a:ln w="0">
            <a:noFill/>
            <a:prstDash val="solid"/>
          </a:ln>
        </p:spPr>
        <p:txBody>
          <a:bodyPr/>
          <a:lstStyle/>
          <a:p>
            <a:pPr>
              <a:defRPr sz="1125">
                <a:solidFill>
                  <a:srgbClr val="5D6B7A"/>
                </a:solidFill>
                <a:latin typeface="Arial"/>
                <a:ea typeface="Arial"/>
                <a:cs typeface="Arial"/>
              </a:defRPr>
            </a:pPr>
            <a:r>
              <a:rPr lang="en-US" sz="1600" dirty="0">
                <a:solidFill>
                  <a:srgbClr val="1F2329"/>
                </a:solidFill>
              </a:rPr>
              <a:t>Turning raw questionnaire collection records into clean, auditable train/test datasets.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329"/>
                </a:solidFill>
                <a:latin typeface="Arial"/>
                <a:ea typeface="Arial"/>
                <a:cs typeface="Arial"/>
                <a:sym typeface="Arial"/>
              </a:rPr>
              <a:t>From Raw JSONL to Valid Samples</a:t>
            </a:r>
          </a:p>
        </p:txBody>
      </p:sp>
      <p:sp>
        <p:nvSpPr>
          <p:cNvPr id="43" name="pipeline-card-1">
            <a:extLst>
              <a:ext uri="{FF2B5EF4-FFF2-40B4-BE49-F238E27FC236}">
                <a16:creationId xmlns:a16="http://schemas.microsoft.com/office/drawing/2014/main" id="{F58BBCB0-70CD-41A4-844D-15E82F776095}"/>
              </a:ext>
            </a:extLst>
          </p:cNvPr>
          <p:cNvSpPr>
            <a:spLocks noGrp="1"/>
          </p:cNvSpPr>
          <p:nvPr/>
        </p:nvSpPr>
        <p:spPr>
          <a:xfrm>
            <a:off x="360989" y="1921087"/>
            <a:ext cx="2019600" cy="1020085"/>
          </a:xfrm>
          <a:prstGeom prst="roundRect">
            <a:avLst>
              <a:gd name="adj" fmla="val 7767"/>
            </a:avLst>
          </a:prstGeom>
          <a:solidFill>
            <a:srgbClr val="FFFFFF"/>
          </a:solidFill>
          <a:ln w="11430">
            <a:solidFill>
              <a:srgbClr val="D6E2F0"/>
            </a:solidFill>
            <a:prstDash val="solid"/>
          </a:ln>
        </p:spPr>
        <p:txBody>
          <a:bodyPr lIns="9525" tIns="9525" rIns="9525" bIns="9525">
            <a:normAutofit/>
          </a:bodyPr>
          <a:lstStyle/>
          <a:p>
            <a:pPr>
              <a:defRPr sz="100">
                <a:solidFill>
                  <a:srgbClr val="FFFFFF"/>
                </a:solidFill>
                <a:latin typeface="Arial"/>
                <a:ea typeface="Arial"/>
                <a:cs typeface="Arial"/>
              </a:defRPr>
            </a:pPr>
            <a:r>
              <a:rPr sz="100">
                <a:solidFill>
                  <a:srgbClr val="FFFFFF"/>
                </a:solidFill>
                <a:latin typeface="Arial"/>
                <a:ea typeface="Arial"/>
                <a:cs typeface="Arial"/>
              </a:rPr>
              <a:t>pipeline-card-1</a:t>
            </a:r>
          </a:p>
        </p:txBody>
      </p:sp>
      <p:sp>
        <p:nvSpPr>
          <p:cNvPr id="63" name="pipeline-step-1">
            <a:extLst>
              <a:ext uri="{FF2B5EF4-FFF2-40B4-BE49-F238E27FC236}">
                <a16:creationId xmlns:a16="http://schemas.microsoft.com/office/drawing/2014/main" id="{676505D5-C9DC-4705-8DFC-C865A3D686DA}"/>
              </a:ext>
            </a:extLst>
          </p:cNvPr>
          <p:cNvSpPr>
            <a:spLocks noGrp="1"/>
          </p:cNvSpPr>
          <p:nvPr/>
        </p:nvSpPr>
        <p:spPr>
          <a:xfrm>
            <a:off x="355600" y="2031987"/>
            <a:ext cx="2007263" cy="171671"/>
          </a:xfrm>
          <a:prstGeom prst="rect">
            <a:avLst/>
          </a:prstGeom>
          <a:noFill/>
          <a:ln w="0">
            <a:noFill/>
            <a:prstDash val="solid"/>
          </a:ln>
        </p:spPr>
        <p:txBody>
          <a:bodyPr lIns="0" tIns="0" rIns="0" bIns="0" anchor="t">
            <a:noAutofit/>
          </a:bodyPr>
          <a:lstStyle/>
          <a:p>
            <a:pPr algn="ctr">
              <a:defRPr sz="975" b="1">
                <a:solidFill>
                  <a:srgbClr val="0072CE"/>
                </a:solidFill>
                <a:latin typeface="Arial"/>
                <a:ea typeface="Arial"/>
                <a:cs typeface="Arial"/>
              </a:defRPr>
            </a:pPr>
            <a:r>
              <a:rPr lang="en-US" altLang="zh-CN" sz="1300" b="1" dirty="0">
                <a:solidFill>
                  <a:srgbClr val="0072CE"/>
                </a:solidFill>
                <a:latin typeface="Arial"/>
                <a:ea typeface="Arial"/>
                <a:cs typeface="Arial"/>
              </a:rPr>
              <a:t>01</a:t>
            </a:r>
            <a:r>
              <a:rPr lang="en-US" sz="1300" b="1" dirty="0">
                <a:solidFill>
                  <a:srgbClr val="0072CE"/>
                </a:solidFill>
                <a:latin typeface="Arial"/>
                <a:ea typeface="Arial"/>
                <a:cs typeface="Arial"/>
              </a:rPr>
              <a:t> </a:t>
            </a:r>
            <a:r>
              <a:rPr lang="en-US" altLang="zh-CN" sz="1300" b="1" dirty="0">
                <a:solidFill>
                  <a:srgbClr val="0072CE"/>
                </a:solidFill>
              </a:rPr>
              <a:t>Source Records</a:t>
            </a:r>
          </a:p>
          <a:p>
            <a:pPr algn="ctr">
              <a:defRPr sz="975" b="1">
                <a:solidFill>
                  <a:srgbClr val="0072CE"/>
                </a:solidFill>
                <a:latin typeface="Arial"/>
                <a:ea typeface="Arial"/>
                <a:cs typeface="Arial"/>
              </a:defRPr>
            </a:pPr>
            <a:endParaRPr sz="1300" b="1" dirty="0">
              <a:solidFill>
                <a:srgbClr val="0072CE"/>
              </a:solidFill>
              <a:latin typeface="Arial"/>
              <a:ea typeface="Arial"/>
              <a:cs typeface="Arial"/>
            </a:endParaRPr>
          </a:p>
        </p:txBody>
      </p:sp>
      <p:sp>
        <p:nvSpPr>
          <p:cNvPr id="65" name="pipeline-body-1">
            <a:extLst>
              <a:ext uri="{FF2B5EF4-FFF2-40B4-BE49-F238E27FC236}">
                <a16:creationId xmlns:a16="http://schemas.microsoft.com/office/drawing/2014/main" id="{CB03E8EB-6F7F-4966-82D4-CCD75F600656}"/>
              </a:ext>
            </a:extLst>
          </p:cNvPr>
          <p:cNvSpPr>
            <a:spLocks noGrp="1"/>
          </p:cNvSpPr>
          <p:nvPr/>
        </p:nvSpPr>
        <p:spPr>
          <a:xfrm>
            <a:off x="362857" y="2341550"/>
            <a:ext cx="2007263" cy="461730"/>
          </a:xfrm>
          <a:prstGeom prst="rect">
            <a:avLst/>
          </a:prstGeom>
          <a:noFill/>
          <a:ln w="0">
            <a:noFill/>
            <a:prstDash val="solid"/>
          </a:ln>
        </p:spPr>
        <p:txBody>
          <a:bodyPr lIns="0" tIns="0" rIns="0" bIns="0" anchor="t">
            <a:noAutofit/>
          </a:bodyPr>
          <a:lstStyle/>
          <a:p>
            <a:pPr algn="ctr">
              <a:defRPr sz="863" b="0">
                <a:solidFill>
                  <a:srgbClr val="52616F"/>
                </a:solidFill>
                <a:latin typeface="Arial"/>
                <a:ea typeface="Arial"/>
                <a:cs typeface="Arial"/>
              </a:defRPr>
            </a:pPr>
            <a:r>
              <a:rPr lang="en-US" sz="1200" b="0" dirty="0">
                <a:solidFill>
                  <a:srgbClr val="52616F"/>
                </a:solidFill>
                <a:latin typeface="Arial"/>
                <a:ea typeface="Arial"/>
                <a:cs typeface="Arial"/>
              </a:rPr>
              <a:t>questionnaire states + </a:t>
            </a:r>
          </a:p>
          <a:p>
            <a:pPr algn="ctr">
              <a:defRPr sz="863" b="0">
                <a:solidFill>
                  <a:srgbClr val="52616F"/>
                </a:solidFill>
                <a:latin typeface="Arial"/>
                <a:ea typeface="Arial"/>
                <a:cs typeface="Arial"/>
              </a:defRPr>
            </a:pPr>
            <a:r>
              <a:rPr lang="en-US" sz="1200" b="0" dirty="0">
                <a:solidFill>
                  <a:srgbClr val="52616F"/>
                </a:solidFill>
                <a:latin typeface="Arial"/>
                <a:ea typeface="Arial"/>
                <a:cs typeface="Arial"/>
              </a:rPr>
              <a:t>rating outputs</a:t>
            </a:r>
          </a:p>
        </p:txBody>
      </p:sp>
      <p:sp>
        <p:nvSpPr>
          <p:cNvPr id="66" name="pipeline-card-1">
            <a:extLst>
              <a:ext uri="{FF2B5EF4-FFF2-40B4-BE49-F238E27FC236}">
                <a16:creationId xmlns:a16="http://schemas.microsoft.com/office/drawing/2014/main" id="{32CD9F12-07E0-45E9-8A74-3ADF0B22DF1B}"/>
              </a:ext>
            </a:extLst>
          </p:cNvPr>
          <p:cNvSpPr>
            <a:spLocks noGrp="1"/>
          </p:cNvSpPr>
          <p:nvPr/>
        </p:nvSpPr>
        <p:spPr>
          <a:xfrm>
            <a:off x="2676393" y="1923801"/>
            <a:ext cx="2019600" cy="1020085"/>
          </a:xfrm>
          <a:prstGeom prst="roundRect">
            <a:avLst>
              <a:gd name="adj" fmla="val 7767"/>
            </a:avLst>
          </a:prstGeom>
          <a:solidFill>
            <a:srgbClr val="FFFFFF"/>
          </a:solidFill>
          <a:ln w="11430">
            <a:solidFill>
              <a:srgbClr val="D6E2F0"/>
            </a:solidFill>
            <a:prstDash val="solid"/>
          </a:ln>
        </p:spPr>
        <p:txBody>
          <a:bodyPr lIns="9525" tIns="9525" rIns="9525" bIns="9525">
            <a:normAutofit/>
          </a:bodyPr>
          <a:lstStyle/>
          <a:p>
            <a:pPr>
              <a:defRPr sz="100">
                <a:solidFill>
                  <a:srgbClr val="FFFFFF"/>
                </a:solidFill>
                <a:latin typeface="Arial"/>
                <a:ea typeface="Arial"/>
                <a:cs typeface="Arial"/>
              </a:defRPr>
            </a:pPr>
            <a:r>
              <a:rPr sz="100" dirty="0">
                <a:solidFill>
                  <a:srgbClr val="FFFFFF"/>
                </a:solidFill>
                <a:latin typeface="Arial"/>
                <a:ea typeface="Arial"/>
                <a:cs typeface="Arial"/>
              </a:rPr>
              <a:t>pipeline-card-1</a:t>
            </a:r>
          </a:p>
        </p:txBody>
      </p:sp>
      <p:sp>
        <p:nvSpPr>
          <p:cNvPr id="67" name="pipeline-step-1">
            <a:extLst>
              <a:ext uri="{FF2B5EF4-FFF2-40B4-BE49-F238E27FC236}">
                <a16:creationId xmlns:a16="http://schemas.microsoft.com/office/drawing/2014/main" id="{312239B8-E3A2-4273-A423-097FC330F44C}"/>
              </a:ext>
            </a:extLst>
          </p:cNvPr>
          <p:cNvSpPr>
            <a:spLocks noGrp="1"/>
          </p:cNvSpPr>
          <p:nvPr/>
        </p:nvSpPr>
        <p:spPr>
          <a:xfrm>
            <a:off x="2671004" y="2034701"/>
            <a:ext cx="2002798" cy="168957"/>
          </a:xfrm>
          <a:prstGeom prst="rect">
            <a:avLst/>
          </a:prstGeom>
          <a:noFill/>
          <a:ln w="0">
            <a:noFill/>
            <a:prstDash val="solid"/>
          </a:ln>
        </p:spPr>
        <p:txBody>
          <a:bodyPr lIns="0" tIns="0" rIns="0" bIns="0" anchor="t">
            <a:noAutofit/>
          </a:bodyPr>
          <a:lstStyle/>
          <a:p>
            <a:pPr algn="ctr">
              <a:defRPr sz="975" b="1">
                <a:solidFill>
                  <a:srgbClr val="0072CE"/>
                </a:solidFill>
                <a:latin typeface="Arial"/>
                <a:ea typeface="Arial"/>
                <a:cs typeface="Arial"/>
              </a:defRPr>
            </a:pPr>
            <a:r>
              <a:rPr lang="en-US" sz="1300" b="1" dirty="0">
                <a:solidFill>
                  <a:srgbClr val="0072CE"/>
                </a:solidFill>
                <a:latin typeface="Arial"/>
                <a:ea typeface="Arial"/>
                <a:cs typeface="Arial"/>
              </a:rPr>
              <a:t>02 Schema validation</a:t>
            </a:r>
          </a:p>
          <a:p>
            <a:pPr algn="ctr">
              <a:defRPr sz="975" b="1">
                <a:solidFill>
                  <a:srgbClr val="0072CE"/>
                </a:solidFill>
                <a:latin typeface="Arial"/>
                <a:ea typeface="Arial"/>
                <a:cs typeface="Arial"/>
              </a:defRPr>
            </a:pPr>
            <a:endParaRPr sz="1300" b="1" dirty="0">
              <a:solidFill>
                <a:srgbClr val="0072CE"/>
              </a:solidFill>
              <a:latin typeface="Arial"/>
              <a:ea typeface="Arial"/>
              <a:cs typeface="Arial"/>
            </a:endParaRPr>
          </a:p>
        </p:txBody>
      </p:sp>
      <p:sp>
        <p:nvSpPr>
          <p:cNvPr id="68" name="pipeline-body-1">
            <a:extLst>
              <a:ext uri="{FF2B5EF4-FFF2-40B4-BE49-F238E27FC236}">
                <a16:creationId xmlns:a16="http://schemas.microsoft.com/office/drawing/2014/main" id="{D6682923-A510-4EF0-B499-BE6248B25CEC}"/>
              </a:ext>
            </a:extLst>
          </p:cNvPr>
          <p:cNvSpPr>
            <a:spLocks noGrp="1"/>
          </p:cNvSpPr>
          <p:nvPr/>
        </p:nvSpPr>
        <p:spPr>
          <a:xfrm>
            <a:off x="2675791" y="2344264"/>
            <a:ext cx="2002798" cy="461730"/>
          </a:xfrm>
          <a:prstGeom prst="rect">
            <a:avLst/>
          </a:prstGeom>
          <a:noFill/>
          <a:ln w="0">
            <a:noFill/>
            <a:prstDash val="solid"/>
          </a:ln>
        </p:spPr>
        <p:txBody>
          <a:bodyPr lIns="0" tIns="0" rIns="0" bIns="0" anchor="t">
            <a:noAutofit/>
          </a:bodyPr>
          <a:lstStyle/>
          <a:p>
            <a:pPr algn="ctr">
              <a:defRPr sz="863" b="0">
                <a:solidFill>
                  <a:srgbClr val="52616F"/>
                </a:solidFill>
                <a:latin typeface="Arial"/>
                <a:ea typeface="Arial"/>
                <a:cs typeface="Arial"/>
              </a:defRPr>
            </a:pPr>
            <a:r>
              <a:rPr lang="en-US" sz="1200" b="0" dirty="0" err="1">
                <a:solidFill>
                  <a:srgbClr val="52616F"/>
                </a:solidFill>
                <a:latin typeface="Arial"/>
                <a:ea typeface="Arial"/>
                <a:cs typeface="Arial"/>
              </a:rPr>
              <a:t>schemaVersion</a:t>
            </a:r>
            <a:r>
              <a:rPr lang="en-US" sz="1200" b="0" dirty="0">
                <a:solidFill>
                  <a:srgbClr val="52616F"/>
                </a:solidFill>
                <a:latin typeface="Arial"/>
                <a:ea typeface="Arial"/>
                <a:cs typeface="Arial"/>
              </a:rPr>
              <a:t>, </a:t>
            </a:r>
            <a:r>
              <a:rPr lang="en-US" sz="1200" b="0" dirty="0" err="1">
                <a:solidFill>
                  <a:srgbClr val="52616F"/>
                </a:solidFill>
                <a:latin typeface="Arial"/>
                <a:ea typeface="Arial"/>
                <a:cs typeface="Arial"/>
              </a:rPr>
              <a:t>sample_id</a:t>
            </a:r>
            <a:r>
              <a:rPr lang="en-US" sz="1200" b="0" dirty="0">
                <a:solidFill>
                  <a:srgbClr val="52616F"/>
                </a:solidFill>
                <a:latin typeface="Arial"/>
                <a:ea typeface="Arial"/>
                <a:cs typeface="Arial"/>
              </a:rPr>
              <a:t>, category, required fields</a:t>
            </a:r>
          </a:p>
        </p:txBody>
      </p:sp>
      <p:sp>
        <p:nvSpPr>
          <p:cNvPr id="69" name="pipeline-card-1">
            <a:extLst>
              <a:ext uri="{FF2B5EF4-FFF2-40B4-BE49-F238E27FC236}">
                <a16:creationId xmlns:a16="http://schemas.microsoft.com/office/drawing/2014/main" id="{77ABA976-2D07-457F-B106-14954180BD96}"/>
              </a:ext>
            </a:extLst>
          </p:cNvPr>
          <p:cNvSpPr>
            <a:spLocks noGrp="1"/>
          </p:cNvSpPr>
          <p:nvPr/>
        </p:nvSpPr>
        <p:spPr>
          <a:xfrm>
            <a:off x="4989649" y="1921087"/>
            <a:ext cx="2019600" cy="1020085"/>
          </a:xfrm>
          <a:prstGeom prst="roundRect">
            <a:avLst>
              <a:gd name="adj" fmla="val 7767"/>
            </a:avLst>
          </a:prstGeom>
          <a:solidFill>
            <a:srgbClr val="FFFFFF"/>
          </a:solidFill>
          <a:ln w="11430">
            <a:solidFill>
              <a:srgbClr val="D6E2F0"/>
            </a:solidFill>
            <a:prstDash val="solid"/>
          </a:ln>
        </p:spPr>
        <p:txBody>
          <a:bodyPr lIns="9525" tIns="9525" rIns="9525" bIns="9525">
            <a:normAutofit/>
          </a:bodyPr>
          <a:lstStyle/>
          <a:p>
            <a:pPr>
              <a:defRPr sz="100">
                <a:solidFill>
                  <a:srgbClr val="FFFFFF"/>
                </a:solidFill>
                <a:latin typeface="Arial"/>
                <a:ea typeface="Arial"/>
                <a:cs typeface="Arial"/>
              </a:defRPr>
            </a:pPr>
            <a:r>
              <a:rPr sz="100">
                <a:solidFill>
                  <a:srgbClr val="FFFFFF"/>
                </a:solidFill>
                <a:latin typeface="Arial"/>
                <a:ea typeface="Arial"/>
                <a:cs typeface="Arial"/>
              </a:rPr>
              <a:t>pipeline-card-1</a:t>
            </a:r>
          </a:p>
        </p:txBody>
      </p:sp>
      <p:sp>
        <p:nvSpPr>
          <p:cNvPr id="70" name="pipeline-step-1">
            <a:extLst>
              <a:ext uri="{FF2B5EF4-FFF2-40B4-BE49-F238E27FC236}">
                <a16:creationId xmlns:a16="http://schemas.microsoft.com/office/drawing/2014/main" id="{383E8F2D-E881-4A9C-B344-F09FF983C3BB}"/>
              </a:ext>
            </a:extLst>
          </p:cNvPr>
          <p:cNvSpPr>
            <a:spLocks noGrp="1"/>
          </p:cNvSpPr>
          <p:nvPr/>
        </p:nvSpPr>
        <p:spPr>
          <a:xfrm>
            <a:off x="5006277" y="2031987"/>
            <a:ext cx="2019600" cy="171671"/>
          </a:xfrm>
          <a:prstGeom prst="rect">
            <a:avLst/>
          </a:prstGeom>
          <a:noFill/>
          <a:ln w="0">
            <a:noFill/>
            <a:prstDash val="solid"/>
          </a:ln>
        </p:spPr>
        <p:txBody>
          <a:bodyPr lIns="0" tIns="0" rIns="0" bIns="0" anchor="t">
            <a:noAutofit/>
          </a:bodyPr>
          <a:lstStyle/>
          <a:p>
            <a:pPr algn="ctr">
              <a:defRPr sz="975" b="1">
                <a:solidFill>
                  <a:srgbClr val="0072CE"/>
                </a:solidFill>
                <a:latin typeface="Arial"/>
                <a:ea typeface="Arial"/>
                <a:cs typeface="Arial"/>
              </a:defRPr>
            </a:pPr>
            <a:r>
              <a:rPr lang="en-US" sz="1300" b="1" dirty="0">
                <a:solidFill>
                  <a:srgbClr val="0072CE"/>
                </a:solidFill>
                <a:latin typeface="Arial"/>
                <a:ea typeface="Arial"/>
                <a:cs typeface="Arial"/>
              </a:rPr>
              <a:t>03 Answer Consistency</a:t>
            </a:r>
          </a:p>
          <a:p>
            <a:pPr algn="ctr">
              <a:defRPr sz="975" b="1">
                <a:solidFill>
                  <a:srgbClr val="0072CE"/>
                </a:solidFill>
                <a:latin typeface="Arial"/>
                <a:ea typeface="Arial"/>
                <a:cs typeface="Arial"/>
              </a:defRPr>
            </a:pPr>
            <a:endParaRPr sz="1300" b="1" dirty="0">
              <a:solidFill>
                <a:srgbClr val="0072CE"/>
              </a:solidFill>
              <a:latin typeface="Arial"/>
              <a:ea typeface="Arial"/>
              <a:cs typeface="Arial"/>
            </a:endParaRPr>
          </a:p>
        </p:txBody>
      </p:sp>
      <p:sp>
        <p:nvSpPr>
          <p:cNvPr id="71" name="pipeline-body-1">
            <a:extLst>
              <a:ext uri="{FF2B5EF4-FFF2-40B4-BE49-F238E27FC236}">
                <a16:creationId xmlns:a16="http://schemas.microsoft.com/office/drawing/2014/main" id="{E4A20EF1-41FA-4C98-B7C4-BA4AE340A138}"/>
              </a:ext>
            </a:extLst>
          </p:cNvPr>
          <p:cNvSpPr>
            <a:spLocks noGrp="1"/>
          </p:cNvSpPr>
          <p:nvPr/>
        </p:nvSpPr>
        <p:spPr>
          <a:xfrm>
            <a:off x="4984260" y="2341550"/>
            <a:ext cx="2019600" cy="461730"/>
          </a:xfrm>
          <a:prstGeom prst="rect">
            <a:avLst/>
          </a:prstGeom>
          <a:noFill/>
          <a:ln w="0">
            <a:noFill/>
            <a:prstDash val="solid"/>
          </a:ln>
        </p:spPr>
        <p:txBody>
          <a:bodyPr lIns="0" tIns="0" rIns="0" bIns="0" anchor="t">
            <a:noAutofit/>
          </a:bodyPr>
          <a:lstStyle/>
          <a:p>
            <a:pPr algn="ctr">
              <a:defRPr sz="863" b="0">
                <a:solidFill>
                  <a:srgbClr val="52616F"/>
                </a:solidFill>
                <a:latin typeface="Arial"/>
                <a:ea typeface="Arial"/>
                <a:cs typeface="Arial"/>
              </a:defRPr>
            </a:pPr>
            <a:r>
              <a:rPr lang="en-US" sz="1200" b="0" dirty="0">
                <a:solidFill>
                  <a:srgbClr val="52616F"/>
                </a:solidFill>
                <a:latin typeface="Arial"/>
                <a:ea typeface="Arial"/>
                <a:cs typeface="Arial"/>
              </a:rPr>
              <a:t>radio/checkbox selections and explicit answers</a:t>
            </a:r>
          </a:p>
        </p:txBody>
      </p:sp>
      <p:sp>
        <p:nvSpPr>
          <p:cNvPr id="72" name="pipeline-card-1">
            <a:extLst>
              <a:ext uri="{FF2B5EF4-FFF2-40B4-BE49-F238E27FC236}">
                <a16:creationId xmlns:a16="http://schemas.microsoft.com/office/drawing/2014/main" id="{7B96B001-E90E-48B7-A8D7-A918CFCC9A4C}"/>
              </a:ext>
            </a:extLst>
          </p:cNvPr>
          <p:cNvSpPr>
            <a:spLocks noGrp="1"/>
          </p:cNvSpPr>
          <p:nvPr/>
        </p:nvSpPr>
        <p:spPr>
          <a:xfrm>
            <a:off x="7314920" y="1921087"/>
            <a:ext cx="2019600" cy="1020085"/>
          </a:xfrm>
          <a:prstGeom prst="roundRect">
            <a:avLst>
              <a:gd name="adj" fmla="val 7767"/>
            </a:avLst>
          </a:prstGeom>
          <a:solidFill>
            <a:srgbClr val="FFFFFF"/>
          </a:solidFill>
          <a:ln w="11430">
            <a:solidFill>
              <a:srgbClr val="D6E2F0"/>
            </a:solidFill>
            <a:prstDash val="solid"/>
          </a:ln>
        </p:spPr>
        <p:txBody>
          <a:bodyPr lIns="9525" tIns="9525" rIns="9525" bIns="9525">
            <a:normAutofit/>
          </a:bodyPr>
          <a:lstStyle/>
          <a:p>
            <a:pPr>
              <a:defRPr sz="100">
                <a:solidFill>
                  <a:srgbClr val="FFFFFF"/>
                </a:solidFill>
                <a:latin typeface="Arial"/>
                <a:ea typeface="Arial"/>
                <a:cs typeface="Arial"/>
              </a:defRPr>
            </a:pPr>
            <a:r>
              <a:rPr sz="100">
                <a:solidFill>
                  <a:srgbClr val="FFFFFF"/>
                </a:solidFill>
                <a:latin typeface="Arial"/>
                <a:ea typeface="Arial"/>
                <a:cs typeface="Arial"/>
              </a:rPr>
              <a:t>pipeline-card-1</a:t>
            </a:r>
          </a:p>
        </p:txBody>
      </p:sp>
      <p:sp>
        <p:nvSpPr>
          <p:cNvPr id="73" name="pipeline-step-1">
            <a:extLst>
              <a:ext uri="{FF2B5EF4-FFF2-40B4-BE49-F238E27FC236}">
                <a16:creationId xmlns:a16="http://schemas.microsoft.com/office/drawing/2014/main" id="{D14A3219-9BDB-469F-8E3E-E6A09DB7B125}"/>
              </a:ext>
            </a:extLst>
          </p:cNvPr>
          <p:cNvSpPr>
            <a:spLocks noGrp="1"/>
          </p:cNvSpPr>
          <p:nvPr/>
        </p:nvSpPr>
        <p:spPr>
          <a:xfrm>
            <a:off x="7309531" y="2031987"/>
            <a:ext cx="1974399" cy="171671"/>
          </a:xfrm>
          <a:prstGeom prst="rect">
            <a:avLst/>
          </a:prstGeom>
          <a:noFill/>
          <a:ln w="0">
            <a:noFill/>
            <a:prstDash val="solid"/>
          </a:ln>
        </p:spPr>
        <p:txBody>
          <a:bodyPr lIns="0" tIns="0" rIns="0" bIns="0" anchor="t">
            <a:noAutofit/>
          </a:bodyPr>
          <a:lstStyle/>
          <a:p>
            <a:pPr algn="ctr">
              <a:defRPr sz="975" b="1">
                <a:solidFill>
                  <a:srgbClr val="0072CE"/>
                </a:solidFill>
                <a:latin typeface="Arial"/>
                <a:ea typeface="Arial"/>
                <a:cs typeface="Arial"/>
              </a:defRPr>
            </a:pPr>
            <a:r>
              <a:rPr lang="en-US" altLang="zh-CN" sz="1300" b="1" dirty="0">
                <a:solidFill>
                  <a:srgbClr val="0072CE"/>
                </a:solidFill>
                <a:latin typeface="Arial"/>
                <a:ea typeface="Arial"/>
                <a:cs typeface="Arial"/>
              </a:rPr>
              <a:t>0</a:t>
            </a:r>
            <a:r>
              <a:rPr lang="en-US" sz="1300" b="1" dirty="0">
                <a:solidFill>
                  <a:srgbClr val="0072CE"/>
                </a:solidFill>
                <a:latin typeface="Arial"/>
                <a:ea typeface="Arial"/>
                <a:cs typeface="Arial"/>
              </a:rPr>
              <a:t>4 </a:t>
            </a:r>
            <a:r>
              <a:rPr lang="en-US" altLang="zh-CN" sz="1300" b="1" dirty="0">
                <a:solidFill>
                  <a:srgbClr val="0072CE"/>
                </a:solidFill>
              </a:rPr>
              <a:t>Branch Reachability</a:t>
            </a:r>
          </a:p>
          <a:p>
            <a:pPr algn="ctr">
              <a:defRPr sz="975" b="1">
                <a:solidFill>
                  <a:srgbClr val="0072CE"/>
                </a:solidFill>
                <a:latin typeface="Arial"/>
                <a:ea typeface="Arial"/>
                <a:cs typeface="Arial"/>
              </a:defRPr>
            </a:pPr>
            <a:endParaRPr lang="en-US" altLang="zh-CN" sz="1300" b="1" dirty="0">
              <a:solidFill>
                <a:srgbClr val="0072CE"/>
              </a:solidFill>
            </a:endParaRPr>
          </a:p>
          <a:p>
            <a:pPr algn="ctr">
              <a:defRPr sz="975" b="1">
                <a:solidFill>
                  <a:srgbClr val="0072CE"/>
                </a:solidFill>
                <a:latin typeface="Arial"/>
                <a:ea typeface="Arial"/>
                <a:cs typeface="Arial"/>
              </a:defRPr>
            </a:pPr>
            <a:endParaRPr sz="1300" b="1" dirty="0">
              <a:solidFill>
                <a:srgbClr val="0072CE"/>
              </a:solidFill>
              <a:latin typeface="Arial"/>
              <a:ea typeface="Arial"/>
              <a:cs typeface="Arial"/>
            </a:endParaRPr>
          </a:p>
        </p:txBody>
      </p:sp>
      <p:sp>
        <p:nvSpPr>
          <p:cNvPr id="74" name="pipeline-body-1">
            <a:extLst>
              <a:ext uri="{FF2B5EF4-FFF2-40B4-BE49-F238E27FC236}">
                <a16:creationId xmlns:a16="http://schemas.microsoft.com/office/drawing/2014/main" id="{DB6921BE-C0F6-48A3-B1B4-1403D7CE963C}"/>
              </a:ext>
            </a:extLst>
          </p:cNvPr>
          <p:cNvSpPr>
            <a:spLocks noGrp="1"/>
          </p:cNvSpPr>
          <p:nvPr/>
        </p:nvSpPr>
        <p:spPr>
          <a:xfrm>
            <a:off x="7320221" y="2341550"/>
            <a:ext cx="2008910" cy="461730"/>
          </a:xfrm>
          <a:prstGeom prst="rect">
            <a:avLst/>
          </a:prstGeom>
          <a:noFill/>
          <a:ln w="0">
            <a:noFill/>
            <a:prstDash val="solid"/>
          </a:ln>
        </p:spPr>
        <p:txBody>
          <a:bodyPr lIns="0" tIns="0" rIns="0" bIns="0" anchor="t">
            <a:noAutofit/>
          </a:bodyPr>
          <a:lstStyle/>
          <a:p>
            <a:pPr algn="ctr">
              <a:defRPr sz="863" b="0">
                <a:solidFill>
                  <a:srgbClr val="52616F"/>
                </a:solidFill>
                <a:latin typeface="Arial"/>
                <a:ea typeface="Arial"/>
                <a:cs typeface="Arial"/>
              </a:defRPr>
            </a:pPr>
            <a:r>
              <a:rPr lang="en-US" sz="1200" b="0" dirty="0">
                <a:solidFill>
                  <a:srgbClr val="52616F"/>
                </a:solidFill>
                <a:latin typeface="Arial"/>
                <a:ea typeface="Arial"/>
                <a:cs typeface="Arial"/>
              </a:rPr>
              <a:t>active branches checked with </a:t>
            </a:r>
            <a:r>
              <a:rPr lang="en-US" sz="1200" b="0" dirty="0" err="1">
                <a:solidFill>
                  <a:srgbClr val="52616F"/>
                </a:solidFill>
                <a:latin typeface="Arial"/>
                <a:ea typeface="Arial"/>
                <a:cs typeface="Arial"/>
              </a:rPr>
              <a:t>question_graph.json</a:t>
            </a:r>
            <a:endParaRPr lang="en-US" sz="1200" b="0" dirty="0">
              <a:solidFill>
                <a:srgbClr val="52616F"/>
              </a:solidFill>
              <a:latin typeface="Arial"/>
              <a:ea typeface="Arial"/>
              <a:cs typeface="Arial"/>
            </a:endParaRPr>
          </a:p>
        </p:txBody>
      </p:sp>
      <p:sp>
        <p:nvSpPr>
          <p:cNvPr id="75" name="pipeline-card-1">
            <a:extLst>
              <a:ext uri="{FF2B5EF4-FFF2-40B4-BE49-F238E27FC236}">
                <a16:creationId xmlns:a16="http://schemas.microsoft.com/office/drawing/2014/main" id="{606615FA-B1AF-41C2-8960-11A0E948F6E5}"/>
              </a:ext>
            </a:extLst>
          </p:cNvPr>
          <p:cNvSpPr>
            <a:spLocks noGrp="1"/>
          </p:cNvSpPr>
          <p:nvPr/>
        </p:nvSpPr>
        <p:spPr>
          <a:xfrm>
            <a:off x="9640191" y="1931739"/>
            <a:ext cx="2019600" cy="1020085"/>
          </a:xfrm>
          <a:prstGeom prst="roundRect">
            <a:avLst>
              <a:gd name="adj" fmla="val 7767"/>
            </a:avLst>
          </a:prstGeom>
          <a:solidFill>
            <a:schemeClr val="accent1">
              <a:lumMod val="75000"/>
            </a:schemeClr>
          </a:solidFill>
          <a:ln w="11430">
            <a:solidFill>
              <a:srgbClr val="D6E2F0"/>
            </a:solidFill>
            <a:prstDash val="solid"/>
          </a:ln>
        </p:spPr>
        <p:txBody>
          <a:bodyPr lIns="9525" tIns="9525" rIns="9525" bIns="9525">
            <a:normAutofit/>
          </a:bodyPr>
          <a:lstStyle/>
          <a:p>
            <a:pPr>
              <a:defRPr sz="100">
                <a:solidFill>
                  <a:srgbClr val="FFFFFF"/>
                </a:solidFill>
                <a:latin typeface="Arial"/>
                <a:ea typeface="Arial"/>
                <a:cs typeface="Arial"/>
              </a:defRPr>
            </a:pPr>
            <a:r>
              <a:rPr sz="100">
                <a:solidFill>
                  <a:srgbClr val="FFFFFF"/>
                </a:solidFill>
                <a:latin typeface="Arial"/>
                <a:ea typeface="Arial"/>
                <a:cs typeface="Arial"/>
              </a:rPr>
              <a:t>pipeline-card-1</a:t>
            </a:r>
          </a:p>
        </p:txBody>
      </p:sp>
      <p:sp>
        <p:nvSpPr>
          <p:cNvPr id="76" name="pipeline-step-1">
            <a:extLst>
              <a:ext uri="{FF2B5EF4-FFF2-40B4-BE49-F238E27FC236}">
                <a16:creationId xmlns:a16="http://schemas.microsoft.com/office/drawing/2014/main" id="{7EB2ED13-08DA-4B2F-8FB0-523E8ACCB041}"/>
              </a:ext>
            </a:extLst>
          </p:cNvPr>
          <p:cNvSpPr>
            <a:spLocks noGrp="1"/>
          </p:cNvSpPr>
          <p:nvPr/>
        </p:nvSpPr>
        <p:spPr>
          <a:xfrm>
            <a:off x="9645579" y="2042639"/>
            <a:ext cx="1998045" cy="161019"/>
          </a:xfrm>
          <a:prstGeom prst="rect">
            <a:avLst/>
          </a:prstGeom>
          <a:noFill/>
          <a:ln w="0">
            <a:noFill/>
            <a:prstDash val="solid"/>
          </a:ln>
        </p:spPr>
        <p:txBody>
          <a:bodyPr lIns="0" tIns="0" rIns="0" bIns="0" anchor="t">
            <a:noAutofit/>
          </a:bodyPr>
          <a:lstStyle/>
          <a:p>
            <a:pPr algn="ctr">
              <a:defRPr sz="975" b="1">
                <a:solidFill>
                  <a:srgbClr val="0072CE"/>
                </a:solidFill>
                <a:latin typeface="Arial"/>
                <a:ea typeface="Arial"/>
                <a:cs typeface="Arial"/>
              </a:defRPr>
            </a:pPr>
            <a:r>
              <a:rPr lang="en-US" altLang="zh-CN" sz="1300" b="1" dirty="0">
                <a:solidFill>
                  <a:schemeClr val="bg1"/>
                </a:solidFill>
                <a:latin typeface="Arial"/>
                <a:ea typeface="Arial"/>
                <a:cs typeface="Arial"/>
              </a:rPr>
              <a:t>0</a:t>
            </a:r>
            <a:r>
              <a:rPr lang="en-US" sz="1300" b="1" dirty="0">
                <a:solidFill>
                  <a:schemeClr val="bg1"/>
                </a:solidFill>
                <a:latin typeface="Arial"/>
                <a:ea typeface="Arial"/>
                <a:cs typeface="Arial"/>
              </a:rPr>
              <a:t>5 </a:t>
            </a:r>
            <a:r>
              <a:rPr lang="en-US" altLang="zh-CN" sz="1300" b="1" dirty="0">
                <a:solidFill>
                  <a:schemeClr val="bg1"/>
                </a:solidFill>
              </a:rPr>
              <a:t>Clean samples</a:t>
            </a:r>
          </a:p>
          <a:p>
            <a:pPr algn="ctr">
              <a:defRPr sz="975" b="1">
                <a:solidFill>
                  <a:srgbClr val="0072CE"/>
                </a:solidFill>
                <a:latin typeface="Arial"/>
                <a:ea typeface="Arial"/>
                <a:cs typeface="Arial"/>
              </a:defRPr>
            </a:pPr>
            <a:endParaRPr lang="en-US" altLang="zh-CN" sz="1300" b="1" dirty="0">
              <a:solidFill>
                <a:schemeClr val="bg1"/>
              </a:solidFill>
            </a:endParaRPr>
          </a:p>
          <a:p>
            <a:pPr algn="ctr">
              <a:defRPr sz="975" b="1">
                <a:solidFill>
                  <a:srgbClr val="0072CE"/>
                </a:solidFill>
                <a:latin typeface="Arial"/>
                <a:ea typeface="Arial"/>
                <a:cs typeface="Arial"/>
              </a:defRPr>
            </a:pPr>
            <a:endParaRPr sz="1300" b="1" dirty="0">
              <a:solidFill>
                <a:srgbClr val="0072CE"/>
              </a:solidFill>
              <a:latin typeface="Arial"/>
              <a:ea typeface="Arial"/>
              <a:cs typeface="Arial"/>
            </a:endParaRPr>
          </a:p>
        </p:txBody>
      </p:sp>
      <p:sp>
        <p:nvSpPr>
          <p:cNvPr id="77" name="pipeline-body-1">
            <a:extLst>
              <a:ext uri="{FF2B5EF4-FFF2-40B4-BE49-F238E27FC236}">
                <a16:creationId xmlns:a16="http://schemas.microsoft.com/office/drawing/2014/main" id="{5A62DD5A-A712-4470-844A-1FD6F7EF0632}"/>
              </a:ext>
            </a:extLst>
          </p:cNvPr>
          <p:cNvSpPr>
            <a:spLocks noGrp="1"/>
          </p:cNvSpPr>
          <p:nvPr/>
        </p:nvSpPr>
        <p:spPr>
          <a:xfrm>
            <a:off x="9645579" y="2352202"/>
            <a:ext cx="2008823" cy="461730"/>
          </a:xfrm>
          <a:prstGeom prst="rect">
            <a:avLst/>
          </a:prstGeom>
          <a:noFill/>
          <a:ln w="0">
            <a:noFill/>
            <a:prstDash val="solid"/>
          </a:ln>
        </p:spPr>
        <p:txBody>
          <a:bodyPr lIns="0" tIns="0" rIns="0" bIns="0" anchor="t">
            <a:noAutofit/>
          </a:bodyPr>
          <a:lstStyle/>
          <a:p>
            <a:pPr algn="ctr">
              <a:defRPr sz="863" b="0">
                <a:solidFill>
                  <a:srgbClr val="52616F"/>
                </a:solidFill>
                <a:latin typeface="Arial"/>
                <a:ea typeface="Arial"/>
                <a:cs typeface="Arial"/>
              </a:defRPr>
            </a:pPr>
            <a:r>
              <a:rPr lang="en-US" sz="1200" b="0" dirty="0">
                <a:solidFill>
                  <a:schemeClr val="bg1"/>
                </a:solidFill>
                <a:latin typeface="Arial"/>
                <a:ea typeface="Arial"/>
                <a:cs typeface="Arial"/>
              </a:rPr>
              <a:t>retained for flattening and train/test split</a:t>
            </a:r>
          </a:p>
        </p:txBody>
      </p:sp>
      <p:sp>
        <p:nvSpPr>
          <p:cNvPr id="78" name="pipeline-arrow-1">
            <a:extLst>
              <a:ext uri="{FF2B5EF4-FFF2-40B4-BE49-F238E27FC236}">
                <a16:creationId xmlns:a16="http://schemas.microsoft.com/office/drawing/2014/main" id="{C1E5D09A-9F1E-4DFD-9D3F-89324295609E}"/>
              </a:ext>
            </a:extLst>
          </p:cNvPr>
          <p:cNvSpPr>
            <a:spLocks noGrp="1"/>
          </p:cNvSpPr>
          <p:nvPr/>
        </p:nvSpPr>
        <p:spPr>
          <a:xfrm>
            <a:off x="2414191" y="2272380"/>
            <a:ext cx="228600" cy="333375"/>
          </a:xfrm>
          <a:prstGeom prst="rect">
            <a:avLst/>
          </a:prstGeom>
          <a:noFill/>
          <a:ln w="0">
            <a:noFill/>
            <a:prstDash val="solid"/>
          </a:ln>
        </p:spPr>
        <p:txBody>
          <a:bodyPr lIns="0" tIns="0" rIns="0" bIns="0" anchor="t">
            <a:normAutofit/>
          </a:bodyPr>
          <a:lstStyle/>
          <a:p>
            <a:pPr algn="ctr">
              <a:defRPr sz="1875" b="1">
                <a:solidFill>
                  <a:srgbClr val="0072CE"/>
                </a:solidFill>
                <a:latin typeface="Arial"/>
                <a:ea typeface="Arial"/>
                <a:cs typeface="Arial"/>
              </a:defRPr>
            </a:pPr>
            <a:r>
              <a:rPr sz="1875" b="1" dirty="0">
                <a:solidFill>
                  <a:srgbClr val="0072CE"/>
                </a:solidFill>
                <a:latin typeface="Arial"/>
                <a:ea typeface="Arial"/>
                <a:cs typeface="Arial"/>
              </a:rPr>
              <a:t>&gt;</a:t>
            </a:r>
          </a:p>
        </p:txBody>
      </p:sp>
      <p:sp>
        <p:nvSpPr>
          <p:cNvPr id="79" name="pipeline-arrow-1">
            <a:extLst>
              <a:ext uri="{FF2B5EF4-FFF2-40B4-BE49-F238E27FC236}">
                <a16:creationId xmlns:a16="http://schemas.microsoft.com/office/drawing/2014/main" id="{C193E68C-69BA-466E-A8D3-372D1AA9FED4}"/>
              </a:ext>
            </a:extLst>
          </p:cNvPr>
          <p:cNvSpPr>
            <a:spLocks noGrp="1"/>
          </p:cNvSpPr>
          <p:nvPr/>
        </p:nvSpPr>
        <p:spPr>
          <a:xfrm>
            <a:off x="4728993" y="2249692"/>
            <a:ext cx="228600" cy="333375"/>
          </a:xfrm>
          <a:prstGeom prst="rect">
            <a:avLst/>
          </a:prstGeom>
          <a:noFill/>
          <a:ln w="0">
            <a:noFill/>
            <a:prstDash val="solid"/>
          </a:ln>
        </p:spPr>
        <p:txBody>
          <a:bodyPr lIns="0" tIns="0" rIns="0" bIns="0" anchor="t">
            <a:normAutofit/>
          </a:bodyPr>
          <a:lstStyle/>
          <a:p>
            <a:pPr algn="ctr">
              <a:defRPr sz="1875" b="1">
                <a:solidFill>
                  <a:srgbClr val="0072CE"/>
                </a:solidFill>
                <a:latin typeface="Arial"/>
                <a:ea typeface="Arial"/>
                <a:cs typeface="Arial"/>
              </a:defRPr>
            </a:pPr>
            <a:r>
              <a:rPr sz="1875" b="1" dirty="0">
                <a:solidFill>
                  <a:srgbClr val="0072CE"/>
                </a:solidFill>
                <a:latin typeface="Arial"/>
                <a:ea typeface="Arial"/>
                <a:cs typeface="Arial"/>
              </a:rPr>
              <a:t>&gt;</a:t>
            </a:r>
          </a:p>
        </p:txBody>
      </p:sp>
      <p:sp>
        <p:nvSpPr>
          <p:cNvPr id="80" name="pipeline-arrow-1">
            <a:extLst>
              <a:ext uri="{FF2B5EF4-FFF2-40B4-BE49-F238E27FC236}">
                <a16:creationId xmlns:a16="http://schemas.microsoft.com/office/drawing/2014/main" id="{08B4335B-BBD3-48EF-B2A5-3E54C7C4023C}"/>
              </a:ext>
            </a:extLst>
          </p:cNvPr>
          <p:cNvSpPr>
            <a:spLocks noGrp="1"/>
          </p:cNvSpPr>
          <p:nvPr/>
        </p:nvSpPr>
        <p:spPr>
          <a:xfrm>
            <a:off x="7050479" y="2264441"/>
            <a:ext cx="228600" cy="333375"/>
          </a:xfrm>
          <a:prstGeom prst="rect">
            <a:avLst/>
          </a:prstGeom>
          <a:noFill/>
          <a:ln w="0">
            <a:noFill/>
            <a:prstDash val="solid"/>
          </a:ln>
        </p:spPr>
        <p:txBody>
          <a:bodyPr lIns="0" tIns="0" rIns="0" bIns="0" anchor="t">
            <a:normAutofit/>
          </a:bodyPr>
          <a:lstStyle/>
          <a:p>
            <a:pPr algn="ctr">
              <a:defRPr sz="1875" b="1">
                <a:solidFill>
                  <a:srgbClr val="0072CE"/>
                </a:solidFill>
                <a:latin typeface="Arial"/>
                <a:ea typeface="Arial"/>
                <a:cs typeface="Arial"/>
              </a:defRPr>
            </a:pPr>
            <a:r>
              <a:rPr sz="1875" b="1" dirty="0">
                <a:solidFill>
                  <a:srgbClr val="0072CE"/>
                </a:solidFill>
                <a:latin typeface="Arial"/>
                <a:ea typeface="Arial"/>
                <a:cs typeface="Arial"/>
              </a:rPr>
              <a:t>&gt;</a:t>
            </a:r>
          </a:p>
        </p:txBody>
      </p:sp>
      <p:sp>
        <p:nvSpPr>
          <p:cNvPr id="81" name="pipeline-arrow-1">
            <a:extLst>
              <a:ext uri="{FF2B5EF4-FFF2-40B4-BE49-F238E27FC236}">
                <a16:creationId xmlns:a16="http://schemas.microsoft.com/office/drawing/2014/main" id="{B4BC29E0-531C-4451-A5B0-603193CBA1B6}"/>
              </a:ext>
            </a:extLst>
          </p:cNvPr>
          <p:cNvSpPr>
            <a:spLocks noGrp="1"/>
          </p:cNvSpPr>
          <p:nvPr/>
        </p:nvSpPr>
        <p:spPr>
          <a:xfrm>
            <a:off x="9370449" y="2265352"/>
            <a:ext cx="228600" cy="333375"/>
          </a:xfrm>
          <a:prstGeom prst="rect">
            <a:avLst/>
          </a:prstGeom>
          <a:noFill/>
          <a:ln w="0">
            <a:noFill/>
            <a:prstDash val="solid"/>
          </a:ln>
        </p:spPr>
        <p:txBody>
          <a:bodyPr lIns="0" tIns="0" rIns="0" bIns="0" anchor="t">
            <a:normAutofit/>
          </a:bodyPr>
          <a:lstStyle/>
          <a:p>
            <a:pPr algn="ctr">
              <a:defRPr sz="1875" b="1">
                <a:solidFill>
                  <a:srgbClr val="0072CE"/>
                </a:solidFill>
                <a:latin typeface="Arial"/>
                <a:ea typeface="Arial"/>
                <a:cs typeface="Arial"/>
              </a:defRPr>
            </a:pPr>
            <a:r>
              <a:rPr sz="1875" b="1" dirty="0">
                <a:solidFill>
                  <a:srgbClr val="0072CE"/>
                </a:solidFill>
                <a:latin typeface="Arial"/>
                <a:ea typeface="Arial"/>
                <a:cs typeface="Arial"/>
              </a:rPr>
              <a:t>&gt;</a:t>
            </a:r>
          </a:p>
        </p:txBody>
      </p:sp>
      <p:sp>
        <p:nvSpPr>
          <p:cNvPr id="83" name="result-badge">
            <a:extLst>
              <a:ext uri="{FF2B5EF4-FFF2-40B4-BE49-F238E27FC236}">
                <a16:creationId xmlns:a16="http://schemas.microsoft.com/office/drawing/2014/main" id="{765CD6ED-5821-4B72-A3B3-760295DC3DE7}"/>
              </a:ext>
            </a:extLst>
          </p:cNvPr>
          <p:cNvSpPr>
            <a:spLocks noGrp="1"/>
          </p:cNvSpPr>
          <p:nvPr/>
        </p:nvSpPr>
        <p:spPr>
          <a:xfrm>
            <a:off x="355600" y="3140282"/>
            <a:ext cx="11309580" cy="419100"/>
          </a:xfrm>
          <a:prstGeom prst="roundRect">
            <a:avLst>
              <a:gd name="adj" fmla="val 18182"/>
            </a:avLst>
          </a:prstGeom>
          <a:solidFill>
            <a:srgbClr val="ECF8F2"/>
          </a:solidFill>
          <a:ln w="9525">
            <a:solidFill>
              <a:srgbClr val="A9D8C0"/>
            </a:solidFill>
            <a:prstDash val="solid"/>
          </a:ln>
        </p:spPr>
        <p:txBody>
          <a:bodyPr lIns="9525" tIns="9525" rIns="9525" bIns="9525">
            <a:normAutofit/>
          </a:bodyPr>
          <a:lstStyle/>
          <a:p>
            <a:pPr>
              <a:defRPr sz="100">
                <a:solidFill>
                  <a:srgbClr val="ECF8F2"/>
                </a:solidFill>
                <a:latin typeface="Arial"/>
                <a:ea typeface="Arial"/>
                <a:cs typeface="Arial"/>
              </a:defRPr>
            </a:pPr>
            <a:r>
              <a:rPr sz="100" dirty="0">
                <a:solidFill>
                  <a:srgbClr val="ECF8F2"/>
                </a:solidFill>
                <a:latin typeface="Arial"/>
                <a:ea typeface="Arial"/>
                <a:cs typeface="Arial"/>
              </a:rPr>
              <a:t>result-badge</a:t>
            </a:r>
          </a:p>
        </p:txBody>
      </p:sp>
      <p:sp>
        <p:nvSpPr>
          <p:cNvPr id="84" name="result-badge-value">
            <a:extLst>
              <a:ext uri="{FF2B5EF4-FFF2-40B4-BE49-F238E27FC236}">
                <a16:creationId xmlns:a16="http://schemas.microsoft.com/office/drawing/2014/main" id="{DC4C1DB4-9D35-4917-B7A9-71E0CD1B8A77}"/>
              </a:ext>
            </a:extLst>
          </p:cNvPr>
          <p:cNvSpPr>
            <a:spLocks noGrp="1"/>
          </p:cNvSpPr>
          <p:nvPr/>
        </p:nvSpPr>
        <p:spPr>
          <a:xfrm>
            <a:off x="1082841" y="3234395"/>
            <a:ext cx="10589595" cy="336942"/>
          </a:xfrm>
          <a:prstGeom prst="rect">
            <a:avLst/>
          </a:prstGeom>
          <a:noFill/>
          <a:ln w="0">
            <a:noFill/>
            <a:prstDash val="solid"/>
          </a:ln>
        </p:spPr>
        <p:txBody>
          <a:bodyPr lIns="0" tIns="0" rIns="0" bIns="0" anchor="t">
            <a:normAutofit fontScale="92547"/>
          </a:bodyPr>
          <a:lstStyle/>
          <a:p>
            <a:pPr>
              <a:defRPr sz="1013" b="1">
                <a:solidFill>
                  <a:srgbClr val="003A70"/>
                </a:solidFill>
                <a:latin typeface="Arial"/>
                <a:ea typeface="Arial"/>
                <a:cs typeface="Arial"/>
              </a:defRPr>
            </a:pPr>
            <a:r>
              <a:rPr lang="en-US" sz="1600" b="1" dirty="0">
                <a:solidFill>
                  <a:srgbClr val="003A70"/>
                </a:solidFill>
                <a:latin typeface="Arial"/>
                <a:ea typeface="Arial"/>
                <a:cs typeface="Arial"/>
              </a:rPr>
              <a:t> </a:t>
            </a:r>
            <a:r>
              <a:rPr lang="en-US" altLang="zh-CN" sz="1600" b="1" dirty="0">
                <a:solidFill>
                  <a:srgbClr val="2E7D59"/>
                </a:solidFill>
                <a:latin typeface="Arial"/>
                <a:ea typeface="Arial"/>
                <a:cs typeface="Arial"/>
              </a:rPr>
              <a:t>VALIDATION PASSED</a:t>
            </a:r>
            <a:r>
              <a:rPr lang="en-US" sz="1600" b="1" dirty="0">
                <a:solidFill>
                  <a:srgbClr val="003A70"/>
                </a:solidFill>
                <a:latin typeface="Arial"/>
                <a:ea typeface="Arial"/>
                <a:cs typeface="Arial"/>
              </a:rPr>
              <a:t>: 1,265 retained samples | 0 Task 3 validation errors | 0 unexpected blank output cells</a:t>
            </a:r>
          </a:p>
        </p:txBody>
      </p:sp>
      <p:pic>
        <p:nvPicPr>
          <p:cNvPr id="150" name="Picture 17">
            <a:extLst>
              <a:ext uri="{FF2B5EF4-FFF2-40B4-BE49-F238E27FC236}">
                <a16:creationId xmlns:a16="http://schemas.microsoft.com/office/drawing/2014/main" id="{1FD0C4D0-5451-442C-9073-94F3906AA59D}"/>
              </a:ext>
            </a:extLst>
          </p:cNvPr>
          <p:cNvPicPr>
            <a:picLocks noChangeAspect="1"/>
          </p:cNvPicPr>
          <p:nvPr/>
        </p:nvPicPr>
        <p:blipFill>
          <a:blip r:embed="rId3"/>
          <a:srcRect/>
          <a:stretch>
            <a:fillRect/>
          </a:stretch>
        </p:blipFill>
        <p:spPr>
          <a:xfrm>
            <a:off x="8826500" y="139700"/>
            <a:ext cx="3365500" cy="1308100"/>
          </a:xfrm>
          <a:prstGeom prst="rect">
            <a:avLst/>
          </a:prstGeom>
          <a:noFill/>
          <a:ln w="25400" cap="flat" cmpd="sng">
            <a:noFill/>
            <a:prstDash val="solid"/>
            <a:round/>
          </a:ln>
        </p:spPr>
      </p:pic>
      <p:cxnSp>
        <p:nvCxnSpPr>
          <p:cNvPr id="151" name="Connector 3">
            <a:extLst>
              <a:ext uri="{FF2B5EF4-FFF2-40B4-BE49-F238E27FC236}">
                <a16:creationId xmlns:a16="http://schemas.microsoft.com/office/drawing/2014/main" id="{ACE6E911-C371-41DA-A23E-7A46479D0434}"/>
              </a:ext>
            </a:extLst>
          </p:cNvPr>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sp>
        <p:nvSpPr>
          <p:cNvPr id="153" name="矩形 152">
            <a:extLst>
              <a:ext uri="{FF2B5EF4-FFF2-40B4-BE49-F238E27FC236}">
                <a16:creationId xmlns:a16="http://schemas.microsoft.com/office/drawing/2014/main" id="{E22DCA05-A749-4DBA-AAE0-40FD25DFBA65}"/>
              </a:ext>
            </a:extLst>
          </p:cNvPr>
          <p:cNvSpPr>
            <a:spLocks noGrp="1"/>
          </p:cNvSpPr>
          <p:nvPr/>
        </p:nvSpPr>
        <p:spPr>
          <a:xfrm>
            <a:off x="355600" y="1253436"/>
            <a:ext cx="10573657" cy="557215"/>
          </a:xfrm>
          <a:prstGeom prst="rect">
            <a:avLst/>
          </a:prstGeom>
          <a:noFill/>
          <a:ln w="0">
            <a:noFill/>
            <a:prstDash val="solid"/>
          </a:ln>
        </p:spPr>
        <p:txBody>
          <a:bodyPr/>
          <a:lstStyle/>
          <a:p>
            <a:pPr>
              <a:defRPr sz="1125">
                <a:solidFill>
                  <a:srgbClr val="5D6B7A"/>
                </a:solidFill>
                <a:latin typeface="Arial"/>
                <a:ea typeface="Arial"/>
                <a:cs typeface="Arial"/>
              </a:defRPr>
            </a:pPr>
            <a:r>
              <a:rPr lang="en-US" sz="1600" dirty="0">
                <a:solidFill>
                  <a:srgbClr val="1F2329"/>
                </a:solidFill>
              </a:rPr>
              <a:t>Each record is validated against structural schema, answer consistency, branch reachability, and category-specific rating regions.</a:t>
            </a:r>
          </a:p>
        </p:txBody>
      </p:sp>
      <p:sp>
        <p:nvSpPr>
          <p:cNvPr id="50" name="validation-card-1">
            <a:extLst>
              <a:ext uri="{FF2B5EF4-FFF2-40B4-BE49-F238E27FC236}">
                <a16:creationId xmlns:a16="http://schemas.microsoft.com/office/drawing/2014/main" id="{93023824-FB0F-4B8A-BCA8-903783B8F605}"/>
              </a:ext>
            </a:extLst>
          </p:cNvPr>
          <p:cNvSpPr>
            <a:spLocks noGrp="1"/>
          </p:cNvSpPr>
          <p:nvPr/>
        </p:nvSpPr>
        <p:spPr>
          <a:xfrm>
            <a:off x="346974" y="3755778"/>
            <a:ext cx="2695575" cy="2076450"/>
          </a:xfrm>
          <a:prstGeom prst="roundRect">
            <a:avLst>
              <a:gd name="adj" fmla="val 4587"/>
            </a:avLst>
          </a:prstGeom>
          <a:solidFill>
            <a:srgbClr val="FFFFFF">
              <a:alpha val="88000"/>
            </a:srgbClr>
          </a:solidFill>
          <a:ln w="11430">
            <a:solidFill>
              <a:srgbClr val="DCE5F0"/>
            </a:solidFill>
            <a:prstDash val="solid"/>
          </a:ln>
        </p:spPr>
      </p:sp>
      <p:sp>
        <p:nvSpPr>
          <p:cNvPr id="51" name="validation-accent-1">
            <a:extLst>
              <a:ext uri="{FF2B5EF4-FFF2-40B4-BE49-F238E27FC236}">
                <a16:creationId xmlns:a16="http://schemas.microsoft.com/office/drawing/2014/main" id="{A8B73DF0-E974-4B21-BC17-5C0187AB7DFB}"/>
              </a:ext>
            </a:extLst>
          </p:cNvPr>
          <p:cNvSpPr>
            <a:spLocks noGrp="1"/>
          </p:cNvSpPr>
          <p:nvPr/>
        </p:nvSpPr>
        <p:spPr>
          <a:xfrm>
            <a:off x="346974" y="3755778"/>
            <a:ext cx="57150" cy="2076450"/>
          </a:xfrm>
          <a:prstGeom prst="rect">
            <a:avLst/>
          </a:prstGeom>
          <a:solidFill>
            <a:srgbClr val="2F5597"/>
          </a:solidFill>
          <a:ln w="0">
            <a:solidFill>
              <a:srgbClr val="2F5597"/>
            </a:solidFill>
            <a:prstDash val="solid"/>
          </a:ln>
        </p:spPr>
      </p:sp>
      <p:sp>
        <p:nvSpPr>
          <p:cNvPr id="52" name="validation-heading-1">
            <a:extLst>
              <a:ext uri="{FF2B5EF4-FFF2-40B4-BE49-F238E27FC236}">
                <a16:creationId xmlns:a16="http://schemas.microsoft.com/office/drawing/2014/main" id="{61EF283F-FCCE-4017-8245-A9484F9BAC18}"/>
              </a:ext>
            </a:extLst>
          </p:cNvPr>
          <p:cNvSpPr>
            <a:spLocks noGrp="1"/>
          </p:cNvSpPr>
          <p:nvPr/>
        </p:nvSpPr>
        <p:spPr>
          <a:xfrm>
            <a:off x="537474" y="3927228"/>
            <a:ext cx="2333625" cy="266700"/>
          </a:xfrm>
          <a:prstGeom prst="rect">
            <a:avLst/>
          </a:prstGeom>
          <a:noFill/>
          <a:ln w="0">
            <a:noFill/>
            <a:prstDash val="solid"/>
          </a:ln>
        </p:spPr>
        <p:txBody>
          <a:bodyPr lIns="0" tIns="0" rIns="0" bIns="0" anchor="ctr"/>
          <a:lstStyle/>
          <a:p>
            <a:pPr algn="l">
              <a:lnSpc>
                <a:spcPct val="108000"/>
              </a:lnSpc>
              <a:buNone/>
              <a:defRPr sz="1200" b="1">
                <a:solidFill>
                  <a:srgbClr val="17375E"/>
                </a:solidFill>
                <a:latin typeface="Noto Sans SC"/>
                <a:ea typeface="Noto Sans SC"/>
                <a:cs typeface="Noto Sans SC"/>
              </a:defRPr>
            </a:pPr>
            <a:r>
              <a:rPr sz="1410" b="1" dirty="0">
                <a:solidFill>
                  <a:srgbClr val="17375E"/>
                </a:solidFill>
                <a:latin typeface="Noto Sans SC"/>
                <a:ea typeface="Noto Sans SC"/>
                <a:cs typeface="Noto Sans SC"/>
              </a:rPr>
              <a:t>Structure &amp; Identity</a:t>
            </a:r>
          </a:p>
        </p:txBody>
      </p:sp>
      <p:sp>
        <p:nvSpPr>
          <p:cNvPr id="53" name="validation-body-1">
            <a:extLst>
              <a:ext uri="{FF2B5EF4-FFF2-40B4-BE49-F238E27FC236}">
                <a16:creationId xmlns:a16="http://schemas.microsoft.com/office/drawing/2014/main" id="{144F741A-539A-4F2C-B1A7-73B5F50A0F42}"/>
              </a:ext>
            </a:extLst>
          </p:cNvPr>
          <p:cNvSpPr>
            <a:spLocks noGrp="1"/>
          </p:cNvSpPr>
          <p:nvPr/>
        </p:nvSpPr>
        <p:spPr>
          <a:xfrm>
            <a:off x="537474" y="4308228"/>
            <a:ext cx="2333625" cy="1257300"/>
          </a:xfrm>
          <a:prstGeom prst="rect">
            <a:avLst/>
          </a:prstGeom>
          <a:noFill/>
          <a:ln w="0">
            <a:noFill/>
            <a:prstDash val="solid"/>
          </a:ln>
        </p:spPr>
        <p:txBody>
          <a:bodyPr lIns="0" tIns="0" rIns="0" bIns="0" anchor="ctr"/>
          <a:lstStyle/>
          <a:p>
            <a:pPr algn="l">
              <a:lnSpc>
                <a:spcPct val="112000"/>
              </a:lnSpc>
              <a:buNone/>
              <a:defRPr sz="960" b="0">
                <a:solidFill>
                  <a:srgbClr val="374151"/>
                </a:solidFill>
                <a:latin typeface="Arial"/>
                <a:ea typeface="Arial"/>
                <a:cs typeface="Arial"/>
              </a:defRPr>
            </a:pPr>
            <a:r>
              <a:rPr lang="en-US" sz="1200" b="0" dirty="0">
                <a:solidFill>
                  <a:srgbClr val="374151"/>
                </a:solidFill>
                <a:latin typeface="Arial"/>
                <a:ea typeface="Arial"/>
                <a:cs typeface="Arial"/>
              </a:rPr>
              <a:t>Checked </a:t>
            </a:r>
            <a:r>
              <a:rPr lang="en-US" sz="1200" b="0" dirty="0" err="1">
                <a:solidFill>
                  <a:srgbClr val="374151"/>
                </a:solidFill>
                <a:latin typeface="Arial"/>
                <a:ea typeface="Arial"/>
                <a:cs typeface="Arial"/>
              </a:rPr>
              <a:t>schemaVersion</a:t>
            </a:r>
            <a:r>
              <a:rPr lang="en-US" sz="1200" b="0" dirty="0">
                <a:solidFill>
                  <a:srgbClr val="374151"/>
                </a:solidFill>
                <a:latin typeface="Arial"/>
                <a:ea typeface="Arial"/>
                <a:cs typeface="Arial"/>
              </a:rPr>
              <a:t> equals 2, non-empty </a:t>
            </a:r>
            <a:r>
              <a:rPr lang="en-US" sz="1200" b="0" dirty="0" err="1">
                <a:solidFill>
                  <a:srgbClr val="374151"/>
                </a:solidFill>
                <a:latin typeface="Arial"/>
                <a:ea typeface="Arial"/>
                <a:cs typeface="Arial"/>
              </a:rPr>
              <a:t>sample_id</a:t>
            </a:r>
            <a:r>
              <a:rPr lang="en-US" sz="1200" b="0" dirty="0">
                <a:solidFill>
                  <a:srgbClr val="374151"/>
                </a:solidFill>
                <a:latin typeface="Arial"/>
                <a:ea typeface="Arial"/>
                <a:cs typeface="Arial"/>
              </a:rPr>
              <a:t>, valid category, and required arrays.</a:t>
            </a:r>
          </a:p>
          <a:p>
            <a:pPr algn="l">
              <a:lnSpc>
                <a:spcPct val="112000"/>
              </a:lnSpc>
              <a:buNone/>
              <a:defRPr sz="960" b="0">
                <a:solidFill>
                  <a:srgbClr val="374151"/>
                </a:solidFill>
                <a:latin typeface="Arial"/>
                <a:ea typeface="Arial"/>
                <a:cs typeface="Arial"/>
              </a:defRPr>
            </a:pPr>
            <a:r>
              <a:rPr sz="1200" b="0" dirty="0">
                <a:solidFill>
                  <a:srgbClr val="374151"/>
                </a:solidFill>
                <a:latin typeface="Arial"/>
                <a:ea typeface="Arial"/>
                <a:cs typeface="Arial"/>
              </a:rPr>
              <a:t>Catches missing IDs, invalid categories, and malformed records.</a:t>
            </a:r>
          </a:p>
        </p:txBody>
      </p:sp>
      <p:sp>
        <p:nvSpPr>
          <p:cNvPr id="54" name="validation-card-2">
            <a:extLst>
              <a:ext uri="{FF2B5EF4-FFF2-40B4-BE49-F238E27FC236}">
                <a16:creationId xmlns:a16="http://schemas.microsoft.com/office/drawing/2014/main" id="{26DD4BF0-D8FC-483D-90BC-C5E427FB189A}"/>
              </a:ext>
            </a:extLst>
          </p:cNvPr>
          <p:cNvSpPr>
            <a:spLocks noGrp="1"/>
          </p:cNvSpPr>
          <p:nvPr/>
        </p:nvSpPr>
        <p:spPr>
          <a:xfrm>
            <a:off x="3213999" y="3755778"/>
            <a:ext cx="2695575" cy="2076450"/>
          </a:xfrm>
          <a:prstGeom prst="roundRect">
            <a:avLst>
              <a:gd name="adj" fmla="val 4587"/>
            </a:avLst>
          </a:prstGeom>
          <a:solidFill>
            <a:srgbClr val="FFFFFF">
              <a:alpha val="88000"/>
            </a:srgbClr>
          </a:solidFill>
          <a:ln w="11430">
            <a:solidFill>
              <a:srgbClr val="DCE5F0"/>
            </a:solidFill>
            <a:prstDash val="solid"/>
          </a:ln>
        </p:spPr>
      </p:sp>
      <p:sp>
        <p:nvSpPr>
          <p:cNvPr id="55" name="validation-accent-2">
            <a:extLst>
              <a:ext uri="{FF2B5EF4-FFF2-40B4-BE49-F238E27FC236}">
                <a16:creationId xmlns:a16="http://schemas.microsoft.com/office/drawing/2014/main" id="{63D4D8A2-3650-4F2F-846C-7016A4F16227}"/>
              </a:ext>
            </a:extLst>
          </p:cNvPr>
          <p:cNvSpPr>
            <a:spLocks noGrp="1"/>
          </p:cNvSpPr>
          <p:nvPr/>
        </p:nvSpPr>
        <p:spPr>
          <a:xfrm>
            <a:off x="3213999" y="3755778"/>
            <a:ext cx="57150" cy="2076450"/>
          </a:xfrm>
          <a:prstGeom prst="rect">
            <a:avLst/>
          </a:prstGeom>
          <a:solidFill>
            <a:srgbClr val="4472C4"/>
          </a:solidFill>
          <a:ln w="0">
            <a:solidFill>
              <a:srgbClr val="4472C4"/>
            </a:solidFill>
            <a:prstDash val="solid"/>
          </a:ln>
        </p:spPr>
      </p:sp>
      <p:sp>
        <p:nvSpPr>
          <p:cNvPr id="56" name="validation-heading-2">
            <a:extLst>
              <a:ext uri="{FF2B5EF4-FFF2-40B4-BE49-F238E27FC236}">
                <a16:creationId xmlns:a16="http://schemas.microsoft.com/office/drawing/2014/main" id="{E2247BCB-BE44-4A1B-8B02-49639510B344}"/>
              </a:ext>
            </a:extLst>
          </p:cNvPr>
          <p:cNvSpPr>
            <a:spLocks noGrp="1"/>
          </p:cNvSpPr>
          <p:nvPr/>
        </p:nvSpPr>
        <p:spPr>
          <a:xfrm>
            <a:off x="3404499" y="3927228"/>
            <a:ext cx="2333625" cy="266700"/>
          </a:xfrm>
          <a:prstGeom prst="rect">
            <a:avLst/>
          </a:prstGeom>
          <a:noFill/>
          <a:ln w="0">
            <a:noFill/>
            <a:prstDash val="solid"/>
          </a:ln>
        </p:spPr>
        <p:txBody>
          <a:bodyPr lIns="0" tIns="0" rIns="0" bIns="0" anchor="ctr"/>
          <a:lstStyle/>
          <a:p>
            <a:pPr algn="l">
              <a:lnSpc>
                <a:spcPct val="108000"/>
              </a:lnSpc>
              <a:buNone/>
              <a:defRPr sz="1200" b="1">
                <a:solidFill>
                  <a:srgbClr val="17375E"/>
                </a:solidFill>
                <a:latin typeface="Noto Sans SC"/>
                <a:ea typeface="Noto Sans SC"/>
                <a:cs typeface="Noto Sans SC"/>
              </a:defRPr>
            </a:pPr>
            <a:r>
              <a:rPr sz="1410" b="1" dirty="0">
                <a:solidFill>
                  <a:srgbClr val="17375E"/>
                </a:solidFill>
                <a:latin typeface="Noto Sans SC"/>
                <a:ea typeface="Noto Sans SC"/>
                <a:cs typeface="Noto Sans SC"/>
              </a:rPr>
              <a:t>Answer Consistency</a:t>
            </a:r>
          </a:p>
        </p:txBody>
      </p:sp>
      <p:sp>
        <p:nvSpPr>
          <p:cNvPr id="57" name="validation-body-2">
            <a:extLst>
              <a:ext uri="{FF2B5EF4-FFF2-40B4-BE49-F238E27FC236}">
                <a16:creationId xmlns:a16="http://schemas.microsoft.com/office/drawing/2014/main" id="{516AA841-1FCC-49D5-A332-314ACE9CF24E}"/>
              </a:ext>
            </a:extLst>
          </p:cNvPr>
          <p:cNvSpPr>
            <a:spLocks noGrp="1"/>
          </p:cNvSpPr>
          <p:nvPr/>
        </p:nvSpPr>
        <p:spPr>
          <a:xfrm>
            <a:off x="3404499" y="4193928"/>
            <a:ext cx="2333625" cy="1246191"/>
          </a:xfrm>
          <a:prstGeom prst="rect">
            <a:avLst/>
          </a:prstGeom>
          <a:noFill/>
          <a:ln w="0">
            <a:noFill/>
            <a:prstDash val="solid"/>
          </a:ln>
        </p:spPr>
        <p:txBody>
          <a:bodyPr lIns="0" tIns="0" rIns="0" bIns="0" anchor="ctr"/>
          <a:lstStyle/>
          <a:p>
            <a:pPr algn="l">
              <a:lnSpc>
                <a:spcPct val="112000"/>
              </a:lnSpc>
              <a:buNone/>
              <a:defRPr sz="960" b="0">
                <a:solidFill>
                  <a:srgbClr val="374151"/>
                </a:solidFill>
                <a:latin typeface="Arial"/>
                <a:ea typeface="Arial"/>
                <a:cs typeface="Arial"/>
              </a:defRPr>
            </a:pPr>
            <a:r>
              <a:rPr sz="1200" b="0" dirty="0">
                <a:solidFill>
                  <a:srgbClr val="374151"/>
                </a:solidFill>
                <a:latin typeface="Arial"/>
                <a:ea typeface="Arial"/>
                <a:cs typeface="Arial"/>
              </a:rPr>
              <a:t>Radio questions must have one selected option.</a:t>
            </a:r>
          </a:p>
          <a:p>
            <a:pPr algn="l">
              <a:lnSpc>
                <a:spcPct val="112000"/>
              </a:lnSpc>
              <a:buNone/>
              <a:defRPr sz="960" b="0">
                <a:solidFill>
                  <a:srgbClr val="374151"/>
                </a:solidFill>
                <a:latin typeface="Arial"/>
                <a:ea typeface="Arial"/>
                <a:cs typeface="Arial"/>
              </a:defRPr>
            </a:pPr>
            <a:r>
              <a:rPr sz="1200" b="0" dirty="0">
                <a:solidFill>
                  <a:srgbClr val="374151"/>
                </a:solidFill>
                <a:latin typeface="Arial"/>
                <a:ea typeface="Arial"/>
                <a:cs typeface="Arial"/>
              </a:rPr>
              <a:t>Checkbox selections and explicit answers must match the recorded question state.</a:t>
            </a:r>
          </a:p>
        </p:txBody>
      </p:sp>
      <p:sp>
        <p:nvSpPr>
          <p:cNvPr id="58" name="validation-card-3">
            <a:extLst>
              <a:ext uri="{FF2B5EF4-FFF2-40B4-BE49-F238E27FC236}">
                <a16:creationId xmlns:a16="http://schemas.microsoft.com/office/drawing/2014/main" id="{1F4AFA1C-A46A-4B0B-A822-A906E8E3C6D1}"/>
              </a:ext>
            </a:extLst>
          </p:cNvPr>
          <p:cNvSpPr>
            <a:spLocks noGrp="1"/>
          </p:cNvSpPr>
          <p:nvPr/>
        </p:nvSpPr>
        <p:spPr>
          <a:xfrm>
            <a:off x="6081024" y="3755778"/>
            <a:ext cx="2695575" cy="2076450"/>
          </a:xfrm>
          <a:prstGeom prst="roundRect">
            <a:avLst>
              <a:gd name="adj" fmla="val 4587"/>
            </a:avLst>
          </a:prstGeom>
          <a:solidFill>
            <a:srgbClr val="FFFFFF">
              <a:alpha val="88000"/>
            </a:srgbClr>
          </a:solidFill>
          <a:ln w="11430">
            <a:solidFill>
              <a:srgbClr val="DCE5F0"/>
            </a:solidFill>
            <a:prstDash val="solid"/>
          </a:ln>
        </p:spPr>
      </p:sp>
      <p:sp>
        <p:nvSpPr>
          <p:cNvPr id="59" name="validation-accent-3">
            <a:extLst>
              <a:ext uri="{FF2B5EF4-FFF2-40B4-BE49-F238E27FC236}">
                <a16:creationId xmlns:a16="http://schemas.microsoft.com/office/drawing/2014/main" id="{0E5F6AD9-8F34-4F8E-8652-DD49A50DDD51}"/>
              </a:ext>
            </a:extLst>
          </p:cNvPr>
          <p:cNvSpPr>
            <a:spLocks noGrp="1"/>
          </p:cNvSpPr>
          <p:nvPr/>
        </p:nvSpPr>
        <p:spPr>
          <a:xfrm>
            <a:off x="6081024" y="3755778"/>
            <a:ext cx="57150" cy="2076450"/>
          </a:xfrm>
          <a:prstGeom prst="rect">
            <a:avLst/>
          </a:prstGeom>
          <a:solidFill>
            <a:srgbClr val="ED7D31"/>
          </a:solidFill>
          <a:ln w="0">
            <a:solidFill>
              <a:srgbClr val="ED7D31"/>
            </a:solidFill>
            <a:prstDash val="solid"/>
          </a:ln>
        </p:spPr>
      </p:sp>
      <p:sp>
        <p:nvSpPr>
          <p:cNvPr id="60" name="validation-heading-3">
            <a:extLst>
              <a:ext uri="{FF2B5EF4-FFF2-40B4-BE49-F238E27FC236}">
                <a16:creationId xmlns:a16="http://schemas.microsoft.com/office/drawing/2014/main" id="{70A929A1-C02B-4A87-83DB-AC5E78C51285}"/>
              </a:ext>
            </a:extLst>
          </p:cNvPr>
          <p:cNvSpPr>
            <a:spLocks noGrp="1"/>
          </p:cNvSpPr>
          <p:nvPr/>
        </p:nvSpPr>
        <p:spPr>
          <a:xfrm>
            <a:off x="6271524" y="3927228"/>
            <a:ext cx="2333625" cy="266700"/>
          </a:xfrm>
          <a:prstGeom prst="rect">
            <a:avLst/>
          </a:prstGeom>
          <a:noFill/>
          <a:ln w="0">
            <a:noFill/>
            <a:prstDash val="solid"/>
          </a:ln>
        </p:spPr>
        <p:txBody>
          <a:bodyPr lIns="0" tIns="0" rIns="0" bIns="0" anchor="ctr"/>
          <a:lstStyle/>
          <a:p>
            <a:pPr algn="l">
              <a:lnSpc>
                <a:spcPct val="108000"/>
              </a:lnSpc>
              <a:buNone/>
              <a:defRPr sz="1200" b="1">
                <a:solidFill>
                  <a:srgbClr val="17375E"/>
                </a:solidFill>
                <a:latin typeface="Noto Sans SC"/>
                <a:ea typeface="Noto Sans SC"/>
                <a:cs typeface="Noto Sans SC"/>
              </a:defRPr>
            </a:pPr>
            <a:r>
              <a:rPr sz="1410" b="1" dirty="0">
                <a:solidFill>
                  <a:srgbClr val="17375E"/>
                </a:solidFill>
                <a:latin typeface="Noto Sans SC"/>
                <a:ea typeface="Noto Sans SC"/>
                <a:cs typeface="Noto Sans SC"/>
              </a:rPr>
              <a:t>Branch Logic</a:t>
            </a:r>
          </a:p>
        </p:txBody>
      </p:sp>
      <p:sp>
        <p:nvSpPr>
          <p:cNvPr id="61" name="validation-body-3">
            <a:extLst>
              <a:ext uri="{FF2B5EF4-FFF2-40B4-BE49-F238E27FC236}">
                <a16:creationId xmlns:a16="http://schemas.microsoft.com/office/drawing/2014/main" id="{D5ADAE6F-3463-4195-B69B-FF24DFC170C1}"/>
              </a:ext>
            </a:extLst>
          </p:cNvPr>
          <p:cNvSpPr>
            <a:spLocks noGrp="1"/>
          </p:cNvSpPr>
          <p:nvPr/>
        </p:nvSpPr>
        <p:spPr>
          <a:xfrm>
            <a:off x="6261998" y="4308228"/>
            <a:ext cx="2333625" cy="1009918"/>
          </a:xfrm>
          <a:prstGeom prst="rect">
            <a:avLst/>
          </a:prstGeom>
          <a:noFill/>
          <a:ln w="0">
            <a:noFill/>
            <a:prstDash val="solid"/>
          </a:ln>
        </p:spPr>
        <p:txBody>
          <a:bodyPr lIns="0" tIns="0" rIns="0" bIns="0" anchor="ctr"/>
          <a:lstStyle/>
          <a:p>
            <a:pPr algn="l">
              <a:lnSpc>
                <a:spcPct val="112000"/>
              </a:lnSpc>
              <a:buNone/>
              <a:defRPr sz="960" b="0">
                <a:solidFill>
                  <a:srgbClr val="374151"/>
                </a:solidFill>
                <a:latin typeface="Arial"/>
                <a:ea typeface="Arial"/>
                <a:cs typeface="Arial"/>
              </a:defRPr>
            </a:pPr>
            <a:r>
              <a:rPr sz="1200" b="0" dirty="0">
                <a:solidFill>
                  <a:srgbClr val="374151"/>
                </a:solidFill>
                <a:latin typeface="Arial"/>
                <a:ea typeface="Arial"/>
                <a:cs typeface="Arial"/>
              </a:rPr>
              <a:t>Active questions are recomputed from </a:t>
            </a:r>
            <a:r>
              <a:rPr sz="1200" b="0" dirty="0" err="1">
                <a:solidFill>
                  <a:srgbClr val="374151"/>
                </a:solidFill>
                <a:latin typeface="Arial"/>
                <a:ea typeface="Arial"/>
                <a:cs typeface="Arial"/>
              </a:rPr>
              <a:t>question_graph.json</a:t>
            </a:r>
            <a:r>
              <a:rPr sz="1200" b="0" dirty="0">
                <a:solidFill>
                  <a:srgbClr val="374151"/>
                </a:solidFill>
                <a:latin typeface="Arial"/>
                <a:ea typeface="Arial"/>
                <a:cs typeface="Arial"/>
              </a:rPr>
              <a:t>.</a:t>
            </a:r>
          </a:p>
          <a:p>
            <a:pPr algn="l">
              <a:lnSpc>
                <a:spcPct val="112000"/>
              </a:lnSpc>
              <a:buNone/>
              <a:defRPr sz="960" b="0">
                <a:solidFill>
                  <a:srgbClr val="374151"/>
                </a:solidFill>
                <a:latin typeface="Arial"/>
                <a:ea typeface="Arial"/>
                <a:cs typeface="Arial"/>
              </a:defRPr>
            </a:pPr>
            <a:r>
              <a:rPr sz="1200" b="0" dirty="0">
                <a:solidFill>
                  <a:srgbClr val="374151"/>
                </a:solidFill>
                <a:latin typeface="Arial"/>
                <a:ea typeface="Arial"/>
                <a:cs typeface="Arial"/>
              </a:rPr>
              <a:t>Detects skipped child questions and inactive questions mixed into a sample.</a:t>
            </a:r>
          </a:p>
        </p:txBody>
      </p:sp>
      <p:sp>
        <p:nvSpPr>
          <p:cNvPr id="62" name="validation-card-4">
            <a:extLst>
              <a:ext uri="{FF2B5EF4-FFF2-40B4-BE49-F238E27FC236}">
                <a16:creationId xmlns:a16="http://schemas.microsoft.com/office/drawing/2014/main" id="{B38146D6-807B-46D4-989B-AC6A699BE784}"/>
              </a:ext>
            </a:extLst>
          </p:cNvPr>
          <p:cNvSpPr>
            <a:spLocks noGrp="1"/>
          </p:cNvSpPr>
          <p:nvPr/>
        </p:nvSpPr>
        <p:spPr>
          <a:xfrm>
            <a:off x="8948049" y="3755778"/>
            <a:ext cx="2695575" cy="2076450"/>
          </a:xfrm>
          <a:prstGeom prst="roundRect">
            <a:avLst>
              <a:gd name="adj" fmla="val 4587"/>
            </a:avLst>
          </a:prstGeom>
          <a:solidFill>
            <a:srgbClr val="FFFFFF">
              <a:alpha val="88000"/>
            </a:srgbClr>
          </a:solidFill>
          <a:ln w="11430">
            <a:solidFill>
              <a:srgbClr val="DCE5F0"/>
            </a:solidFill>
            <a:prstDash val="solid"/>
          </a:ln>
        </p:spPr>
      </p:sp>
      <p:sp>
        <p:nvSpPr>
          <p:cNvPr id="64" name="validation-accent-4">
            <a:extLst>
              <a:ext uri="{FF2B5EF4-FFF2-40B4-BE49-F238E27FC236}">
                <a16:creationId xmlns:a16="http://schemas.microsoft.com/office/drawing/2014/main" id="{F1A33277-F312-44BD-9546-FC77A12D17BB}"/>
              </a:ext>
            </a:extLst>
          </p:cNvPr>
          <p:cNvSpPr>
            <a:spLocks noGrp="1"/>
          </p:cNvSpPr>
          <p:nvPr/>
        </p:nvSpPr>
        <p:spPr>
          <a:xfrm>
            <a:off x="8948049" y="3755778"/>
            <a:ext cx="57150" cy="2076450"/>
          </a:xfrm>
          <a:prstGeom prst="rect">
            <a:avLst/>
          </a:prstGeom>
          <a:solidFill>
            <a:srgbClr val="31B66A"/>
          </a:solidFill>
          <a:ln w="0">
            <a:solidFill>
              <a:srgbClr val="31B66A"/>
            </a:solidFill>
            <a:prstDash val="solid"/>
          </a:ln>
        </p:spPr>
      </p:sp>
      <p:sp>
        <p:nvSpPr>
          <p:cNvPr id="82" name="validation-heading-4">
            <a:extLst>
              <a:ext uri="{FF2B5EF4-FFF2-40B4-BE49-F238E27FC236}">
                <a16:creationId xmlns:a16="http://schemas.microsoft.com/office/drawing/2014/main" id="{BAF8D6A2-4D87-46E8-B54D-93B7487E59D4}"/>
              </a:ext>
            </a:extLst>
          </p:cNvPr>
          <p:cNvSpPr>
            <a:spLocks noGrp="1"/>
          </p:cNvSpPr>
          <p:nvPr/>
        </p:nvSpPr>
        <p:spPr>
          <a:xfrm>
            <a:off x="9138549" y="3927228"/>
            <a:ext cx="2333625" cy="266700"/>
          </a:xfrm>
          <a:prstGeom prst="rect">
            <a:avLst/>
          </a:prstGeom>
          <a:noFill/>
          <a:ln w="0">
            <a:noFill/>
            <a:prstDash val="solid"/>
          </a:ln>
        </p:spPr>
        <p:txBody>
          <a:bodyPr lIns="0" tIns="0" rIns="0" bIns="0" anchor="ctr"/>
          <a:lstStyle/>
          <a:p>
            <a:pPr algn="l">
              <a:lnSpc>
                <a:spcPct val="108000"/>
              </a:lnSpc>
              <a:buNone/>
              <a:defRPr sz="1200" b="1">
                <a:solidFill>
                  <a:srgbClr val="17375E"/>
                </a:solidFill>
                <a:latin typeface="Noto Sans SC"/>
                <a:ea typeface="Noto Sans SC"/>
                <a:cs typeface="Noto Sans SC"/>
              </a:defRPr>
            </a:pPr>
            <a:r>
              <a:rPr sz="1410" b="1" dirty="0">
                <a:solidFill>
                  <a:srgbClr val="17375E"/>
                </a:solidFill>
                <a:latin typeface="Noto Sans SC"/>
                <a:ea typeface="Noto Sans SC"/>
                <a:cs typeface="Noto Sans SC"/>
              </a:rPr>
              <a:t>Rating Completeness</a:t>
            </a:r>
          </a:p>
        </p:txBody>
      </p:sp>
      <p:sp>
        <p:nvSpPr>
          <p:cNvPr id="85" name="validation-body-4">
            <a:extLst>
              <a:ext uri="{FF2B5EF4-FFF2-40B4-BE49-F238E27FC236}">
                <a16:creationId xmlns:a16="http://schemas.microsoft.com/office/drawing/2014/main" id="{4EE6220B-1A19-41B2-B618-4F949FB62337}"/>
              </a:ext>
            </a:extLst>
          </p:cNvPr>
          <p:cNvSpPr>
            <a:spLocks noGrp="1"/>
          </p:cNvSpPr>
          <p:nvPr/>
        </p:nvSpPr>
        <p:spPr>
          <a:xfrm>
            <a:off x="9138549" y="4308228"/>
            <a:ext cx="2333625" cy="1059114"/>
          </a:xfrm>
          <a:prstGeom prst="rect">
            <a:avLst/>
          </a:prstGeom>
          <a:noFill/>
          <a:ln w="0">
            <a:noFill/>
            <a:prstDash val="solid"/>
          </a:ln>
        </p:spPr>
        <p:txBody>
          <a:bodyPr lIns="0" tIns="0" rIns="0" bIns="0" anchor="ctr"/>
          <a:lstStyle/>
          <a:p>
            <a:pPr algn="l">
              <a:lnSpc>
                <a:spcPct val="112000"/>
              </a:lnSpc>
              <a:buNone/>
              <a:defRPr sz="960" b="0">
                <a:solidFill>
                  <a:srgbClr val="374151"/>
                </a:solidFill>
                <a:latin typeface="Arial"/>
                <a:ea typeface="Arial"/>
                <a:cs typeface="Arial"/>
              </a:defRPr>
            </a:pPr>
            <a:r>
              <a:rPr sz="1200" b="0" dirty="0">
                <a:solidFill>
                  <a:srgbClr val="374151"/>
                </a:solidFill>
                <a:latin typeface="Arial"/>
                <a:ea typeface="Arial"/>
                <a:cs typeface="Arial"/>
              </a:rPr>
              <a:t>Returned rating regions are checked by app category.</a:t>
            </a:r>
          </a:p>
          <a:p>
            <a:pPr algn="l">
              <a:lnSpc>
                <a:spcPct val="112000"/>
              </a:lnSpc>
              <a:buNone/>
              <a:defRPr sz="960" b="0">
                <a:solidFill>
                  <a:srgbClr val="374151"/>
                </a:solidFill>
                <a:latin typeface="Arial"/>
                <a:ea typeface="Arial"/>
                <a:cs typeface="Arial"/>
              </a:defRPr>
            </a:pPr>
            <a:r>
              <a:rPr sz="1200" b="0" dirty="0">
                <a:solidFill>
                  <a:srgbClr val="374151"/>
                </a:solidFill>
                <a:latin typeface="Arial"/>
                <a:ea typeface="Arial"/>
                <a:cs typeface="Arial"/>
              </a:rPr>
              <a:t>Game includes Australia, Saudi Arabia, and Taiwan; non-game categories use common regions.</a:t>
            </a:r>
          </a:p>
        </p:txBody>
      </p:sp>
    </p:spTree>
    <p:extLst>
      <p:ext uri="{BB962C8B-B14F-4D97-AF65-F5344CB8AC3E}">
        <p14:creationId xmlns:p14="http://schemas.microsoft.com/office/powerpoint/2010/main" val="2215434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329"/>
                </a:solidFill>
                <a:latin typeface="Arial"/>
                <a:ea typeface="Arial"/>
                <a:cs typeface="Arial"/>
                <a:sym typeface="Arial"/>
              </a:rPr>
              <a:t>Making the Dataset Clean and Auditable</a:t>
            </a:r>
            <a:endParaRPr lang="en-US" sz="1100"/>
          </a:p>
        </p:txBody>
      </p:sp>
      <p:sp>
        <p:nvSpPr>
          <p:cNvPr id="4" name="AutoShape 4"/>
          <p:cNvSpPr/>
          <p:nvPr/>
        </p:nvSpPr>
        <p:spPr>
          <a:xfrm>
            <a:off x="508000" y="1689100"/>
            <a:ext cx="3396965" cy="4318000"/>
          </a:xfrm>
          <a:prstGeom prst="roundRect">
            <a:avLst>
              <a:gd name="adj" fmla="val 0"/>
            </a:avLst>
          </a:prstGeom>
          <a:solidFill>
            <a:srgbClr val="FFFFFF">
              <a:alpha val="100000"/>
            </a:srgbClr>
          </a:solidFill>
          <a:ln w="38100" cap="flat" cmpd="sng">
            <a:solidFill>
              <a:srgbClr val="AFABAB">
                <a:alpha val="100000"/>
              </a:srgbClr>
            </a:solidFill>
            <a:prstDash val="solid"/>
            <a:miter lim="100000000"/>
          </a:ln>
        </p:spPr>
        <p:txBody>
          <a:bodyPr vert="horz" wrap="square" lIns="63500" tIns="63500" rIns="63500" bIns="63500" rtlCol="0" anchor="ctr"/>
          <a:lstStyle/>
          <a:p>
            <a:pPr algn="ctr">
              <a:defRPr/>
            </a:pPr>
            <a:endParaRPr dirty="0"/>
          </a:p>
        </p:txBody>
      </p:sp>
      <p:sp>
        <p:nvSpPr>
          <p:cNvPr id="5" name="AutoShape 5"/>
          <p:cNvSpPr/>
          <p:nvPr/>
        </p:nvSpPr>
        <p:spPr>
          <a:xfrm>
            <a:off x="508001" y="1689100"/>
            <a:ext cx="3396964" cy="609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dirty="0">
                <a:solidFill>
                  <a:srgbClr val="D93025"/>
                </a:solidFill>
              </a:rPr>
              <a:t>   </a:t>
            </a:r>
            <a:r>
              <a:rPr lang="en-US" sz="2000" b="1" i="0" u="none" strike="noStrike" dirty="0">
                <a:solidFill>
                  <a:srgbClr val="D93025"/>
                </a:solidFill>
                <a:latin typeface="Arial"/>
                <a:ea typeface="Arial"/>
                <a:cs typeface="Arial"/>
                <a:sym typeface="Arial"/>
              </a:rPr>
              <a:t>🔍 Deduplication</a:t>
            </a:r>
            <a:endParaRPr lang="en-US" sz="1100" dirty="0"/>
          </a:p>
        </p:txBody>
      </p:sp>
      <p:cxnSp>
        <p:nvCxnSpPr>
          <p:cNvPr id="6" name="Connector 6"/>
          <p:cNvCxnSpPr/>
          <p:nvPr/>
        </p:nvCxnSpPr>
        <p:spPr>
          <a:xfrm rot="-9046">
            <a:off x="647711" y="2396274"/>
            <a:ext cx="3060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cxnSp>
        <p:nvCxnSpPr>
          <p:cNvPr id="10" name="Connector 10"/>
          <p:cNvCxnSpPr>
            <a:cxnSpLocks/>
          </p:cNvCxnSpPr>
          <p:nvPr/>
        </p:nvCxnSpPr>
        <p:spPr>
          <a:xfrm rot="-9046">
            <a:off x="777743" y="3681920"/>
            <a:ext cx="3060000" cy="12700"/>
          </a:xfrm>
          <a:prstGeom prst="straightConnector1">
            <a:avLst/>
          </a:prstGeom>
          <a:solidFill>
            <a:srgbClr val="DEE0E3">
              <a:alpha val="100000"/>
            </a:srgbClr>
          </a:solidFill>
          <a:ln w="12700" cap="flat" cmpd="sng">
            <a:solidFill>
              <a:srgbClr val="F0F0F0">
                <a:alpha val="100000"/>
              </a:srgbClr>
            </a:solidFill>
            <a:prstDash val="dash"/>
            <a:round/>
            <a:headEnd type="none" w="med" len="med"/>
            <a:tailEnd type="none" w="med" len="med"/>
          </a:ln>
        </p:spPr>
      </p:cxnSp>
      <p:sp>
        <p:nvSpPr>
          <p:cNvPr id="19" name="AutoShape 19"/>
          <p:cNvSpPr/>
          <p:nvPr/>
        </p:nvSpPr>
        <p:spPr>
          <a:xfrm>
            <a:off x="508000" y="6261100"/>
            <a:ext cx="11353800" cy="381000"/>
          </a:xfrm>
          <a:prstGeom prst="roundRect">
            <a:avLst>
              <a:gd name="adj" fmla="val 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35000" y="6299200"/>
            <a:ext cx="110998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dirty="0">
                <a:solidFill>
                  <a:srgbClr val="595959"/>
                </a:solidFill>
                <a:latin typeface="Segoe UI"/>
                <a:ea typeface="Segoe UI"/>
                <a:cs typeface="Segoe UI"/>
                <a:sym typeface="Segoe UI"/>
              </a:rPr>
              <a:t>No mean or mode imputation was used. Every structural missing-value marker has a documented meaning.</a:t>
            </a:r>
            <a:endParaRPr lang="en-US" sz="1100" dirty="0"/>
          </a:p>
        </p:txBody>
      </p:sp>
      <p:sp>
        <p:nvSpPr>
          <p:cNvPr id="21" name="AutoShape 4">
            <a:extLst>
              <a:ext uri="{FF2B5EF4-FFF2-40B4-BE49-F238E27FC236}">
                <a16:creationId xmlns:a16="http://schemas.microsoft.com/office/drawing/2014/main" id="{5CC5D500-4ACF-4314-A61D-EB5E75B9887F}"/>
              </a:ext>
            </a:extLst>
          </p:cNvPr>
          <p:cNvSpPr/>
          <p:nvPr/>
        </p:nvSpPr>
        <p:spPr>
          <a:xfrm>
            <a:off x="4459586" y="1689100"/>
            <a:ext cx="3398400" cy="4318000"/>
          </a:xfrm>
          <a:prstGeom prst="roundRect">
            <a:avLst>
              <a:gd name="adj" fmla="val 0"/>
            </a:avLst>
          </a:prstGeom>
          <a:solidFill>
            <a:srgbClr val="FFFFFF">
              <a:alpha val="100000"/>
            </a:srgbClr>
          </a:solidFill>
          <a:ln w="38100" cap="flat" cmpd="sng">
            <a:solidFill>
              <a:srgbClr val="AFABAB">
                <a:alpha val="100000"/>
              </a:srgbClr>
            </a:solidFill>
            <a:prstDash val="solid"/>
            <a:miter lim="100000000"/>
          </a:ln>
        </p:spPr>
        <p:txBody>
          <a:bodyPr vert="horz" wrap="square" lIns="63500" tIns="63500" rIns="63500" bIns="63500" rtlCol="0" anchor="ctr"/>
          <a:lstStyle/>
          <a:p>
            <a:pPr algn="ctr">
              <a:defRPr/>
            </a:pPr>
            <a:endParaRPr dirty="0"/>
          </a:p>
        </p:txBody>
      </p:sp>
      <p:sp>
        <p:nvSpPr>
          <p:cNvPr id="22" name="AutoShape 4">
            <a:extLst>
              <a:ext uri="{FF2B5EF4-FFF2-40B4-BE49-F238E27FC236}">
                <a16:creationId xmlns:a16="http://schemas.microsoft.com/office/drawing/2014/main" id="{A481F464-F4C8-41AD-B196-2D3AA686E783}"/>
              </a:ext>
            </a:extLst>
          </p:cNvPr>
          <p:cNvSpPr/>
          <p:nvPr/>
        </p:nvSpPr>
        <p:spPr>
          <a:xfrm>
            <a:off x="8412608" y="1689100"/>
            <a:ext cx="3398400" cy="4318000"/>
          </a:xfrm>
          <a:prstGeom prst="roundRect">
            <a:avLst>
              <a:gd name="adj" fmla="val 0"/>
            </a:avLst>
          </a:prstGeom>
          <a:solidFill>
            <a:srgbClr val="FFFFFF">
              <a:alpha val="100000"/>
            </a:srgbClr>
          </a:solidFill>
          <a:ln w="38100" cap="flat" cmpd="sng">
            <a:solidFill>
              <a:srgbClr val="AFABAB">
                <a:alpha val="100000"/>
              </a:srgbClr>
            </a:solidFill>
            <a:prstDash val="solid"/>
            <a:miter lim="100000000"/>
          </a:ln>
        </p:spPr>
        <p:txBody>
          <a:bodyPr vert="horz" wrap="square" lIns="63500" tIns="63500" rIns="63500" bIns="63500" rtlCol="0" anchor="ctr"/>
          <a:lstStyle/>
          <a:p>
            <a:pPr algn="ctr">
              <a:defRPr/>
            </a:pPr>
            <a:endParaRPr dirty="0"/>
          </a:p>
        </p:txBody>
      </p:sp>
      <p:sp>
        <p:nvSpPr>
          <p:cNvPr id="27" name="AutoShape 5">
            <a:extLst>
              <a:ext uri="{FF2B5EF4-FFF2-40B4-BE49-F238E27FC236}">
                <a16:creationId xmlns:a16="http://schemas.microsoft.com/office/drawing/2014/main" id="{7519AD63-3036-4D6A-8A7F-F31EDD795D3D}"/>
              </a:ext>
            </a:extLst>
          </p:cNvPr>
          <p:cNvSpPr/>
          <p:nvPr/>
        </p:nvSpPr>
        <p:spPr>
          <a:xfrm>
            <a:off x="4461022" y="1689100"/>
            <a:ext cx="3396964" cy="609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D93025"/>
                </a:solidFill>
                <a:latin typeface="Arial"/>
                <a:ea typeface="Arial"/>
                <a:cs typeface="Arial"/>
                <a:sym typeface="Arial"/>
              </a:rPr>
              <a:t>   📋 </a:t>
            </a:r>
            <a:r>
              <a:rPr lang="en-US" altLang="zh-CN" sz="2000" b="1" i="0" u="none" strike="noStrike" dirty="0">
                <a:solidFill>
                  <a:srgbClr val="286090"/>
                </a:solidFill>
                <a:latin typeface="Arial"/>
                <a:ea typeface="Arial"/>
                <a:cs typeface="Arial"/>
                <a:sym typeface="Arial"/>
              </a:rPr>
              <a:t>Anomaly Audit</a:t>
            </a:r>
            <a:endParaRPr lang="en-US" sz="1100" dirty="0"/>
          </a:p>
        </p:txBody>
      </p:sp>
      <p:cxnSp>
        <p:nvCxnSpPr>
          <p:cNvPr id="28" name="Connector 6">
            <a:extLst>
              <a:ext uri="{FF2B5EF4-FFF2-40B4-BE49-F238E27FC236}">
                <a16:creationId xmlns:a16="http://schemas.microsoft.com/office/drawing/2014/main" id="{9FE292CF-311E-4762-BFB5-68E311FD0834}"/>
              </a:ext>
            </a:extLst>
          </p:cNvPr>
          <p:cNvCxnSpPr/>
          <p:nvPr/>
        </p:nvCxnSpPr>
        <p:spPr>
          <a:xfrm rot="21590954">
            <a:off x="4600732" y="2396274"/>
            <a:ext cx="3060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cxnSp>
        <p:nvCxnSpPr>
          <p:cNvPr id="30" name="Connector 10">
            <a:extLst>
              <a:ext uri="{FF2B5EF4-FFF2-40B4-BE49-F238E27FC236}">
                <a16:creationId xmlns:a16="http://schemas.microsoft.com/office/drawing/2014/main" id="{0ED724BC-93EE-4502-BB9F-91BD34D10D6C}"/>
              </a:ext>
            </a:extLst>
          </p:cNvPr>
          <p:cNvCxnSpPr>
            <a:cxnSpLocks/>
          </p:cNvCxnSpPr>
          <p:nvPr/>
        </p:nvCxnSpPr>
        <p:spPr>
          <a:xfrm rot="21590954">
            <a:off x="4729597" y="3691686"/>
            <a:ext cx="3060000" cy="12700"/>
          </a:xfrm>
          <a:prstGeom prst="straightConnector1">
            <a:avLst/>
          </a:prstGeom>
          <a:solidFill>
            <a:srgbClr val="DEE0E3">
              <a:alpha val="100000"/>
            </a:srgbClr>
          </a:solidFill>
          <a:ln w="12700" cap="flat" cmpd="sng">
            <a:solidFill>
              <a:srgbClr val="F0F0F0">
                <a:alpha val="100000"/>
              </a:srgbClr>
            </a:solidFill>
            <a:prstDash val="dash"/>
            <a:round/>
            <a:headEnd type="none" w="med" len="med"/>
            <a:tailEnd type="none" w="med" len="med"/>
          </a:ln>
        </p:spPr>
      </p:cxnSp>
      <p:sp>
        <p:nvSpPr>
          <p:cNvPr id="35" name="AutoShape 5">
            <a:extLst>
              <a:ext uri="{FF2B5EF4-FFF2-40B4-BE49-F238E27FC236}">
                <a16:creationId xmlns:a16="http://schemas.microsoft.com/office/drawing/2014/main" id="{5077D576-659A-4DBE-8951-6504C290BEB0}"/>
              </a:ext>
            </a:extLst>
          </p:cNvPr>
          <p:cNvSpPr/>
          <p:nvPr/>
        </p:nvSpPr>
        <p:spPr>
          <a:xfrm>
            <a:off x="8414044" y="1689100"/>
            <a:ext cx="3396964" cy="609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D93025"/>
                </a:solidFill>
                <a:latin typeface="Arial"/>
                <a:ea typeface="Arial"/>
                <a:cs typeface="Arial"/>
                <a:sym typeface="Arial"/>
              </a:rPr>
              <a:t>   🏷 </a:t>
            </a:r>
            <a:r>
              <a:rPr lang="en-US" altLang="zh-CN" sz="2000" b="1" i="0" u="none" strike="noStrike" dirty="0">
                <a:solidFill>
                  <a:srgbClr val="00B050"/>
                </a:solidFill>
                <a:latin typeface="Arial"/>
                <a:ea typeface="Arial"/>
                <a:cs typeface="Arial"/>
                <a:sym typeface="Arial"/>
              </a:rPr>
              <a:t>Missing Values</a:t>
            </a:r>
            <a:endParaRPr lang="en-US" sz="1100" dirty="0"/>
          </a:p>
        </p:txBody>
      </p:sp>
      <p:cxnSp>
        <p:nvCxnSpPr>
          <p:cNvPr id="36" name="Connector 6">
            <a:extLst>
              <a:ext uri="{FF2B5EF4-FFF2-40B4-BE49-F238E27FC236}">
                <a16:creationId xmlns:a16="http://schemas.microsoft.com/office/drawing/2014/main" id="{4010FACA-65DA-43C4-BB5C-EAB650A200DD}"/>
              </a:ext>
            </a:extLst>
          </p:cNvPr>
          <p:cNvCxnSpPr/>
          <p:nvPr/>
        </p:nvCxnSpPr>
        <p:spPr>
          <a:xfrm rot="21590954">
            <a:off x="8553754" y="2396274"/>
            <a:ext cx="3060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cxnSp>
        <p:nvCxnSpPr>
          <p:cNvPr id="37" name="Connector 8">
            <a:extLst>
              <a:ext uri="{FF2B5EF4-FFF2-40B4-BE49-F238E27FC236}">
                <a16:creationId xmlns:a16="http://schemas.microsoft.com/office/drawing/2014/main" id="{97C1FC41-2896-4B00-ABA9-3BEAC6CB4EC0}"/>
              </a:ext>
            </a:extLst>
          </p:cNvPr>
          <p:cNvCxnSpPr/>
          <p:nvPr/>
        </p:nvCxnSpPr>
        <p:spPr>
          <a:xfrm rot="21590954">
            <a:off x="8553754" y="3412274"/>
            <a:ext cx="3060000" cy="12700"/>
          </a:xfrm>
          <a:prstGeom prst="straightConnector1">
            <a:avLst/>
          </a:prstGeom>
          <a:solidFill>
            <a:srgbClr val="DEE0E3">
              <a:alpha val="100000"/>
            </a:srgbClr>
          </a:solidFill>
          <a:ln w="12700" cap="flat" cmpd="sng">
            <a:solidFill>
              <a:srgbClr val="F0F0F0">
                <a:alpha val="100000"/>
              </a:srgbClr>
            </a:solidFill>
            <a:prstDash val="dash"/>
            <a:round/>
            <a:headEnd type="none" w="med" len="med"/>
            <a:tailEnd type="none" w="med" len="med"/>
          </a:ln>
        </p:spPr>
      </p:cxnSp>
      <p:sp>
        <p:nvSpPr>
          <p:cNvPr id="40" name="矩形 39">
            <a:extLst>
              <a:ext uri="{FF2B5EF4-FFF2-40B4-BE49-F238E27FC236}">
                <a16:creationId xmlns:a16="http://schemas.microsoft.com/office/drawing/2014/main" id="{21F7B040-6B89-4C92-885B-BDFF7E6DC8CA}"/>
              </a:ext>
            </a:extLst>
          </p:cNvPr>
          <p:cNvSpPr>
            <a:spLocks noGrp="1"/>
          </p:cNvSpPr>
          <p:nvPr/>
        </p:nvSpPr>
        <p:spPr>
          <a:xfrm>
            <a:off x="777732" y="2506548"/>
            <a:ext cx="2857500" cy="1065098"/>
          </a:xfrm>
          <a:prstGeom prst="rect">
            <a:avLst/>
          </a:prstGeom>
          <a:noFill/>
          <a:ln w="0">
            <a:noFill/>
            <a:prstDash val="solid"/>
          </a:ln>
        </p:spPr>
        <p:txBody>
          <a:bodyPr/>
          <a:lstStyle/>
          <a:p>
            <a:pPr>
              <a:defRPr sz="945">
                <a:solidFill>
                  <a:srgbClr val="5D6B7A"/>
                </a:solidFill>
                <a:latin typeface="Arial"/>
                <a:ea typeface="Arial"/>
                <a:cs typeface="Arial"/>
              </a:defRPr>
            </a:pPr>
            <a:r>
              <a:rPr sz="1600" dirty="0">
                <a:solidFill>
                  <a:srgbClr val="5D6B7A"/>
                </a:solidFill>
                <a:latin typeface="Arial"/>
                <a:ea typeface="Arial"/>
                <a:cs typeface="Arial"/>
              </a:rPr>
              <a:t>Duplicates are identified by the complete questionnaire state, not only by the explicit answer list.</a:t>
            </a:r>
          </a:p>
        </p:txBody>
      </p:sp>
      <p:sp>
        <p:nvSpPr>
          <p:cNvPr id="41" name="矩形 40">
            <a:extLst>
              <a:ext uri="{FF2B5EF4-FFF2-40B4-BE49-F238E27FC236}">
                <a16:creationId xmlns:a16="http://schemas.microsoft.com/office/drawing/2014/main" id="{E6027A04-E03E-49FA-816A-CEC01D9D8FF2}"/>
              </a:ext>
            </a:extLst>
          </p:cNvPr>
          <p:cNvSpPr>
            <a:spLocks noGrp="1"/>
          </p:cNvSpPr>
          <p:nvPr/>
        </p:nvSpPr>
        <p:spPr>
          <a:xfrm>
            <a:off x="777731" y="3863751"/>
            <a:ext cx="2667000" cy="1596212"/>
          </a:xfrm>
          <a:prstGeom prst="rect">
            <a:avLst/>
          </a:prstGeom>
          <a:noFill/>
          <a:ln w="0">
            <a:noFill/>
            <a:prstDash val="solid"/>
          </a:ln>
        </p:spPr>
        <p:txBody>
          <a:bodyPr/>
          <a:lstStyle/>
          <a:p>
            <a:pPr>
              <a:defRPr sz="863">
                <a:solidFill>
                  <a:srgbClr val="13233A"/>
                </a:solidFill>
                <a:latin typeface="Arial"/>
                <a:ea typeface="Arial"/>
                <a:cs typeface="Arial"/>
              </a:defRPr>
            </a:pPr>
            <a:r>
              <a:rPr lang="en-US" sz="1410" dirty="0">
                <a:solidFill>
                  <a:srgbClr val="13233A"/>
                </a:solidFill>
                <a:latin typeface="Arial"/>
                <a:ea typeface="Arial"/>
                <a:cs typeface="Arial"/>
              </a:rPr>
              <a:t>Exact duplicate groups: one record retained per group.</a:t>
            </a:r>
          </a:p>
          <a:p>
            <a:pPr>
              <a:defRPr sz="863">
                <a:solidFill>
                  <a:srgbClr val="13233A"/>
                </a:solidFill>
                <a:latin typeface="Arial"/>
                <a:ea typeface="Arial"/>
                <a:cs typeface="Arial"/>
              </a:defRPr>
            </a:pPr>
            <a:r>
              <a:rPr sz="1410" dirty="0">
                <a:solidFill>
                  <a:srgbClr val="13233A"/>
                </a:solidFill>
                <a:latin typeface="Arial"/>
                <a:ea typeface="Arial"/>
                <a:cs typeface="Arial"/>
              </a:rPr>
              <a:t>Same state with different ratings: whole conflict group excluded</a:t>
            </a:r>
            <a:r>
              <a:rPr lang="en-US" sz="1410" dirty="0">
                <a:solidFill>
                  <a:srgbClr val="13233A"/>
                </a:solidFill>
                <a:latin typeface="Arial"/>
                <a:ea typeface="Arial"/>
                <a:cs typeface="Arial"/>
              </a:rPr>
              <a:t>.</a:t>
            </a:r>
            <a:endParaRPr sz="1410" dirty="0">
              <a:solidFill>
                <a:srgbClr val="13233A"/>
              </a:solidFill>
              <a:latin typeface="Arial"/>
              <a:ea typeface="Arial"/>
              <a:cs typeface="Arial"/>
            </a:endParaRPr>
          </a:p>
          <a:p>
            <a:pPr>
              <a:defRPr sz="863">
                <a:solidFill>
                  <a:srgbClr val="13233A"/>
                </a:solidFill>
                <a:latin typeface="Arial"/>
                <a:ea typeface="Arial"/>
                <a:cs typeface="Arial"/>
              </a:defRPr>
            </a:pPr>
            <a:r>
              <a:rPr sz="1410" dirty="0">
                <a:solidFill>
                  <a:srgbClr val="13233A"/>
                </a:solidFill>
                <a:latin typeface="Arial"/>
                <a:ea typeface="Arial"/>
                <a:cs typeface="Arial"/>
              </a:rPr>
              <a:t>Duplicate key: complete semantic questionnaire state</a:t>
            </a:r>
            <a:r>
              <a:rPr lang="en-US" sz="1410" dirty="0">
                <a:solidFill>
                  <a:srgbClr val="13233A"/>
                </a:solidFill>
                <a:latin typeface="Arial"/>
                <a:ea typeface="Arial"/>
                <a:cs typeface="Arial"/>
              </a:rPr>
              <a:t>.</a:t>
            </a:r>
            <a:endParaRPr sz="1410" dirty="0">
              <a:solidFill>
                <a:srgbClr val="13233A"/>
              </a:solidFill>
              <a:latin typeface="Arial"/>
              <a:ea typeface="Arial"/>
              <a:cs typeface="Arial"/>
            </a:endParaRPr>
          </a:p>
        </p:txBody>
      </p:sp>
      <p:sp>
        <p:nvSpPr>
          <p:cNvPr id="53" name="矩形 52">
            <a:extLst>
              <a:ext uri="{FF2B5EF4-FFF2-40B4-BE49-F238E27FC236}">
                <a16:creationId xmlns:a16="http://schemas.microsoft.com/office/drawing/2014/main" id="{3D3C805C-7FAE-4328-A699-231A8686B61E}"/>
              </a:ext>
            </a:extLst>
          </p:cNvPr>
          <p:cNvSpPr>
            <a:spLocks noGrp="1"/>
          </p:cNvSpPr>
          <p:nvPr/>
        </p:nvSpPr>
        <p:spPr>
          <a:xfrm>
            <a:off x="4729586" y="2500229"/>
            <a:ext cx="2858400" cy="1004544"/>
          </a:xfrm>
          <a:prstGeom prst="rect">
            <a:avLst/>
          </a:prstGeom>
          <a:noFill/>
          <a:ln w="0">
            <a:noFill/>
            <a:prstDash val="solid"/>
          </a:ln>
        </p:spPr>
        <p:txBody>
          <a:bodyPr/>
          <a:lstStyle/>
          <a:p>
            <a:pPr>
              <a:defRPr sz="945">
                <a:solidFill>
                  <a:srgbClr val="5D6B7A"/>
                </a:solidFill>
                <a:latin typeface="Arial"/>
                <a:ea typeface="Arial"/>
                <a:cs typeface="Arial"/>
              </a:defRPr>
            </a:pPr>
            <a:r>
              <a:rPr lang="en-US" sz="1600" dirty="0">
                <a:solidFill>
                  <a:srgbClr val="5D6B7A"/>
                </a:solidFill>
              </a:rPr>
              <a:t>The audit log keeps upstream anomalies visible instead of silently discarding their history.</a:t>
            </a:r>
            <a:endParaRPr lang="en-US" sz="945" dirty="0">
              <a:solidFill>
                <a:srgbClr val="5D6B7A"/>
              </a:solidFill>
              <a:latin typeface="Arial"/>
              <a:ea typeface="Arial"/>
              <a:cs typeface="Arial"/>
            </a:endParaRPr>
          </a:p>
        </p:txBody>
      </p:sp>
      <p:sp>
        <p:nvSpPr>
          <p:cNvPr id="74" name="矩形: 圆角 73">
            <a:extLst>
              <a:ext uri="{FF2B5EF4-FFF2-40B4-BE49-F238E27FC236}">
                <a16:creationId xmlns:a16="http://schemas.microsoft.com/office/drawing/2014/main" id="{66C7B957-EBC7-4B4D-B917-DED6F31DA4F3}"/>
              </a:ext>
            </a:extLst>
          </p:cNvPr>
          <p:cNvSpPr>
            <a:spLocks noGrp="1"/>
          </p:cNvSpPr>
          <p:nvPr/>
        </p:nvSpPr>
        <p:spPr>
          <a:xfrm>
            <a:off x="4733925" y="3839503"/>
            <a:ext cx="2777218" cy="323850"/>
          </a:xfrm>
          <a:prstGeom prst="roundRect">
            <a:avLst>
              <a:gd name="adj" fmla="val 23529"/>
            </a:avLst>
          </a:prstGeom>
          <a:solidFill>
            <a:srgbClr val="FFFFFF"/>
          </a:solidFill>
          <a:ln w="9525">
            <a:solidFill>
              <a:srgbClr val="E6B29F"/>
            </a:solidFill>
            <a:prstDash val="solid"/>
          </a:ln>
        </p:spPr>
      </p:sp>
      <p:sp>
        <p:nvSpPr>
          <p:cNvPr id="75" name="矩形 74">
            <a:extLst>
              <a:ext uri="{FF2B5EF4-FFF2-40B4-BE49-F238E27FC236}">
                <a16:creationId xmlns:a16="http://schemas.microsoft.com/office/drawing/2014/main" id="{23AC75A7-C5CE-4F3F-98C2-5D43C0B0B649}"/>
              </a:ext>
            </a:extLst>
          </p:cNvPr>
          <p:cNvSpPr>
            <a:spLocks noGrp="1"/>
          </p:cNvSpPr>
          <p:nvPr/>
        </p:nvSpPr>
        <p:spPr>
          <a:xfrm>
            <a:off x="4857750" y="3863749"/>
            <a:ext cx="419100" cy="299603"/>
          </a:xfrm>
          <a:prstGeom prst="rect">
            <a:avLst/>
          </a:prstGeom>
          <a:noFill/>
          <a:ln w="0">
            <a:noFill/>
            <a:prstDash val="solid"/>
          </a:ln>
        </p:spPr>
        <p:txBody>
          <a:bodyPr/>
          <a:lstStyle/>
          <a:p>
            <a:pPr algn="ctr">
              <a:defRPr sz="1350" b="1">
                <a:solidFill>
                  <a:srgbClr val="0070C0"/>
                </a:solidFill>
                <a:latin typeface="Arial"/>
                <a:ea typeface="Arial"/>
                <a:cs typeface="Arial"/>
              </a:defRPr>
            </a:pPr>
            <a:r>
              <a:rPr sz="1350" b="1" dirty="0">
                <a:solidFill>
                  <a:srgbClr val="0070C0"/>
                </a:solidFill>
                <a:latin typeface="Arial"/>
                <a:ea typeface="Arial"/>
                <a:cs typeface="Arial"/>
              </a:rPr>
              <a:t>0</a:t>
            </a:r>
          </a:p>
        </p:txBody>
      </p:sp>
      <p:sp>
        <p:nvSpPr>
          <p:cNvPr id="76" name="矩形 75">
            <a:extLst>
              <a:ext uri="{FF2B5EF4-FFF2-40B4-BE49-F238E27FC236}">
                <a16:creationId xmlns:a16="http://schemas.microsoft.com/office/drawing/2014/main" id="{1EBF8ECE-72D7-4A01-80EC-0B68401CC808}"/>
              </a:ext>
            </a:extLst>
          </p:cNvPr>
          <p:cNvSpPr>
            <a:spLocks noGrp="1"/>
          </p:cNvSpPr>
          <p:nvPr/>
        </p:nvSpPr>
        <p:spPr>
          <a:xfrm>
            <a:off x="5276850" y="3872179"/>
            <a:ext cx="2288818" cy="329272"/>
          </a:xfrm>
          <a:prstGeom prst="rect">
            <a:avLst/>
          </a:prstGeom>
          <a:noFill/>
          <a:ln w="0">
            <a:noFill/>
            <a:prstDash val="solid"/>
          </a:ln>
        </p:spPr>
        <p:txBody>
          <a:bodyPr/>
          <a:lstStyle/>
          <a:p>
            <a:pPr>
              <a:defRPr sz="788">
                <a:solidFill>
                  <a:srgbClr val="5D6B7A"/>
                </a:solidFill>
                <a:latin typeface="Arial"/>
                <a:ea typeface="Arial"/>
                <a:cs typeface="Arial"/>
              </a:defRPr>
            </a:pPr>
            <a:r>
              <a:rPr lang="en-US" sz="1100" dirty="0">
                <a:solidFill>
                  <a:srgbClr val="5D6B7A"/>
                </a:solidFill>
                <a:latin typeface="Arial"/>
                <a:ea typeface="Arial"/>
                <a:cs typeface="Arial"/>
              </a:rPr>
              <a:t>newly excluded during cleaning</a:t>
            </a:r>
          </a:p>
        </p:txBody>
      </p:sp>
      <p:sp>
        <p:nvSpPr>
          <p:cNvPr id="77" name="矩形: 圆角 76">
            <a:extLst>
              <a:ext uri="{FF2B5EF4-FFF2-40B4-BE49-F238E27FC236}">
                <a16:creationId xmlns:a16="http://schemas.microsoft.com/office/drawing/2014/main" id="{3823E4DD-7B70-4A97-B3C2-75C7CA528015}"/>
              </a:ext>
            </a:extLst>
          </p:cNvPr>
          <p:cNvSpPr>
            <a:spLocks noGrp="1"/>
          </p:cNvSpPr>
          <p:nvPr/>
        </p:nvSpPr>
        <p:spPr>
          <a:xfrm>
            <a:off x="4733925" y="4296703"/>
            <a:ext cx="2777218" cy="323850"/>
          </a:xfrm>
          <a:prstGeom prst="roundRect">
            <a:avLst>
              <a:gd name="adj" fmla="val 23529"/>
            </a:avLst>
          </a:prstGeom>
          <a:solidFill>
            <a:srgbClr val="FFFFFF"/>
          </a:solidFill>
          <a:ln w="9525">
            <a:solidFill>
              <a:srgbClr val="E6B29F"/>
            </a:solidFill>
            <a:prstDash val="solid"/>
          </a:ln>
        </p:spPr>
      </p:sp>
      <p:sp>
        <p:nvSpPr>
          <p:cNvPr id="78" name="矩形 77">
            <a:extLst>
              <a:ext uri="{FF2B5EF4-FFF2-40B4-BE49-F238E27FC236}">
                <a16:creationId xmlns:a16="http://schemas.microsoft.com/office/drawing/2014/main" id="{6B7BCEEB-AD12-4956-9985-A42F095D34EE}"/>
              </a:ext>
            </a:extLst>
          </p:cNvPr>
          <p:cNvSpPr>
            <a:spLocks noGrp="1"/>
          </p:cNvSpPr>
          <p:nvPr/>
        </p:nvSpPr>
        <p:spPr>
          <a:xfrm>
            <a:off x="4857750" y="4301719"/>
            <a:ext cx="419100" cy="313411"/>
          </a:xfrm>
          <a:prstGeom prst="rect">
            <a:avLst/>
          </a:prstGeom>
          <a:noFill/>
          <a:ln w="0">
            <a:noFill/>
            <a:prstDash val="solid"/>
          </a:ln>
        </p:spPr>
        <p:txBody>
          <a:bodyPr/>
          <a:lstStyle/>
          <a:p>
            <a:pPr algn="ctr">
              <a:defRPr sz="1350" b="1">
                <a:solidFill>
                  <a:srgbClr val="0070C0"/>
                </a:solidFill>
                <a:latin typeface="Arial"/>
                <a:ea typeface="Arial"/>
                <a:cs typeface="Arial"/>
              </a:defRPr>
            </a:pPr>
            <a:r>
              <a:rPr sz="1350" b="1" dirty="0">
                <a:solidFill>
                  <a:srgbClr val="0070C0"/>
                </a:solidFill>
                <a:latin typeface="Arial"/>
                <a:ea typeface="Arial"/>
                <a:cs typeface="Arial"/>
              </a:rPr>
              <a:t>30</a:t>
            </a:r>
          </a:p>
        </p:txBody>
      </p:sp>
      <p:sp>
        <p:nvSpPr>
          <p:cNvPr id="79" name="矩形 78">
            <a:extLst>
              <a:ext uri="{FF2B5EF4-FFF2-40B4-BE49-F238E27FC236}">
                <a16:creationId xmlns:a16="http://schemas.microsoft.com/office/drawing/2014/main" id="{0D7AE0A5-DA57-4125-B942-FBED1624AE13}"/>
              </a:ext>
            </a:extLst>
          </p:cNvPr>
          <p:cNvSpPr>
            <a:spLocks noGrp="1"/>
          </p:cNvSpPr>
          <p:nvPr/>
        </p:nvSpPr>
        <p:spPr>
          <a:xfrm>
            <a:off x="5276850" y="4327119"/>
            <a:ext cx="2181225" cy="293434"/>
          </a:xfrm>
          <a:prstGeom prst="rect">
            <a:avLst/>
          </a:prstGeom>
          <a:noFill/>
          <a:ln w="0">
            <a:noFill/>
            <a:prstDash val="solid"/>
          </a:ln>
        </p:spPr>
        <p:txBody>
          <a:bodyPr/>
          <a:lstStyle/>
          <a:p>
            <a:pPr>
              <a:defRPr sz="788">
                <a:solidFill>
                  <a:srgbClr val="5D6B7A"/>
                </a:solidFill>
                <a:latin typeface="Arial"/>
                <a:ea typeface="Arial"/>
                <a:cs typeface="Arial"/>
              </a:defRPr>
            </a:pPr>
            <a:r>
              <a:rPr sz="1100" dirty="0">
                <a:solidFill>
                  <a:srgbClr val="5D6B7A"/>
                </a:solidFill>
                <a:latin typeface="Arial"/>
                <a:ea typeface="Arial"/>
                <a:cs typeface="Arial"/>
              </a:rPr>
              <a:t>upstream category anomalies</a:t>
            </a:r>
          </a:p>
        </p:txBody>
      </p:sp>
      <p:sp>
        <p:nvSpPr>
          <p:cNvPr id="80" name="矩形: 圆角 79">
            <a:extLst>
              <a:ext uri="{FF2B5EF4-FFF2-40B4-BE49-F238E27FC236}">
                <a16:creationId xmlns:a16="http://schemas.microsoft.com/office/drawing/2014/main" id="{967B8E1A-FAC1-4D0F-BB45-183CD0A8217C}"/>
              </a:ext>
            </a:extLst>
          </p:cNvPr>
          <p:cNvSpPr>
            <a:spLocks noGrp="1"/>
          </p:cNvSpPr>
          <p:nvPr/>
        </p:nvSpPr>
        <p:spPr>
          <a:xfrm>
            <a:off x="4733925" y="4753903"/>
            <a:ext cx="2777218" cy="323850"/>
          </a:xfrm>
          <a:prstGeom prst="roundRect">
            <a:avLst>
              <a:gd name="adj" fmla="val 23529"/>
            </a:avLst>
          </a:prstGeom>
          <a:solidFill>
            <a:srgbClr val="FFFFFF"/>
          </a:solidFill>
          <a:ln w="9525">
            <a:solidFill>
              <a:srgbClr val="E6B29F"/>
            </a:solidFill>
            <a:prstDash val="solid"/>
          </a:ln>
        </p:spPr>
      </p:sp>
      <p:sp>
        <p:nvSpPr>
          <p:cNvPr id="81" name="矩形 80">
            <a:extLst>
              <a:ext uri="{FF2B5EF4-FFF2-40B4-BE49-F238E27FC236}">
                <a16:creationId xmlns:a16="http://schemas.microsoft.com/office/drawing/2014/main" id="{95E4D2FF-7BEE-481C-9355-98426FE6CE47}"/>
              </a:ext>
            </a:extLst>
          </p:cNvPr>
          <p:cNvSpPr>
            <a:spLocks noGrp="1"/>
          </p:cNvSpPr>
          <p:nvPr/>
        </p:nvSpPr>
        <p:spPr>
          <a:xfrm>
            <a:off x="4857750" y="4753901"/>
            <a:ext cx="419100" cy="323851"/>
          </a:xfrm>
          <a:prstGeom prst="rect">
            <a:avLst/>
          </a:prstGeom>
          <a:noFill/>
          <a:ln w="0">
            <a:noFill/>
            <a:prstDash val="solid"/>
          </a:ln>
        </p:spPr>
        <p:txBody>
          <a:bodyPr/>
          <a:lstStyle/>
          <a:p>
            <a:pPr algn="ctr">
              <a:defRPr sz="1350" b="1">
                <a:solidFill>
                  <a:srgbClr val="0070C0"/>
                </a:solidFill>
                <a:latin typeface="Arial"/>
                <a:ea typeface="Arial"/>
                <a:cs typeface="Arial"/>
              </a:defRPr>
            </a:pPr>
            <a:r>
              <a:rPr sz="1350" b="1" dirty="0">
                <a:solidFill>
                  <a:srgbClr val="0070C0"/>
                </a:solidFill>
                <a:latin typeface="Arial"/>
                <a:ea typeface="Arial"/>
                <a:cs typeface="Arial"/>
              </a:rPr>
              <a:t>13</a:t>
            </a:r>
          </a:p>
        </p:txBody>
      </p:sp>
      <p:sp>
        <p:nvSpPr>
          <p:cNvPr id="82" name="矩形 81">
            <a:extLst>
              <a:ext uri="{FF2B5EF4-FFF2-40B4-BE49-F238E27FC236}">
                <a16:creationId xmlns:a16="http://schemas.microsoft.com/office/drawing/2014/main" id="{A3E6324F-85AD-4DD2-839F-01FD0B062E75}"/>
              </a:ext>
            </a:extLst>
          </p:cNvPr>
          <p:cNvSpPr>
            <a:spLocks noGrp="1"/>
          </p:cNvSpPr>
          <p:nvPr/>
        </p:nvSpPr>
        <p:spPr>
          <a:xfrm>
            <a:off x="5276850" y="4775200"/>
            <a:ext cx="2076450" cy="302553"/>
          </a:xfrm>
          <a:prstGeom prst="rect">
            <a:avLst/>
          </a:prstGeom>
          <a:noFill/>
          <a:ln w="0">
            <a:noFill/>
            <a:prstDash val="solid"/>
          </a:ln>
        </p:spPr>
        <p:txBody>
          <a:bodyPr/>
          <a:lstStyle/>
          <a:p>
            <a:pPr>
              <a:defRPr sz="788">
                <a:solidFill>
                  <a:srgbClr val="5D6B7A"/>
                </a:solidFill>
                <a:latin typeface="Arial"/>
                <a:ea typeface="Arial"/>
                <a:cs typeface="Arial"/>
              </a:defRPr>
            </a:pPr>
            <a:r>
              <a:rPr sz="1100" dirty="0">
                <a:solidFill>
                  <a:srgbClr val="5D6B7A"/>
                </a:solidFill>
                <a:latin typeface="Arial"/>
                <a:ea typeface="Arial"/>
                <a:cs typeface="Arial"/>
              </a:rPr>
              <a:t>upstream rating conflicts</a:t>
            </a:r>
          </a:p>
        </p:txBody>
      </p:sp>
      <p:sp>
        <p:nvSpPr>
          <p:cNvPr id="83" name="矩形: 圆角 82">
            <a:extLst>
              <a:ext uri="{FF2B5EF4-FFF2-40B4-BE49-F238E27FC236}">
                <a16:creationId xmlns:a16="http://schemas.microsoft.com/office/drawing/2014/main" id="{1E16CF59-A009-4DC9-9C3E-23C7C050AA7E}"/>
              </a:ext>
            </a:extLst>
          </p:cNvPr>
          <p:cNvSpPr>
            <a:spLocks noGrp="1"/>
          </p:cNvSpPr>
          <p:nvPr/>
        </p:nvSpPr>
        <p:spPr>
          <a:xfrm>
            <a:off x="4733924" y="5287303"/>
            <a:ext cx="2443390" cy="323850"/>
          </a:xfrm>
          <a:prstGeom prst="roundRect">
            <a:avLst>
              <a:gd name="adj" fmla="val 33333"/>
            </a:avLst>
          </a:prstGeom>
          <a:solidFill>
            <a:srgbClr val="FFFFFF"/>
          </a:solidFill>
          <a:ln w="9525">
            <a:solidFill>
              <a:srgbClr val="C44E28"/>
            </a:solidFill>
            <a:prstDash val="solid"/>
          </a:ln>
        </p:spPr>
        <p:txBody>
          <a:bodyPr anchor="ctr"/>
          <a:lstStyle/>
          <a:p>
            <a:pPr algn="ctr">
              <a:defRPr sz="750" b="1">
                <a:solidFill>
                  <a:srgbClr val="C44E28"/>
                </a:solidFill>
                <a:latin typeface="Arial"/>
                <a:ea typeface="Arial"/>
                <a:cs typeface="Arial"/>
              </a:defRPr>
            </a:pPr>
            <a:r>
              <a:rPr sz="1100" b="1" dirty="0">
                <a:solidFill>
                  <a:srgbClr val="C44E28"/>
                </a:solidFill>
                <a:latin typeface="Arial"/>
                <a:ea typeface="Arial"/>
                <a:cs typeface="Arial"/>
              </a:rPr>
              <a:t>Audit file: excluded_samples.csv</a:t>
            </a:r>
          </a:p>
        </p:txBody>
      </p:sp>
      <p:sp>
        <p:nvSpPr>
          <p:cNvPr id="92" name="矩形 91">
            <a:extLst>
              <a:ext uri="{FF2B5EF4-FFF2-40B4-BE49-F238E27FC236}">
                <a16:creationId xmlns:a16="http://schemas.microsoft.com/office/drawing/2014/main" id="{EDEFB661-AC32-43F1-8E4D-80297925E284}"/>
              </a:ext>
            </a:extLst>
          </p:cNvPr>
          <p:cNvSpPr>
            <a:spLocks noGrp="1"/>
          </p:cNvSpPr>
          <p:nvPr/>
        </p:nvSpPr>
        <p:spPr>
          <a:xfrm>
            <a:off x="8632968" y="2500229"/>
            <a:ext cx="2781300" cy="882619"/>
          </a:xfrm>
          <a:prstGeom prst="rect">
            <a:avLst/>
          </a:prstGeom>
          <a:noFill/>
          <a:ln w="0">
            <a:noFill/>
            <a:prstDash val="solid"/>
          </a:ln>
        </p:spPr>
        <p:txBody>
          <a:bodyPr/>
          <a:lstStyle/>
          <a:p>
            <a:pPr>
              <a:defRPr sz="945">
                <a:solidFill>
                  <a:srgbClr val="5D6B7A"/>
                </a:solidFill>
                <a:latin typeface="Arial"/>
                <a:ea typeface="Arial"/>
                <a:cs typeface="Arial"/>
              </a:defRPr>
            </a:pPr>
            <a:r>
              <a:rPr sz="1600" dirty="0">
                <a:solidFill>
                  <a:srgbClr val="5D6B7A"/>
                </a:solidFill>
                <a:latin typeface="Arial"/>
                <a:ea typeface="Arial"/>
                <a:cs typeface="Arial"/>
              </a:rPr>
              <a:t>Missingness is structural, so it is marked explicitly rather than statistically imputed.</a:t>
            </a:r>
          </a:p>
        </p:txBody>
      </p:sp>
      <p:sp>
        <p:nvSpPr>
          <p:cNvPr id="93" name="矩形 92">
            <a:extLst>
              <a:ext uri="{FF2B5EF4-FFF2-40B4-BE49-F238E27FC236}">
                <a16:creationId xmlns:a16="http://schemas.microsoft.com/office/drawing/2014/main" id="{241FFE35-12B7-4EF5-8E71-3E364DBFF6D7}"/>
              </a:ext>
            </a:extLst>
          </p:cNvPr>
          <p:cNvSpPr>
            <a:spLocks noGrp="1"/>
          </p:cNvSpPr>
          <p:nvPr/>
        </p:nvSpPr>
        <p:spPr>
          <a:xfrm>
            <a:off x="8606873" y="3573460"/>
            <a:ext cx="1600200" cy="190500"/>
          </a:xfrm>
          <a:prstGeom prst="rect">
            <a:avLst/>
          </a:prstGeom>
          <a:noFill/>
          <a:ln w="0">
            <a:noFill/>
            <a:prstDash val="solid"/>
          </a:ln>
        </p:spPr>
        <p:txBody>
          <a:bodyPr/>
          <a:lstStyle/>
          <a:p>
            <a:pPr>
              <a:defRPr sz="810" b="1">
                <a:solidFill>
                  <a:srgbClr val="0070C0"/>
                </a:solidFill>
                <a:latin typeface="Courier New"/>
                <a:ea typeface="Courier New"/>
                <a:cs typeface="Courier New"/>
              </a:defRPr>
            </a:pPr>
            <a:r>
              <a:rPr sz="1100" b="1" dirty="0">
                <a:solidFill>
                  <a:srgbClr val="0070C0"/>
                </a:solidFill>
                <a:latin typeface="Courier New"/>
                <a:ea typeface="Courier New"/>
                <a:cs typeface="Courier New"/>
              </a:rPr>
              <a:t>__INACTIVE__</a:t>
            </a:r>
          </a:p>
        </p:txBody>
      </p:sp>
      <p:sp>
        <p:nvSpPr>
          <p:cNvPr id="94" name="矩形 93">
            <a:extLst>
              <a:ext uri="{FF2B5EF4-FFF2-40B4-BE49-F238E27FC236}">
                <a16:creationId xmlns:a16="http://schemas.microsoft.com/office/drawing/2014/main" id="{D57377D8-72F0-4369-9D3E-15E2632986B4}"/>
              </a:ext>
            </a:extLst>
          </p:cNvPr>
          <p:cNvSpPr>
            <a:spLocks noGrp="1"/>
          </p:cNvSpPr>
          <p:nvPr/>
        </p:nvSpPr>
        <p:spPr>
          <a:xfrm>
            <a:off x="10261598" y="3573460"/>
            <a:ext cx="1549409" cy="399826"/>
          </a:xfrm>
          <a:prstGeom prst="rect">
            <a:avLst/>
          </a:prstGeom>
          <a:noFill/>
          <a:ln w="0">
            <a:noFill/>
            <a:prstDash val="solid"/>
          </a:ln>
        </p:spPr>
        <p:txBody>
          <a:bodyPr/>
          <a:lstStyle/>
          <a:p>
            <a:pPr>
              <a:defRPr sz="720">
                <a:solidFill>
                  <a:srgbClr val="5D6B7A"/>
                </a:solidFill>
                <a:latin typeface="Arial"/>
                <a:ea typeface="Arial"/>
                <a:cs typeface="Arial"/>
              </a:defRPr>
            </a:pPr>
            <a:r>
              <a:rPr sz="1100" dirty="0">
                <a:solidFill>
                  <a:srgbClr val="5D6B7A"/>
                </a:solidFill>
                <a:latin typeface="Arial"/>
                <a:ea typeface="Arial"/>
                <a:cs typeface="Arial"/>
              </a:rPr>
              <a:t>branch not activated</a:t>
            </a:r>
          </a:p>
        </p:txBody>
      </p:sp>
      <p:sp>
        <p:nvSpPr>
          <p:cNvPr id="95" name="矩形 94">
            <a:extLst>
              <a:ext uri="{FF2B5EF4-FFF2-40B4-BE49-F238E27FC236}">
                <a16:creationId xmlns:a16="http://schemas.microsoft.com/office/drawing/2014/main" id="{DFAE72D9-6B4C-4056-81AB-BDAFB39A86AB}"/>
              </a:ext>
            </a:extLst>
          </p:cNvPr>
          <p:cNvSpPr>
            <a:spLocks noGrp="1"/>
          </p:cNvSpPr>
          <p:nvPr/>
        </p:nvSpPr>
        <p:spPr>
          <a:xfrm>
            <a:off x="8498114" y="3973510"/>
            <a:ext cx="1708959" cy="209662"/>
          </a:xfrm>
          <a:prstGeom prst="rect">
            <a:avLst/>
          </a:prstGeom>
          <a:noFill/>
          <a:ln w="0">
            <a:noFill/>
            <a:prstDash val="solid"/>
          </a:ln>
        </p:spPr>
        <p:txBody>
          <a:bodyPr/>
          <a:lstStyle/>
          <a:p>
            <a:pPr>
              <a:defRPr sz="810" b="1">
                <a:solidFill>
                  <a:srgbClr val="0070C0"/>
                </a:solidFill>
                <a:latin typeface="Courier New"/>
                <a:ea typeface="Courier New"/>
                <a:cs typeface="Courier New"/>
              </a:defRPr>
            </a:pPr>
            <a:r>
              <a:rPr sz="1100" b="1" dirty="0">
                <a:solidFill>
                  <a:srgbClr val="0070C0"/>
                </a:solidFill>
                <a:latin typeface="Courier New"/>
                <a:ea typeface="Courier New"/>
                <a:cs typeface="Courier New"/>
              </a:rPr>
              <a:t>__NOT_APPLICABLE__</a:t>
            </a:r>
          </a:p>
        </p:txBody>
      </p:sp>
      <p:sp>
        <p:nvSpPr>
          <p:cNvPr id="96" name="矩形 95">
            <a:extLst>
              <a:ext uri="{FF2B5EF4-FFF2-40B4-BE49-F238E27FC236}">
                <a16:creationId xmlns:a16="http://schemas.microsoft.com/office/drawing/2014/main" id="{6E20A6E5-B80A-4AB1-AE83-389E6CCE6F7C}"/>
              </a:ext>
            </a:extLst>
          </p:cNvPr>
          <p:cNvSpPr>
            <a:spLocks noGrp="1"/>
          </p:cNvSpPr>
          <p:nvPr/>
        </p:nvSpPr>
        <p:spPr>
          <a:xfrm>
            <a:off x="10261599" y="3908420"/>
            <a:ext cx="1549409" cy="381000"/>
          </a:xfrm>
          <a:prstGeom prst="rect">
            <a:avLst/>
          </a:prstGeom>
          <a:noFill/>
          <a:ln w="0">
            <a:noFill/>
            <a:prstDash val="solid"/>
          </a:ln>
        </p:spPr>
        <p:txBody>
          <a:bodyPr/>
          <a:lstStyle/>
          <a:p>
            <a:pPr>
              <a:defRPr sz="720">
                <a:solidFill>
                  <a:srgbClr val="5D6B7A"/>
                </a:solidFill>
                <a:latin typeface="Arial"/>
                <a:ea typeface="Arial"/>
                <a:cs typeface="Arial"/>
              </a:defRPr>
            </a:pPr>
            <a:r>
              <a:rPr sz="1100" dirty="0">
                <a:solidFill>
                  <a:srgbClr val="5D6B7A"/>
                </a:solidFill>
                <a:latin typeface="Arial"/>
                <a:ea typeface="Arial"/>
                <a:cs typeface="Arial"/>
              </a:rPr>
              <a:t>category or region not applicable</a:t>
            </a:r>
          </a:p>
        </p:txBody>
      </p:sp>
      <p:sp>
        <p:nvSpPr>
          <p:cNvPr id="97" name="矩形 96">
            <a:extLst>
              <a:ext uri="{FF2B5EF4-FFF2-40B4-BE49-F238E27FC236}">
                <a16:creationId xmlns:a16="http://schemas.microsoft.com/office/drawing/2014/main" id="{3F8BA627-656F-4B97-9DDE-EE6A4BEA0205}"/>
              </a:ext>
            </a:extLst>
          </p:cNvPr>
          <p:cNvSpPr>
            <a:spLocks noGrp="1"/>
          </p:cNvSpPr>
          <p:nvPr/>
        </p:nvSpPr>
        <p:spPr>
          <a:xfrm>
            <a:off x="8606873" y="4373560"/>
            <a:ext cx="1600200" cy="190500"/>
          </a:xfrm>
          <a:prstGeom prst="rect">
            <a:avLst/>
          </a:prstGeom>
          <a:noFill/>
          <a:ln w="0">
            <a:noFill/>
            <a:prstDash val="solid"/>
          </a:ln>
        </p:spPr>
        <p:txBody>
          <a:bodyPr/>
          <a:lstStyle/>
          <a:p>
            <a:pPr>
              <a:defRPr sz="810" b="1">
                <a:solidFill>
                  <a:srgbClr val="0070C0"/>
                </a:solidFill>
                <a:latin typeface="Courier New"/>
                <a:ea typeface="Courier New"/>
                <a:cs typeface="Courier New"/>
              </a:defRPr>
            </a:pPr>
            <a:r>
              <a:rPr sz="1100" b="1" dirty="0">
                <a:solidFill>
                  <a:srgbClr val="0070C0"/>
                </a:solidFill>
                <a:latin typeface="Courier New"/>
                <a:ea typeface="Courier New"/>
                <a:cs typeface="Courier New"/>
              </a:rPr>
              <a:t>__NONE__</a:t>
            </a:r>
          </a:p>
        </p:txBody>
      </p:sp>
      <p:sp>
        <p:nvSpPr>
          <p:cNvPr id="98" name="矩形 97">
            <a:extLst>
              <a:ext uri="{FF2B5EF4-FFF2-40B4-BE49-F238E27FC236}">
                <a16:creationId xmlns:a16="http://schemas.microsoft.com/office/drawing/2014/main" id="{A8FCD5D4-F9AA-4DF0-9338-432E6C2AEFDA}"/>
              </a:ext>
            </a:extLst>
          </p:cNvPr>
          <p:cNvSpPr>
            <a:spLocks noGrp="1"/>
          </p:cNvSpPr>
          <p:nvPr/>
        </p:nvSpPr>
        <p:spPr>
          <a:xfrm>
            <a:off x="10261597" y="4373336"/>
            <a:ext cx="1549411" cy="355712"/>
          </a:xfrm>
          <a:prstGeom prst="rect">
            <a:avLst/>
          </a:prstGeom>
          <a:noFill/>
          <a:ln w="0">
            <a:noFill/>
            <a:prstDash val="solid"/>
          </a:ln>
        </p:spPr>
        <p:txBody>
          <a:bodyPr/>
          <a:lstStyle/>
          <a:p>
            <a:pPr>
              <a:defRPr sz="720">
                <a:solidFill>
                  <a:srgbClr val="5D6B7A"/>
                </a:solidFill>
                <a:latin typeface="Arial"/>
                <a:ea typeface="Arial"/>
                <a:cs typeface="Arial"/>
              </a:defRPr>
            </a:pPr>
            <a:r>
              <a:rPr sz="1100" dirty="0">
                <a:solidFill>
                  <a:srgbClr val="5D6B7A"/>
                </a:solidFill>
                <a:latin typeface="Arial"/>
                <a:ea typeface="Arial"/>
                <a:cs typeface="Arial"/>
              </a:rPr>
              <a:t>active checkbox with no selected option</a:t>
            </a:r>
          </a:p>
        </p:txBody>
      </p:sp>
      <p:sp>
        <p:nvSpPr>
          <p:cNvPr id="99" name="矩形: 圆角 98">
            <a:extLst>
              <a:ext uri="{FF2B5EF4-FFF2-40B4-BE49-F238E27FC236}">
                <a16:creationId xmlns:a16="http://schemas.microsoft.com/office/drawing/2014/main" id="{44F83AAA-E9DA-4E2C-88A5-094B7035C087}"/>
              </a:ext>
            </a:extLst>
          </p:cNvPr>
          <p:cNvSpPr>
            <a:spLocks noGrp="1"/>
          </p:cNvSpPr>
          <p:nvPr/>
        </p:nvSpPr>
        <p:spPr>
          <a:xfrm>
            <a:off x="8632968" y="4914900"/>
            <a:ext cx="2179574" cy="323850"/>
          </a:xfrm>
          <a:prstGeom prst="roundRect">
            <a:avLst>
              <a:gd name="adj" fmla="val 33333"/>
            </a:avLst>
          </a:prstGeom>
          <a:solidFill>
            <a:srgbClr val="FFFFFF"/>
          </a:solidFill>
          <a:ln w="9525">
            <a:solidFill>
              <a:srgbClr val="1B7F5A"/>
            </a:solidFill>
            <a:prstDash val="solid"/>
          </a:ln>
        </p:spPr>
        <p:txBody>
          <a:bodyPr anchor="ctr"/>
          <a:lstStyle/>
          <a:p>
            <a:pPr algn="ctr">
              <a:defRPr sz="750" b="1">
                <a:solidFill>
                  <a:srgbClr val="1B7F5A"/>
                </a:solidFill>
                <a:latin typeface="Arial"/>
                <a:ea typeface="Arial"/>
                <a:cs typeface="Arial"/>
              </a:defRPr>
            </a:pPr>
            <a:r>
              <a:rPr sz="1100" b="1" dirty="0">
                <a:solidFill>
                  <a:srgbClr val="1B7F5A"/>
                </a:solidFill>
                <a:latin typeface="Arial"/>
                <a:ea typeface="Arial"/>
                <a:cs typeface="Arial"/>
              </a:rPr>
              <a:t>Unexpected blank cells: 0</a:t>
            </a:r>
          </a:p>
        </p:txBody>
      </p:sp>
      <p:cxnSp>
        <p:nvCxnSpPr>
          <p:cNvPr id="100" name="Connector 3">
            <a:extLst>
              <a:ext uri="{FF2B5EF4-FFF2-40B4-BE49-F238E27FC236}">
                <a16:creationId xmlns:a16="http://schemas.microsoft.com/office/drawing/2014/main" id="{FA77070E-12E6-4EC8-8DB5-7FEA49ACEFB8}"/>
              </a:ext>
            </a:extLst>
          </p:cNvPr>
          <p:cNvCxnSpPr/>
          <p:nvPr/>
        </p:nvCxnSpPr>
        <p:spPr>
          <a:xfrm flipV="1">
            <a:off x="355600" y="1129837"/>
            <a:ext cx="8390260" cy="462"/>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101" name="Picture 17">
            <a:extLst>
              <a:ext uri="{FF2B5EF4-FFF2-40B4-BE49-F238E27FC236}">
                <a16:creationId xmlns:a16="http://schemas.microsoft.com/office/drawing/2014/main" id="{7C2E77D1-57FA-4967-9AF7-BEA5743A44FC}"/>
              </a:ext>
            </a:extLst>
          </p:cNvPr>
          <p:cNvPicPr>
            <a:picLocks noChangeAspect="1"/>
          </p:cNvPicPr>
          <p:nvPr/>
        </p:nvPicPr>
        <p:blipFill>
          <a:blip r:embed="rId3"/>
          <a:srcRect/>
          <a:stretch>
            <a:fillRect/>
          </a:stretch>
        </p:blipFill>
        <p:spPr>
          <a:xfrm>
            <a:off x="8826500" y="139700"/>
            <a:ext cx="3365500" cy="1308100"/>
          </a:xfrm>
          <a:prstGeom prst="rect">
            <a:avLst/>
          </a:prstGeom>
          <a:noFill/>
          <a:ln w="25400" cap="flat" cmpd="sng">
            <a:noFill/>
            <a:prstDash val="solid"/>
            <a:round/>
          </a:ln>
        </p:spPr>
      </p:pic>
      <p:sp>
        <p:nvSpPr>
          <p:cNvPr id="104" name="矩形 103">
            <a:extLst>
              <a:ext uri="{FF2B5EF4-FFF2-40B4-BE49-F238E27FC236}">
                <a16:creationId xmlns:a16="http://schemas.microsoft.com/office/drawing/2014/main" id="{3346B593-94B7-4E89-B915-4B490EE906AC}"/>
              </a:ext>
            </a:extLst>
          </p:cNvPr>
          <p:cNvSpPr>
            <a:spLocks noGrp="1"/>
          </p:cNvSpPr>
          <p:nvPr/>
        </p:nvSpPr>
        <p:spPr>
          <a:xfrm>
            <a:off x="355600" y="1253437"/>
            <a:ext cx="11154229" cy="411384"/>
          </a:xfrm>
          <a:prstGeom prst="rect">
            <a:avLst/>
          </a:prstGeom>
          <a:noFill/>
          <a:ln w="0">
            <a:noFill/>
            <a:prstDash val="solid"/>
          </a:ln>
        </p:spPr>
        <p:txBody>
          <a:bodyPr/>
          <a:lstStyle/>
          <a:p>
            <a:pPr>
              <a:defRPr sz="1125">
                <a:solidFill>
                  <a:srgbClr val="5D6B7A"/>
                </a:solidFill>
                <a:latin typeface="Arial"/>
                <a:ea typeface="Arial"/>
                <a:cs typeface="Arial"/>
              </a:defRPr>
            </a:pPr>
            <a:r>
              <a:rPr lang="en-US" sz="1600" dirty="0">
                <a:solidFill>
                  <a:srgbClr val="1F2329"/>
                </a:solidFill>
              </a:rPr>
              <a:t>The cleaning logic remains explicit: what was retained, what was excluded, and how missing structure is represented.</a:t>
            </a:r>
          </a:p>
        </p:txBody>
      </p:sp>
    </p:spTree>
    <p:extLst>
      <p:ext uri="{BB962C8B-B14F-4D97-AF65-F5344CB8AC3E}">
        <p14:creationId xmlns:p14="http://schemas.microsoft.com/office/powerpoint/2010/main" val="2560671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329"/>
                </a:solidFill>
                <a:latin typeface="Arial"/>
                <a:ea typeface="Arial"/>
                <a:cs typeface="Arial"/>
                <a:sym typeface="Arial"/>
              </a:rPr>
              <a:t>Unified Wide-Table Format</a:t>
            </a:r>
            <a:endParaRPr lang="en-US" sz="1100" dirty="0"/>
          </a:p>
        </p:txBody>
      </p:sp>
      <p:cxnSp>
        <p:nvCxnSpPr>
          <p:cNvPr id="3" name="Connector 3"/>
          <p:cNvCxnSpPr/>
          <p:nvPr/>
        </p:nvCxnSpPr>
        <p:spPr>
          <a:xfrm rot="-5200">
            <a:off x="355605" y="1123950"/>
            <a:ext cx="8394700" cy="12700"/>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4" name="Picture 4"/>
          <p:cNvPicPr>
            <a:picLocks noChangeAspect="1"/>
          </p:cNvPicPr>
          <p:nvPr/>
        </p:nvPicPr>
        <p:blipFill>
          <a:blip r:embed="rId3"/>
          <a:srcRect l="290" r="290"/>
          <a:stretch>
            <a:fillRect/>
          </a:stretch>
        </p:blipFill>
        <p:spPr>
          <a:xfrm>
            <a:off x="8826500" y="139700"/>
            <a:ext cx="3365500" cy="1308100"/>
          </a:xfrm>
          <a:prstGeom prst="rect">
            <a:avLst/>
          </a:prstGeom>
          <a:noFill/>
          <a:ln w="25400" cap="flat" cmpd="sng">
            <a:noFill/>
            <a:prstDash val="solid"/>
            <a:round/>
          </a:ln>
        </p:spPr>
      </p:pic>
      <p:sp>
        <p:nvSpPr>
          <p:cNvPr id="5" name="AutoShape 5"/>
          <p:cNvSpPr/>
          <p:nvPr/>
        </p:nvSpPr>
        <p:spPr>
          <a:xfrm>
            <a:off x="495300" y="1689100"/>
            <a:ext cx="10998201" cy="1496786"/>
          </a:xfrm>
          <a:prstGeom prst="roundRect">
            <a:avLst>
              <a:gd name="adj" fmla="val 0"/>
            </a:avLst>
          </a:prstGeom>
          <a:solidFill>
            <a:srgbClr val="FFFFFF">
              <a:alpha val="100000"/>
            </a:srgbClr>
          </a:solidFill>
          <a:ln w="38100" cap="flat" cmpd="sng">
            <a:solidFill>
              <a:srgbClr val="3B82F6">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77859" y="1612898"/>
            <a:ext cx="46609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3B82F6"/>
                </a:solidFill>
                <a:latin typeface="Arial"/>
                <a:ea typeface="Arial"/>
                <a:cs typeface="Arial"/>
                <a:sym typeface="Arial"/>
              </a:rPr>
              <a:t>📋 Questionnaire Answer Normalization</a:t>
            </a:r>
            <a:endParaRPr lang="en-US" sz="1100" dirty="0"/>
          </a:p>
        </p:txBody>
      </p:sp>
      <p:graphicFrame>
        <p:nvGraphicFramePr>
          <p:cNvPr id="18" name="表格 17">
            <a:extLst>
              <a:ext uri="{FF2B5EF4-FFF2-40B4-BE49-F238E27FC236}">
                <a16:creationId xmlns:a16="http://schemas.microsoft.com/office/drawing/2014/main" id="{DD080A9C-5661-4F82-A4CB-89EB742CC692}"/>
              </a:ext>
            </a:extLst>
          </p:cNvPr>
          <p:cNvGraphicFramePr/>
          <p:nvPr>
            <p:extLst>
              <p:ext uri="{D42A27DB-BD31-4B8C-83A1-F6EECF244321}">
                <p14:modId xmlns:p14="http://schemas.microsoft.com/office/powerpoint/2010/main" val="2444932497"/>
              </p:ext>
            </p:extLst>
          </p:nvPr>
        </p:nvGraphicFramePr>
        <p:xfrm>
          <a:off x="698499" y="2184399"/>
          <a:ext cx="10620375" cy="822960"/>
        </p:xfrm>
        <a:graphic>
          <a:graphicData uri="http://schemas.openxmlformats.org/drawingml/2006/table">
            <a:tbl>
              <a:tblPr/>
              <a:tblGrid>
                <a:gridCol w="1666875">
                  <a:extLst>
                    <a:ext uri="{9D8B030D-6E8A-4147-A177-3AD203B41FA5}">
                      <a16:colId xmlns:a16="http://schemas.microsoft.com/office/drawing/2014/main" val="20000"/>
                    </a:ext>
                  </a:extLst>
                </a:gridCol>
                <a:gridCol w="1865540">
                  <a:extLst>
                    <a:ext uri="{9D8B030D-6E8A-4147-A177-3AD203B41FA5}">
                      <a16:colId xmlns:a16="http://schemas.microsoft.com/office/drawing/2014/main" val="20001"/>
                    </a:ext>
                  </a:extLst>
                </a:gridCol>
                <a:gridCol w="4468585">
                  <a:extLst>
                    <a:ext uri="{9D8B030D-6E8A-4147-A177-3AD203B41FA5}">
                      <a16:colId xmlns:a16="http://schemas.microsoft.com/office/drawing/2014/main" val="20002"/>
                    </a:ext>
                  </a:extLst>
                </a:gridCol>
                <a:gridCol w="2619375">
                  <a:extLst>
                    <a:ext uri="{9D8B030D-6E8A-4147-A177-3AD203B41FA5}">
                      <a16:colId xmlns:a16="http://schemas.microsoft.com/office/drawing/2014/main" val="20003"/>
                    </a:ext>
                  </a:extLst>
                </a:gridCol>
              </a:tblGrid>
              <a:tr h="268514">
                <a:tc>
                  <a:txBody>
                    <a:bodyPr/>
                    <a:lstStyle/>
                    <a:p>
                      <a:pPr algn="ctr"/>
                      <a:r>
                        <a:rPr sz="1200" b="1" dirty="0" err="1">
                          <a:solidFill>
                            <a:srgbClr val="FFFFFF"/>
                          </a:solidFill>
                          <a:latin typeface="+mn-lt"/>
                          <a:ea typeface="Arial"/>
                          <a:cs typeface="Arial"/>
                        </a:rPr>
                        <a:t>sample_id</a:t>
                      </a:r>
                      <a:endParaRPr sz="1200" b="1" dirty="0">
                        <a:solidFill>
                          <a:srgbClr val="FFFFFF"/>
                        </a:solidFill>
                        <a:latin typeface="+mn-lt"/>
                        <a:ea typeface="Arial"/>
                        <a:cs typeface="Arial"/>
                      </a:endParaRPr>
                    </a:p>
                  </a:txBody>
                  <a:tcPr>
                    <a:solidFill>
                      <a:srgbClr val="0B2E63"/>
                    </a:solidFill>
                  </a:tcPr>
                </a:tc>
                <a:tc>
                  <a:txBody>
                    <a:bodyPr/>
                    <a:lstStyle/>
                    <a:p>
                      <a:pPr algn="ctr"/>
                      <a:r>
                        <a:rPr sz="1200" b="1" dirty="0">
                          <a:solidFill>
                            <a:srgbClr val="FFFFFF"/>
                          </a:solidFill>
                          <a:latin typeface="+mn-lt"/>
                          <a:ea typeface="Arial"/>
                          <a:cs typeface="Arial"/>
                        </a:rPr>
                        <a:t>category</a:t>
                      </a:r>
                    </a:p>
                  </a:txBody>
                  <a:tcPr>
                    <a:solidFill>
                      <a:srgbClr val="0B2E63"/>
                    </a:solidFill>
                  </a:tcPr>
                </a:tc>
                <a:tc>
                  <a:txBody>
                    <a:bodyPr/>
                    <a:lstStyle/>
                    <a:p>
                      <a:pPr algn="ctr"/>
                      <a:r>
                        <a:rPr sz="1200" b="1" dirty="0">
                          <a:solidFill>
                            <a:srgbClr val="FFFFFF"/>
                          </a:solidFill>
                          <a:latin typeface="+mn-lt"/>
                          <a:ea typeface="Arial"/>
                          <a:cs typeface="Arial"/>
                        </a:rPr>
                        <a:t>answer__&lt;</a:t>
                      </a:r>
                      <a:r>
                        <a:rPr sz="1200" b="1" dirty="0" err="1">
                          <a:solidFill>
                            <a:srgbClr val="FFFFFF"/>
                          </a:solidFill>
                          <a:latin typeface="+mn-lt"/>
                          <a:ea typeface="Arial"/>
                          <a:cs typeface="Arial"/>
                        </a:rPr>
                        <a:t>question_id</a:t>
                      </a:r>
                      <a:r>
                        <a:rPr sz="1200" b="1" dirty="0">
                          <a:solidFill>
                            <a:srgbClr val="FFFFFF"/>
                          </a:solidFill>
                          <a:latin typeface="+mn-lt"/>
                          <a:ea typeface="Arial"/>
                          <a:cs typeface="Arial"/>
                        </a:rPr>
                        <a:t>&gt;</a:t>
                      </a:r>
                    </a:p>
                  </a:txBody>
                  <a:tcPr>
                    <a:solidFill>
                      <a:srgbClr val="0B2E63"/>
                    </a:solidFill>
                  </a:tcPr>
                </a:tc>
                <a:tc>
                  <a:txBody>
                    <a:bodyPr/>
                    <a:lstStyle/>
                    <a:p>
                      <a:pPr algn="ctr"/>
                      <a:r>
                        <a:rPr sz="1200" b="1" dirty="0">
                          <a:solidFill>
                            <a:srgbClr val="FFFFFF"/>
                          </a:solidFill>
                          <a:latin typeface="+mn-lt"/>
                          <a:ea typeface="Arial"/>
                          <a:cs typeface="Arial"/>
                        </a:rPr>
                        <a:t>rating__&lt;territory&gt;</a:t>
                      </a:r>
                    </a:p>
                  </a:txBody>
                  <a:tcPr>
                    <a:solidFill>
                      <a:srgbClr val="0B2E63"/>
                    </a:solidFill>
                  </a:tcPr>
                </a:tc>
                <a:extLst>
                  <a:ext uri="{0D108BD9-81ED-4DB2-BD59-A6C34878D82A}">
                    <a16:rowId xmlns:a16="http://schemas.microsoft.com/office/drawing/2014/main" val="10000"/>
                  </a:ext>
                </a:extLst>
              </a:tr>
              <a:tr h="269966">
                <a:tc>
                  <a:txBody>
                    <a:bodyPr/>
                    <a:lstStyle/>
                    <a:p>
                      <a:pPr algn="ctr"/>
                      <a:r>
                        <a:rPr sz="1200" dirty="0">
                          <a:solidFill>
                            <a:srgbClr val="1F2937"/>
                          </a:solidFill>
                          <a:latin typeface="+mn-lt"/>
                          <a:ea typeface="Courier New"/>
                          <a:cs typeface="Courier New"/>
                        </a:rPr>
                        <a:t>game_00042</a:t>
                      </a:r>
                    </a:p>
                  </a:txBody>
                  <a:tcPr>
                    <a:solidFill>
                      <a:srgbClr val="FFFFFF"/>
                    </a:solidFill>
                  </a:tcPr>
                </a:tc>
                <a:tc>
                  <a:txBody>
                    <a:bodyPr/>
                    <a:lstStyle/>
                    <a:p>
                      <a:pPr algn="ctr"/>
                      <a:r>
                        <a:rPr sz="1200" dirty="0">
                          <a:solidFill>
                            <a:srgbClr val="1F2937"/>
                          </a:solidFill>
                          <a:latin typeface="+mn-lt"/>
                          <a:ea typeface="Arial"/>
                          <a:cs typeface="Arial"/>
                        </a:rPr>
                        <a:t>Game</a:t>
                      </a:r>
                    </a:p>
                  </a:txBody>
                  <a:tcPr>
                    <a:solidFill>
                      <a:srgbClr val="FFFFFF"/>
                    </a:solidFill>
                  </a:tcPr>
                </a:tc>
                <a:tc>
                  <a:txBody>
                    <a:bodyPr/>
                    <a:lstStyle/>
                    <a:p>
                      <a:pPr algn="ctr"/>
                      <a:r>
                        <a:rPr sz="1200" dirty="0">
                          <a:solidFill>
                            <a:srgbClr val="344054"/>
                          </a:solidFill>
                          <a:latin typeface="+mn-lt"/>
                          <a:ea typeface="Arial"/>
                          <a:cs typeface="Arial"/>
                        </a:rPr>
                        <a:t>Yes || Moderate</a:t>
                      </a:r>
                    </a:p>
                  </a:txBody>
                  <a:tcPr>
                    <a:solidFill>
                      <a:srgbClr val="FFFFFF"/>
                    </a:solidFill>
                  </a:tcPr>
                </a:tc>
                <a:tc>
                  <a:txBody>
                    <a:bodyPr/>
                    <a:lstStyle/>
                    <a:p>
                      <a:pPr algn="ctr"/>
                      <a:r>
                        <a:rPr sz="1200" dirty="0">
                          <a:solidFill>
                            <a:srgbClr val="344054"/>
                          </a:solidFill>
                          <a:latin typeface="+mn-lt"/>
                          <a:ea typeface="Arial"/>
                          <a:cs typeface="Arial"/>
                        </a:rPr>
                        <a:t>Mature 17+</a:t>
                      </a:r>
                    </a:p>
                  </a:txBody>
                  <a:tcPr>
                    <a:solidFill>
                      <a:srgbClr val="FFFFFF"/>
                    </a:solidFill>
                  </a:tcPr>
                </a:tc>
                <a:extLst>
                  <a:ext uri="{0D108BD9-81ED-4DB2-BD59-A6C34878D82A}">
                    <a16:rowId xmlns:a16="http://schemas.microsoft.com/office/drawing/2014/main" val="10001"/>
                  </a:ext>
                </a:extLst>
              </a:tr>
              <a:tr h="217714">
                <a:tc>
                  <a:txBody>
                    <a:bodyPr/>
                    <a:lstStyle/>
                    <a:p>
                      <a:pPr algn="ctr"/>
                      <a:r>
                        <a:rPr sz="1200">
                          <a:solidFill>
                            <a:srgbClr val="1F2937"/>
                          </a:solidFill>
                          <a:latin typeface="+mn-lt"/>
                          <a:ea typeface="Courier New"/>
                          <a:cs typeface="Courier New"/>
                        </a:rPr>
                        <a:t>app_00118</a:t>
                      </a:r>
                    </a:p>
                  </a:txBody>
                  <a:tcPr>
                    <a:solidFill>
                      <a:srgbClr val="F7F9FC"/>
                    </a:solidFill>
                  </a:tcPr>
                </a:tc>
                <a:tc>
                  <a:txBody>
                    <a:bodyPr/>
                    <a:lstStyle/>
                    <a:p>
                      <a:pPr algn="ctr"/>
                      <a:r>
                        <a:rPr lang="en-US" sz="1200" dirty="0">
                          <a:solidFill>
                            <a:srgbClr val="1F2937"/>
                          </a:solidFill>
                          <a:latin typeface="+mn-lt"/>
                          <a:ea typeface="Arial"/>
                          <a:cs typeface="Arial"/>
                        </a:rPr>
                        <a:t>All Other App Types</a:t>
                      </a:r>
                      <a:endParaRPr sz="1200" dirty="0">
                        <a:solidFill>
                          <a:srgbClr val="1F2937"/>
                        </a:solidFill>
                        <a:latin typeface="+mn-lt"/>
                        <a:ea typeface="Arial"/>
                        <a:cs typeface="Arial"/>
                      </a:endParaRPr>
                    </a:p>
                  </a:txBody>
                  <a:tcPr>
                    <a:solidFill>
                      <a:srgbClr val="F7F9FC"/>
                    </a:solidFill>
                  </a:tcPr>
                </a:tc>
                <a:tc>
                  <a:txBody>
                    <a:bodyPr/>
                    <a:lstStyle/>
                    <a:p>
                      <a:pPr algn="ctr"/>
                      <a:r>
                        <a:rPr sz="1200" dirty="0">
                          <a:solidFill>
                            <a:srgbClr val="344054"/>
                          </a:solidFill>
                          <a:latin typeface="+mn-lt"/>
                          <a:ea typeface="Arial"/>
                          <a:cs typeface="Arial"/>
                        </a:rPr>
                        <a:t>No</a:t>
                      </a:r>
                    </a:p>
                  </a:txBody>
                  <a:tcPr>
                    <a:solidFill>
                      <a:srgbClr val="F7F9FC"/>
                    </a:solidFill>
                  </a:tcPr>
                </a:tc>
                <a:tc>
                  <a:txBody>
                    <a:bodyPr/>
                    <a:lstStyle/>
                    <a:p>
                      <a:pPr algn="ctr"/>
                      <a:r>
                        <a:rPr sz="1200" dirty="0">
                          <a:solidFill>
                            <a:srgbClr val="344054"/>
                          </a:solidFill>
                          <a:latin typeface="+mn-lt"/>
                          <a:ea typeface="Arial"/>
                          <a:cs typeface="Arial"/>
                        </a:rPr>
                        <a:t>Teen</a:t>
                      </a:r>
                    </a:p>
                  </a:txBody>
                  <a:tcPr>
                    <a:solidFill>
                      <a:srgbClr val="F7F9FC"/>
                    </a:solidFill>
                  </a:tcPr>
                </a:tc>
                <a:extLst>
                  <a:ext uri="{0D108BD9-81ED-4DB2-BD59-A6C34878D82A}">
                    <a16:rowId xmlns:a16="http://schemas.microsoft.com/office/drawing/2014/main" val="10002"/>
                  </a:ext>
                </a:extLst>
              </a:tr>
            </a:tbl>
          </a:graphicData>
        </a:graphic>
      </p:graphicFrame>
      <p:sp>
        <p:nvSpPr>
          <p:cNvPr id="21" name="矩形 20">
            <a:extLst>
              <a:ext uri="{FF2B5EF4-FFF2-40B4-BE49-F238E27FC236}">
                <a16:creationId xmlns:a16="http://schemas.microsoft.com/office/drawing/2014/main" id="{7DA7D347-4A85-4DD5-8F67-2B552709B41F}"/>
              </a:ext>
            </a:extLst>
          </p:cNvPr>
          <p:cNvSpPr>
            <a:spLocks noGrp="1"/>
          </p:cNvSpPr>
          <p:nvPr/>
        </p:nvSpPr>
        <p:spPr>
          <a:xfrm>
            <a:off x="355600" y="1253437"/>
            <a:ext cx="10289001" cy="411384"/>
          </a:xfrm>
          <a:prstGeom prst="rect">
            <a:avLst/>
          </a:prstGeom>
          <a:noFill/>
          <a:ln w="0">
            <a:noFill/>
            <a:prstDash val="solid"/>
          </a:ln>
        </p:spPr>
        <p:txBody>
          <a:bodyPr/>
          <a:lstStyle/>
          <a:p>
            <a:pPr>
              <a:defRPr sz="1125">
                <a:solidFill>
                  <a:srgbClr val="5D6B7A"/>
                </a:solidFill>
                <a:latin typeface="Arial"/>
                <a:ea typeface="Arial"/>
                <a:cs typeface="Arial"/>
              </a:defRPr>
            </a:pPr>
            <a:r>
              <a:rPr lang="en-US" sz="1600" dirty="0">
                <a:solidFill>
                  <a:srgbClr val="1F2329"/>
                </a:solidFill>
              </a:rPr>
              <a:t>Nested questionnaire records are flattened into one row per sample with consistent column names.</a:t>
            </a:r>
          </a:p>
        </p:txBody>
      </p:sp>
      <p:sp>
        <p:nvSpPr>
          <p:cNvPr id="22" name="AutoShape 11">
            <a:extLst>
              <a:ext uri="{FF2B5EF4-FFF2-40B4-BE49-F238E27FC236}">
                <a16:creationId xmlns:a16="http://schemas.microsoft.com/office/drawing/2014/main" id="{3FABA803-DF91-4281-811E-9BDA4DBF30EC}"/>
              </a:ext>
            </a:extLst>
          </p:cNvPr>
          <p:cNvSpPr/>
          <p:nvPr/>
        </p:nvSpPr>
        <p:spPr>
          <a:xfrm>
            <a:off x="6270627" y="3427186"/>
            <a:ext cx="5222874" cy="1572985"/>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23" name="AutoShape 12">
            <a:extLst>
              <a:ext uri="{FF2B5EF4-FFF2-40B4-BE49-F238E27FC236}">
                <a16:creationId xmlns:a16="http://schemas.microsoft.com/office/drawing/2014/main" id="{538282BC-1D77-49B3-A9D3-37E4E9304E9C}"/>
              </a:ext>
            </a:extLst>
          </p:cNvPr>
          <p:cNvSpPr/>
          <p:nvPr/>
        </p:nvSpPr>
        <p:spPr>
          <a:xfrm>
            <a:off x="6270626" y="3427186"/>
            <a:ext cx="70579" cy="1572985"/>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13">
            <a:extLst>
              <a:ext uri="{FF2B5EF4-FFF2-40B4-BE49-F238E27FC236}">
                <a16:creationId xmlns:a16="http://schemas.microsoft.com/office/drawing/2014/main" id="{B2AF9BD7-43E0-45E7-A4BE-C977501FD2FE}"/>
              </a:ext>
            </a:extLst>
          </p:cNvPr>
          <p:cNvSpPr/>
          <p:nvPr/>
        </p:nvSpPr>
        <p:spPr>
          <a:xfrm>
            <a:off x="6461126" y="3427185"/>
            <a:ext cx="4940556" cy="157298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a:solidFill>
                  <a:srgbClr val="1F2329"/>
                </a:solidFill>
                <a:latin typeface="Segoe UI"/>
                <a:ea typeface="Segoe UI"/>
                <a:cs typeface="Segoe UI"/>
                <a:sym typeface="Segoe UI"/>
              </a:rPr>
              <a:t>⭐ Rating Outputs</a:t>
            </a:r>
          </a:p>
          <a:p>
            <a:pPr marL="0" indent="0" algn="l">
              <a:lnSpc>
                <a:spcPct val="108333"/>
              </a:lnSpc>
              <a:defRPr/>
            </a:pPr>
            <a:r>
              <a:rPr lang="en-US" b="1" dirty="0">
                <a:solidFill>
                  <a:srgbClr val="10B981"/>
                </a:solidFill>
                <a:latin typeface="Segoe UI"/>
                <a:cs typeface="Segoe UI"/>
                <a:sym typeface="Segoe UI"/>
              </a:rPr>
              <a:t>rating__* </a:t>
            </a:r>
            <a:r>
              <a:rPr lang="en-US" sz="1400" b="0" i="0" u="none" strike="noStrike" dirty="0">
                <a:solidFill>
                  <a:srgbClr val="595959"/>
                </a:solidFill>
                <a:latin typeface="Segoe UI"/>
                <a:ea typeface="Segoe UI"/>
                <a:cs typeface="Segoe UI"/>
                <a:sym typeface="Segoe UI"/>
              </a:rPr>
              <a:t>columns store the original regional rating labels returned by the questionnaire result page. They are output labels, not cleaned answer fields.</a:t>
            </a:r>
          </a:p>
        </p:txBody>
      </p:sp>
      <p:sp>
        <p:nvSpPr>
          <p:cNvPr id="27" name="AutoShape 14">
            <a:extLst>
              <a:ext uri="{FF2B5EF4-FFF2-40B4-BE49-F238E27FC236}">
                <a16:creationId xmlns:a16="http://schemas.microsoft.com/office/drawing/2014/main" id="{BCA6797D-A9FF-4CB6-8EBB-430C6FCBD4E6}"/>
              </a:ext>
            </a:extLst>
          </p:cNvPr>
          <p:cNvSpPr/>
          <p:nvPr/>
        </p:nvSpPr>
        <p:spPr>
          <a:xfrm>
            <a:off x="508000" y="3403602"/>
            <a:ext cx="5222874" cy="1572985"/>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28" name="AutoShape 15">
            <a:extLst>
              <a:ext uri="{FF2B5EF4-FFF2-40B4-BE49-F238E27FC236}">
                <a16:creationId xmlns:a16="http://schemas.microsoft.com/office/drawing/2014/main" id="{40F687B1-80B1-4CF8-A35D-645B9BD6B174}"/>
              </a:ext>
            </a:extLst>
          </p:cNvPr>
          <p:cNvSpPr/>
          <p:nvPr/>
        </p:nvSpPr>
        <p:spPr>
          <a:xfrm>
            <a:off x="507999" y="3403602"/>
            <a:ext cx="70579" cy="1572985"/>
          </a:xfrm>
          <a:prstGeom prst="roundRect">
            <a:avLst>
              <a:gd name="adj" fmla="val 0"/>
            </a:avLst>
          </a:prstGeom>
          <a:solidFill>
            <a:srgbClr val="8B5C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6">
            <a:extLst>
              <a:ext uri="{FF2B5EF4-FFF2-40B4-BE49-F238E27FC236}">
                <a16:creationId xmlns:a16="http://schemas.microsoft.com/office/drawing/2014/main" id="{8F510489-2A00-47B2-A7A2-C133570BFDB1}"/>
              </a:ext>
            </a:extLst>
          </p:cNvPr>
          <p:cNvSpPr/>
          <p:nvPr/>
        </p:nvSpPr>
        <p:spPr>
          <a:xfrm>
            <a:off x="698499" y="3403601"/>
            <a:ext cx="4940556" cy="157298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a:solidFill>
                  <a:srgbClr val="1F2329"/>
                </a:solidFill>
                <a:latin typeface="Segoe UI"/>
                <a:ea typeface="Segoe UI"/>
                <a:cs typeface="Segoe UI"/>
                <a:sym typeface="Segoe UI"/>
              </a:rPr>
              <a:t>📝 Questionnaire answers</a:t>
            </a:r>
          </a:p>
          <a:p>
            <a:pPr marL="0" indent="0" algn="l">
              <a:lnSpc>
                <a:spcPct val="108333"/>
              </a:lnSpc>
              <a:defRPr/>
            </a:pPr>
            <a:r>
              <a:rPr lang="en-US" b="1" dirty="0">
                <a:solidFill>
                  <a:srgbClr val="8B5CF6"/>
                </a:solidFill>
                <a:latin typeface="Segoe UI"/>
                <a:cs typeface="Segoe UI"/>
                <a:sym typeface="Segoe UI"/>
              </a:rPr>
              <a:t>answer__*</a:t>
            </a:r>
            <a:r>
              <a:rPr lang="en-US" sz="1400" b="0" i="0" u="none" strike="noStrike" dirty="0">
                <a:solidFill>
                  <a:srgbClr val="595959"/>
                </a:solidFill>
                <a:latin typeface="Segoe UI"/>
                <a:ea typeface="Segoe UI"/>
                <a:cs typeface="Segoe UI"/>
                <a:sym typeface="Segoe UI"/>
              </a:rPr>
              <a:t> columns store standardized questionnaire responses. Radio questions keep the selected option. Checkbox questions join multiple selected options with " || ".</a:t>
            </a:r>
          </a:p>
        </p:txBody>
      </p:sp>
      <p:sp>
        <p:nvSpPr>
          <p:cNvPr id="30" name="AutoShape 14">
            <a:extLst>
              <a:ext uri="{FF2B5EF4-FFF2-40B4-BE49-F238E27FC236}">
                <a16:creationId xmlns:a16="http://schemas.microsoft.com/office/drawing/2014/main" id="{52B0A081-3E52-4A5D-A88C-A12E968C5CAD}"/>
              </a:ext>
            </a:extLst>
          </p:cNvPr>
          <p:cNvSpPr/>
          <p:nvPr/>
        </p:nvSpPr>
        <p:spPr>
          <a:xfrm>
            <a:off x="507999" y="5217885"/>
            <a:ext cx="10985502" cy="1204685"/>
          </a:xfrm>
          <a:prstGeom prst="roundRect">
            <a:avLst>
              <a:gd name="adj" fmla="val 0"/>
            </a:avLst>
          </a:prstGeom>
          <a:solidFill>
            <a:srgbClr val="FFFFFF">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31" name="AutoShape 15">
            <a:extLst>
              <a:ext uri="{FF2B5EF4-FFF2-40B4-BE49-F238E27FC236}">
                <a16:creationId xmlns:a16="http://schemas.microsoft.com/office/drawing/2014/main" id="{2FB47A1E-6524-4726-A984-7076F639ADC6}"/>
              </a:ext>
            </a:extLst>
          </p:cNvPr>
          <p:cNvSpPr/>
          <p:nvPr/>
        </p:nvSpPr>
        <p:spPr>
          <a:xfrm>
            <a:off x="507998" y="5217885"/>
            <a:ext cx="69861" cy="1204685"/>
          </a:xfrm>
          <a:prstGeom prst="roundRect">
            <a:avLst>
              <a:gd name="adj" fmla="val 0"/>
            </a:avLst>
          </a:prstGeom>
          <a:solidFill>
            <a:srgbClr val="AFABAB"/>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16">
            <a:extLst>
              <a:ext uri="{FF2B5EF4-FFF2-40B4-BE49-F238E27FC236}">
                <a16:creationId xmlns:a16="http://schemas.microsoft.com/office/drawing/2014/main" id="{87797649-73A0-4E89-A18F-4102CE1A986C}"/>
              </a:ext>
            </a:extLst>
          </p:cNvPr>
          <p:cNvSpPr/>
          <p:nvPr/>
        </p:nvSpPr>
        <p:spPr>
          <a:xfrm>
            <a:off x="698499" y="5217884"/>
            <a:ext cx="10391690" cy="1204684"/>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600" b="1" i="0" u="none" strike="noStrike" dirty="0">
                <a:solidFill>
                  <a:srgbClr val="1F2329"/>
                </a:solidFill>
                <a:latin typeface="Segoe UI"/>
                <a:ea typeface="Segoe UI"/>
                <a:cs typeface="Segoe UI"/>
                <a:sym typeface="Segoe UI"/>
              </a:rPr>
              <a:t>📊 Dataset Scale &amp; Structural Consistency</a:t>
            </a:r>
            <a:endParaRPr lang="en-US" sz="1100" dirty="0"/>
          </a:p>
          <a:p>
            <a:pPr marL="0" indent="0" algn="l">
              <a:lnSpc>
                <a:spcPct val="108333"/>
              </a:lnSpc>
            </a:pPr>
            <a:r>
              <a:rPr lang="en-US" sz="1400" b="0" i="0" u="none" strike="noStrike" dirty="0">
                <a:solidFill>
                  <a:srgbClr val="595959"/>
                </a:solidFill>
                <a:latin typeface="Segoe UI"/>
                <a:ea typeface="Segoe UI"/>
                <a:cs typeface="Segoe UI"/>
                <a:sym typeface="Segoe UI"/>
              </a:rPr>
              <a:t>The schema includes </a:t>
            </a:r>
            <a:r>
              <a:rPr lang="en-US" sz="1400" b="1" i="0" u="none" strike="noStrike" dirty="0">
                <a:solidFill>
                  <a:srgbClr val="595959"/>
                </a:solidFill>
                <a:latin typeface="Segoe UI"/>
                <a:ea typeface="Segoe UI"/>
                <a:cs typeface="Segoe UI"/>
                <a:sym typeface="Segoe UI"/>
              </a:rPr>
              <a:t>164 answer columns </a:t>
            </a:r>
            <a:r>
              <a:rPr lang="en-US" sz="1400" b="0" i="0" u="none" strike="noStrike" dirty="0">
                <a:solidFill>
                  <a:srgbClr val="595959"/>
                </a:solidFill>
                <a:latin typeface="Segoe UI"/>
                <a:ea typeface="Segoe UI"/>
                <a:cs typeface="Segoe UI"/>
                <a:sym typeface="Segoe UI"/>
              </a:rPr>
              <a:t>and </a:t>
            </a:r>
            <a:r>
              <a:rPr lang="en-US" b="1" dirty="0">
                <a:solidFill>
                  <a:srgbClr val="595959"/>
                </a:solidFill>
                <a:latin typeface="Segoe UI"/>
                <a:cs typeface="Segoe UI"/>
                <a:sym typeface="Segoe UI"/>
              </a:rPr>
              <a:t>10 regional rating columns</a:t>
            </a:r>
            <a:r>
              <a:rPr lang="en-US" sz="1400" b="0" i="0" u="none" strike="noStrike" dirty="0">
                <a:solidFill>
                  <a:srgbClr val="595959"/>
                </a:solidFill>
                <a:latin typeface="Segoe UI"/>
                <a:ea typeface="Segoe UI"/>
                <a:cs typeface="Segoe UI"/>
                <a:sym typeface="Segoe UI"/>
              </a:rPr>
              <a:t>.  </a:t>
            </a:r>
            <a:r>
              <a:rPr lang="en-US" sz="1400" b="1" i="0" u="none" strike="noStrike" dirty="0">
                <a:solidFill>
                  <a:srgbClr val="595959"/>
                </a:solidFill>
                <a:latin typeface="Segoe UI"/>
                <a:ea typeface="Segoe UI"/>
                <a:cs typeface="Segoe UI"/>
                <a:sym typeface="Segoe UI"/>
              </a:rPr>
              <a:t>clean_dataset.csv</a:t>
            </a:r>
            <a:r>
              <a:rPr lang="en-US" sz="1400" b="0" i="0" u="none" strike="noStrike" dirty="0">
                <a:solidFill>
                  <a:srgbClr val="595959"/>
                </a:solidFill>
                <a:latin typeface="Segoe UI"/>
                <a:ea typeface="Segoe UI"/>
                <a:cs typeface="Segoe UI"/>
                <a:sym typeface="Segoe UI"/>
              </a:rPr>
              <a:t> includes the split column. </a:t>
            </a:r>
          </a:p>
          <a:p>
            <a:pPr marL="0" indent="0" algn="l">
              <a:lnSpc>
                <a:spcPct val="108333"/>
              </a:lnSpc>
            </a:pPr>
            <a:r>
              <a:rPr lang="en-US" sz="1400" b="1" i="0" u="none" strike="noStrike" dirty="0">
                <a:solidFill>
                  <a:srgbClr val="595959"/>
                </a:solidFill>
                <a:latin typeface="Segoe UI"/>
                <a:ea typeface="Segoe UI"/>
                <a:cs typeface="Segoe UI"/>
                <a:sym typeface="Segoe UI"/>
              </a:rPr>
              <a:t>train.csv</a:t>
            </a:r>
            <a:r>
              <a:rPr lang="en-US" sz="1400" b="0" i="0" u="none" strike="noStrike" dirty="0">
                <a:solidFill>
                  <a:srgbClr val="595959"/>
                </a:solidFill>
                <a:latin typeface="Segoe UI"/>
                <a:ea typeface="Segoe UI"/>
                <a:cs typeface="Segoe UI"/>
                <a:sym typeface="Segoe UI"/>
              </a:rPr>
              <a:t> and </a:t>
            </a:r>
            <a:r>
              <a:rPr lang="en-US" sz="1400" b="1" i="0" u="none" strike="noStrike" dirty="0">
                <a:solidFill>
                  <a:srgbClr val="595959"/>
                </a:solidFill>
                <a:latin typeface="Segoe UI"/>
                <a:ea typeface="Segoe UI"/>
                <a:cs typeface="Segoe UI"/>
                <a:sym typeface="Segoe UI"/>
              </a:rPr>
              <a:t>test.csv</a:t>
            </a:r>
            <a:r>
              <a:rPr lang="en-US" sz="1400" b="0" i="0" u="none" strike="noStrike" dirty="0">
                <a:solidFill>
                  <a:srgbClr val="595959"/>
                </a:solidFill>
                <a:latin typeface="Segoe UI"/>
                <a:ea typeface="Segoe UI"/>
                <a:cs typeface="Segoe UI"/>
                <a:sym typeface="Segoe UI"/>
              </a:rPr>
              <a:t> share identical columns.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157" name="AutoShape 5">
            <a:extLst>
              <a:ext uri="{FF2B5EF4-FFF2-40B4-BE49-F238E27FC236}">
                <a16:creationId xmlns:a16="http://schemas.microsoft.com/office/drawing/2014/main" id="{52AB2FE6-2FA8-4F20-B5C3-42622299D1EC}"/>
              </a:ext>
            </a:extLst>
          </p:cNvPr>
          <p:cNvSpPr/>
          <p:nvPr/>
        </p:nvSpPr>
        <p:spPr>
          <a:xfrm>
            <a:off x="7939313" y="3050447"/>
            <a:ext cx="3528107" cy="2689951"/>
          </a:xfrm>
          <a:prstGeom prst="roundRect">
            <a:avLst>
              <a:gd name="adj" fmla="val 0"/>
            </a:avLst>
          </a:prstGeom>
          <a:solidFill>
            <a:srgbClr val="FFFFFF">
              <a:alpha val="100000"/>
            </a:srgbClr>
          </a:solidFill>
          <a:ln w="38100" cap="flat" cmpd="sng">
            <a:solidFill>
              <a:srgbClr val="AFABAB">
                <a:alpha val="100000"/>
              </a:srgbClr>
            </a:solidFill>
            <a:prstDash val="solid"/>
            <a:miter lim="100000000"/>
          </a:ln>
        </p:spPr>
        <p:txBody>
          <a:bodyPr vert="horz" wrap="square" lIns="63500" tIns="63500" rIns="63500" bIns="63500" rtlCol="0" anchor="ctr"/>
          <a:lstStyle/>
          <a:p>
            <a:pPr algn="ctr">
              <a:defRPr/>
            </a:pPr>
            <a:endParaRPr dirty="0"/>
          </a:p>
        </p:txBody>
      </p:sp>
      <p:sp>
        <p:nvSpPr>
          <p:cNvPr id="130" name="AutoShape 5">
            <a:extLst>
              <a:ext uri="{FF2B5EF4-FFF2-40B4-BE49-F238E27FC236}">
                <a16:creationId xmlns:a16="http://schemas.microsoft.com/office/drawing/2014/main" id="{F5F45D29-04FE-4421-B178-CD3540CC4104}"/>
              </a:ext>
            </a:extLst>
          </p:cNvPr>
          <p:cNvSpPr/>
          <p:nvPr/>
        </p:nvSpPr>
        <p:spPr>
          <a:xfrm>
            <a:off x="4324350" y="3050448"/>
            <a:ext cx="3352800" cy="2689950"/>
          </a:xfrm>
          <a:prstGeom prst="roundRect">
            <a:avLst>
              <a:gd name="adj" fmla="val 0"/>
            </a:avLst>
          </a:prstGeom>
          <a:solidFill>
            <a:srgbClr val="FFFFFF">
              <a:alpha val="100000"/>
            </a:srgbClr>
          </a:solidFill>
          <a:ln w="38100" cap="flat" cmpd="sng">
            <a:solidFill>
              <a:srgbClr val="AFABAB">
                <a:alpha val="100000"/>
              </a:srgbClr>
            </a:solidFill>
            <a:prstDash val="solid"/>
            <a:miter lim="100000000"/>
          </a:ln>
        </p:spPr>
        <p:txBody>
          <a:bodyPr vert="horz" wrap="square" lIns="63500" tIns="63500" rIns="63500" bIns="63500" rtlCol="0" anchor="ctr"/>
          <a:lstStyle/>
          <a:p>
            <a:pPr algn="ctr">
              <a:defRPr/>
            </a:pPr>
            <a:endParaRPr dirty="0"/>
          </a:p>
        </p:txBody>
      </p:sp>
      <p:sp>
        <p:nvSpPr>
          <p:cNvPr id="118" name="AutoShape 5">
            <a:extLst>
              <a:ext uri="{FF2B5EF4-FFF2-40B4-BE49-F238E27FC236}">
                <a16:creationId xmlns:a16="http://schemas.microsoft.com/office/drawing/2014/main" id="{6EEBE25F-B7A2-4436-AF25-209603312696}"/>
              </a:ext>
            </a:extLst>
          </p:cNvPr>
          <p:cNvSpPr/>
          <p:nvPr/>
        </p:nvSpPr>
        <p:spPr>
          <a:xfrm>
            <a:off x="566964" y="3038219"/>
            <a:ext cx="3495223" cy="2689949"/>
          </a:xfrm>
          <a:prstGeom prst="roundRect">
            <a:avLst>
              <a:gd name="adj" fmla="val 0"/>
            </a:avLst>
          </a:prstGeom>
          <a:solidFill>
            <a:srgbClr val="FFFFFF">
              <a:alpha val="100000"/>
            </a:srgbClr>
          </a:solidFill>
          <a:ln w="38100" cap="flat" cmpd="sng">
            <a:solidFill>
              <a:srgbClr val="AFABAB">
                <a:alpha val="100000"/>
              </a:srgbClr>
            </a:solidFill>
            <a:prstDash val="solid"/>
            <a:miter lim="100000000"/>
          </a:ln>
        </p:spPr>
        <p:txBody>
          <a:bodyPr vert="horz" wrap="square" lIns="63500" tIns="63500" rIns="63500" bIns="63500" rtlCol="0" anchor="ctr"/>
          <a:lstStyle/>
          <a:p>
            <a:pPr algn="ctr">
              <a:defRPr/>
            </a:pPr>
            <a:endParaRPr dirty="0"/>
          </a:p>
        </p:txBody>
      </p:sp>
      <p:sp>
        <p:nvSpPr>
          <p:cNvPr id="2" name="AutoShape 2"/>
          <p:cNvSpPr/>
          <p:nvPr/>
        </p:nvSpPr>
        <p:spPr>
          <a:xfrm>
            <a:off x="355600" y="381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dirty="0">
                <a:solidFill>
                  <a:srgbClr val="1F2329"/>
                </a:solidFill>
                <a:latin typeface="Arial"/>
                <a:ea typeface="Arial"/>
                <a:cs typeface="Arial"/>
                <a:sym typeface="Arial"/>
              </a:rPr>
              <a:t>Reproducible Train/Test Dataset</a:t>
            </a:r>
            <a:endParaRPr lang="en-US" sz="1100" dirty="0"/>
          </a:p>
        </p:txBody>
      </p:sp>
      <p:cxnSp>
        <p:nvCxnSpPr>
          <p:cNvPr id="3" name="Connector 3"/>
          <p:cNvCxnSpPr/>
          <p:nvPr/>
        </p:nvCxnSpPr>
        <p:spPr>
          <a:xfrm rot="-5200">
            <a:off x="355605" y="1123950"/>
            <a:ext cx="8394700" cy="12700"/>
          </a:xfrm>
          <a:prstGeom prst="straightConnector1">
            <a:avLst/>
          </a:prstGeom>
          <a:solidFill>
            <a:srgbClr val="DEE0E3">
              <a:alpha val="100000"/>
            </a:srgbClr>
          </a:solidFill>
          <a:ln w="25400" cap="flat" cmpd="sng">
            <a:solidFill>
              <a:srgbClr val="AFABAB">
                <a:alpha val="100000"/>
              </a:srgbClr>
            </a:solidFill>
            <a:prstDash val="solid"/>
            <a:round/>
            <a:headEnd type="none" w="lg" len="lg"/>
            <a:tailEnd type="none" w="lg" len="lg"/>
          </a:ln>
        </p:spPr>
      </p:cxnSp>
      <p:pic>
        <p:nvPicPr>
          <p:cNvPr id="4" name="Picture 4"/>
          <p:cNvPicPr>
            <a:picLocks noChangeAspect="1"/>
          </p:cNvPicPr>
          <p:nvPr/>
        </p:nvPicPr>
        <p:blipFill>
          <a:blip r:embed="rId3"/>
          <a:srcRect l="290" r="290"/>
          <a:stretch>
            <a:fillRect/>
          </a:stretch>
        </p:blipFill>
        <p:spPr>
          <a:xfrm>
            <a:off x="8826500" y="139700"/>
            <a:ext cx="3365500" cy="1308100"/>
          </a:xfrm>
          <a:prstGeom prst="rect">
            <a:avLst/>
          </a:prstGeom>
          <a:noFill/>
          <a:ln w="25400" cap="flat" cmpd="sng">
            <a:noFill/>
            <a:prstDash val="solid"/>
            <a:round/>
          </a:ln>
        </p:spPr>
      </p:pic>
      <p:sp>
        <p:nvSpPr>
          <p:cNvPr id="21" name="矩形 20">
            <a:extLst>
              <a:ext uri="{FF2B5EF4-FFF2-40B4-BE49-F238E27FC236}">
                <a16:creationId xmlns:a16="http://schemas.microsoft.com/office/drawing/2014/main" id="{7DA7D347-4A85-4DD5-8F67-2B552709B41F}"/>
              </a:ext>
            </a:extLst>
          </p:cNvPr>
          <p:cNvSpPr>
            <a:spLocks noGrp="1"/>
          </p:cNvSpPr>
          <p:nvPr/>
        </p:nvSpPr>
        <p:spPr>
          <a:xfrm>
            <a:off x="355600" y="1253437"/>
            <a:ext cx="10289001" cy="411384"/>
          </a:xfrm>
          <a:prstGeom prst="rect">
            <a:avLst/>
          </a:prstGeom>
          <a:noFill/>
          <a:ln w="0">
            <a:noFill/>
            <a:prstDash val="solid"/>
          </a:ln>
        </p:spPr>
        <p:txBody>
          <a:bodyPr/>
          <a:lstStyle/>
          <a:p>
            <a:pPr>
              <a:defRPr sz="1125">
                <a:solidFill>
                  <a:srgbClr val="5D6B7A"/>
                </a:solidFill>
                <a:latin typeface="Arial"/>
                <a:ea typeface="Arial"/>
                <a:cs typeface="Arial"/>
              </a:defRPr>
            </a:pPr>
            <a:r>
              <a:rPr lang="en-US" sz="1600" dirty="0">
                <a:solidFill>
                  <a:srgbClr val="1F2329"/>
                </a:solidFill>
              </a:rPr>
              <a:t>The cleaned dataset is split once using deterministic stratification and is accompanied by audit evidence.</a:t>
            </a:r>
          </a:p>
        </p:txBody>
      </p:sp>
      <p:sp>
        <p:nvSpPr>
          <p:cNvPr id="72" name="clean-samples-card">
            <a:extLst>
              <a:ext uri="{FF2B5EF4-FFF2-40B4-BE49-F238E27FC236}">
                <a16:creationId xmlns:a16="http://schemas.microsoft.com/office/drawing/2014/main" id="{A2C47A7A-8226-4F32-97BE-F2E12F742B0B}"/>
              </a:ext>
            </a:extLst>
          </p:cNvPr>
          <p:cNvSpPr>
            <a:spLocks noGrp="1"/>
          </p:cNvSpPr>
          <p:nvPr/>
        </p:nvSpPr>
        <p:spPr>
          <a:xfrm>
            <a:off x="700314" y="1775258"/>
            <a:ext cx="2686050" cy="914400"/>
          </a:xfrm>
          <a:prstGeom prst="roundRect">
            <a:avLst>
              <a:gd name="adj" fmla="val 16667"/>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a:ea typeface="Arial"/>
                <a:cs typeface="Arial"/>
              </a:defRPr>
            </a:pPr>
            <a:r>
              <a:rPr sz="100">
                <a:solidFill>
                  <a:srgbClr val="FFFFFF"/>
                </a:solidFill>
                <a:latin typeface="Arial"/>
                <a:ea typeface="Arial"/>
                <a:cs typeface="Arial"/>
              </a:rPr>
              <a:t>​</a:t>
            </a:r>
          </a:p>
        </p:txBody>
      </p:sp>
      <p:sp>
        <p:nvSpPr>
          <p:cNvPr id="73" name="clean-samples-number">
            <a:extLst>
              <a:ext uri="{FF2B5EF4-FFF2-40B4-BE49-F238E27FC236}">
                <a16:creationId xmlns:a16="http://schemas.microsoft.com/office/drawing/2014/main" id="{83EBF780-516E-4AEF-B743-78F939EF896B}"/>
              </a:ext>
            </a:extLst>
          </p:cNvPr>
          <p:cNvSpPr>
            <a:spLocks noGrp="1"/>
          </p:cNvSpPr>
          <p:nvPr/>
        </p:nvSpPr>
        <p:spPr>
          <a:xfrm>
            <a:off x="814614" y="1918133"/>
            <a:ext cx="2457450" cy="428625"/>
          </a:xfrm>
          <a:prstGeom prst="rect">
            <a:avLst/>
          </a:prstGeom>
          <a:noFill/>
          <a:ln w="0">
            <a:noFill/>
            <a:prstDash val="solid"/>
          </a:ln>
        </p:spPr>
        <p:txBody>
          <a:bodyPr lIns="38100" tIns="19050" rIns="38100" bIns="19050" anchor="ctr">
            <a:normAutofit fontScale="89912" lnSpcReduction="10000"/>
          </a:bodyPr>
          <a:lstStyle/>
          <a:p>
            <a:pPr algn="ctr">
              <a:defRPr sz="2850" b="1">
                <a:solidFill>
                  <a:srgbClr val="1178C7"/>
                </a:solidFill>
                <a:latin typeface="Arial"/>
                <a:ea typeface="Arial"/>
                <a:cs typeface="Arial"/>
              </a:defRPr>
            </a:pPr>
            <a:r>
              <a:rPr sz="2850" b="1">
                <a:solidFill>
                  <a:srgbClr val="1178C7"/>
                </a:solidFill>
                <a:latin typeface="Arial"/>
                <a:ea typeface="Arial"/>
                <a:cs typeface="Arial"/>
              </a:rPr>
              <a:t>1,265</a:t>
            </a:r>
          </a:p>
        </p:txBody>
      </p:sp>
      <p:sp>
        <p:nvSpPr>
          <p:cNvPr id="74" name="clean-samples-label">
            <a:extLst>
              <a:ext uri="{FF2B5EF4-FFF2-40B4-BE49-F238E27FC236}">
                <a16:creationId xmlns:a16="http://schemas.microsoft.com/office/drawing/2014/main" id="{0F52452E-1109-440D-8C5F-635C58B3D9DF}"/>
              </a:ext>
            </a:extLst>
          </p:cNvPr>
          <p:cNvSpPr>
            <a:spLocks noGrp="1"/>
          </p:cNvSpPr>
          <p:nvPr/>
        </p:nvSpPr>
        <p:spPr>
          <a:xfrm>
            <a:off x="852714" y="2356283"/>
            <a:ext cx="2381250" cy="228600"/>
          </a:xfrm>
          <a:prstGeom prst="rect">
            <a:avLst/>
          </a:prstGeom>
          <a:noFill/>
          <a:ln w="0">
            <a:noFill/>
            <a:prstDash val="solid"/>
          </a:ln>
        </p:spPr>
        <p:txBody>
          <a:bodyPr lIns="38100" tIns="19050" rIns="38100" bIns="19050" anchor="ctr">
            <a:noAutofit/>
          </a:bodyPr>
          <a:lstStyle/>
          <a:p>
            <a:pPr algn="ctr">
              <a:defRPr sz="975" b="1">
                <a:solidFill>
                  <a:srgbClr val="0E2A47"/>
                </a:solidFill>
                <a:latin typeface="Arial"/>
                <a:ea typeface="Arial"/>
                <a:cs typeface="Arial"/>
              </a:defRPr>
            </a:pPr>
            <a:r>
              <a:rPr sz="1300" b="1" dirty="0">
                <a:solidFill>
                  <a:srgbClr val="0E2A47"/>
                </a:solidFill>
                <a:latin typeface="Arial"/>
                <a:ea typeface="Arial"/>
                <a:cs typeface="Arial"/>
              </a:rPr>
              <a:t>clean samples</a:t>
            </a:r>
          </a:p>
        </p:txBody>
      </p:sp>
      <p:sp>
        <p:nvSpPr>
          <p:cNvPr id="75" name="flow-arrow">
            <a:extLst>
              <a:ext uri="{FF2B5EF4-FFF2-40B4-BE49-F238E27FC236}">
                <a16:creationId xmlns:a16="http://schemas.microsoft.com/office/drawing/2014/main" id="{B64A5E86-2EA4-457C-A4A9-7897AFAE8D05}"/>
              </a:ext>
            </a:extLst>
          </p:cNvPr>
          <p:cNvSpPr>
            <a:spLocks noGrp="1"/>
          </p:cNvSpPr>
          <p:nvPr/>
        </p:nvSpPr>
        <p:spPr>
          <a:xfrm>
            <a:off x="3557814" y="1994333"/>
            <a:ext cx="666750" cy="457200"/>
          </a:xfrm>
          <a:prstGeom prst="rect">
            <a:avLst/>
          </a:prstGeom>
          <a:noFill/>
          <a:ln w="0">
            <a:noFill/>
            <a:prstDash val="solid"/>
          </a:ln>
        </p:spPr>
        <p:txBody>
          <a:bodyPr lIns="38100" tIns="19050" rIns="38100" bIns="19050" anchor="ctr">
            <a:normAutofit fontScale="96491"/>
          </a:bodyPr>
          <a:lstStyle/>
          <a:p>
            <a:pPr algn="ctr">
              <a:defRPr sz="2850" b="1">
                <a:solidFill>
                  <a:srgbClr val="0F5F9F"/>
                </a:solidFill>
                <a:latin typeface="Arial"/>
                <a:ea typeface="Arial"/>
                <a:cs typeface="Arial"/>
              </a:defRPr>
            </a:pPr>
            <a:r>
              <a:rPr sz="2850" b="1">
                <a:solidFill>
                  <a:srgbClr val="0F5F9F"/>
                </a:solidFill>
                <a:latin typeface="Arial"/>
                <a:ea typeface="Arial"/>
                <a:cs typeface="Arial"/>
              </a:rPr>
              <a:t>→</a:t>
            </a:r>
          </a:p>
        </p:txBody>
      </p:sp>
      <p:sp>
        <p:nvSpPr>
          <p:cNvPr id="76" name="train-rows-card">
            <a:extLst>
              <a:ext uri="{FF2B5EF4-FFF2-40B4-BE49-F238E27FC236}">
                <a16:creationId xmlns:a16="http://schemas.microsoft.com/office/drawing/2014/main" id="{BEF2FDC2-0BDB-429F-B91C-75986B4C4C19}"/>
              </a:ext>
            </a:extLst>
          </p:cNvPr>
          <p:cNvSpPr>
            <a:spLocks noGrp="1"/>
          </p:cNvSpPr>
          <p:nvPr/>
        </p:nvSpPr>
        <p:spPr>
          <a:xfrm>
            <a:off x="4443639" y="1775258"/>
            <a:ext cx="2686050" cy="914400"/>
          </a:xfrm>
          <a:prstGeom prst="roundRect">
            <a:avLst>
              <a:gd name="adj" fmla="val 16667"/>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a:ea typeface="Arial"/>
                <a:cs typeface="Arial"/>
              </a:defRPr>
            </a:pPr>
            <a:r>
              <a:rPr sz="100">
                <a:solidFill>
                  <a:srgbClr val="FFFFFF"/>
                </a:solidFill>
                <a:latin typeface="Arial"/>
                <a:ea typeface="Arial"/>
                <a:cs typeface="Arial"/>
              </a:rPr>
              <a:t>​</a:t>
            </a:r>
          </a:p>
        </p:txBody>
      </p:sp>
      <p:sp>
        <p:nvSpPr>
          <p:cNvPr id="77" name="train-rows-number">
            <a:extLst>
              <a:ext uri="{FF2B5EF4-FFF2-40B4-BE49-F238E27FC236}">
                <a16:creationId xmlns:a16="http://schemas.microsoft.com/office/drawing/2014/main" id="{56347CE5-0E09-4B94-9D8B-6324927BE36D}"/>
              </a:ext>
            </a:extLst>
          </p:cNvPr>
          <p:cNvSpPr>
            <a:spLocks noGrp="1"/>
          </p:cNvSpPr>
          <p:nvPr/>
        </p:nvSpPr>
        <p:spPr>
          <a:xfrm>
            <a:off x="4557939" y="1918133"/>
            <a:ext cx="2457450" cy="428625"/>
          </a:xfrm>
          <a:prstGeom prst="rect">
            <a:avLst/>
          </a:prstGeom>
          <a:noFill/>
          <a:ln w="0">
            <a:noFill/>
            <a:prstDash val="solid"/>
          </a:ln>
        </p:spPr>
        <p:txBody>
          <a:bodyPr lIns="38100" tIns="19050" rIns="38100" bIns="19050" anchor="ctr">
            <a:normAutofit fontScale="89912" lnSpcReduction="10000"/>
          </a:bodyPr>
          <a:lstStyle/>
          <a:p>
            <a:pPr algn="ctr">
              <a:defRPr sz="2850" b="1">
                <a:solidFill>
                  <a:srgbClr val="1178C7"/>
                </a:solidFill>
                <a:latin typeface="Arial"/>
                <a:ea typeface="Arial"/>
                <a:cs typeface="Arial"/>
              </a:defRPr>
            </a:pPr>
            <a:r>
              <a:rPr sz="2850" b="1">
                <a:solidFill>
                  <a:srgbClr val="1178C7"/>
                </a:solidFill>
                <a:latin typeface="Arial"/>
                <a:ea typeface="Arial"/>
                <a:cs typeface="Arial"/>
              </a:rPr>
              <a:t>1,012</a:t>
            </a:r>
          </a:p>
        </p:txBody>
      </p:sp>
      <p:sp>
        <p:nvSpPr>
          <p:cNvPr id="78" name="train-rows-label">
            <a:extLst>
              <a:ext uri="{FF2B5EF4-FFF2-40B4-BE49-F238E27FC236}">
                <a16:creationId xmlns:a16="http://schemas.microsoft.com/office/drawing/2014/main" id="{357AA4C3-A4C7-4FB0-BFEC-2CACA9A07D53}"/>
              </a:ext>
            </a:extLst>
          </p:cNvPr>
          <p:cNvSpPr>
            <a:spLocks noGrp="1"/>
          </p:cNvSpPr>
          <p:nvPr/>
        </p:nvSpPr>
        <p:spPr>
          <a:xfrm>
            <a:off x="4596039" y="2356283"/>
            <a:ext cx="2381250" cy="228600"/>
          </a:xfrm>
          <a:prstGeom prst="rect">
            <a:avLst/>
          </a:prstGeom>
          <a:noFill/>
          <a:ln w="0">
            <a:noFill/>
            <a:prstDash val="solid"/>
          </a:ln>
        </p:spPr>
        <p:txBody>
          <a:bodyPr lIns="38100" tIns="19050" rIns="38100" bIns="19050" anchor="ctr">
            <a:noAutofit/>
          </a:bodyPr>
          <a:lstStyle/>
          <a:p>
            <a:pPr algn="ctr">
              <a:defRPr sz="975" b="1">
                <a:solidFill>
                  <a:srgbClr val="0E2A47"/>
                </a:solidFill>
                <a:latin typeface="Arial"/>
                <a:ea typeface="Arial"/>
                <a:cs typeface="Arial"/>
              </a:defRPr>
            </a:pPr>
            <a:r>
              <a:rPr sz="1300" b="1" dirty="0">
                <a:solidFill>
                  <a:srgbClr val="0E2A47"/>
                </a:solidFill>
              </a:rPr>
              <a:t>train rows</a:t>
            </a:r>
          </a:p>
        </p:txBody>
      </p:sp>
      <p:sp>
        <p:nvSpPr>
          <p:cNvPr id="79" name="flow-plus">
            <a:extLst>
              <a:ext uri="{FF2B5EF4-FFF2-40B4-BE49-F238E27FC236}">
                <a16:creationId xmlns:a16="http://schemas.microsoft.com/office/drawing/2014/main" id="{9997423E-19B3-452D-AF3A-C7F6A8D8D91A}"/>
              </a:ext>
            </a:extLst>
          </p:cNvPr>
          <p:cNvSpPr>
            <a:spLocks noGrp="1"/>
          </p:cNvSpPr>
          <p:nvPr/>
        </p:nvSpPr>
        <p:spPr>
          <a:xfrm>
            <a:off x="7272564" y="2013383"/>
            <a:ext cx="457200" cy="400050"/>
          </a:xfrm>
          <a:prstGeom prst="rect">
            <a:avLst/>
          </a:prstGeom>
          <a:noFill/>
          <a:ln w="0">
            <a:noFill/>
            <a:prstDash val="solid"/>
          </a:ln>
        </p:spPr>
        <p:txBody>
          <a:bodyPr lIns="38100" tIns="19050" rIns="38100" bIns="19050" anchor="ctr">
            <a:normAutofit fontScale="98958" lnSpcReduction="10000"/>
          </a:bodyPr>
          <a:lstStyle/>
          <a:p>
            <a:pPr algn="ctr">
              <a:defRPr sz="2400" b="1">
                <a:solidFill>
                  <a:srgbClr val="0E2A47"/>
                </a:solidFill>
                <a:latin typeface="Arial"/>
                <a:ea typeface="Arial"/>
                <a:cs typeface="Arial"/>
              </a:defRPr>
            </a:pPr>
            <a:r>
              <a:rPr sz="2400" b="1">
                <a:solidFill>
                  <a:srgbClr val="0E2A47"/>
                </a:solidFill>
                <a:latin typeface="Arial"/>
                <a:ea typeface="Arial"/>
                <a:cs typeface="Arial"/>
              </a:rPr>
              <a:t>+</a:t>
            </a:r>
          </a:p>
        </p:txBody>
      </p:sp>
      <p:sp>
        <p:nvSpPr>
          <p:cNvPr id="80" name="test-rows-card">
            <a:extLst>
              <a:ext uri="{FF2B5EF4-FFF2-40B4-BE49-F238E27FC236}">
                <a16:creationId xmlns:a16="http://schemas.microsoft.com/office/drawing/2014/main" id="{D6386EE7-D1A0-42CF-8CF1-1F11A9E2983E}"/>
              </a:ext>
            </a:extLst>
          </p:cNvPr>
          <p:cNvSpPr>
            <a:spLocks noGrp="1"/>
          </p:cNvSpPr>
          <p:nvPr/>
        </p:nvSpPr>
        <p:spPr>
          <a:xfrm>
            <a:off x="7920264" y="1775258"/>
            <a:ext cx="2686050" cy="914400"/>
          </a:xfrm>
          <a:prstGeom prst="roundRect">
            <a:avLst>
              <a:gd name="adj" fmla="val 16667"/>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a:ea typeface="Arial"/>
                <a:cs typeface="Arial"/>
              </a:defRPr>
            </a:pPr>
            <a:r>
              <a:rPr sz="100">
                <a:solidFill>
                  <a:srgbClr val="FFFFFF"/>
                </a:solidFill>
                <a:latin typeface="Arial"/>
                <a:ea typeface="Arial"/>
                <a:cs typeface="Arial"/>
              </a:rPr>
              <a:t>​</a:t>
            </a:r>
          </a:p>
        </p:txBody>
      </p:sp>
      <p:sp>
        <p:nvSpPr>
          <p:cNvPr id="81" name="test-rows-number">
            <a:extLst>
              <a:ext uri="{FF2B5EF4-FFF2-40B4-BE49-F238E27FC236}">
                <a16:creationId xmlns:a16="http://schemas.microsoft.com/office/drawing/2014/main" id="{9859D22C-249C-438B-A668-9AF59259B5D9}"/>
              </a:ext>
            </a:extLst>
          </p:cNvPr>
          <p:cNvSpPr>
            <a:spLocks noGrp="1"/>
          </p:cNvSpPr>
          <p:nvPr/>
        </p:nvSpPr>
        <p:spPr>
          <a:xfrm>
            <a:off x="8034564" y="1918133"/>
            <a:ext cx="2457450" cy="428625"/>
          </a:xfrm>
          <a:prstGeom prst="rect">
            <a:avLst/>
          </a:prstGeom>
          <a:noFill/>
          <a:ln w="0">
            <a:noFill/>
            <a:prstDash val="solid"/>
          </a:ln>
        </p:spPr>
        <p:txBody>
          <a:bodyPr lIns="38100" tIns="19050" rIns="38100" bIns="19050" anchor="ctr">
            <a:normAutofit fontScale="89912" lnSpcReduction="10000"/>
          </a:bodyPr>
          <a:lstStyle/>
          <a:p>
            <a:pPr algn="ctr">
              <a:defRPr sz="2850" b="1">
                <a:solidFill>
                  <a:srgbClr val="1178C7"/>
                </a:solidFill>
                <a:latin typeface="Arial"/>
                <a:ea typeface="Arial"/>
                <a:cs typeface="Arial"/>
              </a:defRPr>
            </a:pPr>
            <a:r>
              <a:rPr sz="2850" b="1">
                <a:solidFill>
                  <a:srgbClr val="1178C7"/>
                </a:solidFill>
                <a:latin typeface="Arial"/>
                <a:ea typeface="Arial"/>
                <a:cs typeface="Arial"/>
              </a:rPr>
              <a:t>253</a:t>
            </a:r>
          </a:p>
        </p:txBody>
      </p:sp>
      <p:sp>
        <p:nvSpPr>
          <p:cNvPr id="82" name="test-rows-label">
            <a:extLst>
              <a:ext uri="{FF2B5EF4-FFF2-40B4-BE49-F238E27FC236}">
                <a16:creationId xmlns:a16="http://schemas.microsoft.com/office/drawing/2014/main" id="{74567848-2C19-477F-AD51-33ECD3B7273D}"/>
              </a:ext>
            </a:extLst>
          </p:cNvPr>
          <p:cNvSpPr>
            <a:spLocks noGrp="1"/>
          </p:cNvSpPr>
          <p:nvPr/>
        </p:nvSpPr>
        <p:spPr>
          <a:xfrm>
            <a:off x="8072664" y="2356283"/>
            <a:ext cx="2381250" cy="228600"/>
          </a:xfrm>
          <a:prstGeom prst="rect">
            <a:avLst/>
          </a:prstGeom>
          <a:noFill/>
          <a:ln w="0">
            <a:noFill/>
            <a:prstDash val="solid"/>
          </a:ln>
        </p:spPr>
        <p:txBody>
          <a:bodyPr lIns="38100" tIns="19050" rIns="38100" bIns="19050" anchor="ctr">
            <a:noAutofit/>
          </a:bodyPr>
          <a:lstStyle/>
          <a:p>
            <a:pPr algn="ctr">
              <a:defRPr sz="975" b="1">
                <a:solidFill>
                  <a:srgbClr val="0E2A47"/>
                </a:solidFill>
                <a:latin typeface="Arial"/>
                <a:ea typeface="Arial"/>
                <a:cs typeface="Arial"/>
              </a:defRPr>
            </a:pPr>
            <a:r>
              <a:rPr sz="1300" b="1" dirty="0">
                <a:solidFill>
                  <a:srgbClr val="0E2A47"/>
                </a:solidFill>
              </a:rPr>
              <a:t>test rows</a:t>
            </a:r>
          </a:p>
        </p:txBody>
      </p:sp>
      <p:sp>
        <p:nvSpPr>
          <p:cNvPr id="84" name="split-rule-title">
            <a:extLst>
              <a:ext uri="{FF2B5EF4-FFF2-40B4-BE49-F238E27FC236}">
                <a16:creationId xmlns:a16="http://schemas.microsoft.com/office/drawing/2014/main" id="{CA03F020-F2D0-468F-8DB2-09FD52C4AAB4}"/>
              </a:ext>
            </a:extLst>
          </p:cNvPr>
          <p:cNvSpPr>
            <a:spLocks noGrp="1"/>
          </p:cNvSpPr>
          <p:nvPr/>
        </p:nvSpPr>
        <p:spPr>
          <a:xfrm>
            <a:off x="703150" y="3153855"/>
            <a:ext cx="1905000" cy="340606"/>
          </a:xfrm>
          <a:prstGeom prst="rect">
            <a:avLst/>
          </a:prstGeom>
          <a:noFill/>
          <a:ln w="0">
            <a:noFill/>
            <a:prstDash val="solid"/>
          </a:ln>
        </p:spPr>
        <p:txBody>
          <a:bodyPr lIns="38100" tIns="19050" rIns="38100" bIns="19050">
            <a:noAutofit/>
          </a:bodyPr>
          <a:lstStyle/>
          <a:p>
            <a:pPr>
              <a:defRPr sz="1163" b="1">
                <a:solidFill>
                  <a:srgbClr val="0E2A47"/>
                </a:solidFill>
                <a:latin typeface="Arial"/>
                <a:ea typeface="Arial"/>
                <a:cs typeface="Arial"/>
              </a:defRPr>
            </a:pPr>
            <a:r>
              <a:rPr lang="en-US" altLang="zh-CN" sz="1600" b="1" dirty="0">
                <a:solidFill>
                  <a:srgbClr val="D93025"/>
                </a:solidFill>
                <a:latin typeface="+mn-lt"/>
                <a:ea typeface="Noto Sans SC"/>
                <a:sym typeface="Noto Sans SC"/>
              </a:rPr>
              <a:t>📊</a:t>
            </a:r>
            <a:r>
              <a:rPr lang="en-US" altLang="zh-CN" sz="2000" b="1" i="0" u="none" strike="noStrike" dirty="0">
                <a:solidFill>
                  <a:srgbClr val="D93025"/>
                </a:solidFill>
                <a:latin typeface="Noto Sans SC"/>
                <a:ea typeface="Noto Sans SC"/>
                <a:cs typeface="Noto Sans SC"/>
                <a:sym typeface="Noto Sans SC"/>
              </a:rPr>
              <a:t> </a:t>
            </a:r>
            <a:r>
              <a:rPr sz="1600" b="1" dirty="0">
                <a:solidFill>
                  <a:srgbClr val="D93025"/>
                </a:solidFill>
                <a:latin typeface="+mn-lt"/>
                <a:ea typeface="Noto Sans SC"/>
              </a:rPr>
              <a:t>Split rule</a:t>
            </a:r>
          </a:p>
        </p:txBody>
      </p:sp>
      <p:sp>
        <p:nvSpPr>
          <p:cNvPr id="85" name="split-rule-row-0-line">
            <a:extLst>
              <a:ext uri="{FF2B5EF4-FFF2-40B4-BE49-F238E27FC236}">
                <a16:creationId xmlns:a16="http://schemas.microsoft.com/office/drawing/2014/main" id="{1D285A86-23D2-4029-A629-FB1DCE42827D}"/>
              </a:ext>
            </a:extLst>
          </p:cNvPr>
          <p:cNvSpPr>
            <a:spLocks noGrp="1"/>
          </p:cNvSpPr>
          <p:nvPr/>
        </p:nvSpPr>
        <p:spPr>
          <a:xfrm>
            <a:off x="703150" y="4017188"/>
            <a:ext cx="2971800" cy="0"/>
          </a:xfrm>
          <a:prstGeom prst="line">
            <a:avLst/>
          </a:prstGeom>
          <a:noFill/>
          <a:ln w="9525">
            <a:solidFill>
              <a:srgbClr val="E3EAF2"/>
            </a:solidFill>
            <a:prstDash val="solid"/>
          </a:ln>
        </p:spPr>
      </p:sp>
      <p:sp>
        <p:nvSpPr>
          <p:cNvPr id="86" name="split-rule-field-0">
            <a:extLst>
              <a:ext uri="{FF2B5EF4-FFF2-40B4-BE49-F238E27FC236}">
                <a16:creationId xmlns:a16="http://schemas.microsoft.com/office/drawing/2014/main" id="{5EB6DA90-0CE8-4A8F-881E-5FAF9F96EA85}"/>
              </a:ext>
            </a:extLst>
          </p:cNvPr>
          <p:cNvSpPr>
            <a:spLocks noGrp="1"/>
          </p:cNvSpPr>
          <p:nvPr/>
        </p:nvSpPr>
        <p:spPr>
          <a:xfrm>
            <a:off x="679110" y="3721745"/>
            <a:ext cx="819150" cy="268704"/>
          </a:xfrm>
          <a:prstGeom prst="rect">
            <a:avLst/>
          </a:prstGeom>
          <a:noFill/>
          <a:ln w="0">
            <a:noFill/>
            <a:prstDash val="solid"/>
          </a:ln>
        </p:spPr>
        <p:txBody>
          <a:bodyPr lIns="38100" tIns="19050" rIns="38100" bIns="19050">
            <a:normAutofit/>
          </a:bodyPr>
          <a:lstStyle/>
          <a:p>
            <a:pPr>
              <a:defRPr sz="885" b="1">
                <a:solidFill>
                  <a:srgbClr val="566579"/>
                </a:solidFill>
                <a:latin typeface="Arial"/>
                <a:ea typeface="Arial"/>
                <a:cs typeface="Arial"/>
              </a:defRPr>
            </a:pPr>
            <a:r>
              <a:rPr sz="1300" b="1" dirty="0">
                <a:solidFill>
                  <a:srgbClr val="566579"/>
                </a:solidFill>
                <a:latin typeface="Arial"/>
                <a:ea typeface="Arial"/>
                <a:cs typeface="Arial"/>
              </a:rPr>
              <a:t>Method</a:t>
            </a:r>
          </a:p>
        </p:txBody>
      </p:sp>
      <p:sp>
        <p:nvSpPr>
          <p:cNvPr id="87" name="split-rule-value-0">
            <a:extLst>
              <a:ext uri="{FF2B5EF4-FFF2-40B4-BE49-F238E27FC236}">
                <a16:creationId xmlns:a16="http://schemas.microsoft.com/office/drawing/2014/main" id="{246FE13D-8286-4E4E-A5A0-8DD510879A54}"/>
              </a:ext>
            </a:extLst>
          </p:cNvPr>
          <p:cNvSpPr>
            <a:spLocks noGrp="1"/>
          </p:cNvSpPr>
          <p:nvPr/>
        </p:nvSpPr>
        <p:spPr>
          <a:xfrm>
            <a:off x="1803060" y="3729271"/>
            <a:ext cx="2175556" cy="245752"/>
          </a:xfrm>
          <a:prstGeom prst="rect">
            <a:avLst/>
          </a:prstGeom>
          <a:noFill/>
          <a:ln w="0">
            <a:noFill/>
            <a:prstDash val="solid"/>
          </a:ln>
        </p:spPr>
        <p:txBody>
          <a:bodyPr lIns="38100" tIns="19050" rIns="38100" bIns="19050">
            <a:noAutofit/>
          </a:bodyPr>
          <a:lstStyle/>
          <a:p>
            <a:pPr>
              <a:defRPr sz="855">
                <a:solidFill>
                  <a:srgbClr val="1F2A37"/>
                </a:solidFill>
                <a:latin typeface="Arial"/>
                <a:ea typeface="Arial"/>
                <a:cs typeface="Arial"/>
              </a:defRPr>
            </a:pPr>
            <a:r>
              <a:rPr sz="1050" dirty="0">
                <a:solidFill>
                  <a:srgbClr val="1F2A37"/>
                </a:solidFill>
                <a:latin typeface="Arial"/>
                <a:ea typeface="Arial"/>
                <a:cs typeface="Arial"/>
              </a:rPr>
              <a:t>deterministic stratified holdout</a:t>
            </a:r>
          </a:p>
        </p:txBody>
      </p:sp>
      <p:sp>
        <p:nvSpPr>
          <p:cNvPr id="98" name="distribution-title">
            <a:extLst>
              <a:ext uri="{FF2B5EF4-FFF2-40B4-BE49-F238E27FC236}">
                <a16:creationId xmlns:a16="http://schemas.microsoft.com/office/drawing/2014/main" id="{1DC5E652-9822-45C2-ABCC-F7F75B6192E1}"/>
              </a:ext>
            </a:extLst>
          </p:cNvPr>
          <p:cNvSpPr>
            <a:spLocks noGrp="1"/>
          </p:cNvSpPr>
          <p:nvPr/>
        </p:nvSpPr>
        <p:spPr>
          <a:xfrm>
            <a:off x="4514849" y="3152267"/>
            <a:ext cx="2600325" cy="311829"/>
          </a:xfrm>
          <a:prstGeom prst="rect">
            <a:avLst/>
          </a:prstGeom>
          <a:noFill/>
          <a:ln w="0">
            <a:noFill/>
            <a:prstDash val="solid"/>
          </a:ln>
        </p:spPr>
        <p:txBody>
          <a:bodyPr lIns="38100" tIns="19050" rIns="38100" bIns="19050">
            <a:noAutofit/>
          </a:bodyPr>
          <a:lstStyle/>
          <a:p>
            <a:pPr>
              <a:lnSpc>
                <a:spcPct val="108333"/>
              </a:lnSpc>
              <a:defRPr/>
            </a:pPr>
            <a:r>
              <a:rPr lang="en-US" altLang="zh-CN" sz="1600" b="1" i="0" u="none" strike="noStrike" dirty="0">
                <a:solidFill>
                  <a:srgbClr val="286090"/>
                </a:solidFill>
                <a:latin typeface="+mn-lt"/>
                <a:ea typeface="Noto Sans SC"/>
                <a:cs typeface="Noto Sans SC"/>
                <a:sym typeface="Noto Sans SC"/>
              </a:rPr>
              <a:t>📂 </a:t>
            </a:r>
            <a:r>
              <a:rPr sz="1600" b="1" dirty="0">
                <a:solidFill>
                  <a:srgbClr val="286090"/>
                </a:solidFill>
                <a:latin typeface="+mn-lt"/>
                <a:ea typeface="Noto Sans SC"/>
              </a:rPr>
              <a:t>Category Distribution</a:t>
            </a:r>
          </a:p>
        </p:txBody>
      </p:sp>
      <p:graphicFrame>
        <p:nvGraphicFramePr>
          <p:cNvPr id="99" name="表格 98">
            <a:extLst>
              <a:ext uri="{FF2B5EF4-FFF2-40B4-BE49-F238E27FC236}">
                <a16:creationId xmlns:a16="http://schemas.microsoft.com/office/drawing/2014/main" id="{B8B5DD67-68B0-4239-B6FC-73CAB13E8C1E}"/>
              </a:ext>
            </a:extLst>
          </p:cNvPr>
          <p:cNvGraphicFramePr/>
          <p:nvPr>
            <p:extLst>
              <p:ext uri="{D42A27DB-BD31-4B8C-83A1-F6EECF244321}">
                <p14:modId xmlns:p14="http://schemas.microsoft.com/office/powerpoint/2010/main" val="2404717502"/>
              </p:ext>
            </p:extLst>
          </p:nvPr>
        </p:nvGraphicFramePr>
        <p:xfrm>
          <a:off x="4514850" y="3633306"/>
          <a:ext cx="2971800" cy="1696215"/>
        </p:xfrm>
        <a:graphic>
          <a:graphicData uri="http://schemas.openxmlformats.org/drawingml/2006/table">
            <a:tbl>
              <a:tblPr firstRow="1" bandRow="1"/>
              <a:tblGrid>
                <a:gridCol w="1676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413005">
                <a:tc>
                  <a:txBody>
                    <a:bodyPr/>
                    <a:lstStyle/>
                    <a:p>
                      <a:pPr algn="l"/>
                      <a:r>
                        <a:rPr sz="1200" b="1" dirty="0">
                          <a:solidFill>
                            <a:srgbClr val="0E2A47"/>
                          </a:solidFill>
                          <a:latin typeface="Arial"/>
                          <a:ea typeface="Arial"/>
                          <a:cs typeface="Arial"/>
                        </a:rPr>
                        <a:t>Category</a:t>
                      </a:r>
                    </a:p>
                  </a:txBody>
                  <a:tcPr>
                    <a:solidFill>
                      <a:srgbClr val="E6F0FA"/>
                    </a:solidFill>
                  </a:tcPr>
                </a:tc>
                <a:tc>
                  <a:txBody>
                    <a:bodyPr/>
                    <a:lstStyle/>
                    <a:p>
                      <a:pPr algn="ctr"/>
                      <a:r>
                        <a:rPr sz="1200" b="1">
                          <a:solidFill>
                            <a:srgbClr val="0E2A47"/>
                          </a:solidFill>
                          <a:latin typeface="Arial"/>
                          <a:ea typeface="Arial"/>
                          <a:cs typeface="Arial"/>
                        </a:rPr>
                        <a:t>Total</a:t>
                      </a:r>
                    </a:p>
                  </a:txBody>
                  <a:tcPr>
                    <a:solidFill>
                      <a:srgbClr val="E6F0FA"/>
                    </a:solidFill>
                  </a:tcPr>
                </a:tc>
                <a:tc>
                  <a:txBody>
                    <a:bodyPr/>
                    <a:lstStyle/>
                    <a:p>
                      <a:pPr algn="ctr"/>
                      <a:r>
                        <a:rPr sz="1200" b="1">
                          <a:solidFill>
                            <a:srgbClr val="0E2A47"/>
                          </a:solidFill>
                          <a:latin typeface="Arial"/>
                          <a:ea typeface="Arial"/>
                          <a:cs typeface="Arial"/>
                        </a:rPr>
                        <a:t>Share</a:t>
                      </a:r>
                    </a:p>
                  </a:txBody>
                  <a:tcPr>
                    <a:solidFill>
                      <a:srgbClr val="E6F0FA"/>
                    </a:solidFill>
                  </a:tcPr>
                </a:tc>
                <a:extLst>
                  <a:ext uri="{0D108BD9-81ED-4DB2-BD59-A6C34878D82A}">
                    <a16:rowId xmlns:a16="http://schemas.microsoft.com/office/drawing/2014/main" val="10000"/>
                  </a:ext>
                </a:extLst>
              </a:tr>
              <a:tr h="413005">
                <a:tc>
                  <a:txBody>
                    <a:bodyPr/>
                    <a:lstStyle/>
                    <a:p>
                      <a:pPr algn="l"/>
                      <a:r>
                        <a:rPr sz="1200" dirty="0">
                          <a:solidFill>
                            <a:srgbClr val="243449"/>
                          </a:solidFill>
                          <a:latin typeface="Arial"/>
                          <a:ea typeface="Arial"/>
                          <a:cs typeface="Arial"/>
                        </a:rPr>
                        <a:t>All Other App Types</a:t>
                      </a:r>
                    </a:p>
                  </a:txBody>
                  <a:tcPr>
                    <a:solidFill>
                      <a:srgbClr val="FFFFFF"/>
                    </a:solidFill>
                  </a:tcPr>
                </a:tc>
                <a:tc>
                  <a:txBody>
                    <a:bodyPr/>
                    <a:lstStyle/>
                    <a:p>
                      <a:pPr algn="ctr"/>
                      <a:r>
                        <a:rPr sz="1200">
                          <a:solidFill>
                            <a:srgbClr val="243449"/>
                          </a:solidFill>
                          <a:latin typeface="Arial"/>
                          <a:ea typeface="Arial"/>
                          <a:cs typeface="Arial"/>
                        </a:rPr>
                        <a:t>616</a:t>
                      </a:r>
                    </a:p>
                  </a:txBody>
                  <a:tcPr>
                    <a:solidFill>
                      <a:srgbClr val="FFFFFF"/>
                    </a:solidFill>
                  </a:tcPr>
                </a:tc>
                <a:tc>
                  <a:txBody>
                    <a:bodyPr/>
                    <a:lstStyle/>
                    <a:p>
                      <a:pPr algn="ctr"/>
                      <a:r>
                        <a:rPr sz="1200" dirty="0">
                          <a:solidFill>
                            <a:srgbClr val="243449"/>
                          </a:solidFill>
                          <a:latin typeface="Arial"/>
                          <a:ea typeface="Arial"/>
                          <a:cs typeface="Arial"/>
                        </a:rPr>
                        <a:t>48.7%</a:t>
                      </a:r>
                    </a:p>
                  </a:txBody>
                  <a:tcPr>
                    <a:solidFill>
                      <a:srgbClr val="FFFFFF"/>
                    </a:solidFill>
                  </a:tcPr>
                </a:tc>
                <a:extLst>
                  <a:ext uri="{0D108BD9-81ED-4DB2-BD59-A6C34878D82A}">
                    <a16:rowId xmlns:a16="http://schemas.microsoft.com/office/drawing/2014/main" val="10001"/>
                  </a:ext>
                </a:extLst>
              </a:tr>
              <a:tr h="413005">
                <a:tc>
                  <a:txBody>
                    <a:bodyPr/>
                    <a:lstStyle/>
                    <a:p>
                      <a:pPr algn="l"/>
                      <a:r>
                        <a:rPr sz="1200" dirty="0">
                          <a:solidFill>
                            <a:srgbClr val="243449"/>
                          </a:solidFill>
                          <a:latin typeface="Arial"/>
                          <a:ea typeface="Arial"/>
                          <a:cs typeface="Arial"/>
                        </a:rPr>
                        <a:t>Game</a:t>
                      </a:r>
                    </a:p>
                  </a:txBody>
                  <a:tcPr>
                    <a:solidFill>
                      <a:srgbClr val="F6F9FD"/>
                    </a:solidFill>
                  </a:tcPr>
                </a:tc>
                <a:tc>
                  <a:txBody>
                    <a:bodyPr/>
                    <a:lstStyle/>
                    <a:p>
                      <a:pPr algn="ctr"/>
                      <a:r>
                        <a:rPr sz="1200" dirty="0">
                          <a:solidFill>
                            <a:srgbClr val="243449"/>
                          </a:solidFill>
                          <a:latin typeface="Arial"/>
                          <a:ea typeface="Arial"/>
                          <a:cs typeface="Arial"/>
                        </a:rPr>
                        <a:t>633</a:t>
                      </a:r>
                    </a:p>
                  </a:txBody>
                  <a:tcPr>
                    <a:solidFill>
                      <a:srgbClr val="F6F9FD"/>
                    </a:solidFill>
                  </a:tcPr>
                </a:tc>
                <a:tc>
                  <a:txBody>
                    <a:bodyPr/>
                    <a:lstStyle/>
                    <a:p>
                      <a:pPr algn="ctr"/>
                      <a:r>
                        <a:rPr sz="1200">
                          <a:solidFill>
                            <a:srgbClr val="243449"/>
                          </a:solidFill>
                          <a:latin typeface="Arial"/>
                          <a:ea typeface="Arial"/>
                          <a:cs typeface="Arial"/>
                        </a:rPr>
                        <a:t>50.0%</a:t>
                      </a:r>
                    </a:p>
                  </a:txBody>
                  <a:tcPr>
                    <a:solidFill>
                      <a:srgbClr val="F6F9FD"/>
                    </a:solidFill>
                  </a:tcPr>
                </a:tc>
                <a:extLst>
                  <a:ext uri="{0D108BD9-81ED-4DB2-BD59-A6C34878D82A}">
                    <a16:rowId xmlns:a16="http://schemas.microsoft.com/office/drawing/2014/main" val="10002"/>
                  </a:ext>
                </a:extLst>
              </a:tr>
              <a:tr h="413005">
                <a:tc>
                  <a:txBody>
                    <a:bodyPr/>
                    <a:lstStyle/>
                    <a:p>
                      <a:pPr algn="l"/>
                      <a:r>
                        <a:rPr sz="1200" dirty="0">
                          <a:solidFill>
                            <a:srgbClr val="243449"/>
                          </a:solidFill>
                          <a:latin typeface="Arial"/>
                          <a:ea typeface="Arial"/>
                          <a:cs typeface="Arial"/>
                        </a:rPr>
                        <a:t>Social or Communication</a:t>
                      </a:r>
                    </a:p>
                  </a:txBody>
                  <a:tcPr>
                    <a:solidFill>
                      <a:srgbClr val="FFFFFF"/>
                    </a:solidFill>
                  </a:tcPr>
                </a:tc>
                <a:tc>
                  <a:txBody>
                    <a:bodyPr/>
                    <a:lstStyle/>
                    <a:p>
                      <a:pPr algn="ctr"/>
                      <a:r>
                        <a:rPr sz="1200" dirty="0">
                          <a:solidFill>
                            <a:srgbClr val="243449"/>
                          </a:solidFill>
                          <a:latin typeface="Arial"/>
                          <a:ea typeface="Arial"/>
                          <a:cs typeface="Arial"/>
                        </a:rPr>
                        <a:t>16</a:t>
                      </a:r>
                    </a:p>
                  </a:txBody>
                  <a:tcPr>
                    <a:solidFill>
                      <a:srgbClr val="FFFFFF"/>
                    </a:solidFill>
                  </a:tcPr>
                </a:tc>
                <a:tc>
                  <a:txBody>
                    <a:bodyPr/>
                    <a:lstStyle/>
                    <a:p>
                      <a:pPr algn="ctr"/>
                      <a:r>
                        <a:rPr sz="1200" dirty="0">
                          <a:solidFill>
                            <a:srgbClr val="243449"/>
                          </a:solidFill>
                          <a:latin typeface="Arial"/>
                          <a:ea typeface="Arial"/>
                          <a:cs typeface="Arial"/>
                        </a:rPr>
                        <a:t>1.3%</a:t>
                      </a:r>
                    </a:p>
                  </a:txBody>
                  <a:tcPr>
                    <a:solidFill>
                      <a:srgbClr val="FFFFFF"/>
                    </a:solidFill>
                  </a:tcPr>
                </a:tc>
                <a:extLst>
                  <a:ext uri="{0D108BD9-81ED-4DB2-BD59-A6C34878D82A}">
                    <a16:rowId xmlns:a16="http://schemas.microsoft.com/office/drawing/2014/main" val="10003"/>
                  </a:ext>
                </a:extLst>
              </a:tr>
            </a:tbl>
          </a:graphicData>
        </a:graphic>
      </p:graphicFrame>
      <p:sp>
        <p:nvSpPr>
          <p:cNvPr id="114" name="AutoShape 20">
            <a:extLst>
              <a:ext uri="{FF2B5EF4-FFF2-40B4-BE49-F238E27FC236}">
                <a16:creationId xmlns:a16="http://schemas.microsoft.com/office/drawing/2014/main" id="{D1A5E71D-BC66-4C52-873C-19B6897AF291}"/>
              </a:ext>
            </a:extLst>
          </p:cNvPr>
          <p:cNvSpPr/>
          <p:nvPr/>
        </p:nvSpPr>
        <p:spPr>
          <a:xfrm>
            <a:off x="566964" y="5988552"/>
            <a:ext cx="11353800" cy="508000"/>
          </a:xfrm>
          <a:prstGeom prst="roundRect">
            <a:avLst>
              <a:gd name="adj" fmla="val 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5" name="AutoShape 21">
            <a:extLst>
              <a:ext uri="{FF2B5EF4-FFF2-40B4-BE49-F238E27FC236}">
                <a16:creationId xmlns:a16="http://schemas.microsoft.com/office/drawing/2014/main" id="{823F1395-239C-452D-9C1D-5D982C439729}"/>
              </a:ext>
            </a:extLst>
          </p:cNvPr>
          <p:cNvSpPr/>
          <p:nvPr/>
        </p:nvSpPr>
        <p:spPr>
          <a:xfrm>
            <a:off x="668564" y="6052052"/>
            <a:ext cx="11176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1F2329"/>
                </a:solidFill>
                <a:latin typeface="+mn-lt"/>
                <a:ea typeface="Noto Sans SC"/>
                <a:cs typeface="Noto Sans SC"/>
                <a:sym typeface="Noto Sans SC"/>
              </a:rPr>
              <a:t>Final Outcome: </a:t>
            </a:r>
            <a:r>
              <a:rPr lang="en-US" sz="1300" b="0" i="0" u="none" strike="noStrike" dirty="0">
                <a:solidFill>
                  <a:srgbClr val="1F2329"/>
                </a:solidFill>
                <a:latin typeface="+mn-lt"/>
                <a:ea typeface="Noto Sans SC"/>
                <a:cs typeface="Noto Sans SC"/>
                <a:sym typeface="Noto Sans SC"/>
              </a:rPr>
              <a:t>clean rows, traceable exclusions, consistent field names, and reproducible splits.</a:t>
            </a:r>
            <a:endParaRPr lang="en-US" sz="1100" dirty="0">
              <a:latin typeface="+mn-lt"/>
            </a:endParaRPr>
          </a:p>
        </p:txBody>
      </p:sp>
      <p:cxnSp>
        <p:nvCxnSpPr>
          <p:cNvPr id="119" name="Connector 7">
            <a:extLst>
              <a:ext uri="{FF2B5EF4-FFF2-40B4-BE49-F238E27FC236}">
                <a16:creationId xmlns:a16="http://schemas.microsoft.com/office/drawing/2014/main" id="{BCED1837-FE4C-44AC-961D-5EBED06E635D}"/>
              </a:ext>
            </a:extLst>
          </p:cNvPr>
          <p:cNvCxnSpPr>
            <a:cxnSpLocks/>
          </p:cNvCxnSpPr>
          <p:nvPr/>
        </p:nvCxnSpPr>
        <p:spPr>
          <a:xfrm flipV="1">
            <a:off x="733425" y="3581115"/>
            <a:ext cx="3052989" cy="1"/>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20" name="split-rule-row-0-line">
            <a:extLst>
              <a:ext uri="{FF2B5EF4-FFF2-40B4-BE49-F238E27FC236}">
                <a16:creationId xmlns:a16="http://schemas.microsoft.com/office/drawing/2014/main" id="{A3E22875-EE78-4E65-A6E7-FCEDD85FA04F}"/>
              </a:ext>
            </a:extLst>
          </p:cNvPr>
          <p:cNvSpPr>
            <a:spLocks noGrp="1"/>
          </p:cNvSpPr>
          <p:nvPr/>
        </p:nvSpPr>
        <p:spPr>
          <a:xfrm>
            <a:off x="724580" y="4548488"/>
            <a:ext cx="2971800" cy="0"/>
          </a:xfrm>
          <a:prstGeom prst="line">
            <a:avLst/>
          </a:prstGeom>
          <a:noFill/>
          <a:ln w="9525">
            <a:solidFill>
              <a:srgbClr val="E3EAF2"/>
            </a:solidFill>
            <a:prstDash val="solid"/>
          </a:ln>
        </p:spPr>
      </p:sp>
      <p:sp>
        <p:nvSpPr>
          <p:cNvPr id="121" name="split-rule-field-0">
            <a:extLst>
              <a:ext uri="{FF2B5EF4-FFF2-40B4-BE49-F238E27FC236}">
                <a16:creationId xmlns:a16="http://schemas.microsoft.com/office/drawing/2014/main" id="{5A5C96E1-F6F2-4127-99FA-64FACDAF6C35}"/>
              </a:ext>
            </a:extLst>
          </p:cNvPr>
          <p:cNvSpPr>
            <a:spLocks noGrp="1"/>
          </p:cNvSpPr>
          <p:nvPr/>
        </p:nvSpPr>
        <p:spPr>
          <a:xfrm>
            <a:off x="670265" y="4111524"/>
            <a:ext cx="819150" cy="268704"/>
          </a:xfrm>
          <a:prstGeom prst="rect">
            <a:avLst/>
          </a:prstGeom>
          <a:noFill/>
          <a:ln w="0">
            <a:noFill/>
            <a:prstDash val="solid"/>
          </a:ln>
        </p:spPr>
        <p:txBody>
          <a:bodyPr lIns="38100" tIns="19050" rIns="38100" bIns="19050">
            <a:normAutofit/>
          </a:bodyPr>
          <a:lstStyle/>
          <a:p>
            <a:pPr>
              <a:defRPr sz="885" b="1">
                <a:solidFill>
                  <a:srgbClr val="566579"/>
                </a:solidFill>
                <a:latin typeface="Arial"/>
                <a:ea typeface="Arial"/>
                <a:cs typeface="Arial"/>
              </a:defRPr>
            </a:pPr>
            <a:r>
              <a:rPr lang="en-US" sz="1300" b="1" dirty="0">
                <a:solidFill>
                  <a:srgbClr val="566579"/>
                </a:solidFill>
                <a:latin typeface="Arial"/>
                <a:ea typeface="Arial"/>
                <a:cs typeface="Arial"/>
              </a:rPr>
              <a:t>Strata</a:t>
            </a:r>
          </a:p>
        </p:txBody>
      </p:sp>
      <p:sp>
        <p:nvSpPr>
          <p:cNvPr id="122" name="split-rule-value-0">
            <a:extLst>
              <a:ext uri="{FF2B5EF4-FFF2-40B4-BE49-F238E27FC236}">
                <a16:creationId xmlns:a16="http://schemas.microsoft.com/office/drawing/2014/main" id="{1382C521-709C-4101-B2EC-5901B62C7E09}"/>
              </a:ext>
            </a:extLst>
          </p:cNvPr>
          <p:cNvSpPr>
            <a:spLocks noGrp="1"/>
          </p:cNvSpPr>
          <p:nvPr/>
        </p:nvSpPr>
        <p:spPr>
          <a:xfrm>
            <a:off x="1803060" y="4110457"/>
            <a:ext cx="2276476" cy="374530"/>
          </a:xfrm>
          <a:prstGeom prst="rect">
            <a:avLst/>
          </a:prstGeom>
          <a:noFill/>
          <a:ln w="0">
            <a:noFill/>
            <a:prstDash val="solid"/>
          </a:ln>
        </p:spPr>
        <p:txBody>
          <a:bodyPr lIns="38100" tIns="19050" rIns="38100" bIns="19050">
            <a:noAutofit/>
          </a:bodyPr>
          <a:lstStyle/>
          <a:p>
            <a:pPr>
              <a:defRPr sz="855">
                <a:solidFill>
                  <a:srgbClr val="1F2A37"/>
                </a:solidFill>
                <a:latin typeface="Arial"/>
                <a:ea typeface="Arial"/>
                <a:cs typeface="Arial"/>
              </a:defRPr>
            </a:pPr>
            <a:r>
              <a:rPr lang="en-US" sz="1050" dirty="0">
                <a:solidFill>
                  <a:srgbClr val="1F2A37"/>
                </a:solidFill>
                <a:latin typeface="Arial"/>
                <a:ea typeface="Arial"/>
                <a:cs typeface="Arial"/>
              </a:rPr>
              <a:t>app category x North America </a:t>
            </a:r>
          </a:p>
          <a:p>
            <a:pPr>
              <a:defRPr sz="855">
                <a:solidFill>
                  <a:srgbClr val="1F2A37"/>
                </a:solidFill>
                <a:latin typeface="Arial"/>
                <a:ea typeface="Arial"/>
                <a:cs typeface="Arial"/>
              </a:defRPr>
            </a:pPr>
            <a:r>
              <a:rPr lang="en-US" sz="1050" dirty="0">
                <a:solidFill>
                  <a:srgbClr val="1F2A37"/>
                </a:solidFill>
                <a:latin typeface="Arial"/>
                <a:ea typeface="Arial"/>
                <a:cs typeface="Arial"/>
              </a:rPr>
              <a:t>rating label</a:t>
            </a:r>
          </a:p>
        </p:txBody>
      </p:sp>
      <p:sp>
        <p:nvSpPr>
          <p:cNvPr id="123" name="split-rule-row-0-line">
            <a:extLst>
              <a:ext uri="{FF2B5EF4-FFF2-40B4-BE49-F238E27FC236}">
                <a16:creationId xmlns:a16="http://schemas.microsoft.com/office/drawing/2014/main" id="{98D181D2-D0D2-4F5F-82CF-27D1084E1E06}"/>
              </a:ext>
            </a:extLst>
          </p:cNvPr>
          <p:cNvSpPr>
            <a:spLocks noGrp="1"/>
          </p:cNvSpPr>
          <p:nvPr/>
        </p:nvSpPr>
        <p:spPr>
          <a:xfrm>
            <a:off x="733425" y="4965327"/>
            <a:ext cx="2971800" cy="0"/>
          </a:xfrm>
          <a:prstGeom prst="line">
            <a:avLst/>
          </a:prstGeom>
          <a:noFill/>
          <a:ln w="9525">
            <a:solidFill>
              <a:srgbClr val="E3EAF2"/>
            </a:solidFill>
            <a:prstDash val="solid"/>
          </a:ln>
        </p:spPr>
      </p:sp>
      <p:sp>
        <p:nvSpPr>
          <p:cNvPr id="124" name="split-rule-field-0">
            <a:extLst>
              <a:ext uri="{FF2B5EF4-FFF2-40B4-BE49-F238E27FC236}">
                <a16:creationId xmlns:a16="http://schemas.microsoft.com/office/drawing/2014/main" id="{A8F250D5-DF21-432B-A422-DFBF495C8E5B}"/>
              </a:ext>
            </a:extLst>
          </p:cNvPr>
          <p:cNvSpPr>
            <a:spLocks noGrp="1"/>
          </p:cNvSpPr>
          <p:nvPr/>
        </p:nvSpPr>
        <p:spPr>
          <a:xfrm>
            <a:off x="709385" y="4667997"/>
            <a:ext cx="838200" cy="294191"/>
          </a:xfrm>
          <a:prstGeom prst="rect">
            <a:avLst/>
          </a:prstGeom>
          <a:noFill/>
          <a:ln w="0">
            <a:noFill/>
            <a:prstDash val="solid"/>
          </a:ln>
        </p:spPr>
        <p:txBody>
          <a:bodyPr lIns="38100" tIns="19050" rIns="38100" bIns="19050">
            <a:noAutofit/>
          </a:bodyPr>
          <a:lstStyle/>
          <a:p>
            <a:pPr>
              <a:defRPr sz="885" b="1">
                <a:solidFill>
                  <a:srgbClr val="566579"/>
                </a:solidFill>
                <a:latin typeface="Arial"/>
                <a:ea typeface="Arial"/>
                <a:cs typeface="Arial"/>
              </a:defRPr>
            </a:pPr>
            <a:r>
              <a:rPr lang="en-US" altLang="zh-CN" sz="1300" b="1" dirty="0">
                <a:solidFill>
                  <a:srgbClr val="566579"/>
                </a:solidFill>
                <a:latin typeface="Arial"/>
                <a:ea typeface="Arial"/>
                <a:cs typeface="Arial"/>
              </a:rPr>
              <a:t>Test ratio</a:t>
            </a:r>
          </a:p>
        </p:txBody>
      </p:sp>
      <p:sp>
        <p:nvSpPr>
          <p:cNvPr id="125" name="split-rule-value-0">
            <a:extLst>
              <a:ext uri="{FF2B5EF4-FFF2-40B4-BE49-F238E27FC236}">
                <a16:creationId xmlns:a16="http://schemas.microsoft.com/office/drawing/2014/main" id="{05BA7ECB-CB9E-431B-A85E-AB0CDAAEE305}"/>
              </a:ext>
            </a:extLst>
          </p:cNvPr>
          <p:cNvSpPr>
            <a:spLocks noGrp="1"/>
          </p:cNvSpPr>
          <p:nvPr/>
        </p:nvSpPr>
        <p:spPr>
          <a:xfrm>
            <a:off x="1833335" y="4688077"/>
            <a:ext cx="2014309" cy="172168"/>
          </a:xfrm>
          <a:prstGeom prst="rect">
            <a:avLst/>
          </a:prstGeom>
          <a:noFill/>
          <a:ln w="0">
            <a:noFill/>
            <a:prstDash val="solid"/>
          </a:ln>
        </p:spPr>
        <p:txBody>
          <a:bodyPr lIns="38100" tIns="19050" rIns="38100" bIns="19050">
            <a:noAutofit/>
          </a:bodyPr>
          <a:lstStyle/>
          <a:p>
            <a:pPr>
              <a:defRPr sz="855">
                <a:solidFill>
                  <a:srgbClr val="1F2A37"/>
                </a:solidFill>
                <a:latin typeface="Arial"/>
                <a:ea typeface="Arial"/>
                <a:cs typeface="Arial"/>
              </a:defRPr>
            </a:pPr>
            <a:r>
              <a:rPr lang="en-US" sz="1050" dirty="0">
                <a:solidFill>
                  <a:srgbClr val="1F2A37"/>
                </a:solidFill>
              </a:rPr>
              <a:t>20%</a:t>
            </a:r>
          </a:p>
        </p:txBody>
      </p:sp>
      <p:sp>
        <p:nvSpPr>
          <p:cNvPr id="126" name="split-rule-row-0-line">
            <a:extLst>
              <a:ext uri="{FF2B5EF4-FFF2-40B4-BE49-F238E27FC236}">
                <a16:creationId xmlns:a16="http://schemas.microsoft.com/office/drawing/2014/main" id="{50307E80-F473-481D-ADF1-3A5EFCF88F73}"/>
              </a:ext>
            </a:extLst>
          </p:cNvPr>
          <p:cNvSpPr>
            <a:spLocks noGrp="1"/>
          </p:cNvSpPr>
          <p:nvPr/>
        </p:nvSpPr>
        <p:spPr>
          <a:xfrm>
            <a:off x="724580" y="5408138"/>
            <a:ext cx="2971800" cy="0"/>
          </a:xfrm>
          <a:prstGeom prst="line">
            <a:avLst/>
          </a:prstGeom>
          <a:noFill/>
          <a:ln w="9525">
            <a:solidFill>
              <a:srgbClr val="E3EAF2"/>
            </a:solidFill>
            <a:prstDash val="solid"/>
          </a:ln>
        </p:spPr>
      </p:sp>
      <p:sp>
        <p:nvSpPr>
          <p:cNvPr id="127" name="split-rule-field-0">
            <a:extLst>
              <a:ext uri="{FF2B5EF4-FFF2-40B4-BE49-F238E27FC236}">
                <a16:creationId xmlns:a16="http://schemas.microsoft.com/office/drawing/2014/main" id="{CA85989D-646C-4E6D-ACA5-C2A83E1026F9}"/>
              </a:ext>
            </a:extLst>
          </p:cNvPr>
          <p:cNvSpPr>
            <a:spLocks noGrp="1"/>
          </p:cNvSpPr>
          <p:nvPr/>
        </p:nvSpPr>
        <p:spPr>
          <a:xfrm>
            <a:off x="700085" y="5097623"/>
            <a:ext cx="1133250" cy="231942"/>
          </a:xfrm>
          <a:prstGeom prst="rect">
            <a:avLst/>
          </a:prstGeom>
          <a:noFill/>
          <a:ln w="0">
            <a:noFill/>
            <a:prstDash val="solid"/>
          </a:ln>
        </p:spPr>
        <p:txBody>
          <a:bodyPr lIns="38100" tIns="19050" rIns="38100" bIns="19050">
            <a:noAutofit/>
          </a:bodyPr>
          <a:lstStyle/>
          <a:p>
            <a:pPr>
              <a:defRPr sz="885" b="1">
                <a:solidFill>
                  <a:srgbClr val="566579"/>
                </a:solidFill>
                <a:latin typeface="Arial"/>
                <a:ea typeface="Arial"/>
                <a:cs typeface="Arial"/>
              </a:defRPr>
            </a:pPr>
            <a:r>
              <a:rPr lang="en-US" sz="1100" b="1" dirty="0">
                <a:solidFill>
                  <a:srgbClr val="566579"/>
                </a:solidFill>
                <a:latin typeface="Arial"/>
                <a:ea typeface="Arial"/>
                <a:cs typeface="Arial"/>
              </a:rPr>
              <a:t>Reproducibility</a:t>
            </a:r>
            <a:endParaRPr sz="1100" b="1" dirty="0">
              <a:solidFill>
                <a:srgbClr val="566579"/>
              </a:solidFill>
              <a:latin typeface="Arial"/>
              <a:ea typeface="Arial"/>
              <a:cs typeface="Arial"/>
            </a:endParaRPr>
          </a:p>
        </p:txBody>
      </p:sp>
      <p:sp>
        <p:nvSpPr>
          <p:cNvPr id="128" name="split-rule-value-0">
            <a:extLst>
              <a:ext uri="{FF2B5EF4-FFF2-40B4-BE49-F238E27FC236}">
                <a16:creationId xmlns:a16="http://schemas.microsoft.com/office/drawing/2014/main" id="{006E1A6A-E7F1-4AE7-B973-0B00BCED6EF1}"/>
              </a:ext>
            </a:extLst>
          </p:cNvPr>
          <p:cNvSpPr>
            <a:spLocks noGrp="1"/>
          </p:cNvSpPr>
          <p:nvPr/>
        </p:nvSpPr>
        <p:spPr>
          <a:xfrm>
            <a:off x="1833336" y="5097624"/>
            <a:ext cx="2005464" cy="307375"/>
          </a:xfrm>
          <a:prstGeom prst="rect">
            <a:avLst/>
          </a:prstGeom>
          <a:noFill/>
          <a:ln w="0">
            <a:noFill/>
            <a:prstDash val="solid"/>
          </a:ln>
        </p:spPr>
        <p:txBody>
          <a:bodyPr lIns="38100" tIns="19050" rIns="38100" bIns="19050">
            <a:noAutofit/>
          </a:bodyPr>
          <a:lstStyle/>
          <a:p>
            <a:pPr>
              <a:defRPr sz="855">
                <a:solidFill>
                  <a:srgbClr val="1F2A37"/>
                </a:solidFill>
                <a:latin typeface="Arial"/>
                <a:ea typeface="Arial"/>
                <a:cs typeface="Arial"/>
              </a:defRPr>
            </a:pPr>
            <a:r>
              <a:rPr lang="en-US" sz="1050" dirty="0">
                <a:solidFill>
                  <a:srgbClr val="1F2A37"/>
                </a:solidFill>
                <a:latin typeface="Arial"/>
                <a:ea typeface="Arial"/>
                <a:cs typeface="Arial"/>
              </a:rPr>
              <a:t>fixed deterministic split</a:t>
            </a:r>
          </a:p>
        </p:txBody>
      </p:sp>
      <p:sp>
        <p:nvSpPr>
          <p:cNvPr id="145" name="artifact-cleaned-mini-card">
            <a:extLst>
              <a:ext uri="{FF2B5EF4-FFF2-40B4-BE49-F238E27FC236}">
                <a16:creationId xmlns:a16="http://schemas.microsoft.com/office/drawing/2014/main" id="{9BE23CE0-9250-4BCA-BE80-647526CDC52B}"/>
              </a:ext>
            </a:extLst>
          </p:cNvPr>
          <p:cNvSpPr>
            <a:spLocks noGrp="1"/>
          </p:cNvSpPr>
          <p:nvPr/>
        </p:nvSpPr>
        <p:spPr>
          <a:xfrm>
            <a:off x="8072664" y="3545225"/>
            <a:ext cx="1552575" cy="914460"/>
          </a:xfrm>
          <a:prstGeom prst="roundRect">
            <a:avLst>
              <a:gd name="adj" fmla="val 14493"/>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a:ea typeface="Arial"/>
                <a:cs typeface="Arial"/>
              </a:defRPr>
            </a:pPr>
            <a:r>
              <a:rPr sz="100">
                <a:solidFill>
                  <a:srgbClr val="FFFFFF"/>
                </a:solidFill>
                <a:latin typeface="Arial"/>
                <a:ea typeface="Arial"/>
                <a:cs typeface="Arial"/>
              </a:rPr>
              <a:t>​</a:t>
            </a:r>
          </a:p>
        </p:txBody>
      </p:sp>
      <p:sp>
        <p:nvSpPr>
          <p:cNvPr id="146" name="artifact-cleaned-mini-heading">
            <a:extLst>
              <a:ext uri="{FF2B5EF4-FFF2-40B4-BE49-F238E27FC236}">
                <a16:creationId xmlns:a16="http://schemas.microsoft.com/office/drawing/2014/main" id="{33639F16-4B8A-41B3-A324-29C7AE485248}"/>
              </a:ext>
            </a:extLst>
          </p:cNvPr>
          <p:cNvSpPr>
            <a:spLocks noGrp="1"/>
          </p:cNvSpPr>
          <p:nvPr/>
        </p:nvSpPr>
        <p:spPr>
          <a:xfrm>
            <a:off x="8167914" y="3621425"/>
            <a:ext cx="1362075" cy="180975"/>
          </a:xfrm>
          <a:prstGeom prst="rect">
            <a:avLst/>
          </a:prstGeom>
          <a:noFill/>
          <a:ln w="0">
            <a:noFill/>
            <a:prstDash val="solid"/>
          </a:ln>
        </p:spPr>
        <p:txBody>
          <a:bodyPr lIns="38100" tIns="19050" rIns="38100" bIns="19050">
            <a:noAutofit/>
          </a:bodyPr>
          <a:lstStyle/>
          <a:p>
            <a:pPr algn="l">
              <a:defRPr sz="863" b="1">
                <a:solidFill>
                  <a:srgbClr val="0E2A47"/>
                </a:solidFill>
                <a:latin typeface="Arial"/>
                <a:ea typeface="Arial"/>
                <a:cs typeface="Arial"/>
              </a:defRPr>
            </a:pPr>
            <a:r>
              <a:rPr sz="1200" b="1" dirty="0">
                <a:solidFill>
                  <a:srgbClr val="0E2A47"/>
                </a:solidFill>
                <a:latin typeface="Arial"/>
                <a:ea typeface="Arial"/>
                <a:cs typeface="Arial"/>
              </a:rPr>
              <a:t>Cleaned </a:t>
            </a:r>
            <a:r>
              <a:rPr sz="1100" b="1" dirty="0">
                <a:solidFill>
                  <a:srgbClr val="0E2A47"/>
                </a:solidFill>
                <a:latin typeface="Arial"/>
                <a:ea typeface="Arial"/>
                <a:cs typeface="Arial"/>
              </a:rPr>
              <a:t>Dataset</a:t>
            </a:r>
          </a:p>
        </p:txBody>
      </p:sp>
      <p:sp>
        <p:nvSpPr>
          <p:cNvPr id="147" name="artifact-cleaned-mini-text">
            <a:extLst>
              <a:ext uri="{FF2B5EF4-FFF2-40B4-BE49-F238E27FC236}">
                <a16:creationId xmlns:a16="http://schemas.microsoft.com/office/drawing/2014/main" id="{FD2971AB-E82B-441B-84BF-730B6A9B18D8}"/>
              </a:ext>
            </a:extLst>
          </p:cNvPr>
          <p:cNvSpPr>
            <a:spLocks noGrp="1"/>
          </p:cNvSpPr>
          <p:nvPr/>
        </p:nvSpPr>
        <p:spPr>
          <a:xfrm>
            <a:off x="8167914" y="3821449"/>
            <a:ext cx="1452791" cy="620443"/>
          </a:xfrm>
          <a:prstGeom prst="rect">
            <a:avLst/>
          </a:prstGeom>
          <a:noFill/>
          <a:ln w="0">
            <a:noFill/>
            <a:prstDash val="solid"/>
          </a:ln>
        </p:spPr>
        <p:txBody>
          <a:bodyPr lIns="38100" tIns="19050" rIns="38100" bIns="19050">
            <a:noAutofit/>
          </a:bodyPr>
          <a:lstStyle/>
          <a:p>
            <a:pPr algn="l">
              <a:lnSpc>
                <a:spcPct val="104000"/>
              </a:lnSpc>
              <a:buNone/>
              <a:defRPr sz="735">
                <a:solidFill>
                  <a:srgbClr val="536273"/>
                </a:solidFill>
                <a:latin typeface="Arial"/>
                <a:ea typeface="Arial"/>
                <a:cs typeface="Arial"/>
              </a:defRPr>
            </a:pPr>
            <a:r>
              <a:rPr sz="1100" dirty="0">
                <a:solidFill>
                  <a:srgbClr val="536273"/>
                </a:solidFill>
              </a:rPr>
              <a:t>Normalized samples with unified field names.</a:t>
            </a:r>
          </a:p>
        </p:txBody>
      </p:sp>
      <p:sp>
        <p:nvSpPr>
          <p:cNvPr id="158" name="distribution-title">
            <a:extLst>
              <a:ext uri="{FF2B5EF4-FFF2-40B4-BE49-F238E27FC236}">
                <a16:creationId xmlns:a16="http://schemas.microsoft.com/office/drawing/2014/main" id="{29136FEE-1398-4303-B203-529E28155B4A}"/>
              </a:ext>
            </a:extLst>
          </p:cNvPr>
          <p:cNvSpPr>
            <a:spLocks noGrp="1"/>
          </p:cNvSpPr>
          <p:nvPr/>
        </p:nvSpPr>
        <p:spPr>
          <a:xfrm>
            <a:off x="8072664" y="3141922"/>
            <a:ext cx="2600325" cy="311829"/>
          </a:xfrm>
          <a:prstGeom prst="rect">
            <a:avLst/>
          </a:prstGeom>
          <a:noFill/>
          <a:ln w="0">
            <a:noFill/>
            <a:prstDash val="solid"/>
          </a:ln>
        </p:spPr>
        <p:txBody>
          <a:bodyPr lIns="38100" tIns="19050" rIns="38100" bIns="19050">
            <a:noAutofit/>
          </a:bodyPr>
          <a:lstStyle/>
          <a:p>
            <a:pPr>
              <a:lnSpc>
                <a:spcPct val="108333"/>
              </a:lnSpc>
              <a:defRPr/>
            </a:pPr>
            <a:r>
              <a:rPr lang="zh-CN" altLang="en-US" sz="1600" b="1" i="0" u="none" strike="noStrike" dirty="0">
                <a:solidFill>
                  <a:srgbClr val="286090"/>
                </a:solidFill>
                <a:latin typeface="+mn-lt"/>
                <a:ea typeface="Noto Sans SC"/>
                <a:cs typeface="Noto Sans SC"/>
                <a:sym typeface="Noto Sans SC"/>
              </a:rPr>
              <a:t>🔍 </a:t>
            </a:r>
            <a:r>
              <a:rPr lang="en-US" sz="1600" b="1" dirty="0">
                <a:solidFill>
                  <a:srgbClr val="286090"/>
                </a:solidFill>
                <a:latin typeface="+mn-lt"/>
                <a:ea typeface="Noto Sans SC"/>
              </a:rPr>
              <a:t>Delivered Artifacts</a:t>
            </a:r>
          </a:p>
        </p:txBody>
      </p:sp>
      <p:sp>
        <p:nvSpPr>
          <p:cNvPr id="159" name="artifact-cleaned-mini-card">
            <a:extLst>
              <a:ext uri="{FF2B5EF4-FFF2-40B4-BE49-F238E27FC236}">
                <a16:creationId xmlns:a16="http://schemas.microsoft.com/office/drawing/2014/main" id="{8A8E47C8-E3F6-4705-BC8E-E59D60AAA4B4}"/>
              </a:ext>
            </a:extLst>
          </p:cNvPr>
          <p:cNvSpPr>
            <a:spLocks noGrp="1"/>
          </p:cNvSpPr>
          <p:nvPr/>
        </p:nvSpPr>
        <p:spPr>
          <a:xfrm>
            <a:off x="9777639" y="3541141"/>
            <a:ext cx="1552575" cy="914460"/>
          </a:xfrm>
          <a:prstGeom prst="roundRect">
            <a:avLst>
              <a:gd name="adj" fmla="val 14493"/>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a:ea typeface="Arial"/>
                <a:cs typeface="Arial"/>
              </a:defRPr>
            </a:pPr>
            <a:r>
              <a:rPr sz="100">
                <a:solidFill>
                  <a:srgbClr val="FFFFFF"/>
                </a:solidFill>
                <a:latin typeface="Arial"/>
                <a:ea typeface="Arial"/>
                <a:cs typeface="Arial"/>
              </a:rPr>
              <a:t>​</a:t>
            </a:r>
          </a:p>
        </p:txBody>
      </p:sp>
      <p:sp>
        <p:nvSpPr>
          <p:cNvPr id="160" name="artifact-cleaned-mini-heading">
            <a:extLst>
              <a:ext uri="{FF2B5EF4-FFF2-40B4-BE49-F238E27FC236}">
                <a16:creationId xmlns:a16="http://schemas.microsoft.com/office/drawing/2014/main" id="{DC06F8A7-1260-4B93-BF0A-C38B1971FD7F}"/>
              </a:ext>
            </a:extLst>
          </p:cNvPr>
          <p:cNvSpPr>
            <a:spLocks noGrp="1"/>
          </p:cNvSpPr>
          <p:nvPr/>
        </p:nvSpPr>
        <p:spPr>
          <a:xfrm>
            <a:off x="9872889" y="3617341"/>
            <a:ext cx="1362075" cy="180975"/>
          </a:xfrm>
          <a:prstGeom prst="rect">
            <a:avLst/>
          </a:prstGeom>
          <a:noFill/>
          <a:ln w="0">
            <a:noFill/>
            <a:prstDash val="solid"/>
          </a:ln>
        </p:spPr>
        <p:txBody>
          <a:bodyPr lIns="38100" tIns="19050" rIns="38100" bIns="19050">
            <a:noAutofit/>
          </a:bodyPr>
          <a:lstStyle/>
          <a:p>
            <a:pPr algn="l">
              <a:defRPr sz="863" b="1">
                <a:solidFill>
                  <a:srgbClr val="0E2A47"/>
                </a:solidFill>
                <a:latin typeface="Arial"/>
                <a:ea typeface="Arial"/>
                <a:cs typeface="Arial"/>
              </a:defRPr>
            </a:pPr>
            <a:r>
              <a:rPr lang="en-US" sz="1100" b="1" dirty="0">
                <a:solidFill>
                  <a:srgbClr val="0E2A47"/>
                </a:solidFill>
                <a:latin typeface="Arial"/>
                <a:ea typeface="Arial"/>
                <a:cs typeface="Arial"/>
              </a:rPr>
              <a:t>Train/Test Split</a:t>
            </a:r>
          </a:p>
        </p:txBody>
      </p:sp>
      <p:sp>
        <p:nvSpPr>
          <p:cNvPr id="161" name="artifact-cleaned-mini-text">
            <a:extLst>
              <a:ext uri="{FF2B5EF4-FFF2-40B4-BE49-F238E27FC236}">
                <a16:creationId xmlns:a16="http://schemas.microsoft.com/office/drawing/2014/main" id="{80926147-80C0-40EC-83F3-ECE81CD21E38}"/>
              </a:ext>
            </a:extLst>
          </p:cNvPr>
          <p:cNvSpPr>
            <a:spLocks noGrp="1"/>
          </p:cNvSpPr>
          <p:nvPr/>
        </p:nvSpPr>
        <p:spPr>
          <a:xfrm>
            <a:off x="9872889" y="3817365"/>
            <a:ext cx="1457325" cy="649523"/>
          </a:xfrm>
          <a:prstGeom prst="rect">
            <a:avLst/>
          </a:prstGeom>
          <a:noFill/>
          <a:ln w="0">
            <a:noFill/>
            <a:prstDash val="solid"/>
          </a:ln>
        </p:spPr>
        <p:txBody>
          <a:bodyPr lIns="38100" tIns="19050" rIns="38100" bIns="19050">
            <a:noAutofit/>
          </a:bodyPr>
          <a:lstStyle/>
          <a:p>
            <a:pPr algn="l">
              <a:lnSpc>
                <a:spcPct val="104000"/>
              </a:lnSpc>
              <a:buNone/>
              <a:defRPr sz="735">
                <a:solidFill>
                  <a:srgbClr val="536273"/>
                </a:solidFill>
                <a:latin typeface="Arial"/>
                <a:ea typeface="Arial"/>
                <a:cs typeface="Arial"/>
              </a:defRPr>
            </a:pPr>
            <a:r>
              <a:rPr lang="en-US" sz="1100" dirty="0">
                <a:solidFill>
                  <a:srgbClr val="536273"/>
                </a:solidFill>
                <a:latin typeface="Arial"/>
                <a:ea typeface="Arial"/>
                <a:cs typeface="Arial"/>
              </a:rPr>
              <a:t>Reproducible subsets with identical columns.</a:t>
            </a:r>
          </a:p>
        </p:txBody>
      </p:sp>
      <p:sp>
        <p:nvSpPr>
          <p:cNvPr id="162" name="artifact-cleaned-mini-card">
            <a:extLst>
              <a:ext uri="{FF2B5EF4-FFF2-40B4-BE49-F238E27FC236}">
                <a16:creationId xmlns:a16="http://schemas.microsoft.com/office/drawing/2014/main" id="{9A713620-4324-44A0-9DA5-26590E591BC8}"/>
              </a:ext>
            </a:extLst>
          </p:cNvPr>
          <p:cNvSpPr>
            <a:spLocks noGrp="1"/>
          </p:cNvSpPr>
          <p:nvPr/>
        </p:nvSpPr>
        <p:spPr>
          <a:xfrm>
            <a:off x="8072664" y="4615666"/>
            <a:ext cx="1552575" cy="1029985"/>
          </a:xfrm>
          <a:prstGeom prst="roundRect">
            <a:avLst>
              <a:gd name="adj" fmla="val 14493"/>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a:ea typeface="Arial"/>
                <a:cs typeface="Arial"/>
              </a:defRPr>
            </a:pPr>
            <a:r>
              <a:rPr sz="100">
                <a:solidFill>
                  <a:srgbClr val="FFFFFF"/>
                </a:solidFill>
                <a:latin typeface="Arial"/>
                <a:ea typeface="Arial"/>
                <a:cs typeface="Arial"/>
              </a:rPr>
              <a:t>​</a:t>
            </a:r>
          </a:p>
        </p:txBody>
      </p:sp>
      <p:sp>
        <p:nvSpPr>
          <p:cNvPr id="163" name="artifact-cleaned-mini-heading">
            <a:extLst>
              <a:ext uri="{FF2B5EF4-FFF2-40B4-BE49-F238E27FC236}">
                <a16:creationId xmlns:a16="http://schemas.microsoft.com/office/drawing/2014/main" id="{DDD79DBD-8D61-4978-A026-74E49164A03D}"/>
              </a:ext>
            </a:extLst>
          </p:cNvPr>
          <p:cNvSpPr>
            <a:spLocks noGrp="1"/>
          </p:cNvSpPr>
          <p:nvPr/>
        </p:nvSpPr>
        <p:spPr>
          <a:xfrm>
            <a:off x="8167914" y="4691867"/>
            <a:ext cx="1590676" cy="176561"/>
          </a:xfrm>
          <a:prstGeom prst="rect">
            <a:avLst/>
          </a:prstGeom>
          <a:noFill/>
          <a:ln w="0">
            <a:noFill/>
            <a:prstDash val="solid"/>
          </a:ln>
        </p:spPr>
        <p:txBody>
          <a:bodyPr lIns="38100" tIns="19050" rIns="38100" bIns="19050">
            <a:noAutofit/>
          </a:bodyPr>
          <a:lstStyle/>
          <a:p>
            <a:pPr algn="l">
              <a:defRPr sz="863" b="1">
                <a:solidFill>
                  <a:srgbClr val="0E2A47"/>
                </a:solidFill>
                <a:latin typeface="Arial"/>
                <a:ea typeface="Arial"/>
                <a:cs typeface="Arial"/>
              </a:defRPr>
            </a:pPr>
            <a:r>
              <a:rPr lang="en-US" sz="1100" b="1" dirty="0">
                <a:solidFill>
                  <a:srgbClr val="0E2A47"/>
                </a:solidFill>
                <a:latin typeface="Arial"/>
                <a:ea typeface="Arial"/>
                <a:cs typeface="Arial"/>
              </a:rPr>
              <a:t>Field Documentation</a:t>
            </a:r>
          </a:p>
        </p:txBody>
      </p:sp>
      <p:sp>
        <p:nvSpPr>
          <p:cNvPr id="164" name="artifact-cleaned-mini-text">
            <a:extLst>
              <a:ext uri="{FF2B5EF4-FFF2-40B4-BE49-F238E27FC236}">
                <a16:creationId xmlns:a16="http://schemas.microsoft.com/office/drawing/2014/main" id="{54DF1F01-2A2A-4A26-88C1-1B81D2A8D8E5}"/>
              </a:ext>
            </a:extLst>
          </p:cNvPr>
          <p:cNvSpPr>
            <a:spLocks noGrp="1"/>
          </p:cNvSpPr>
          <p:nvPr/>
        </p:nvSpPr>
        <p:spPr>
          <a:xfrm>
            <a:off x="8167914" y="4891891"/>
            <a:ext cx="1452791" cy="620443"/>
          </a:xfrm>
          <a:prstGeom prst="rect">
            <a:avLst/>
          </a:prstGeom>
          <a:noFill/>
          <a:ln w="0">
            <a:noFill/>
            <a:prstDash val="solid"/>
          </a:ln>
        </p:spPr>
        <p:txBody>
          <a:bodyPr lIns="38100" tIns="19050" rIns="38100" bIns="19050">
            <a:noAutofit/>
          </a:bodyPr>
          <a:lstStyle/>
          <a:p>
            <a:pPr algn="l">
              <a:lnSpc>
                <a:spcPct val="104000"/>
              </a:lnSpc>
              <a:buNone/>
              <a:defRPr sz="735">
                <a:solidFill>
                  <a:srgbClr val="536273"/>
                </a:solidFill>
                <a:latin typeface="Arial"/>
                <a:ea typeface="Arial"/>
                <a:cs typeface="Arial"/>
              </a:defRPr>
            </a:pPr>
            <a:r>
              <a:rPr lang="en-US" sz="1100" dirty="0">
                <a:solidFill>
                  <a:srgbClr val="536273"/>
                </a:solidFill>
                <a:latin typeface="Arial"/>
                <a:ea typeface="Arial"/>
                <a:cs typeface="Arial"/>
              </a:rPr>
              <a:t>Column roles, question definitions, and missing-value meanings.</a:t>
            </a:r>
          </a:p>
        </p:txBody>
      </p:sp>
      <p:sp>
        <p:nvSpPr>
          <p:cNvPr id="165" name="artifact-cleaned-mini-card">
            <a:extLst>
              <a:ext uri="{FF2B5EF4-FFF2-40B4-BE49-F238E27FC236}">
                <a16:creationId xmlns:a16="http://schemas.microsoft.com/office/drawing/2014/main" id="{12085ABE-3F0B-427E-B690-CDCBC9E68484}"/>
              </a:ext>
            </a:extLst>
          </p:cNvPr>
          <p:cNvSpPr>
            <a:spLocks noGrp="1"/>
          </p:cNvSpPr>
          <p:nvPr/>
        </p:nvSpPr>
        <p:spPr>
          <a:xfrm>
            <a:off x="9777639" y="4611252"/>
            <a:ext cx="1552575" cy="1029985"/>
          </a:xfrm>
          <a:prstGeom prst="roundRect">
            <a:avLst>
              <a:gd name="adj" fmla="val 14493"/>
            </a:avLst>
          </a:prstGeom>
          <a:solidFill>
            <a:srgbClr val="FFFFFF"/>
          </a:solidFill>
          <a:ln w="9525">
            <a:solidFill>
              <a:srgbClr val="C9D8EA"/>
            </a:solidFill>
            <a:prstDash val="solid"/>
          </a:ln>
        </p:spPr>
        <p:style>
          <a:lnRef idx="0">
            <a:scrgbClr r="0" g="0" b="0"/>
          </a:lnRef>
          <a:fillRef idx="0">
            <a:scrgbClr r="0" g="0" b="0"/>
          </a:fillRef>
          <a:effectRef idx="4">
            <a:scrgbClr r="0" g="0" b="0"/>
          </a:effectRef>
          <a:fontRef idx="major"/>
        </p:style>
        <p:txBody>
          <a:bodyPr lIns="0" tIns="0" rIns="0" bIns="0">
            <a:noAutofit/>
          </a:bodyPr>
          <a:lstStyle/>
          <a:p>
            <a:pPr>
              <a:defRPr sz="100">
                <a:solidFill>
                  <a:srgbClr val="FFFFFF"/>
                </a:solidFill>
                <a:latin typeface="Arial"/>
                <a:ea typeface="Arial"/>
                <a:cs typeface="Arial"/>
              </a:defRPr>
            </a:pPr>
            <a:r>
              <a:rPr sz="100">
                <a:solidFill>
                  <a:srgbClr val="FFFFFF"/>
                </a:solidFill>
                <a:latin typeface="Arial"/>
                <a:ea typeface="Arial"/>
                <a:cs typeface="Arial"/>
              </a:rPr>
              <a:t>​</a:t>
            </a:r>
          </a:p>
        </p:txBody>
      </p:sp>
      <p:sp>
        <p:nvSpPr>
          <p:cNvPr id="166" name="artifact-cleaned-mini-heading">
            <a:extLst>
              <a:ext uri="{FF2B5EF4-FFF2-40B4-BE49-F238E27FC236}">
                <a16:creationId xmlns:a16="http://schemas.microsoft.com/office/drawing/2014/main" id="{EA790344-0962-4C3D-A7F8-4D92140C0235}"/>
              </a:ext>
            </a:extLst>
          </p:cNvPr>
          <p:cNvSpPr>
            <a:spLocks noGrp="1"/>
          </p:cNvSpPr>
          <p:nvPr/>
        </p:nvSpPr>
        <p:spPr>
          <a:xfrm>
            <a:off x="9872889" y="4687453"/>
            <a:ext cx="1362075" cy="180975"/>
          </a:xfrm>
          <a:prstGeom prst="rect">
            <a:avLst/>
          </a:prstGeom>
          <a:noFill/>
          <a:ln w="0">
            <a:noFill/>
            <a:prstDash val="solid"/>
          </a:ln>
        </p:spPr>
        <p:txBody>
          <a:bodyPr lIns="38100" tIns="19050" rIns="38100" bIns="19050">
            <a:noAutofit/>
          </a:bodyPr>
          <a:lstStyle/>
          <a:p>
            <a:pPr algn="l">
              <a:defRPr sz="863" b="1">
                <a:solidFill>
                  <a:srgbClr val="0E2A47"/>
                </a:solidFill>
                <a:latin typeface="Arial"/>
                <a:ea typeface="Arial"/>
                <a:cs typeface="Arial"/>
              </a:defRPr>
            </a:pPr>
            <a:r>
              <a:rPr lang="en-US" sz="1100" b="1" dirty="0">
                <a:solidFill>
                  <a:srgbClr val="0E2A47"/>
                </a:solidFill>
                <a:latin typeface="Arial"/>
                <a:ea typeface="Arial"/>
                <a:cs typeface="Arial"/>
              </a:rPr>
              <a:t>Audit Evidence</a:t>
            </a:r>
          </a:p>
        </p:txBody>
      </p:sp>
      <p:sp>
        <p:nvSpPr>
          <p:cNvPr id="167" name="artifact-cleaned-mini-text">
            <a:extLst>
              <a:ext uri="{FF2B5EF4-FFF2-40B4-BE49-F238E27FC236}">
                <a16:creationId xmlns:a16="http://schemas.microsoft.com/office/drawing/2014/main" id="{546154C9-C342-4316-95E6-36E5E846A83A}"/>
              </a:ext>
            </a:extLst>
          </p:cNvPr>
          <p:cNvSpPr>
            <a:spLocks noGrp="1"/>
          </p:cNvSpPr>
          <p:nvPr/>
        </p:nvSpPr>
        <p:spPr>
          <a:xfrm>
            <a:off x="9872889" y="4887477"/>
            <a:ext cx="1452791" cy="620443"/>
          </a:xfrm>
          <a:prstGeom prst="rect">
            <a:avLst/>
          </a:prstGeom>
          <a:noFill/>
          <a:ln w="0">
            <a:noFill/>
            <a:prstDash val="solid"/>
          </a:ln>
        </p:spPr>
        <p:txBody>
          <a:bodyPr lIns="38100" tIns="19050" rIns="38100" bIns="19050">
            <a:noAutofit/>
          </a:bodyPr>
          <a:lstStyle/>
          <a:p>
            <a:pPr algn="l">
              <a:lnSpc>
                <a:spcPct val="104000"/>
              </a:lnSpc>
              <a:buNone/>
              <a:defRPr sz="735">
                <a:solidFill>
                  <a:srgbClr val="536273"/>
                </a:solidFill>
                <a:latin typeface="Arial"/>
                <a:ea typeface="Arial"/>
                <a:cs typeface="Arial"/>
              </a:defRPr>
            </a:pPr>
            <a:r>
              <a:rPr lang="en-US" sz="1100" dirty="0">
                <a:solidFill>
                  <a:srgbClr val="536273"/>
                </a:solidFill>
                <a:latin typeface="Arial"/>
                <a:ea typeface="Arial"/>
                <a:cs typeface="Arial"/>
              </a:rPr>
              <a:t>Excluded records, split distributions, source hashes, and cleaning reports.</a:t>
            </a:r>
          </a:p>
        </p:txBody>
      </p:sp>
    </p:spTree>
    <p:extLst>
      <p:ext uri="{BB962C8B-B14F-4D97-AF65-F5344CB8AC3E}">
        <p14:creationId xmlns:p14="http://schemas.microsoft.com/office/powerpoint/2010/main" val="221374317"/>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860</TotalTime>
  <Words>1705</Words>
  <Application>Microsoft Office PowerPoint</Application>
  <PresentationFormat>宽屏</PresentationFormat>
  <Paragraphs>188</Paragraphs>
  <Slides>6</Slides>
  <Notes>5</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6</vt:i4>
      </vt:variant>
    </vt:vector>
  </HeadingPairs>
  <TitlesOfParts>
    <vt:vector size="14" baseType="lpstr">
      <vt:lpstr>Noto Sans SC</vt:lpstr>
      <vt:lpstr>等线</vt:lpstr>
      <vt:lpstr>汉仪雅酷黑-85J</vt:lpstr>
      <vt:lpstr>Arial</vt:lpstr>
      <vt:lpstr>Courier New</vt:lpstr>
      <vt:lpstr>Segoe UI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家顺 史</cp:lastModifiedBy>
  <cp:revision>36</cp:revision>
  <dcterms:modified xsi:type="dcterms:W3CDTF">2026-06-22T05:26:24Z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{"Label":"1","ContentProducer":"001191110102MACQD9K64010000","ProduceID":"7653856418525646022","ReservedCode1":"","ContentPropagator":"","PropagateID":"","ReservedCode2":""}</vt:lpwstr>
  </property>
</Properties>
</file>
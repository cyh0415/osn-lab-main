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9"/>
  </p:notesMasterIdLst>
  <p:sldIdLst>
    <p:sldId id="256" r:id="rId3"/>
    <p:sldId id="257" r:id="rId4"/>
    <p:sldId id="258" r:id="rId5"/>
    <p:sldId id="259" r:id="rId6"/>
    <p:sldId id="260" r:id="rId7"/>
    <p:sldId id="261" r:id="rId8"/>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2144" autoAdjust="0"/>
  </p:normalViewPr>
  <p:slideViewPr>
    <p:cSldViewPr snapToGrid="0">
      <p:cViewPr varScale="1">
        <p:scale>
          <a:sx n="65" d="100"/>
          <a:sy n="65" d="100"/>
        </p:scale>
        <p:origin x="1104"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In </a:t>
            </a:r>
            <a:r>
              <a:rPr lang="en-US" altLang="zh-CN" sz="1400" b="0" i="0" u="none" strike="noStrike" dirty="0">
                <a:solidFill>
                  <a:srgbClr val="000000"/>
                </a:solidFill>
              </a:rPr>
              <a:t>Chapter 5</a:t>
            </a:r>
            <a:r>
              <a:rPr lang="en-US" sz="1400" b="0" i="0" u="none" strike="noStrike" dirty="0">
                <a:solidFill>
                  <a:srgbClr val="000000"/>
                </a:solidFill>
              </a:rPr>
              <a:t>, we will delve into the results of our analysis and discuss their implications for safety.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dirty="0">
                <a:solidFill>
                  <a:srgbClr val="000000"/>
                </a:solidFill>
                <a:latin typeface="等线"/>
                <a:ea typeface="等线"/>
                <a:cs typeface="等线"/>
                <a:sym typeface="等线"/>
              </a:rPr>
              <a:t>Our analysis is based on the L1-regularized logistic regression model, which performed best in Chapter 4. By examining the model's coefficients, we can see which features most strongly influence each age rating. </a:t>
            </a:r>
            <a:br>
              <a:rPr lang="en-US" sz="1400" b="0" i="0" u="none" strike="noStrike" dirty="0">
                <a:solidFill>
                  <a:srgbClr val="000000"/>
                </a:solidFill>
                <a:latin typeface="等线"/>
                <a:ea typeface="等线"/>
                <a:cs typeface="等线"/>
                <a:sym typeface="等线"/>
              </a:rPr>
            </a:br>
            <a:r>
              <a:rPr lang="zh-CN" altLang="zh-CN" dirty="0"/>
              <a:t>This slide shows that different age ratings are driven by different content patterns. Lower ratings are mainly influenced by lighter signals such as visual style, mild violence, gambling themes, and minor profanity. As the rating increases, the key drivers become more severe and explicit, including drug references, graphic violence, sexual themes, gambling, criminal techniques, and sexual violence. The main takeaway is that age classification depends not only on whether content exists, but also on its severity, frequency, and presentation style.</a:t>
            </a:r>
          </a:p>
          <a:p>
            <a:pPr marL="0" indent="0" algn="l">
              <a:lnSpc>
                <a:spcPct val="100000"/>
              </a:lnSpc>
            </a:pPr>
            <a:endParaRPr lang="en-US" sz="14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等线"/>
                <a:ea typeface="等线"/>
                <a:cs typeface="等线"/>
                <a:sym typeface="等线"/>
              </a:rPr>
              <a:t>We tested whether using fewer features could still yield good results. Interestingly, using just 200 key features actually achieved a slightly higher accuracy than using all 758 features. This indicates significant redundancy in the original questionnaire. Collecting excessive low-information data is not only unnecessary but also increases costs. This finding suggests that both researchers and platform designers could benefit from simplifying the questionnaire to focus on the most informative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latin typeface="等线"/>
                <a:ea typeface="等线"/>
                <a:cs typeface="等线"/>
                <a:sym typeface="等线"/>
              </a:rPr>
              <a:t>By looking at the model's prediction probabilities, we identified the most uncertain cases. These are primarily concentrated between the 'Teen' and 'Mature 17+' ratings, where the model's confidence is very low. The </a:t>
            </a:r>
            <a:r>
              <a:rPr lang="en-US" altLang="zh-CN" sz="1400" b="0" i="0" u="none" strike="noStrike" dirty="0">
                <a:solidFill>
                  <a:srgbClr val="595959"/>
                </a:solidFill>
                <a:latin typeface="Noto Sans SC"/>
                <a:ea typeface="Noto Sans SC"/>
                <a:cs typeface="Noto Sans SC"/>
                <a:sym typeface="Noto Sans SC"/>
              </a:rPr>
              <a:t>Sample NO.239</a:t>
            </a:r>
            <a:r>
              <a:rPr lang="en-US" sz="1400" b="0" i="0" u="none" strike="noStrike" dirty="0">
                <a:solidFill>
                  <a:srgbClr val="000000"/>
                </a:solidFill>
                <a:latin typeface="等线"/>
                <a:ea typeface="等线"/>
                <a:cs typeface="等线"/>
                <a:sym typeface="等线"/>
              </a:rPr>
              <a:t> shows that the difference between the top two predictions is minimal. This isn't just a model error; it highlights the inherent ambiguity in the rating criteria themselves. Therefore, model uncertainty can be a valuable tool to flag borderline cases for human review.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latin typeface="等线"/>
                <a:ea typeface="等线"/>
                <a:cs typeface="等线"/>
                <a:sym typeface="等线"/>
              </a:rPr>
              <a:t>We found that structural missing values, like '__INACTIVE__' or '__NOT_APPLICABLE__', are not just noise. In a branching questionnaire, these values actually carry important semantic information. For example, if a question about severe violence is marked '__INACTIVE__', it indicates that the game doesn't contain such content, which is a strong signal for a lower age rating. Our model confirmed this by assigning significant weights to these sentinel values. Therefore, it's better to treat them as informative signals rather than simply imputing them.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latin typeface="等线"/>
                <a:ea typeface="等线"/>
                <a:cs typeface="等线"/>
                <a:sym typeface="等线"/>
              </a:rPr>
              <a:t>To summarize, this chapter has used our best model to analyze the key drivers of age ratings, identified significant redundancy in the questionnaire, pinpointed the 'Teen'/'Mature 17+' boundary as a major gray area, and highlighted the informative value of structural missing data. Based on these findings, we recommend strengthening validation for high-risk content, implementing human review for borderline cases, simplifying the questionnaire, and being cautious with small sample sizes. This analysis provides a data-driven foundation for improving age rating systems.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DED">
            <a:alpha val="100000"/>
          </a:srgbClr>
        </a:solidFill>
        <a:effectLst/>
      </p:bgPr>
    </p:bg>
    <p:spTree>
      <p:nvGrpSpPr>
        <p:cNvPr id="1" name=""/>
        <p:cNvGrpSpPr/>
        <p:nvPr/>
      </p:nvGrpSpPr>
      <p:grpSpPr>
        <a:xfrm>
          <a:off x="0" y="0"/>
          <a:ext cx="0" cy="0"/>
          <a:chOff x="0" y="0"/>
          <a:chExt cx="0" cy="0"/>
        </a:xfrm>
      </p:grpSpPr>
      <p:sp>
        <p:nvSpPr>
          <p:cNvPr id="2" name="Freeform 2"/>
          <p:cNvSpPr/>
          <p:nvPr/>
        </p:nvSpPr>
        <p:spPr>
          <a:xfrm rot="-4740000">
            <a:off x="1092200" y="2933700"/>
            <a:ext cx="2679375" cy="1489619"/>
          </a:xfrm>
          <a:custGeom>
            <a:avLst/>
            <a:gdLst/>
            <a:ahLst/>
            <a:cxnLst/>
            <a:rect l="l" t="t" r="r" b="b"/>
            <a:pathLst>
              <a:path w="2679375" h="1489619">
                <a:moveTo>
                  <a:pt x="0" y="0"/>
                </a:moveTo>
                <a:lnTo>
                  <a:pt x="469152" y="1489619"/>
                </a:lnTo>
                <a:lnTo>
                  <a:pt x="2679375" y="572637"/>
                </a:lnTo>
                <a:lnTo>
                  <a:pt x="0" y="0"/>
                </a:lnTo>
                <a:close/>
              </a:path>
            </a:pathLst>
          </a:custGeom>
          <a:gradFill rotWithShape="0">
            <a:gsLst>
              <a:gs pos="0">
                <a:srgbClr val="939393">
                  <a:alpha val="100000"/>
                </a:srgbClr>
              </a:gs>
              <a:gs pos="22000">
                <a:srgbClr val="7C7C7C">
                  <a:alpha val="100000"/>
                </a:srgbClr>
              </a:gs>
              <a:gs pos="63000">
                <a:srgbClr val="3B3838">
                  <a:alpha val="100000"/>
                </a:srgbClr>
              </a:gs>
            </a:gsLst>
            <a:lin ang="60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9105900" y="4737100"/>
            <a:ext cx="1762818" cy="825844"/>
          </a:xfrm>
          <a:custGeom>
            <a:avLst/>
            <a:gdLst/>
            <a:ahLst/>
            <a:cxnLst/>
            <a:rect l="l" t="t" r="r" b="b"/>
            <a:pathLst>
              <a:path w="1762818" h="825844">
                <a:moveTo>
                  <a:pt x="0" y="825844"/>
                </a:moveTo>
                <a:lnTo>
                  <a:pt x="198227" y="0"/>
                </a:lnTo>
                <a:lnTo>
                  <a:pt x="1762818" y="101082"/>
                </a:lnTo>
                <a:lnTo>
                  <a:pt x="0" y="825844"/>
                </a:lnTo>
                <a:close/>
              </a:path>
            </a:pathLst>
          </a:custGeom>
          <a:gradFill rotWithShape="0">
            <a:gsLst>
              <a:gs pos="23000">
                <a:srgbClr val="3B3838">
                  <a:alpha val="100000"/>
                </a:srgbClr>
              </a:gs>
              <a:gs pos="62000">
                <a:srgbClr val="474747">
                  <a:alpha val="100000"/>
                </a:srgbClr>
              </a:gs>
              <a:gs pos="100000">
                <a:srgbClr val="747474">
                  <a:alpha val="100000"/>
                </a:srgbClr>
              </a:gs>
            </a:gsLst>
            <a:lin ang="13200000"/>
          </a:gradFill>
          <a:ln w="25400" cap="flat" cmpd="sng">
            <a:noFill/>
            <a:prstDash val="solid"/>
            <a:round/>
          </a:ln>
        </p:spPr>
        <p:txBody>
          <a:bodyPr vert="horz" wrap="square" lIns="63500" tIns="63500" rIns="63500" bIns="63500" rtlCol="0" anchor="ctr"/>
          <a:lstStyle/>
          <a:p>
            <a:pPr algn="ctr">
              <a:defRPr/>
            </a:pPr>
            <a:endParaRPr/>
          </a:p>
        </p:txBody>
      </p:sp>
      <p:sp>
        <p:nvSpPr>
          <p:cNvPr id="4" name="Freeform 4"/>
          <p:cNvSpPr/>
          <p:nvPr/>
        </p:nvSpPr>
        <p:spPr>
          <a:xfrm>
            <a:off x="1409700" y="2667000"/>
            <a:ext cx="9479512" cy="2182506"/>
          </a:xfrm>
          <a:custGeom>
            <a:avLst/>
            <a:gdLst/>
            <a:ahLst/>
            <a:cxnLst/>
            <a:rect l="l" t="t" r="r" b="b"/>
            <a:pathLst>
              <a:path w="9479512" h="2182506">
                <a:moveTo>
                  <a:pt x="1321979" y="0"/>
                </a:moveTo>
                <a:lnTo>
                  <a:pt x="9073328" y="14848"/>
                </a:lnTo>
                <a:lnTo>
                  <a:pt x="9479512" y="2182506"/>
                </a:lnTo>
                <a:lnTo>
                  <a:pt x="0" y="2170134"/>
                </a:lnTo>
                <a:lnTo>
                  <a:pt x="1463016" y="1998157"/>
                </a:lnTo>
                <a:lnTo>
                  <a:pt x="1321979" y="0"/>
                </a:lnTo>
                <a:close/>
              </a:path>
            </a:pathLst>
          </a:custGeom>
          <a:solidFill>
            <a:srgbClr val="2F5597">
              <a:alpha val="100000"/>
            </a:srgbClr>
          </a:solidFill>
          <a:ln w="25400" cap="flat" cmpd="sng">
            <a:noFill/>
            <a:prstDash val="solid"/>
            <a:round/>
          </a:ln>
          <a:effectLst>
            <a:outerShdw blurRad="25400" dist="25400" algn="l" rotWithShape="0">
              <a:srgbClr val="000000">
                <a:alpha val="20000"/>
              </a:srgbClr>
            </a:outerShdw>
          </a:effectLst>
        </p:spPr>
        <p:txBody>
          <a:bodyPr vert="horz" wrap="square" lIns="63500" tIns="63500" rIns="63500" bIns="63500" rtlCol="0" anchor="ctr"/>
          <a:lstStyle/>
          <a:p>
            <a:pPr algn="ctr">
              <a:defRPr/>
            </a:pPr>
            <a:endParaRPr/>
          </a:p>
        </p:txBody>
      </p:sp>
      <p:sp>
        <p:nvSpPr>
          <p:cNvPr id="5" name="Freeform 5"/>
          <p:cNvSpPr/>
          <p:nvPr/>
        </p:nvSpPr>
        <p:spPr>
          <a:xfrm>
            <a:off x="-4096" y="1778000"/>
            <a:ext cx="2897348" cy="2861146"/>
          </a:xfrm>
          <a:custGeom>
            <a:avLst/>
            <a:gdLst/>
            <a:ahLst/>
            <a:cxnLst/>
            <a:rect l="l" t="t" r="r" b="b"/>
            <a:pathLst>
              <a:path w="2897348" h="2861146">
                <a:moveTo>
                  <a:pt x="15917" y="0"/>
                </a:moveTo>
                <a:lnTo>
                  <a:pt x="2867333" y="166521"/>
                </a:lnTo>
                <a:lnTo>
                  <a:pt x="2897348" y="2861146"/>
                </a:lnTo>
                <a:lnTo>
                  <a:pt x="5002" y="2640253"/>
                </a:lnTo>
                <a:cubicBezTo>
                  <a:pt x="0" y="1762229"/>
                  <a:pt x="20920" y="893162"/>
                  <a:pt x="15917" y="0"/>
                </a:cubicBezTo>
                <a:close/>
              </a:path>
            </a:pathLst>
          </a:custGeom>
          <a:solidFill>
            <a:srgbClr val="AFABAB">
              <a:alpha val="100000"/>
            </a:srgbClr>
          </a:solidFill>
          <a:ln w="25400" cap="flat" cmpd="sng">
            <a:noFill/>
            <a:prstDash val="solid"/>
            <a:round/>
          </a:ln>
          <a:effectLst>
            <a:outerShdw blurRad="736600" dist="330200" dir="2400000" sx="95000" sy="95000" algn="l" rotWithShape="0">
              <a:srgbClr val="203864">
                <a:alpha val="75000"/>
              </a:srgbClr>
            </a:outerShdw>
          </a:effectLst>
        </p:spPr>
        <p:txBody>
          <a:bodyPr vert="horz" wrap="square" lIns="63500" tIns="63500" rIns="63500" bIns="63500" rtlCol="0" anchor="ctr"/>
          <a:lstStyle/>
          <a:p>
            <a:pPr algn="ctr">
              <a:defRPr/>
            </a:pPr>
            <a:endParaRPr/>
          </a:p>
        </p:txBody>
      </p:sp>
      <p:sp>
        <p:nvSpPr>
          <p:cNvPr id="6" name="Freeform 6"/>
          <p:cNvSpPr/>
          <p:nvPr/>
        </p:nvSpPr>
        <p:spPr>
          <a:xfrm>
            <a:off x="9067800" y="2590800"/>
            <a:ext cx="3118706" cy="2975205"/>
          </a:xfrm>
          <a:custGeom>
            <a:avLst/>
            <a:gdLst/>
            <a:ahLst/>
            <a:cxnLst/>
            <a:rect l="l" t="t" r="r" b="b"/>
            <a:pathLst>
              <a:path w="3118706" h="2975205">
                <a:moveTo>
                  <a:pt x="3118706" y="0"/>
                </a:moveTo>
                <a:lnTo>
                  <a:pt x="3118706" y="2494930"/>
                </a:lnTo>
                <a:lnTo>
                  <a:pt x="0" y="2975205"/>
                </a:lnTo>
                <a:lnTo>
                  <a:pt x="1735690" y="2261645"/>
                </a:lnTo>
                <a:lnTo>
                  <a:pt x="1605410" y="1357993"/>
                </a:lnTo>
                <a:lnTo>
                  <a:pt x="3118706" y="0"/>
                </a:lnTo>
                <a:close/>
              </a:path>
            </a:pathLst>
          </a:custGeom>
          <a:gradFill rotWithShape="0">
            <a:gsLst>
              <a:gs pos="12000">
                <a:srgbClr val="203864">
                  <a:alpha val="100000"/>
                </a:srgbClr>
              </a:gs>
              <a:gs pos="92000">
                <a:srgbClr val="2F5597">
                  <a:alpha val="100000"/>
                </a:srgbClr>
              </a:gs>
            </a:gsLst>
            <a:lin ang="16800000"/>
          </a:gra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srcRect l="15734" t="13596" r="18531" b="11842"/>
          <a:stretch>
            <a:fillRect/>
          </a:stretch>
        </p:blipFill>
        <p:spPr>
          <a:xfrm>
            <a:off x="254000" y="2095500"/>
            <a:ext cx="2387600" cy="2159000"/>
          </a:xfrm>
          <a:prstGeom prst="rect">
            <a:avLst/>
          </a:prstGeom>
          <a:noFill/>
          <a:ln w="25400" cap="flat" cmpd="sng">
            <a:noFill/>
            <a:prstDash val="solid"/>
            <a:round/>
          </a:ln>
        </p:spPr>
      </p:pic>
      <p:pic>
        <p:nvPicPr>
          <p:cNvPr id="8" name="Picture 8"/>
          <p:cNvPicPr>
            <a:picLocks noChangeAspect="1"/>
          </p:cNvPicPr>
          <p:nvPr/>
        </p:nvPicPr>
        <p:blipFill>
          <a:blip r:embed="rId4"/>
          <a:srcRect/>
          <a:stretch>
            <a:fillRect/>
          </a:stretch>
        </p:blipFill>
        <p:spPr>
          <a:xfrm>
            <a:off x="8826500" y="139700"/>
            <a:ext cx="3365500" cy="1308100"/>
          </a:xfrm>
          <a:prstGeom prst="rect">
            <a:avLst/>
          </a:prstGeom>
          <a:noFill/>
          <a:ln w="25400" cap="flat" cmpd="sng">
            <a:noFill/>
            <a:prstDash val="solid"/>
            <a:round/>
          </a:ln>
        </p:spPr>
      </p:pic>
      <p:sp>
        <p:nvSpPr>
          <p:cNvPr id="9" name="AutoShape 9"/>
          <p:cNvSpPr/>
          <p:nvPr/>
        </p:nvSpPr>
        <p:spPr>
          <a:xfrm>
            <a:off x="3074513" y="2767654"/>
            <a:ext cx="7697821" cy="1122464"/>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400" b="1" i="0" u="none" strike="noStrike" dirty="0">
                <a:solidFill>
                  <a:srgbClr val="EAEAEA"/>
                </a:solidFill>
                <a:effectLst>
                  <a:outerShdw blurRad="63500" dist="12700" dir="1500000" algn="tl" rotWithShape="0">
                    <a:srgbClr val="3B3838">
                      <a:alpha val="39000"/>
                    </a:srgbClr>
                  </a:outerShdw>
                </a:effectLst>
                <a:latin typeface="Arial"/>
                <a:ea typeface="Arial"/>
                <a:cs typeface="Arial"/>
                <a:sym typeface="Arial"/>
              </a:rPr>
              <a:t>Chapter 5: </a:t>
            </a:r>
          </a:p>
          <a:p>
            <a:pPr marL="0" indent="0" algn="l">
              <a:lnSpc>
                <a:spcPct val="100000"/>
              </a:lnSpc>
              <a:defRPr/>
            </a:pPr>
            <a:r>
              <a:rPr lang="en-US" sz="2400" b="1" i="0" u="none" strike="noStrike" dirty="0">
                <a:solidFill>
                  <a:srgbClr val="EAEAEA"/>
                </a:solidFill>
                <a:effectLst>
                  <a:outerShdw blurRad="63500" dist="12700" dir="1500000" algn="tl" rotWithShape="0">
                    <a:srgbClr val="3B3838">
                      <a:alpha val="39000"/>
                    </a:srgbClr>
                  </a:outerShdw>
                </a:effectLst>
                <a:latin typeface="Arial"/>
                <a:ea typeface="Arial"/>
                <a:cs typeface="Arial"/>
                <a:sym typeface="Arial"/>
              </a:rPr>
              <a:t>Results Analysis and Safety Implications</a:t>
            </a:r>
            <a:endParaRPr lang="en-US" sz="1100" dirty="0"/>
          </a:p>
          <a:p>
            <a:pPr marL="0" indent="0" algn="l">
              <a:lnSpc>
                <a:spcPct val="100000"/>
              </a:lnSpc>
            </a:pPr>
            <a:r>
              <a:rPr lang="en-US" sz="1800" b="1" i="0" u="none" strike="noStrike" dirty="0">
                <a:solidFill>
                  <a:srgbClr val="808080"/>
                </a:solidFill>
                <a:effectLst>
                  <a:outerShdw blurRad="63500" dist="12700" dir="1500000" algn="tl" rotWithShape="0">
                    <a:srgbClr val="3B3838">
                      <a:alpha val="39000"/>
                    </a:srgbClr>
                  </a:outerShdw>
                </a:effectLst>
                <a:latin typeface="Arial"/>
                <a:ea typeface="Arial"/>
                <a:cs typeface="Arial"/>
                <a:sym typeface="Arial"/>
              </a:rPr>
              <a:t>Core Agenda: Deep Dive into Feature Impact, Data Quality &amp; Safety Guidelines</a:t>
            </a:r>
          </a:p>
          <a:p>
            <a:r>
              <a:rPr lang="en-US" altLang="zh-CN" sz="1800" b="1" dirty="0" err="1">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Presenter:ZiXuan</a:t>
            </a:r>
            <a:r>
              <a:rPr lang="en-US" altLang="zh-CN" sz="18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 Wang</a:t>
            </a:r>
          </a:p>
          <a:p>
            <a:pPr marL="0" indent="0" algn="l">
              <a:lnSpc>
                <a:spcPct val="100000"/>
              </a:lnSpc>
            </a:pPr>
            <a:endParaRPr lang="en-US" sz="1800" b="1" i="0" u="none" strike="noStrike" dirty="0">
              <a:solidFill>
                <a:srgbClr val="808080"/>
              </a:solidFill>
              <a:effectLst>
                <a:outerShdw blurRad="63500" dist="12700" dir="1500000" algn="tl" rotWithShape="0">
                  <a:srgbClr val="3B3838">
                    <a:alpha val="39000"/>
                  </a:srgbClr>
                </a:outerShdw>
              </a:effectLst>
              <a:latin typeface="Arial"/>
              <a:ea typeface="Arial"/>
              <a:cs typeface="Arial"/>
              <a:sym typeface="Arial"/>
            </a:endParaRPr>
          </a:p>
        </p:txBody>
      </p:sp>
      <p:sp>
        <p:nvSpPr>
          <p:cNvPr id="11" name="Freeform 11"/>
          <p:cNvSpPr/>
          <p:nvPr/>
        </p:nvSpPr>
        <p:spPr>
          <a:xfrm>
            <a:off x="-3461" y="1778000"/>
            <a:ext cx="2897348" cy="2861146"/>
          </a:xfrm>
          <a:custGeom>
            <a:avLst/>
            <a:gdLst/>
            <a:ahLst/>
            <a:cxnLst/>
            <a:rect l="l" t="t" r="r" b="b"/>
            <a:pathLst>
              <a:path w="2897348" h="2861146">
                <a:moveTo>
                  <a:pt x="15917" y="0"/>
                </a:moveTo>
                <a:lnTo>
                  <a:pt x="2867333" y="166521"/>
                </a:lnTo>
                <a:lnTo>
                  <a:pt x="2897348" y="2861146"/>
                </a:lnTo>
                <a:lnTo>
                  <a:pt x="5002" y="2640253"/>
                </a:lnTo>
                <a:cubicBezTo>
                  <a:pt x="0" y="1762229"/>
                  <a:pt x="20920" y="893162"/>
                  <a:pt x="15917" y="0"/>
                </a:cubicBezTo>
                <a:close/>
              </a:path>
            </a:pathLst>
          </a:custGeom>
          <a:solidFill>
            <a:srgbClr val="AFABAB">
              <a:alpha val="100000"/>
            </a:srgbClr>
          </a:solidFill>
          <a:ln w="25400" cap="flat" cmpd="sng">
            <a:noFill/>
            <a:prstDash val="solid"/>
            <a:round/>
          </a:ln>
          <a:effectLst>
            <a:outerShdw blurRad="736600" dist="330200" dir="2400000" sx="95000" sy="95000" algn="l" rotWithShape="0">
              <a:srgbClr val="203864">
                <a:alpha val="75000"/>
              </a:srgbClr>
            </a:outerShdw>
          </a:effectLst>
        </p:spPr>
        <p:txBody>
          <a:bodyPr vert="horz" wrap="square" lIns="63500" tIns="63500" rIns="63500" bIns="63500" rtlCol="0" anchor="ctr"/>
          <a:lstStyle/>
          <a:p>
            <a:pPr algn="ctr">
              <a:defRPr/>
            </a:pPr>
            <a:endParaRPr/>
          </a:p>
        </p:txBody>
      </p:sp>
      <p:sp>
        <p:nvSpPr>
          <p:cNvPr id="12" name="Freeform 12"/>
          <p:cNvSpPr/>
          <p:nvPr/>
        </p:nvSpPr>
        <p:spPr>
          <a:xfrm>
            <a:off x="9067800" y="2590800"/>
            <a:ext cx="3118706" cy="2975205"/>
          </a:xfrm>
          <a:custGeom>
            <a:avLst/>
            <a:gdLst/>
            <a:ahLst/>
            <a:cxnLst/>
            <a:rect l="l" t="t" r="r" b="b"/>
            <a:pathLst>
              <a:path w="3118706" h="2975205">
                <a:moveTo>
                  <a:pt x="3118706" y="0"/>
                </a:moveTo>
                <a:lnTo>
                  <a:pt x="3118706" y="2494930"/>
                </a:lnTo>
                <a:lnTo>
                  <a:pt x="0" y="2975205"/>
                </a:lnTo>
                <a:lnTo>
                  <a:pt x="1735690" y="2261645"/>
                </a:lnTo>
                <a:lnTo>
                  <a:pt x="1605410" y="1357993"/>
                </a:lnTo>
                <a:lnTo>
                  <a:pt x="3118706" y="0"/>
                </a:lnTo>
                <a:close/>
              </a:path>
            </a:pathLst>
          </a:custGeom>
          <a:gradFill rotWithShape="0">
            <a:gsLst>
              <a:gs pos="12000">
                <a:srgbClr val="203864">
                  <a:alpha val="100000"/>
                </a:srgbClr>
              </a:gs>
              <a:gs pos="92000">
                <a:srgbClr val="2F5597">
                  <a:alpha val="100000"/>
                </a:srgbClr>
              </a:gs>
            </a:gsLst>
            <a:lin ang="16800000"/>
          </a:gra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3"/>
          <a:srcRect l="15734" t="13596" r="18531" b="11842"/>
          <a:stretch>
            <a:fillRect/>
          </a:stretch>
        </p:blipFill>
        <p:spPr>
          <a:xfrm>
            <a:off x="177800" y="2032000"/>
            <a:ext cx="2387600" cy="2159000"/>
          </a:xfrm>
          <a:prstGeom prst="rect">
            <a:avLst/>
          </a:prstGeom>
          <a:noFill/>
          <a:ln w="25400" cap="flat" cmpd="sng">
            <a:noFill/>
            <a:prstDash val="solid"/>
            <a:rou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DED">
            <a:alpha val="0"/>
          </a:srgbClr>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121933C-794B-0E60-5802-D521DFEB5664}"/>
              </a:ext>
            </a:extLst>
          </p:cNvPr>
          <p:cNvPicPr>
            <a:picLocks noChangeAspect="1"/>
          </p:cNvPicPr>
          <p:nvPr/>
        </p:nvPicPr>
        <p:blipFill>
          <a:blip r:embed="rId3"/>
          <a:stretch>
            <a:fillRect/>
          </a:stretch>
        </p:blipFill>
        <p:spPr>
          <a:xfrm>
            <a:off x="952500" y="0"/>
            <a:ext cx="10287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DED">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 y="1815298"/>
            <a:ext cx="5448291" cy="2413809"/>
          </a:xfrm>
          <a:prstGeom prst="roundRect">
            <a:avLst>
              <a:gd name="adj" fmla="val 0"/>
            </a:avLst>
          </a:prstGeom>
          <a:noFill/>
          <a:ln w="25400" cap="flat" cmpd="sng">
            <a:solidFill>
              <a:srgbClr val="AFABAB">
                <a:alpha val="100000"/>
              </a:srgbClr>
            </a:solidFill>
            <a:prstDash val="solid"/>
            <a:miter lim="80000000"/>
          </a:ln>
        </p:spPr>
        <p:txBody>
          <a:bodyPr vert="horz" wrap="square" lIns="63500" tIns="63500" rIns="63500" bIns="63500" rtlCol="0" anchor="ctr"/>
          <a:lstStyle/>
          <a:p>
            <a:pPr algn="ctr">
              <a:defRPr/>
            </a:pPr>
            <a:endParaRPr/>
          </a:p>
        </p:txBody>
      </p:sp>
      <p:sp>
        <p:nvSpPr>
          <p:cNvPr id="4" name="AutoShape 4"/>
          <p:cNvSpPr/>
          <p:nvPr/>
        </p:nvSpPr>
        <p:spPr>
          <a:xfrm>
            <a:off x="5080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350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a:ea typeface="Segoe UI"/>
                <a:cs typeface="Segoe UI"/>
                <a:sym typeface="Segoe UI"/>
              </a:rPr>
              <a:t>Peak Accuracy (200 Feat)</a:t>
            </a:r>
            <a:endParaRPr lang="en-US" sz="1100"/>
          </a:p>
          <a:p>
            <a:pPr marL="0" indent="0" algn="ctr">
              <a:lnSpc>
                <a:spcPct val="125000"/>
              </a:lnSpc>
            </a:pPr>
            <a:r>
              <a:rPr lang="en-US" sz="2800" b="1" i="0" u="none" strike="noStrike">
                <a:solidFill>
                  <a:srgbClr val="1F2329"/>
                </a:solidFill>
                <a:latin typeface="Segoe UI"/>
                <a:ea typeface="Segoe UI"/>
                <a:cs typeface="Segoe UI"/>
                <a:sym typeface="Segoe UI"/>
              </a:rPr>
              <a:t>0.933</a:t>
            </a:r>
          </a:p>
        </p:txBody>
      </p:sp>
      <p:sp>
        <p:nvSpPr>
          <p:cNvPr id="6" name="AutoShape 6"/>
          <p:cNvSpPr/>
          <p:nvPr/>
        </p:nvSpPr>
        <p:spPr>
          <a:xfrm>
            <a:off x="28575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29845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a:ea typeface="Segoe UI"/>
                <a:cs typeface="Segoe UI"/>
                <a:sym typeface="Segoe UI"/>
              </a:rPr>
              <a:t>Full Model (758 Feat)</a:t>
            </a:r>
            <a:endParaRPr lang="en-US" sz="1100"/>
          </a:p>
          <a:p>
            <a:pPr marL="0" indent="0" algn="ctr">
              <a:lnSpc>
                <a:spcPct val="125000"/>
              </a:lnSpc>
            </a:pPr>
            <a:r>
              <a:rPr lang="en-US" sz="2800" b="1" i="0" u="none" strike="noStrike">
                <a:solidFill>
                  <a:srgbClr val="1F2329"/>
                </a:solidFill>
                <a:latin typeface="Segoe UI"/>
                <a:ea typeface="Segoe UI"/>
                <a:cs typeface="Segoe UI"/>
                <a:sym typeface="Segoe UI"/>
              </a:rPr>
              <a:t>0.921</a:t>
            </a:r>
          </a:p>
        </p:txBody>
      </p:sp>
      <p:cxnSp>
        <p:nvCxnSpPr>
          <p:cNvPr id="8" name="Connector 8"/>
          <p:cNvCxnSpPr/>
          <p:nvPr/>
        </p:nvCxnSpPr>
        <p:spPr>
          <a:xfrm rot="5391296">
            <a:off x="3155942" y="4013208"/>
            <a:ext cx="50165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9" name="AutoShape 9"/>
          <p:cNvSpPr/>
          <p:nvPr/>
        </p:nvSpPr>
        <p:spPr>
          <a:xfrm>
            <a:off x="5842000" y="1765300"/>
            <a:ext cx="5842000" cy="13081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969000" y="1765300"/>
            <a:ext cx="5588000" cy="1219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1F2329"/>
                </a:solidFill>
                <a:latin typeface="Arial"/>
                <a:ea typeface="Arial"/>
                <a:cs typeface="Arial"/>
                <a:sym typeface="Arial"/>
              </a:rPr>
              <a:t>📈 Experimental Findings</a:t>
            </a:r>
            <a:endParaRPr lang="en-US" sz="1100"/>
          </a:p>
          <a:p>
            <a:pPr marL="0" indent="0" algn="l">
              <a:lnSpc>
                <a:spcPct val="116666"/>
              </a:lnSpc>
            </a:pPr>
            <a:r>
              <a:rPr lang="en-US" sz="1400" b="0" i="0" u="none" strike="noStrike">
                <a:solidFill>
                  <a:srgbClr val="595959"/>
                </a:solidFill>
                <a:latin typeface="Segoe UI"/>
                <a:ea typeface="Segoe UI"/>
                <a:cs typeface="Segoe UI"/>
                <a:sym typeface="Segoe UI"/>
              </a:rPr>
              <a:t>Tested feature subsets (10, 50, 200, 758). Accuracy rose sharply to 200 features (0.933, 101% relative to full), then slightly declined with all 758 features, proving diminishing returns and redundancy.</a:t>
            </a:r>
          </a:p>
        </p:txBody>
      </p:sp>
      <p:sp>
        <p:nvSpPr>
          <p:cNvPr id="11" name="AutoShape 11"/>
          <p:cNvSpPr/>
          <p:nvPr/>
        </p:nvSpPr>
        <p:spPr>
          <a:xfrm>
            <a:off x="5842000" y="33528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3479800"/>
            <a:ext cx="5588000" cy="1447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1F2329"/>
                </a:solidFill>
                <a:latin typeface="Arial"/>
                <a:ea typeface="Arial"/>
                <a:cs typeface="Arial"/>
                <a:sym typeface="Arial"/>
              </a:rPr>
              <a:t>💡 Key Conclusion</a:t>
            </a:r>
            <a:endParaRPr lang="en-US" sz="1100"/>
          </a:p>
          <a:p>
            <a:pPr marL="0" indent="0" algn="l">
              <a:lnSpc>
                <a:spcPct val="116666"/>
              </a:lnSpc>
            </a:pPr>
            <a:r>
              <a:rPr lang="en-US" sz="1400" b="0" i="0" u="none" strike="noStrike">
                <a:solidFill>
                  <a:srgbClr val="595959"/>
                </a:solidFill>
                <a:latin typeface="Segoe UI"/>
                <a:ea typeface="Segoe UI"/>
                <a:cs typeface="Segoe UI"/>
                <a:sym typeface="Segoe UI"/>
              </a:rPr>
              <a:t>The Google Play questionnaire contains substantial redundancy. Most items provide little discriminative value, and using a subset of 200 high-information features is sufficient to match or exceed the performance of the complete dataset.</a:t>
            </a:r>
          </a:p>
        </p:txBody>
      </p:sp>
      <p:sp>
        <p:nvSpPr>
          <p:cNvPr id="13" name="AutoShape 13"/>
          <p:cNvSpPr/>
          <p:nvPr/>
        </p:nvSpPr>
        <p:spPr>
          <a:xfrm>
            <a:off x="5842000" y="5334000"/>
            <a:ext cx="5842000" cy="901700"/>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9000" y="5384800"/>
            <a:ext cx="558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329"/>
                </a:solidFill>
                <a:latin typeface="Arial"/>
                <a:ea typeface="Arial"/>
                <a:cs typeface="Arial"/>
                <a:sym typeface="Arial"/>
              </a:rPr>
              <a:t>🎯 Practical Implications</a:t>
            </a:r>
            <a:endParaRPr lang="en-US" sz="1100"/>
          </a:p>
          <a:p>
            <a:pPr marL="0" indent="0" algn="l">
              <a:lnSpc>
                <a:spcPct val="108333"/>
              </a:lnSpc>
            </a:pPr>
            <a:r>
              <a:rPr lang="en-US" sz="1400" b="0" i="0" u="none" strike="noStrike">
                <a:solidFill>
                  <a:srgbClr val="595959"/>
                </a:solidFill>
                <a:latin typeface="Segoe UI"/>
                <a:ea typeface="Segoe UI"/>
                <a:cs typeface="Segoe UI"/>
                <a:sym typeface="Segoe UI"/>
              </a:rPr>
              <a:t>Prioritize high-density features for research; simplify questionnaires to boost user completion efficiency and reduce data collection costs.</a:t>
            </a:r>
          </a:p>
        </p:txBody>
      </p:sp>
      <p:sp>
        <p:nvSpPr>
          <p:cNvPr id="15" name="AutoShape 15"/>
          <p:cNvSpPr/>
          <p:nvPr/>
        </p:nvSpPr>
        <p:spPr>
          <a:xfrm>
            <a:off x="317491" y="2413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329"/>
                </a:solidFill>
                <a:latin typeface="Arial"/>
                <a:ea typeface="Arial"/>
                <a:cs typeface="Arial"/>
                <a:sym typeface="Arial"/>
              </a:rPr>
              <a:t>Questionnaire Redundancy: </a:t>
            </a:r>
          </a:p>
          <a:p>
            <a:pPr marL="0" indent="0" algn="l">
              <a:lnSpc>
                <a:spcPct val="125000"/>
              </a:lnSpc>
              <a:defRPr/>
            </a:pPr>
            <a:r>
              <a:rPr lang="en-US" sz="2400" b="1" i="0" u="none" strike="noStrike" dirty="0">
                <a:solidFill>
                  <a:srgbClr val="1F2329"/>
                </a:solidFill>
                <a:latin typeface="Arial"/>
                <a:ea typeface="Arial"/>
                <a:cs typeface="Arial"/>
                <a:sym typeface="Arial"/>
              </a:rPr>
              <a:t>More Questions Do Not Always Improve Performance</a:t>
            </a:r>
            <a:endParaRPr lang="en-US" sz="1100" dirty="0"/>
          </a:p>
        </p:txBody>
      </p:sp>
      <p:cxnSp>
        <p:nvCxnSpPr>
          <p:cNvPr id="16" name="Connector 16"/>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7" name="Picture 17"/>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sp>
        <p:nvSpPr>
          <p:cNvPr id="18" name="AutoShape 18"/>
          <p:cNvSpPr/>
          <p:nvPr/>
        </p:nvSpPr>
        <p:spPr>
          <a:xfrm>
            <a:off x="508000" y="5994400"/>
            <a:ext cx="4572000" cy="52070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0" tIns="0" rIns="0" bIns="0" rtlCol="0" anchor="ctr" anchorCtr="0"/>
          <a:lstStyle/>
          <a:p>
            <a:pPr marL="0" indent="0" algn="ctr">
              <a:lnSpc>
                <a:spcPct val="100000"/>
              </a:lnSpc>
              <a:defRPr/>
            </a:pPr>
            <a:r>
              <a:rPr lang="en-US" sz="1400" b="0" i="0" u="none" strike="noStrike">
                <a:solidFill>
                  <a:srgbClr val="595959"/>
                </a:solidFill>
                <a:latin typeface="Noto Sans SC"/>
                <a:ea typeface="Noto Sans SC"/>
                <a:cs typeface="Noto Sans SC"/>
                <a:sym typeface="Noto Sans SC"/>
              </a:rPr>
              <a:t>💡</a:t>
            </a:r>
            <a:r>
              <a:rPr lang="en-US" sz="1400" b="0" i="0" u="none" strike="noStrike">
                <a:solidFill>
                  <a:srgbClr val="595959"/>
                </a:solidFill>
                <a:latin typeface="Segoe UI"/>
                <a:ea typeface="Segoe UI"/>
                <a:cs typeface="Segoe UI"/>
                <a:sym typeface="Segoe UI"/>
              </a:rPr>
              <a:t>Insight: Excessive low-value data collection increases cost without benefit.</a:t>
            </a:r>
            <a:endParaRPr lang="en-US" sz="1100"/>
          </a:p>
        </p:txBody>
      </p:sp>
      <p:pic>
        <p:nvPicPr>
          <p:cNvPr id="20" name="图片 19">
            <a:extLst>
              <a:ext uri="{FF2B5EF4-FFF2-40B4-BE49-F238E27FC236}">
                <a16:creationId xmlns:a16="http://schemas.microsoft.com/office/drawing/2014/main" id="{AD8ECA8B-C0BC-1BA5-A6CF-EA6933A76D38}"/>
              </a:ext>
            </a:extLst>
          </p:cNvPr>
          <p:cNvPicPr>
            <a:picLocks noChangeAspect="1"/>
          </p:cNvPicPr>
          <p:nvPr/>
        </p:nvPicPr>
        <p:blipFill>
          <a:blip r:embed="rId4"/>
          <a:stretch>
            <a:fillRect/>
          </a:stretch>
        </p:blipFill>
        <p:spPr>
          <a:xfrm>
            <a:off x="185322" y="1937137"/>
            <a:ext cx="5291549" cy="21701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DED">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31734" y="1511300"/>
            <a:ext cx="4221266" cy="2984500"/>
          </a:xfrm>
          <a:prstGeom prst="roundRect">
            <a:avLst>
              <a:gd name="adj" fmla="val 0"/>
            </a:avLst>
          </a:prstGeom>
          <a:noFill/>
          <a:ln w="25400" cap="flat" cmpd="sng">
            <a:solidFill>
              <a:srgbClr val="AFABAB">
                <a:alpha val="100000"/>
              </a:srgbClr>
            </a:solidFill>
            <a:prstDash val="solid"/>
            <a:miter lim="80000000"/>
          </a:ln>
        </p:spPr>
        <p:txBody>
          <a:bodyPr vert="horz" wrap="square" lIns="63500" tIns="63500" rIns="63500" bIns="63500" rtlCol="0" anchor="ctr"/>
          <a:lstStyle/>
          <a:p>
            <a:pPr algn="ctr">
              <a:defRPr/>
            </a:pPr>
            <a:endParaRPr/>
          </a:p>
        </p:txBody>
      </p:sp>
      <p:sp>
        <p:nvSpPr>
          <p:cNvPr id="4" name="AutoShape 4"/>
          <p:cNvSpPr/>
          <p:nvPr/>
        </p:nvSpPr>
        <p:spPr>
          <a:xfrm>
            <a:off x="5080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350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Noto Sans SC"/>
                <a:ea typeface="Noto Sans SC"/>
                <a:cs typeface="Noto Sans SC"/>
                <a:sym typeface="Noto Sans SC"/>
              </a:rPr>
              <a:t>Hotspot Zone</a:t>
            </a:r>
            <a:endParaRPr lang="en-US" sz="1100"/>
          </a:p>
          <a:p>
            <a:pPr marL="0" indent="0" algn="ctr">
              <a:lnSpc>
                <a:spcPct val="125000"/>
              </a:lnSpc>
            </a:pPr>
            <a:r>
              <a:rPr lang="en-US" sz="2000" b="1" i="0" u="none" strike="noStrike">
                <a:solidFill>
                  <a:srgbClr val="1F2329"/>
                </a:solidFill>
                <a:latin typeface="Noto Sans SC"/>
                <a:ea typeface="Noto Sans SC"/>
                <a:cs typeface="Noto Sans SC"/>
                <a:sym typeface="Noto Sans SC"/>
              </a:rPr>
              <a:t>Teen ↔ Mature 17+</a:t>
            </a:r>
          </a:p>
        </p:txBody>
      </p:sp>
      <p:sp>
        <p:nvSpPr>
          <p:cNvPr id="6" name="AutoShape 6"/>
          <p:cNvSpPr/>
          <p:nvPr/>
        </p:nvSpPr>
        <p:spPr>
          <a:xfrm>
            <a:off x="28575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29845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Noto Sans SC"/>
                <a:ea typeface="Noto Sans SC"/>
                <a:cs typeface="Noto Sans SC"/>
                <a:sym typeface="Noto Sans SC"/>
              </a:rPr>
              <a:t>Min Probability Gap</a:t>
            </a:r>
            <a:endParaRPr lang="en-US" sz="1100"/>
          </a:p>
          <a:p>
            <a:pPr marL="0" indent="0" algn="ctr">
              <a:lnSpc>
                <a:spcPct val="125000"/>
              </a:lnSpc>
            </a:pPr>
            <a:r>
              <a:rPr lang="en-US" sz="2400" b="1" i="0" u="none" strike="noStrike">
                <a:solidFill>
                  <a:srgbClr val="1F2329"/>
                </a:solidFill>
                <a:latin typeface="Noto Sans SC"/>
                <a:ea typeface="Noto Sans SC"/>
                <a:cs typeface="Noto Sans SC"/>
                <a:sym typeface="Noto Sans SC"/>
              </a:rPr>
              <a:t>0.001</a:t>
            </a:r>
          </a:p>
        </p:txBody>
      </p:sp>
      <p:cxnSp>
        <p:nvCxnSpPr>
          <p:cNvPr id="8" name="Connector 8"/>
          <p:cNvCxnSpPr/>
          <p:nvPr/>
        </p:nvCxnSpPr>
        <p:spPr>
          <a:xfrm rot="5391296">
            <a:off x="2889250" y="4013208"/>
            <a:ext cx="50165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9" name="AutoShape 9"/>
          <p:cNvSpPr/>
          <p:nvPr/>
        </p:nvSpPr>
        <p:spPr>
          <a:xfrm>
            <a:off x="5842000" y="1765300"/>
            <a:ext cx="5842000" cy="13081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969000" y="1765300"/>
            <a:ext cx="5588000" cy="1219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1F2329"/>
                </a:solidFill>
                <a:latin typeface="Noto Sans SC"/>
                <a:ea typeface="Noto Sans SC"/>
                <a:cs typeface="Noto Sans SC"/>
                <a:sym typeface="Noto Sans SC"/>
              </a:rPr>
              <a:t>🔑 Key Observations</a:t>
            </a:r>
            <a:endParaRPr lang="en-US" sz="1100"/>
          </a:p>
          <a:p>
            <a:pPr marL="0" indent="0" algn="l">
              <a:lnSpc>
                <a:spcPct val="108333"/>
              </a:lnSpc>
            </a:pPr>
            <a:r>
              <a:rPr lang="en-US" sz="1400" b="0" i="0" u="none" strike="noStrike">
                <a:solidFill>
                  <a:srgbClr val="595959"/>
                </a:solidFill>
                <a:latin typeface="Noto Sans SC"/>
                <a:ea typeface="Noto Sans SC"/>
                <a:cs typeface="Noto Sans SC"/>
                <a:sym typeface="Noto Sans SC"/>
              </a:rPr>
              <a:t>Uncertain samples cluster heavily at the boundary between 'Teen' and 'Mature 17+' categories. The gap between the top two predicted class probabilities is often negligible, indicating high ambiguity in content classification.</a:t>
            </a:r>
          </a:p>
        </p:txBody>
      </p:sp>
      <p:sp>
        <p:nvSpPr>
          <p:cNvPr id="11" name="AutoShape 11"/>
          <p:cNvSpPr/>
          <p:nvPr/>
        </p:nvSpPr>
        <p:spPr>
          <a:xfrm>
            <a:off x="5842000" y="33528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69000" y="3479800"/>
            <a:ext cx="5588000" cy="1447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dirty="0">
                <a:solidFill>
                  <a:srgbClr val="1F2329"/>
                </a:solidFill>
                <a:latin typeface="Noto Sans SC"/>
                <a:ea typeface="Noto Sans SC"/>
                <a:cs typeface="Noto Sans SC"/>
                <a:sym typeface="Noto Sans SC"/>
              </a:rPr>
              <a:t>📋 Borderline Case Examples</a:t>
            </a:r>
            <a:endParaRPr lang="en-US" sz="1100" dirty="0"/>
          </a:p>
          <a:p>
            <a:pPr marL="0" indent="0" algn="l">
              <a:lnSpc>
                <a:spcPct val="108333"/>
              </a:lnSpc>
            </a:pPr>
            <a:r>
              <a:rPr lang="en-US" sz="1400" b="0" i="0" u="none" strike="noStrike" dirty="0">
                <a:solidFill>
                  <a:srgbClr val="595959"/>
                </a:solidFill>
                <a:latin typeface="Noto Sans SC"/>
                <a:ea typeface="Noto Sans SC"/>
                <a:cs typeface="Noto Sans SC"/>
                <a:sym typeface="Noto Sans SC"/>
              </a:rPr>
              <a:t>Sample #239: Mature 17+ (0.443) vs. Teen (0.442). </a:t>
            </a:r>
          </a:p>
          <a:p>
            <a:pPr marL="0" indent="0" algn="l">
              <a:lnSpc>
                <a:spcPct val="108333"/>
              </a:lnSpc>
            </a:pPr>
            <a:r>
              <a:rPr lang="en-US" sz="1400" b="0" i="0" u="none" strike="noStrike" dirty="0">
                <a:solidFill>
                  <a:srgbClr val="595959"/>
                </a:solidFill>
                <a:latin typeface="Noto Sans SC"/>
                <a:ea typeface="Noto Sans SC"/>
                <a:cs typeface="Noto Sans SC"/>
                <a:sym typeface="Noto Sans SC"/>
              </a:rPr>
              <a:t>These minuscule gaps (0.001) are not random errors but reflect genuine difficulty in applying rigid age labels.</a:t>
            </a:r>
          </a:p>
        </p:txBody>
      </p:sp>
      <p:sp>
        <p:nvSpPr>
          <p:cNvPr id="13" name="AutoShape 13"/>
          <p:cNvSpPr/>
          <p:nvPr/>
        </p:nvSpPr>
        <p:spPr>
          <a:xfrm>
            <a:off x="5842000" y="5334000"/>
            <a:ext cx="5842000" cy="901700"/>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69000" y="5384800"/>
            <a:ext cx="558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329"/>
                </a:solidFill>
                <a:latin typeface="Noto Sans SC"/>
                <a:ea typeface="Noto Sans SC"/>
                <a:cs typeface="Noto Sans SC"/>
                <a:sym typeface="Noto Sans SC"/>
              </a:rPr>
              <a:t>💡 Practical Implications</a:t>
            </a:r>
            <a:endParaRPr lang="en-US" sz="1100"/>
          </a:p>
          <a:p>
            <a:pPr marL="0" indent="0" algn="l">
              <a:lnSpc>
                <a:spcPct val="108333"/>
              </a:lnSpc>
            </a:pPr>
            <a:r>
              <a:rPr lang="en-US" sz="1400" b="0" i="0" u="none" strike="noStrike">
                <a:solidFill>
                  <a:srgbClr val="595959"/>
                </a:solidFill>
                <a:latin typeface="Noto Sans SC"/>
                <a:ea typeface="Noto Sans SC"/>
                <a:cs typeface="Noto Sans SC"/>
                <a:sym typeface="Noto Sans SC"/>
              </a:rPr>
              <a:t>Model uncertainty is a feature, not a bug. It can automate the flagging of borderline content for mandatory human review, improving fairness.</a:t>
            </a:r>
          </a:p>
        </p:txBody>
      </p:sp>
      <p:sp>
        <p:nvSpPr>
          <p:cNvPr id="15" name="AutoShape 15"/>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329"/>
                </a:solidFill>
                <a:latin typeface="Arial"/>
                <a:ea typeface="Arial"/>
                <a:cs typeface="Arial"/>
                <a:sym typeface="Arial"/>
              </a:rPr>
              <a:t>Uncertainty and Gray Areas in Age Rating</a:t>
            </a:r>
            <a:endParaRPr lang="en-US" sz="1100"/>
          </a:p>
        </p:txBody>
      </p:sp>
      <p:cxnSp>
        <p:nvCxnSpPr>
          <p:cNvPr id="16" name="Connector 16"/>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sp>
        <p:nvSpPr>
          <p:cNvPr id="17" name="AutoShape 17"/>
          <p:cNvSpPr/>
          <p:nvPr/>
        </p:nvSpPr>
        <p:spPr>
          <a:xfrm>
            <a:off x="508000" y="5994400"/>
            <a:ext cx="4572000" cy="520700"/>
          </a:xfrm>
          <a:prstGeom prst="roundRect">
            <a:avLst>
              <a:gd name="adj" fmla="val 0"/>
            </a:avLst>
          </a:prstGeom>
          <a:solidFill>
            <a:srgbClr val="E3F2FD">
              <a:alpha val="100000"/>
            </a:srgbClr>
          </a:solidFill>
          <a:ln w="12700" cap="flat" cmpd="sng">
            <a:solidFill>
              <a:srgbClr val="2196F3">
                <a:alpha val="50000"/>
              </a:srgbClr>
            </a:solidFill>
            <a:prstDash val="solid"/>
            <a:round/>
          </a:ln>
        </p:spPr>
        <p:txBody>
          <a:bodyPr vert="horz" wrap="square" lIns="0" tIns="0" rIns="0" bIns="0" rtlCol="0" anchor="ctr" anchorCtr="0"/>
          <a:lstStyle/>
          <a:p>
            <a:pPr marL="0" indent="0" algn="ctr">
              <a:lnSpc>
                <a:spcPct val="100000"/>
              </a:lnSpc>
              <a:defRPr/>
            </a:pPr>
            <a:r>
              <a:rPr lang="en-US" sz="1400" b="0" i="0" u="none" strike="noStrike">
                <a:solidFill>
                  <a:srgbClr val="595959"/>
                </a:solidFill>
                <a:latin typeface="Noto Sans SC"/>
                <a:ea typeface="Noto Sans SC"/>
                <a:cs typeface="Noto Sans SC"/>
                <a:sym typeface="Noto Sans SC"/>
              </a:rPr>
              <a:t>💡 Insight: Ambiguity stems from criteria, not just model limitations.</a:t>
            </a:r>
            <a:endParaRPr lang="en-US" sz="1100"/>
          </a:p>
        </p:txBody>
      </p:sp>
      <p:pic>
        <p:nvPicPr>
          <p:cNvPr id="19" name="图片 18">
            <a:extLst>
              <a:ext uri="{FF2B5EF4-FFF2-40B4-BE49-F238E27FC236}">
                <a16:creationId xmlns:a16="http://schemas.microsoft.com/office/drawing/2014/main" id="{1BEE2EA7-82AF-EF70-80EE-095EFCB1348B}"/>
              </a:ext>
            </a:extLst>
          </p:cNvPr>
          <p:cNvPicPr>
            <a:picLocks noChangeAspect="1"/>
          </p:cNvPicPr>
          <p:nvPr/>
        </p:nvPicPr>
        <p:blipFill>
          <a:blip r:embed="rId3"/>
          <a:srcRect r="49584" b="-2166"/>
          <a:stretch>
            <a:fillRect/>
          </a:stretch>
        </p:blipFill>
        <p:spPr>
          <a:xfrm>
            <a:off x="784785" y="1585637"/>
            <a:ext cx="4145430" cy="2948263"/>
          </a:xfrm>
          <a:prstGeom prst="rect">
            <a:avLst/>
          </a:prstGeom>
        </p:spPr>
      </p:pic>
      <p:pic>
        <p:nvPicPr>
          <p:cNvPr id="3" name="Picture 17">
            <a:extLst>
              <a:ext uri="{FF2B5EF4-FFF2-40B4-BE49-F238E27FC236}">
                <a16:creationId xmlns:a16="http://schemas.microsoft.com/office/drawing/2014/main" id="{F60AF7A3-C99A-9C49-CD1A-48937E1704BB}"/>
              </a:ext>
            </a:extLst>
          </p:cNvPr>
          <p:cNvPicPr>
            <a:picLocks noChangeAspect="1"/>
          </p:cNvPicPr>
          <p:nvPr/>
        </p:nvPicPr>
        <p:blipFill>
          <a:blip r:embed="rId4"/>
          <a:srcRect/>
          <a:stretch>
            <a:fillRect/>
          </a:stretch>
        </p:blipFill>
        <p:spPr>
          <a:xfrm>
            <a:off x="8826500" y="139700"/>
            <a:ext cx="3365500" cy="1308100"/>
          </a:xfrm>
          <a:prstGeom prst="rect">
            <a:avLst/>
          </a:prstGeom>
          <a:noFill/>
          <a:ln w="25400" cap="flat" cmpd="sng">
            <a:noFill/>
            <a:prstDash val="solid"/>
            <a:rou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DED">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329"/>
                </a:solidFill>
                <a:latin typeface="Arial"/>
                <a:ea typeface="Arial"/>
                <a:cs typeface="Arial"/>
                <a:sym typeface="Arial"/>
              </a:rPr>
              <a:t>Structural Missing Values Are Informative Signals</a:t>
            </a:r>
            <a:endParaRPr lang="en-US" sz="1100"/>
          </a:p>
        </p:txBody>
      </p:sp>
      <p:cxnSp>
        <p:nvCxnSpPr>
          <p:cNvPr id="3" name="Connector 3"/>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4" name="Picture 4"/>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sp>
        <p:nvSpPr>
          <p:cNvPr id="5" name="AutoShape 5"/>
          <p:cNvSpPr/>
          <p:nvPr/>
        </p:nvSpPr>
        <p:spPr>
          <a:xfrm>
            <a:off x="508000" y="1511300"/>
            <a:ext cx="4572000" cy="2921000"/>
          </a:xfrm>
          <a:prstGeom prst="roundRect">
            <a:avLst>
              <a:gd name="adj" fmla="val 0"/>
            </a:avLst>
          </a:prstGeom>
          <a:noFill/>
          <a:ln w="25400" cap="flat" cmpd="sng">
            <a:solidFill>
              <a:srgbClr val="AFABAB">
                <a:alpha val="100000"/>
              </a:srgbClr>
            </a:solidFill>
            <a:prstDash val="solid"/>
            <a:miter lim="80000000"/>
          </a:ln>
        </p:spPr>
        <p:txBody>
          <a:bodyPr vert="horz" wrap="square" lIns="63500" tIns="63500" rIns="63500" bIns="63500" rtlCol="0" anchor="ctr"/>
          <a:lstStyle/>
          <a:p>
            <a:pPr algn="ctr">
              <a:defRPr/>
            </a:pPr>
            <a:endParaRPr/>
          </a:p>
        </p:txBody>
      </p:sp>
      <p:sp>
        <p:nvSpPr>
          <p:cNvPr id="6" name="AutoShape 6"/>
          <p:cNvSpPr/>
          <p:nvPr/>
        </p:nvSpPr>
        <p:spPr>
          <a:xfrm>
            <a:off x="635000" y="1600200"/>
            <a:ext cx="4318000" cy="2743200"/>
          </a:xfrm>
          <a:prstGeom prst="roundRect">
            <a:avLst>
              <a:gd name="adj" fmla="val 0"/>
            </a:avLst>
          </a:prstGeom>
          <a:noFill/>
          <a:ln w="25400" cap="flat" cmpd="sng">
            <a:noFill/>
            <a:prstDash val="solid"/>
            <a:round/>
          </a:ln>
        </p:spPr>
        <p:txBody>
          <a:bodyPr vert="horz" wrap="square" lIns="127000" tIns="127000" rIns="127000" bIns="127000" rtlCol="0" anchor="ctr" anchorCtr="0"/>
          <a:lstStyle/>
          <a:p>
            <a:pPr marL="0" indent="0" algn="l">
              <a:lnSpc>
                <a:spcPct val="108333"/>
              </a:lnSpc>
              <a:defRPr/>
            </a:pPr>
            <a:r>
              <a:rPr lang="en-US" sz="1800" b="1" i="0" u="none" strike="noStrike" dirty="0">
                <a:solidFill>
                  <a:srgbClr val="1F2329"/>
                </a:solidFill>
                <a:latin typeface="Noto Sans SC"/>
                <a:ea typeface="Noto Sans SC"/>
                <a:cs typeface="Noto Sans SC"/>
                <a:sym typeface="Noto Sans SC"/>
              </a:rPr>
              <a:t>🔍 Sentinel Values in Branching Logic</a:t>
            </a:r>
            <a:endParaRPr lang="en-US" sz="1100" dirty="0"/>
          </a:p>
          <a:p>
            <a:pPr marL="0" indent="0" algn="l">
              <a:lnSpc>
                <a:spcPct val="116666"/>
              </a:lnSpc>
            </a:pPr>
            <a:r>
              <a:rPr lang="en-US" sz="1400" b="0" i="0" u="none" strike="noStrike" dirty="0">
                <a:solidFill>
                  <a:srgbClr val="595959"/>
                </a:solidFill>
                <a:latin typeface="Noto Sans SC"/>
                <a:ea typeface="Noto Sans SC"/>
                <a:cs typeface="Noto Sans SC"/>
                <a:sym typeface="Noto Sans SC"/>
              </a:rPr>
              <a:t>In questionnaires with conditional branching, values like '__INACTIVE__' or '__NONE__' are not random noise. They represent activated risk branches (e.g., a question about severe violence being inactive means no such content exists).</a:t>
            </a:r>
          </a:p>
        </p:txBody>
      </p:sp>
      <p:sp>
        <p:nvSpPr>
          <p:cNvPr id="7" name="AutoShape 7"/>
          <p:cNvSpPr/>
          <p:nvPr/>
        </p:nvSpPr>
        <p:spPr>
          <a:xfrm>
            <a:off x="5080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350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a:ea typeface="Segoe UI"/>
                <a:cs typeface="Segoe UI"/>
                <a:sym typeface="Segoe UI"/>
              </a:rPr>
              <a:t>Key Sentinel Values</a:t>
            </a:r>
            <a:endParaRPr lang="en-US" sz="1100"/>
          </a:p>
          <a:p>
            <a:pPr marL="0" indent="0" algn="ctr">
              <a:lnSpc>
                <a:spcPct val="125000"/>
              </a:lnSpc>
            </a:pPr>
            <a:r>
              <a:rPr lang="en-US" sz="2000" b="1" i="0" u="none" strike="noStrike">
                <a:solidFill>
                  <a:srgbClr val="1F2329"/>
                </a:solidFill>
                <a:latin typeface="Segoe UI"/>
                <a:ea typeface="Segoe UI"/>
                <a:cs typeface="Segoe UI"/>
                <a:sym typeface="Segoe UI"/>
              </a:rPr>
              <a:t>__INACTIVE__</a:t>
            </a:r>
          </a:p>
        </p:txBody>
      </p:sp>
      <p:sp>
        <p:nvSpPr>
          <p:cNvPr id="9" name="AutoShape 9"/>
          <p:cNvSpPr/>
          <p:nvPr/>
        </p:nvSpPr>
        <p:spPr>
          <a:xfrm>
            <a:off x="2857500" y="4597400"/>
            <a:ext cx="2222500" cy="1270000"/>
          </a:xfrm>
          <a:prstGeom prst="roundRect">
            <a:avLst>
              <a:gd name="adj" fmla="val 0"/>
            </a:avLst>
          </a:prstGeom>
          <a:solidFill>
            <a:srgbClr val="FFFFFF">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2984500" y="4724400"/>
            <a:ext cx="1968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95959"/>
                </a:solidFill>
                <a:latin typeface="Segoe UI"/>
                <a:ea typeface="Segoe UI"/>
                <a:cs typeface="Segoe UI"/>
                <a:sym typeface="Segoe UI"/>
              </a:rPr>
              <a:t>Logistic Reg L1 Coeff</a:t>
            </a:r>
            <a:endParaRPr lang="en-US" sz="1100"/>
          </a:p>
          <a:p>
            <a:pPr marL="0" indent="0" algn="ctr">
              <a:lnSpc>
                <a:spcPct val="125000"/>
              </a:lnSpc>
            </a:pPr>
            <a:r>
              <a:rPr lang="en-US" sz="2400" b="1" i="0" u="none" strike="noStrike">
                <a:solidFill>
                  <a:srgbClr val="1F2329"/>
                </a:solidFill>
                <a:latin typeface="Segoe UI"/>
                <a:ea typeface="Segoe UI"/>
                <a:cs typeface="Segoe UI"/>
                <a:sym typeface="Segoe UI"/>
              </a:rPr>
              <a:t>± High Weight</a:t>
            </a:r>
          </a:p>
        </p:txBody>
      </p:sp>
      <p:cxnSp>
        <p:nvCxnSpPr>
          <p:cNvPr id="11" name="Connector 11"/>
          <p:cNvCxnSpPr/>
          <p:nvPr/>
        </p:nvCxnSpPr>
        <p:spPr>
          <a:xfrm rot="5391296">
            <a:off x="2889250" y="4013208"/>
            <a:ext cx="50165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2" name="AutoShape 12"/>
          <p:cNvSpPr/>
          <p:nvPr/>
        </p:nvSpPr>
        <p:spPr>
          <a:xfrm>
            <a:off x="5842000" y="1765300"/>
            <a:ext cx="5842000" cy="13081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5969000" y="1765300"/>
            <a:ext cx="5588000" cy="1219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1F2329"/>
                </a:solidFill>
                <a:latin typeface="Arial"/>
                <a:ea typeface="Arial"/>
                <a:cs typeface="Arial"/>
                <a:sym typeface="Arial"/>
              </a:rPr>
              <a:t>🧠 Core Analysis &amp; Insight</a:t>
            </a:r>
            <a:endParaRPr lang="en-US" sz="1100"/>
          </a:p>
          <a:p>
            <a:pPr marL="0" indent="0" algn="l">
              <a:lnSpc>
                <a:spcPct val="116666"/>
              </a:lnSpc>
            </a:pPr>
            <a:r>
              <a:rPr lang="en-US" sz="1400" b="0" i="0" u="none" strike="noStrike">
                <a:solidFill>
                  <a:srgbClr val="595959"/>
                </a:solidFill>
                <a:latin typeface="Segoe UI"/>
                <a:ea typeface="Segoe UI"/>
                <a:cs typeface="Segoe UI"/>
                <a:sym typeface="Segoe UI"/>
              </a:rPr>
              <a:t>Instead of discarding or imputing, we retained structural missing values. The L1 coefficients of the logistic regression model revealed that these sentinel features carry substantial positive/negative weights, indicating strong predictive power.</a:t>
            </a:r>
          </a:p>
        </p:txBody>
      </p:sp>
      <p:sp>
        <p:nvSpPr>
          <p:cNvPr id="14" name="AutoShape 14"/>
          <p:cNvSpPr/>
          <p:nvPr/>
        </p:nvSpPr>
        <p:spPr>
          <a:xfrm>
            <a:off x="5842000" y="33528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969000" y="3479800"/>
            <a:ext cx="5588000" cy="1447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1F2329"/>
                </a:solidFill>
                <a:latin typeface="Arial"/>
                <a:ea typeface="Arial"/>
                <a:cs typeface="Arial"/>
                <a:sym typeface="Arial"/>
              </a:rPr>
              <a:t>📚 Semantic Signal vs. Noise</a:t>
            </a:r>
            <a:endParaRPr lang="en-US" sz="1100"/>
          </a:p>
          <a:p>
            <a:pPr marL="0" indent="0" algn="l">
              <a:lnSpc>
                <a:spcPct val="116666"/>
              </a:lnSpc>
            </a:pPr>
            <a:r>
              <a:rPr lang="en-US" sz="1400" b="0" i="0" u="none" strike="noStrike">
                <a:solidFill>
                  <a:srgbClr val="595959"/>
                </a:solidFill>
                <a:latin typeface="Segoe UI"/>
                <a:ea typeface="Segoe UI"/>
                <a:cs typeface="Segoe UI"/>
                <a:sym typeface="Segoe UI"/>
              </a:rPr>
              <a:t>In branching questionnaires, the absence or inactivity of a question is a direct semantic signal about the subject (e.g., no severe violence = lower risk). Treating these as mere missing data would erase critical context and degrade model accuracy.</a:t>
            </a:r>
          </a:p>
        </p:txBody>
      </p:sp>
      <p:sp>
        <p:nvSpPr>
          <p:cNvPr id="16" name="AutoShape 16"/>
          <p:cNvSpPr/>
          <p:nvPr/>
        </p:nvSpPr>
        <p:spPr>
          <a:xfrm>
            <a:off x="5842000" y="5334000"/>
            <a:ext cx="5842000" cy="901700"/>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5969000" y="5384800"/>
            <a:ext cx="558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329"/>
                </a:solidFill>
                <a:latin typeface="Arial"/>
                <a:ea typeface="Arial"/>
                <a:cs typeface="Arial"/>
                <a:sym typeface="Arial"/>
              </a:rPr>
              <a:t>💡 Strategic Recommendation</a:t>
            </a:r>
            <a:endParaRPr lang="en-US" sz="1100"/>
          </a:p>
          <a:p>
            <a:pPr marL="0" indent="0" algn="l">
              <a:lnSpc>
                <a:spcPct val="108333"/>
              </a:lnSpc>
            </a:pPr>
            <a:r>
              <a:rPr lang="en-US" sz="1400" b="0" i="0" u="none" strike="noStrike">
                <a:solidFill>
                  <a:srgbClr val="595959"/>
                </a:solidFill>
                <a:latin typeface="Segoe UI"/>
                <a:ea typeface="Segoe UI"/>
                <a:cs typeface="Segoe UI"/>
                <a:sym typeface="Segoe UI"/>
              </a:rPr>
              <a:t>Retain sentinel values as categorical features; avoid mean/mode imputation to preserve the semantic information embedded in structural missingness.</a:t>
            </a:r>
          </a:p>
        </p:txBody>
      </p:sp>
      <p:sp>
        <p:nvSpPr>
          <p:cNvPr id="18" name="AutoShape 18"/>
          <p:cNvSpPr/>
          <p:nvPr/>
        </p:nvSpPr>
        <p:spPr>
          <a:xfrm>
            <a:off x="508000" y="5994400"/>
            <a:ext cx="4572000" cy="52070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595959"/>
                </a:solidFill>
                <a:latin typeface="Segoe UI"/>
                <a:ea typeface="Segoe UI"/>
                <a:cs typeface="Segoe UI"/>
                <a:sym typeface="Segoe UI"/>
              </a:rPr>
              <a:t>💡 Note: Discarding these values would remove critical context for accurate risk classification.</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DED">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329"/>
                </a:solidFill>
                <a:latin typeface="Arial"/>
                <a:ea typeface="Arial"/>
                <a:cs typeface="Arial"/>
                <a:sym typeface="Arial"/>
              </a:rPr>
              <a:t>Summary and Safety Recommendations</a:t>
            </a:r>
            <a:endParaRPr lang="en-US" sz="1100"/>
          </a:p>
        </p:txBody>
      </p:sp>
      <p:cxnSp>
        <p:nvCxnSpPr>
          <p:cNvPr id="3" name="Connector 3"/>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4" name="Picture 4"/>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sp>
        <p:nvSpPr>
          <p:cNvPr id="5" name="AutoShape 5"/>
          <p:cNvSpPr/>
          <p:nvPr/>
        </p:nvSpPr>
        <p:spPr>
          <a:xfrm>
            <a:off x="495300" y="1625600"/>
            <a:ext cx="4826000" cy="4064000"/>
          </a:xfrm>
          <a:prstGeom prst="roundRect">
            <a:avLst>
              <a:gd name="adj" fmla="val 0"/>
            </a:avLst>
          </a:prstGeom>
          <a:solidFill>
            <a:srgbClr val="FFFFFF">
              <a:alpha val="100000"/>
            </a:srgbClr>
          </a:solidFill>
          <a:ln w="38100" cap="flat" cmpd="sng">
            <a:solidFill>
              <a:srgbClr val="3B82F6">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84200" y="1752600"/>
            <a:ext cx="46609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a:ea typeface="Noto Sans SC"/>
                <a:cs typeface="Noto Sans SC"/>
                <a:sym typeface="Noto Sans SC"/>
              </a:rPr>
              <a:t>🔍</a:t>
            </a:r>
            <a:r>
              <a:rPr lang="en-US" sz="1800" b="1" i="0" u="none" strike="noStrike">
                <a:solidFill>
                  <a:srgbClr val="3B82F6"/>
                </a:solidFill>
                <a:latin typeface="Arial"/>
                <a:ea typeface="Arial"/>
                <a:cs typeface="Arial"/>
                <a:sym typeface="Arial"/>
              </a:rPr>
              <a:t>Research Summary: Core Findings</a:t>
            </a:r>
            <a:endParaRPr lang="en-US" sz="1100"/>
          </a:p>
        </p:txBody>
      </p:sp>
      <p:cxnSp>
        <p:nvCxnSpPr>
          <p:cNvPr id="7" name="Connector 7"/>
          <p:cNvCxnSpPr/>
          <p:nvPr/>
        </p:nvCxnSpPr>
        <p:spPr>
          <a:xfrm rot="-9878">
            <a:off x="698509" y="2571750"/>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8" name="AutoShape 8"/>
          <p:cNvSpPr/>
          <p:nvPr/>
        </p:nvSpPr>
        <p:spPr>
          <a:xfrm>
            <a:off x="698500" y="2705100"/>
            <a:ext cx="4419600" cy="1054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329"/>
                </a:solidFill>
                <a:latin typeface="Segoe UI"/>
                <a:ea typeface="Segoe UI"/>
                <a:cs typeface="Segoe UI"/>
                <a:sym typeface="Segoe UI"/>
              </a:rPr>
              <a:t>Model Choice &amp; Risk Drivers</a:t>
            </a:r>
            <a:endParaRPr lang="en-US" sz="1100"/>
          </a:p>
          <a:p>
            <a:pPr marL="0" indent="0" algn="l">
              <a:lnSpc>
                <a:spcPct val="108333"/>
              </a:lnSpc>
            </a:pPr>
            <a:r>
              <a:rPr lang="en-US" sz="1400" b="0" i="0" u="none" strike="noStrike">
                <a:solidFill>
                  <a:srgbClr val="595959"/>
                </a:solidFill>
                <a:latin typeface="Segoe UI"/>
                <a:ea typeface="Segoe UI"/>
                <a:cs typeface="Segoe UI"/>
                <a:sym typeface="Segoe UI"/>
              </a:rPr>
              <a:t>L1 logistic regression outperformed others. High-risk ratings are dominated by violence, sexual content, drugs, and gambling, forming distinct feature combinations.</a:t>
            </a:r>
          </a:p>
        </p:txBody>
      </p:sp>
      <p:cxnSp>
        <p:nvCxnSpPr>
          <p:cNvPr id="9" name="Connector 9"/>
          <p:cNvCxnSpPr/>
          <p:nvPr/>
        </p:nvCxnSpPr>
        <p:spPr>
          <a:xfrm rot="-9878">
            <a:off x="698509" y="3829050"/>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0" name="AutoShape 10"/>
          <p:cNvSpPr/>
          <p:nvPr/>
        </p:nvSpPr>
        <p:spPr>
          <a:xfrm>
            <a:off x="698500" y="4013200"/>
            <a:ext cx="44196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329"/>
                </a:solidFill>
                <a:latin typeface="Segoe UI"/>
                <a:ea typeface="Segoe UI"/>
                <a:cs typeface="Segoe UI"/>
                <a:sym typeface="Segoe UI"/>
              </a:rPr>
              <a:t>Redundancy &amp; The Gray Zone Challenge</a:t>
            </a:r>
            <a:endParaRPr lang="en-US" sz="1100"/>
          </a:p>
          <a:p>
            <a:pPr marL="0" indent="0" algn="l">
              <a:lnSpc>
                <a:spcPct val="108333"/>
              </a:lnSpc>
            </a:pPr>
            <a:r>
              <a:rPr lang="en-US" sz="1400" b="0" i="0" u="none" strike="noStrike">
                <a:solidFill>
                  <a:srgbClr val="595959"/>
                </a:solidFill>
                <a:latin typeface="Segoe UI"/>
                <a:ea typeface="Segoe UI"/>
                <a:cs typeface="Segoe UI"/>
                <a:sym typeface="Segoe UI"/>
              </a:rPr>
              <a:t>Questionnaires are highly redundant; key features suffice. The "Teen" and "Mature 17+" boundary is the most prominent gray area, with structural missing values holding predictive value.</a:t>
            </a:r>
          </a:p>
        </p:txBody>
      </p:sp>
      <p:sp>
        <p:nvSpPr>
          <p:cNvPr id="11" name="AutoShape 11"/>
          <p:cNvSpPr/>
          <p:nvPr/>
        </p:nvSpPr>
        <p:spPr>
          <a:xfrm>
            <a:off x="5981700" y="1625600"/>
            <a:ext cx="5638800" cy="18415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981700" y="1625600"/>
            <a:ext cx="76200" cy="1841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35700" y="1752600"/>
            <a:ext cx="5257800" cy="158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329"/>
                </a:solidFill>
                <a:latin typeface="Noto Sans SC"/>
                <a:ea typeface="Noto Sans SC"/>
                <a:cs typeface="Noto Sans SC"/>
                <a:sym typeface="Noto Sans SC"/>
              </a:rPr>
              <a:t>🛡️</a:t>
            </a:r>
            <a:r>
              <a:rPr lang="en-US" sz="1600" b="1" i="0" u="none" strike="noStrike">
                <a:solidFill>
                  <a:srgbClr val="1F2329"/>
                </a:solidFill>
                <a:latin typeface="Segoe UI"/>
                <a:ea typeface="Segoe UI"/>
                <a:cs typeface="Segoe UI"/>
                <a:sym typeface="Segoe UI"/>
              </a:rPr>
              <a:t>Strengthen Validation &amp; Human-in-the-Loop</a:t>
            </a:r>
            <a:endParaRPr lang="en-US" sz="1100"/>
          </a:p>
          <a:p>
            <a:pPr marL="0" indent="0" algn="l">
              <a:lnSpc>
                <a:spcPct val="108333"/>
              </a:lnSpc>
            </a:pPr>
            <a:r>
              <a:rPr lang="en-US" sz="1400" b="0" i="0" u="none" strike="noStrike">
                <a:solidFill>
                  <a:srgbClr val="595959"/>
                </a:solidFill>
                <a:latin typeface="Segoe UI"/>
                <a:ea typeface="Segoe UI"/>
                <a:cs typeface="Segoe UI"/>
                <a:sym typeface="Segoe UI"/>
              </a:rPr>
              <a:t>For high-risk content, enforce strict validation and manual spot checks. Introduce human review specifically for borderline cases between "Teen" and "Mature 17+" to minimize misclassification errors.</a:t>
            </a:r>
          </a:p>
        </p:txBody>
      </p:sp>
      <p:sp>
        <p:nvSpPr>
          <p:cNvPr id="14" name="AutoShape 14"/>
          <p:cNvSpPr/>
          <p:nvPr/>
        </p:nvSpPr>
        <p:spPr>
          <a:xfrm>
            <a:off x="5981700" y="3848100"/>
            <a:ext cx="5638800" cy="18415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981700" y="3848100"/>
            <a:ext cx="76200" cy="1841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172200" y="3975100"/>
            <a:ext cx="5334000" cy="158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329"/>
                </a:solidFill>
                <a:latin typeface="Noto Sans SC"/>
                <a:ea typeface="Noto Sans SC"/>
                <a:cs typeface="Noto Sans SC"/>
                <a:sym typeface="Noto Sans SC"/>
              </a:rPr>
              <a:t>📝</a:t>
            </a:r>
            <a:r>
              <a:rPr lang="en-US" sz="1600" b="1" i="0" u="none" strike="noStrike">
                <a:solidFill>
                  <a:srgbClr val="1F2329"/>
                </a:solidFill>
                <a:latin typeface="Segoe UI"/>
                <a:ea typeface="Segoe UI"/>
                <a:cs typeface="Segoe UI"/>
                <a:sym typeface="Segoe UI"/>
              </a:rPr>
              <a:t>Simplify Questionnaires &amp; Avoid Overgeneralization</a:t>
            </a:r>
            <a:endParaRPr lang="en-US" sz="1100"/>
          </a:p>
          <a:p>
            <a:pPr marL="0" indent="0" algn="l">
              <a:lnSpc>
                <a:spcPct val="108333"/>
              </a:lnSpc>
            </a:pPr>
            <a:r>
              <a:rPr lang="en-US" sz="1400" b="0" i="0" u="none" strike="noStrike">
                <a:solidFill>
                  <a:srgbClr val="595959"/>
                </a:solidFill>
                <a:latin typeface="Segoe UI"/>
                <a:ea typeface="Segoe UI"/>
                <a:cs typeface="Segoe UI"/>
                <a:sym typeface="Segoe UI"/>
              </a:rPr>
              <a:t>Eliminate low-information, redundant questions to reduce user burden. Exercise caution when drawing conclusions from categories with extremely small sample sizes to avoid misleading inferences.</a:t>
            </a: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1184</Words>
  <Application>Microsoft Office PowerPoint</Application>
  <PresentationFormat>宽屏</PresentationFormat>
  <Paragraphs>72</Paragraphs>
  <Slides>6</Slides>
  <Notes>6</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6</vt:i4>
      </vt:variant>
    </vt:vector>
  </HeadingPairs>
  <TitlesOfParts>
    <vt:vector size="12" baseType="lpstr">
      <vt:lpstr>Noto Sans SC</vt:lpstr>
      <vt:lpstr>等线</vt:lpstr>
      <vt:lpstr>Arial</vt:lpstr>
      <vt:lpstr>Segoe UI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子轩 王</cp:lastModifiedBy>
  <cp:revision>6</cp:revision>
  <dcterms:modified xsi:type="dcterms:W3CDTF">2026-06-21T14:24:57Z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{"Label":"1","ContentProducer":"001191110102MACQD9K64010000","ProduceID":"7653826858417687535","ReservedCode1":"","ContentPropagator":"","PropagateID":"","ReservedCode2":""}</vt:lpwstr>
  </property>
</Properties>
</file>
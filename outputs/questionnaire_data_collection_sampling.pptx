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4c4d2219914c6d" /><Relationship Type="http://schemas.openxmlformats.org/officeDocument/2006/relationships/extended-properties" Target="/docProps/app.xml" Id="R937a7b9905e442da" /><Relationship Type="http://schemas.openxmlformats.org/officeDocument/2006/relationships/officeDocument" Target="/ppt/presentation.xml" Id="R43aa24eb524b4d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da1e2a02d444b4"/>
  </p:sldMasterIdLst>
  <p:notesMasterIdLst>
    <p:notesMasterId xmlns:r="http://schemas.openxmlformats.org/officeDocument/2006/relationships" r:id="R6d02a84393ea45c7"/>
  </p:notesMasterIdLst>
  <p:sldIdLst>
    <p:sldId xmlns:r="http://schemas.openxmlformats.org/officeDocument/2006/relationships" id="256" r:id="Rf5c65b3c3a084a5a"/>
    <p:sldId xmlns:r="http://schemas.openxmlformats.org/officeDocument/2006/relationships" id="257" r:id="R5b1b0fbaaf52471a"/>
    <p:sldId xmlns:r="http://schemas.openxmlformats.org/officeDocument/2006/relationships" id="258" r:id="R5245a46e8a4a469a"/>
    <p:sldId xmlns:r="http://schemas.openxmlformats.org/officeDocument/2006/relationships" id="259" r:id="R3f01675cfae24f23"/>
    <p:sldId xmlns:r="http://schemas.openxmlformats.org/officeDocument/2006/relationships" id="260" r:id="Rcd1e2ca72cce4cf8"/>
    <p:sldId xmlns:r="http://schemas.openxmlformats.org/officeDocument/2006/relationships" id="261" r:id="Re4bfb5d1dc634df5"/>
    <p:sldId xmlns:r="http://schemas.openxmlformats.org/officeDocument/2006/relationships" id="262" r:id="Rce8d7c20c4a843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91de91115e4e1c" /><Relationship Type="http://schemas.openxmlformats.org/officeDocument/2006/relationships/slideMaster" Target="/ppt/slideMasters/slideMaster1.xml" Id="Rdbda1e2a02d444b4" /><Relationship Type="http://schemas.openxmlformats.org/officeDocument/2006/relationships/notesMaster" Target="/ppt/notesMasters/notesMaster1.xml" Id="R6d02a84393ea45c7" /><Relationship Type="http://schemas.openxmlformats.org/officeDocument/2006/relationships/presProps" Target="/ppt/presProps.xml" Id="Rbb0b7ffe153c4b2c" /><Relationship Type="http://schemas.openxmlformats.org/officeDocument/2006/relationships/tableStyles" Target="/ppt/tableStyles.xml" Id="R26c21375d1c24753" /><Relationship Type="http://schemas.openxmlformats.org/officeDocument/2006/relationships/slide" Target="/ppt/slides/slide1.xml" Id="Rf5c65b3c3a084a5a" /><Relationship Type="http://schemas.openxmlformats.org/officeDocument/2006/relationships/slide" Target="/ppt/slides/slide2.xml" Id="R5b1b0fbaaf52471a" /><Relationship Type="http://schemas.openxmlformats.org/officeDocument/2006/relationships/slide" Target="/ppt/slides/slide3.xml" Id="R5245a46e8a4a469a" /><Relationship Type="http://schemas.openxmlformats.org/officeDocument/2006/relationships/slide" Target="/ppt/slides/slide4.xml" Id="R3f01675cfae24f23" /><Relationship Type="http://schemas.openxmlformats.org/officeDocument/2006/relationships/slide" Target="/ppt/slides/slide5.xml" Id="Rcd1e2ca72cce4cf8" /><Relationship Type="http://schemas.openxmlformats.org/officeDocument/2006/relationships/slide" Target="/ppt/slides/slide6.xml" Id="Re4bfb5d1dc634df5" /><Relationship Type="http://schemas.openxmlformats.org/officeDocument/2006/relationships/slide" Target="/ppt/slides/slide7.xml" Id="Rce8d7c20c4a843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5e8a626d6b4b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d4b5003dfd4e10" /><Relationship Type="http://schemas.openxmlformats.org/officeDocument/2006/relationships/notesMaster" Target="/ppt/notesMasters/notesMaster1.xml" Id="R8499660b808d4d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1f80c991764b21" /><Relationship Type="http://schemas.openxmlformats.org/officeDocument/2006/relationships/notesMaster" Target="/ppt/notesMasters/notesMaster1.xml" Id="Rca8a40a0592947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c0db56bcd84f34" /><Relationship Type="http://schemas.openxmlformats.org/officeDocument/2006/relationships/notesMaster" Target="/ppt/notesMasters/notesMaster1.xml" Id="R16ea8de8efb24d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ab9b7b9cdb463c" /><Relationship Type="http://schemas.openxmlformats.org/officeDocument/2006/relationships/notesMaster" Target="/ppt/notesMasters/notesMaster1.xml" Id="R68c6fca3485241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2b5b1adaf64588" /><Relationship Type="http://schemas.openxmlformats.org/officeDocument/2006/relationships/notesMaster" Target="/ppt/notesMasters/notesMaster1.xml" Id="R2a9b4362891d41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85469ec3384f15" /><Relationship Type="http://schemas.openxmlformats.org/officeDocument/2006/relationships/notesMaster" Target="/ppt/notesMasters/notesMaster1.xml" Id="R6cfca984f96341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947b832c964a43" /><Relationship Type="http://schemas.openxmlformats.org/officeDocument/2006/relationships/notesMaster" Target="/ppt/notesMasters/notesMaster1.xml" Id="Rf4d0ea16c6894e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86f875cef49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7f057d7dda47d6" /><Relationship Type="http://schemas.openxmlformats.org/officeDocument/2006/relationships/slideLayout" Target="/ppt/slideLayouts/slideLayout1.xml" Id="Rd65cfd4bb02049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5cfd4bb02049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4845d329e4c86" /><Relationship Type="http://schemas.openxmlformats.org/officeDocument/2006/relationships/image" Target="/ppt/media/image.png" Id="Rda243a61453b4037" /><Relationship Type="http://schemas.openxmlformats.org/officeDocument/2006/relationships/image" Target="/ppt/media/image2.png" Id="Rc33998e27be144b3" /><Relationship Type="http://schemas.openxmlformats.org/officeDocument/2006/relationships/notesSlide" Target="/ppt/notesSlides/notesSlide1.xml" Id="Re3cb42048b1944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a1743f4be439b" /><Relationship Type="http://schemas.openxmlformats.org/officeDocument/2006/relationships/image" Target="/ppt/media/image3.png" Id="R02ad68dad248423f" /><Relationship Type="http://schemas.openxmlformats.org/officeDocument/2006/relationships/notesSlide" Target="/ppt/notesSlides/notesSlide2.xml" Id="Ra37fa4b126e84c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2c1e2e576400f" /><Relationship Type="http://schemas.openxmlformats.org/officeDocument/2006/relationships/image" Target="/ppt/media/image4.png" Id="R1418bea8b79b4ab6" /><Relationship Type="http://schemas.openxmlformats.org/officeDocument/2006/relationships/image" Target="/ppt/media/image5.png" Id="R10f2ab25f3f84b70" /><Relationship Type="http://schemas.openxmlformats.org/officeDocument/2006/relationships/notesSlide" Target="/ppt/notesSlides/notesSlide3.xml" Id="R3664dc383a7248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f5824836a46ff" /><Relationship Type="http://schemas.openxmlformats.org/officeDocument/2006/relationships/image" Target="/ppt/media/image6.png" Id="Ra4e09f98329e4bed" /><Relationship Type="http://schemas.openxmlformats.org/officeDocument/2006/relationships/image" Target="/ppt/media/image7.png" Id="R0c4a7a7ba4474ec0" /><Relationship Type="http://schemas.openxmlformats.org/officeDocument/2006/relationships/notesSlide" Target="/ppt/notesSlides/notesSlide4.xml" Id="R5ab1882717a941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8c8b1e72b42bf" /><Relationship Type="http://schemas.openxmlformats.org/officeDocument/2006/relationships/image" Target="/ppt/media/image8.png" Id="Rcbb90bc6ceaf4a23" /><Relationship Type="http://schemas.openxmlformats.org/officeDocument/2006/relationships/image" Target="/ppt/media/image9.png" Id="R666f9af92b534c8a" /><Relationship Type="http://schemas.openxmlformats.org/officeDocument/2006/relationships/notesSlide" Target="/ppt/notesSlides/notesSlide5.xml" Id="R43986c0f602f42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0262280064a2f" /><Relationship Type="http://schemas.openxmlformats.org/officeDocument/2006/relationships/image" Target="/ppt/media/image10.png" Id="R224aa4a0de8f4164" /><Relationship Type="http://schemas.openxmlformats.org/officeDocument/2006/relationships/notesSlide" Target="/ppt/notesSlides/notesSlide6.xml" Id="R36d2d61291f341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108bd0f774011" /><Relationship Type="http://schemas.openxmlformats.org/officeDocument/2006/relationships/image" Target="/ppt/media/image11.png" Id="R5c202f7c75e6461d" /><Relationship Type="http://schemas.openxmlformats.org/officeDocument/2006/relationships/notesSlide" Target="/ppt/notesSlides/notesSlide7.xml" Id="R20ec42ec135741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EE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43a61453b4037"/>
          <a:stretch xmlns:a="http://schemas.openxmlformats.org/drawingml/2006/main"/>
        </p:blipFill>
        <p:spPr>
          <a:xfrm xmlns:a="http://schemas.openxmlformats.org/drawingml/2006/main">
            <a:off x="9365190" y="323850"/>
            <a:ext cx="2119845" cy="819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28ACF-EC23-4A9F-820C-BD736595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429750" cy="2190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315C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6CDB8-F101-4502-8574-8C976EE1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3524250" cy="1428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7477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998e27be144b3"/>
          <a:stretch xmlns:a="http://schemas.openxmlformats.org/drawingml/2006/main"/>
        </p:blipFill>
        <p:spPr>
          <a:xfrm xmlns:a="http://schemas.openxmlformats.org/drawingml/2006/main">
            <a:off x="285750" y="2140702"/>
            <a:ext cx="2238375" cy="208129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133A6-9E36-425E-A935-3BDD7CC7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Questionnaire Data Collection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7BE79-FF92-42FB-885E-7381244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Question Structure Recovery and Sample Collection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5B203-A7F2-4F21-AEEA-63040E94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576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IARC Rating Questionnaire</a:t>
            </a:r>
          </a:p>
        </p:txBody>
      </p:sp>
    </p:spTree>
    <p:extLst>
      <p:ext uri="{BB962C8B-B14F-4D97-AF65-F5344CB8AC3E}">
        <p14:creationId xmlns:p14="http://schemas.microsoft.com/office/powerpoint/2010/main" val="14131173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EE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d68dad248423f"/>
          <a:stretch xmlns:a="http://schemas.openxmlformats.org/drawingml/2006/main"/>
        </p:blipFill>
        <p:spPr>
          <a:xfrm xmlns:a="http://schemas.openxmlformats.org/drawingml/2006/main">
            <a:off x="9365190" y="323850"/>
            <a:ext cx="2119845" cy="819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E796C-FE9E-48F6-BCDF-A9E3C4DF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</a:defRPr>
            </a:pPr>
            <a:r>
              <a:rPr sz="2250" b="1">
                <a:solidFill>
                  <a:srgbClr val="20242A"/>
                </a:solidFill>
              </a:rPr>
              <a:t>Part 1: Recovering the Questionnaire Graph with DFS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F8F52-BC99-4BD5-82D4-2C17D16C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8382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6F0F0-F9F6-4D5F-B06A-549F984F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4953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66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B2668-8E0E-46BD-8F45-DF80A917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6E8"/>
                </a:solidFill>
              </a:defRPr>
            </a:pPr>
            <a:r>
              <a:rPr sz="1800" b="1">
                <a:solidFill>
                  <a:srgbClr val="2F66E8"/>
                </a:solidFill>
              </a:rPr>
              <a:t>Core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F8337-47BF-487E-910F-F1E0C352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4196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42A"/>
                </a:solidFill>
              </a:defRPr>
            </a:pPr>
            <a:r>
              <a:rPr sz="1350" b="1">
                <a:solidFill>
                  <a:srgbClr val="20242A"/>
                </a:solidFill>
              </a:rPr>
              <a:t>• Start traversal from multiple root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20242A"/>
                </a:solidFill>
              </a:defRPr>
            </a:pPr>
            <a:r>
              <a:rPr sz="1350" b="1">
                <a:solidFill>
                  <a:srgbClr val="20242A"/>
                </a:solidFill>
              </a:rPr>
              <a:t>• Click each option and record newly revealed child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20242A"/>
                </a:solidFill>
              </a:defRPr>
            </a:pPr>
            <a:r>
              <a:rPr sz="1350" b="1">
                <a:solidFill>
                  <a:srgbClr val="20242A"/>
                </a:solidFill>
              </a:rPr>
              <a:t>• Apply the same recursive process to each child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20242A"/>
                </a:solidFill>
              </a:defRPr>
            </a:pPr>
            <a:r>
              <a:rPr sz="1350" b="1">
                <a:solidFill>
                  <a:srgbClr val="20242A"/>
                </a:solidFill>
              </a:rPr>
              <a:t>• Backtrack after each branch and continue exploring other options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1">
                <a:solidFill>
                  <a:srgbClr val="20242A"/>
                </a:solidFill>
              </a:defRPr>
            </a:pPr>
            <a:r>
              <a:rPr sz="1350" b="1">
                <a:solidFill>
                  <a:srgbClr val="20242A"/>
                </a:solidFill>
              </a:rPr>
              <a:t>• Recover a question-option-child graph instead of a flat question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23066-6BD2-4484-80F6-BBE5FEF5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5810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A9A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E43FB-DB5D-435B-B1B3-C8C6A66E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5716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5240">
            <a:solidFill>
              <a:srgbClr val="2F6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A"/>
                </a:solidFill>
              </a:defRPr>
            </a:pPr>
            <a:r>
              <a:rPr sz="1275" b="1">
                <a:solidFill>
                  <a:srgbClr val="20242A"/>
                </a:solidFill>
              </a:rPr>
              <a:t>Root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3F81F-CEBB-4BF3-A12B-A5BD1013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FF1"/>
          </a:solidFill>
          <a:ln xmlns:a="http://schemas.openxmlformats.org/drawingml/2006/main" w="15240">
            <a:solidFill>
              <a:srgbClr val="18A0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A"/>
                </a:solidFill>
              </a:defRPr>
            </a:pPr>
            <a:r>
              <a:rPr sz="1275" b="1">
                <a:solidFill>
                  <a:srgbClr val="20242A"/>
                </a:solidFill>
              </a:rPr>
              <a:t>Option: Yes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4473B-CC90-486D-BB35-C4AD3815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524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A"/>
                </a:solidFill>
              </a:defRPr>
            </a:pPr>
            <a:r>
              <a:rPr sz="1275" b="1">
                <a:solidFill>
                  <a:srgbClr val="20242A"/>
                </a:solidFill>
              </a:rPr>
              <a:t>Option: 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C130B-1B61-4C61-9FBB-7D010A0F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9FF"/>
          </a:solidFill>
          <a:ln xmlns:a="http://schemas.openxmlformats.org/drawingml/2006/main" w="15240">
            <a:solidFill>
              <a:srgbClr val="7B3F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A"/>
                </a:solidFill>
              </a:defRPr>
            </a:pPr>
            <a:r>
              <a:rPr sz="1275" b="1">
                <a:solidFill>
                  <a:srgbClr val="20242A"/>
                </a:solidFill>
              </a:rPr>
              <a:t>Child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E4DE0-8659-4716-B995-2A106C7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910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5240">
            <a:solidFill>
              <a:srgbClr val="F5A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A"/>
                </a:solidFill>
              </a:defRPr>
            </a:pPr>
            <a:r>
              <a:rPr sz="1275" b="1">
                <a:solidFill>
                  <a:srgbClr val="20242A"/>
                </a:solidFill>
              </a:rPr>
              <a:t>Terminate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621E2-5D70-49D5-9D02-AC55D3D0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47950"/>
            <a:ext cx="0" cy="514350"/>
          </a:xfrm>
          <a:prstGeom xmlns:a="http://schemas.openxmlformats.org/drawingml/2006/main" prst="line">
            <a:avLst/>
          </a:prstGeom>
          <a:ln xmlns:a="http://schemas.openxmlformats.org/drawingml/2006/main" w="20003">
            <a:solidFill>
              <a:srgbClr val="465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40E74-12DD-453A-B2E7-C1FF1F3F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1428750" cy="733425"/>
          </a:xfrm>
          <a:prstGeom xmlns:a="http://schemas.openxmlformats.org/drawingml/2006/main" prst="line">
            <a:avLst/>
          </a:prstGeom>
          <a:ln xmlns:a="http://schemas.openxmlformats.org/drawingml/2006/main" w="20003">
            <a:solidFill>
              <a:srgbClr val="465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26CC1-2A11-47D5-9A01-58653383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00450"/>
            <a:ext cx="0" cy="590550"/>
          </a:xfrm>
          <a:prstGeom xmlns:a="http://schemas.openxmlformats.org/drawingml/2006/main" prst="line">
            <a:avLst/>
          </a:prstGeom>
          <a:ln xmlns:a="http://schemas.openxmlformats.org/drawingml/2006/main" w="20003">
            <a:solidFill>
              <a:srgbClr val="18A0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1B9D9-F2ED-4A47-A6AC-3AF66203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00450"/>
            <a:ext cx="0" cy="590550"/>
          </a:xfrm>
          <a:prstGeom xmlns:a="http://schemas.openxmlformats.org/drawingml/2006/main" prst="line">
            <a:avLst/>
          </a:prstGeom>
          <a:ln xmlns:a="http://schemas.openxmlformats.org/drawingml/2006/main" w="20003">
            <a:solidFill>
              <a:srgbClr val="88888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3D646-1B78-4417-8CE1-256256FB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625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098"/>
                </a:solidFill>
              </a:defRPr>
            </a:pPr>
            <a:r>
              <a:rPr sz="1800" b="1">
                <a:solidFill>
                  <a:srgbClr val="004098"/>
                </a:solidFill>
              </a:rPr>
              <a:t>DFS + Backtracking</a:t>
            </a:r>
          </a:p>
        </p:txBody>
      </p:sp>
    </p:spTree>
    <p:extLst>
      <p:ext uri="{BB962C8B-B14F-4D97-AF65-F5344CB8AC3E}">
        <p14:creationId xmlns:p14="http://schemas.microsoft.com/office/powerpoint/2010/main" val="675526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EE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8bea8b79b4ab6"/>
          <a:stretch xmlns:a="http://schemas.openxmlformats.org/drawingml/2006/main"/>
        </p:blipFill>
        <p:spPr>
          <a:xfrm xmlns:a="http://schemas.openxmlformats.org/drawingml/2006/main">
            <a:off x="9365190" y="323850"/>
            <a:ext cx="2119845" cy="819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A4824-971C-46A5-8E0C-36C9C881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</a:defRPr>
            </a:pPr>
            <a:r>
              <a:rPr sz="2250" b="1">
                <a:solidFill>
                  <a:srgbClr val="20242A"/>
                </a:solidFill>
              </a:rPr>
              <a:t>Recovered Structure: Complete Game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4FEF6-EC1C-4C77-B065-E9DC4CC5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8382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C2591-7CCD-472F-AFE5-8046303D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5959"/>
                </a:solidFill>
              </a:defRPr>
            </a:pPr>
            <a:r>
              <a:rPr sz="1575" b="1">
                <a:solidFill>
                  <a:srgbClr val="595959"/>
                </a:solidFill>
              </a:rPr>
              <a:t>The full tree shows every recovered question node and option-triggered edge; node labels are shortened to fit one slide.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D130E-74A0-480C-85DA-07262241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66E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2ab25f3f84b70"/>
          <a:stretch xmlns:a="http://schemas.openxmlformats.org/drawingml/2006/main"/>
        </p:blipFill>
        <p:spPr>
          <a:xfrm xmlns:a="http://schemas.openxmlformats.org/drawingml/2006/main">
            <a:off x="1376516" y="1876425"/>
            <a:ext cx="9438968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387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EE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09f98329e4bed"/>
          <a:stretch xmlns:a="http://schemas.openxmlformats.org/drawingml/2006/main"/>
        </p:blipFill>
        <p:spPr>
          <a:xfrm xmlns:a="http://schemas.openxmlformats.org/drawingml/2006/main">
            <a:off x="9365190" y="323850"/>
            <a:ext cx="2119845" cy="819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DCB10-24E2-46EA-8603-6303DF41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</a:defRPr>
            </a:pPr>
            <a:r>
              <a:rPr sz="2250" b="1">
                <a:solidFill>
                  <a:srgbClr val="20242A"/>
                </a:solidFill>
              </a:rPr>
              <a:t>Recovered Structure: Complete All Other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DD4AC-58E4-49C5-942E-17F05C61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8382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5CB8C-8BA0-4923-826E-81A70566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5959"/>
                </a:solidFill>
              </a:defRPr>
            </a:pPr>
            <a:r>
              <a:rPr sz="1575" b="1">
                <a:solidFill>
                  <a:srgbClr val="595959"/>
                </a:solidFill>
              </a:rPr>
              <a:t>The full tree shows every recovered question node and option-triggered edge; node labels are shortened to fit one slide.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42069-8EE8-4F87-9F0F-56E14D63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2014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B3FE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a7a7ba4474ec0"/>
          <a:stretch xmlns:a="http://schemas.openxmlformats.org/drawingml/2006/main"/>
        </p:blipFill>
        <p:spPr>
          <a:xfrm xmlns:a="http://schemas.openxmlformats.org/drawingml/2006/main">
            <a:off x="1376516" y="1876425"/>
            <a:ext cx="9438968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0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EE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90bc6ceaf4a23"/>
          <a:stretch xmlns:a="http://schemas.openxmlformats.org/drawingml/2006/main"/>
        </p:blipFill>
        <p:spPr>
          <a:xfrm xmlns:a="http://schemas.openxmlformats.org/drawingml/2006/main">
            <a:off x="9365190" y="323850"/>
            <a:ext cx="2119845" cy="819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AD983-83D3-4E82-890A-24DBB28A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</a:defRPr>
            </a:pPr>
            <a:r>
              <a:rPr sz="2250" b="1">
                <a:solidFill>
                  <a:srgbClr val="20242A"/>
                </a:solidFill>
              </a:rPr>
              <a:t>Expansion Example: Depth-4 Question and Children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17884-E895-494E-B8C1-88808F20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8382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5B48F-DE12-4843-AC8C-25F74560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5959"/>
                </a:solidFill>
              </a:defRPr>
            </a:pPr>
            <a:r>
              <a:rPr sz="1575" b="1">
                <a:solidFill>
                  <a:srgbClr val="595959"/>
                </a:solidFill>
              </a:rPr>
              <a:t>A complete All Other gambling subtree: all recovered option-triggered questions are shown through depth 4.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f9af92b534c8a"/>
          <a:stretch xmlns:a="http://schemas.openxmlformats.org/drawingml/2006/main"/>
        </p:blipFill>
        <p:spPr>
          <a:xfrm xmlns:a="http://schemas.openxmlformats.org/drawingml/2006/main">
            <a:off x="803413" y="1885950"/>
            <a:ext cx="10585174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94770-2C2E-4B2E-B969-C1BF44F7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2388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42A"/>
                </a:solidFill>
              </a:defRPr>
            </a:pPr>
            <a:r>
              <a:rPr sz="1350" b="1">
                <a:solidFill>
                  <a:srgbClr val="20242A"/>
                </a:solidFill>
              </a:rPr>
              <a:t>The screenshot is generated from HTML and follows the same compact tree style as the full-structure slides.</a:t>
            </a:r>
          </a:p>
        </p:txBody>
      </p:sp>
    </p:spTree>
    <p:extLst>
      <p:ext uri="{BB962C8B-B14F-4D97-AF65-F5344CB8AC3E}">
        <p14:creationId xmlns:p14="http://schemas.microsoft.com/office/powerpoint/2010/main" val="508311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EE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aa4a0de8f4164"/>
          <a:stretch xmlns:a="http://schemas.openxmlformats.org/drawingml/2006/main"/>
        </p:blipFill>
        <p:spPr>
          <a:xfrm xmlns:a="http://schemas.openxmlformats.org/drawingml/2006/main">
            <a:off x="9365190" y="323850"/>
            <a:ext cx="2119845" cy="819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5D387-AC69-425F-A6D6-D94DE545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</a:defRPr>
            </a:pPr>
            <a:r>
              <a:rPr sz="2250" b="1">
                <a:solidFill>
                  <a:srgbClr val="20242A"/>
                </a:solidFill>
              </a:rPr>
              <a:t>Part 2: Questionnaire Sample Collection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15409-20F3-4D21-A2F9-D9AF23BE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8382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8DE81-D400-4839-A8EA-4FCB3842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5959"/>
                </a:solidFill>
              </a:defRPr>
            </a:pPr>
            <a:r>
              <a:rPr sz="1500" b="1">
                <a:solidFill>
                  <a:srgbClr val="595959"/>
                </a:solidFill>
              </a:rPr>
              <a:t>The Social tree has only 12 questions and 24 options, with limited rating signal, so it is excluded from the main sampling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7E0C0-3D6A-493B-865A-1D0CD92E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19050">
            <a:solidFill>
              <a:srgbClr val="D6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1B93A-DFD6-477E-AE56-1298D16D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CF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0B004-519D-468D-B10A-1F30DA6C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6E8"/>
                </a:solidFill>
              </a:defRPr>
            </a:pPr>
            <a:r>
              <a:rPr sz="1800" b="1">
                <a:solidFill>
                  <a:srgbClr val="2F66E8"/>
                </a:solidFill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3BC2C-7BF4-4B09-9071-16ACF497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A"/>
                </a:solidFill>
              </a:defRPr>
            </a:pPr>
            <a:r>
              <a:rPr sz="1275" b="1">
                <a:solidFill>
                  <a:srgbClr val="20242A"/>
                </a:solidFill>
              </a:rPr>
              <a:t>Choose the lowest-risk answers to establish the minimum-rating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92BEE-1727-47F3-B8D5-E764E0D0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57450"/>
            <a:ext cx="1219200" cy="0"/>
          </a:xfrm>
          <a:prstGeom xmlns:a="http://schemas.openxmlformats.org/drawingml/2006/main" prst="line">
            <a:avLst/>
          </a:prstGeom>
          <a:ln xmlns:a="http://schemas.openxmlformats.org/drawingml/2006/main" w="20003">
            <a:solidFill>
              <a:srgbClr val="4656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BDDE2-8B5D-4FE3-8495-0657A70E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4D"/>
          </a:solidFill>
          <a:ln xmlns:a="http://schemas.openxmlformats.org/drawingml/2006/main" w="19050">
            <a:solidFill>
              <a:srgbClr val="D6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F6411-151F-4A3B-82E5-0BC94C7F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037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CF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67F15-C510-4D83-8FB0-C9229A9F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A04D"/>
                </a:solidFill>
              </a:defRPr>
            </a:pPr>
            <a:r>
              <a:rPr sz="1800" b="1">
                <a:solidFill>
                  <a:srgbClr val="18A04D"/>
                </a:solidFill>
              </a:rPr>
              <a:t>Structural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6E0F1-A7C9-4186-A0C1-9F35CC40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6237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A"/>
                </a:solidFill>
              </a:defRPr>
            </a:pPr>
            <a:r>
              <a:rPr sz="1275" b="1">
                <a:solidFill>
                  <a:srgbClr val="20242A"/>
                </a:solidFill>
              </a:rPr>
              <a:t>Prioritize options that reveal child questions and increase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2165E-A3F7-4D32-9AB8-D2601DCF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57450"/>
            <a:ext cx="1219200" cy="0"/>
          </a:xfrm>
          <a:prstGeom xmlns:a="http://schemas.openxmlformats.org/drawingml/2006/main" prst="line">
            <a:avLst/>
          </a:prstGeom>
          <a:ln xmlns:a="http://schemas.openxmlformats.org/drawingml/2006/main" w="20003">
            <a:solidFill>
              <a:srgbClr val="465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6133E-4ECE-4385-98E4-E2B32F0B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3FE4"/>
          </a:solidFill>
          <a:ln xmlns:a="http://schemas.openxmlformats.org/drawingml/2006/main" w="19050">
            <a:solidFill>
              <a:srgbClr val="D6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A7260-03F4-476E-B615-3B7D8663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037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C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A52F8-6161-41AA-BF39-9449CBFE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3FE4"/>
                </a:solidFill>
              </a:defRPr>
            </a:pPr>
            <a:r>
              <a:rPr sz="1800" b="1">
                <a:solidFill>
                  <a:srgbClr val="7B3FE4"/>
                </a:solidFill>
              </a:rPr>
              <a:t>Risk paths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FFC3A-E705-4569-AF31-2E2A8022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6237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A"/>
                </a:solidFill>
              </a:defRPr>
            </a:pPr>
            <a:r>
              <a:rPr sz="1275" b="1">
                <a:solidFill>
                  <a:srgbClr val="20242A"/>
                </a:solidFill>
              </a:rPr>
              <a:t>Combine risk type and severity choices to cover different rating outcomes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CF493-0AA7-4F99-BC74-6723C70B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219200" cy="0"/>
          </a:xfrm>
          <a:prstGeom xmlns:a="http://schemas.openxmlformats.org/drawingml/2006/main" prst="line">
            <a:avLst/>
          </a:prstGeom>
          <a:ln xmlns:a="http://schemas.openxmlformats.org/drawingml/2006/main" w="20003">
            <a:solidFill>
              <a:srgbClr val="4656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6C24D-5DB1-453D-A37B-64F1BE68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400"/>
          </a:solidFill>
          <a:ln xmlns:a="http://schemas.openxmlformats.org/drawingml/2006/main" w="19050">
            <a:solidFill>
              <a:srgbClr val="D6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D3FD3-61E5-45E3-920B-326B6875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0037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CF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0838A-5A00-4037-9E41-9901C25E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A400"/>
                </a:solidFill>
              </a:defRPr>
            </a:pPr>
            <a:r>
              <a:rPr sz="1800" b="1">
                <a:solidFill>
                  <a:srgbClr val="F5A400"/>
                </a:solidFill>
              </a:rPr>
              <a:t>Gap filling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63F2E-14B4-48A4-A95B-902B5AD7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6237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A"/>
                </a:solidFill>
              </a:defRPr>
            </a:pPr>
            <a:r>
              <a:rPr sz="1275" b="1">
                <a:solidFill>
                  <a:srgbClr val="20242A"/>
                </a:solidFill>
              </a:rPr>
              <a:t>Identify low-frequency options and add targeted supplemental samples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DE057-09B7-4D43-A51B-0ECFE75C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42A"/>
                </a:solidFill>
              </a:defRPr>
            </a:pPr>
            <a:r>
              <a:rPr sz="1650" b="1">
                <a:solidFill>
                  <a:srgbClr val="20242A"/>
                </a:solidFill>
              </a:rPr>
              <a:t>Goal: build a coverage-oriented dataset for learning rating logic, rather than simulating a natural answer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0545246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EE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02f7c75e6461d"/>
          <a:stretch xmlns:a="http://schemas.openxmlformats.org/drawingml/2006/main"/>
        </p:blipFill>
        <p:spPr>
          <a:xfrm xmlns:a="http://schemas.openxmlformats.org/drawingml/2006/main">
            <a:off x="9365190" y="323850"/>
            <a:ext cx="2119845" cy="819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4FBC6-AB55-4EC8-BFC3-9041FFA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</a:defRPr>
            </a:pPr>
            <a:r>
              <a:rPr sz="2250" b="1">
                <a:solidFill>
                  <a:srgbClr val="20242A"/>
                </a:solidFill>
              </a:rPr>
              <a:t>Part 3: Final Data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EE7AF-A0F5-4F7A-A67C-BC1D7497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83820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32041-B7A6-4A11-B54F-DB1A39C4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6673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A9A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0582A-5FA8-48B3-8A2B-2755E872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42A"/>
                </a:solidFill>
              </a:defRPr>
            </a:pPr>
            <a:r>
              <a:rPr sz="1875" b="1">
                <a:solidFill>
                  <a:srgbClr val="20242A"/>
                </a:solidFill>
              </a:rPr>
              <a:t>ESRB Label Distribution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7F2C7-E142-4B16-B2A9-C5B0C18B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Mature 17+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F0399-2F7C-43EE-9495-D9CD17D5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574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085F6-3FF1-44E0-98EA-BEBF4C6B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574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DACF9-8384-4EBF-9CE2-6353E40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193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365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88D8F-515F-44E5-9B71-38CA3ADC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Teen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5DA2B-8981-44B4-957C-BCC4BFAE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FF5E2-432B-4C3B-B009-B25F5A1F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2830882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CE74D-81A1-4797-A79C-7DC0111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14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339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39B13-0143-44CF-BAAD-75B44DC6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99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Adults only 18+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0B770-99C0-43CC-B249-AE70A46B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480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B6D08-22F0-4B50-B59F-47B98DC5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48050"/>
            <a:ext cx="201251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33623-6524-43D0-872B-09E83BE7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099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241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BF053-DEDC-49AD-B1B3-DB9AFE69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Everyone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5BB36-3B37-4861-8E17-BF9571BE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C695A-8619-435F-9981-8C7727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1519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F69D7-6361-4C06-9DAE-F33863B3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05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182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3C2D7-9B7D-442A-8228-8CC0E0E7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005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Everyone 10+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C9971-3EAE-4BCB-AE4E-42FD59C9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57DF9-132B-477E-98C8-DE949000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115239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16213-46A5-4A0C-B08D-DF2F0008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005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42A"/>
                </a:solidFill>
              </a:defRPr>
            </a:pPr>
            <a:r>
              <a:rPr sz="1200" b="1">
                <a:solidFill>
                  <a:srgbClr val="20242A"/>
                </a:solidFill>
              </a:rPr>
              <a:t>138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40408-B640-4029-9649-516F6EA4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7253C5-1CCC-4938-82C3-6B240611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42A"/>
                </a:solidFill>
              </a:defRPr>
            </a:pPr>
            <a:r>
              <a:rPr sz="1875" b="1">
                <a:solidFill>
                  <a:srgbClr val="20242A"/>
                </a:solidFill>
              </a:rPr>
              <a:t>Main dataset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2C13FD-1E5C-40CD-98F5-1C189B37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6E8"/>
                </a:solidFill>
              </a:defRPr>
            </a:pPr>
            <a:r>
              <a:rPr sz="1650" b="1">
                <a:solidFill>
                  <a:srgbClr val="2F66E8"/>
                </a:solidFill>
              </a:rPr>
              <a:t>Game + All Other Types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723980-FF38-4E4F-8E08-835A5390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6AD5A8-2479-4E7B-980D-19533A99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42A"/>
                </a:solidFill>
              </a:defRPr>
            </a:pPr>
            <a:r>
              <a:rPr sz="1800" b="1">
                <a:solidFill>
                  <a:srgbClr val="20242A"/>
                </a:solidFill>
              </a:rPr>
              <a:t>Takeaway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34E608-9C42-49B5-A649-1A019D97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577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5959"/>
                </a:solidFill>
              </a:defRPr>
            </a:pPr>
            <a:r>
              <a:rPr sz="1500" b="1">
                <a:solidFill>
                  <a:srgbClr val="595959"/>
                </a:solidFill>
              </a:rPr>
              <a:t>The samples cover the major rating labels from Everyone to Adults Only 18+, supporting downstream multi-class modeling.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B99F07-86BE-48AD-81E4-2122E54A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42A"/>
                </a:solidFill>
              </a:defRPr>
            </a:pPr>
            <a:r>
              <a:rPr sz="1500" b="1">
                <a:solidFill>
                  <a:srgbClr val="20242A"/>
                </a:solidFill>
              </a:rPr>
              <a:t>The Social tree has limited signal and is excluded from the main model training set.</a:t>
            </a:r>
          </a:p>
        </p:txBody>
      </p:sp>
    </p:spTree>
    <p:extLst>
      <p:ext uri="{BB962C8B-B14F-4D97-AF65-F5344CB8AC3E}">
        <p14:creationId xmlns:p14="http://schemas.microsoft.com/office/powerpoint/2010/main" val="680950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2026-06-22T07:46:59.4550000Z</dcterms:created>
  <dcterms:modified xsi:type="dcterms:W3CDTF">2026-06-22T07:46:59.4550000Z</dcterms:modified>
</coreProperties>
</file>
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1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20.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303" r:id="rId2"/>
    <p:sldId id="304" r:id="rId3"/>
    <p:sldId id="256" r:id="rId4"/>
    <p:sldId id="257" r:id="rId5"/>
    <p:sldId id="308" r:id="rId6"/>
    <p:sldId id="307" r:id="rId7"/>
    <p:sldId id="258" r:id="rId8"/>
    <p:sldId id="306" r:id="rId9"/>
    <p:sldId id="260" r:id="rId10"/>
    <p:sldId id="261" r:id="rId11"/>
    <p:sldId id="262" r:id="rId12"/>
    <p:sldId id="297" r:id="rId13"/>
    <p:sldId id="298" r:id="rId14"/>
    <p:sldId id="299" r:id="rId15"/>
    <p:sldId id="300" r:id="rId16"/>
    <p:sldId id="301" r:id="rId17"/>
    <p:sldId id="302" r:id="rId18"/>
    <p:sldId id="289" r:id="rId19"/>
    <p:sldId id="290" r:id="rId20"/>
    <p:sldId id="291" r:id="rId21"/>
    <p:sldId id="292" r:id="rId22"/>
    <p:sldId id="293" r:id="rId23"/>
    <p:sldId id="294" r:id="rId24"/>
    <p:sldId id="295" r:id="rId25"/>
    <p:sldId id="296" r:id="rId26"/>
    <p:sldId id="259" r:id="rId27"/>
    <p:sldId id="274" r:id="rId28"/>
    <p:sldId id="275" r:id="rId29"/>
    <p:sldId id="277" r:id="rId30"/>
    <p:sldId id="278" r:id="rId31"/>
    <p:sldId id="279" r:id="rId32"/>
    <p:sldId id="280" r:id="rId33"/>
    <p:sldId id="282" r:id="rId34"/>
    <p:sldId id="283" r:id="rId35"/>
    <p:sldId id="284" r:id="rId36"/>
    <p:sldId id="285" r:id="rId37"/>
    <p:sldId id="286" r:id="rId38"/>
    <p:sldId id="287" r:id="rId39"/>
    <p:sldId id="288" r:id="rId40"/>
    <p:sldId id="305" r:id="rId41"/>
  </p:sldIdLst>
  <p:sldSz cx="12192000" cy="6858000"/>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ABAB"/>
    <a:srgbClr val="595959"/>
    <a:srgbClr val="B9B9B9"/>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8" autoAdjust="0"/>
    <p:restoredTop sz="61061"/>
  </p:normalViewPr>
  <p:slideViewPr>
    <p:cSldViewPr snapToGrid="0">
      <p:cViewPr varScale="1">
        <p:scale>
          <a:sx n="66" d="100"/>
          <a:sy n="66" d="100"/>
        </p:scale>
        <p:origin x="216" y="200"/>
      </p:cViewPr>
      <p:guideLst/>
    </p:cSldViewPr>
  </p:slideViewPr>
  <p:notesTextViewPr>
    <p:cViewPr>
      <p:scale>
        <a:sx n="1" d="1"/>
        <a:sy n="1" d="1"/>
      </p:scale>
      <p:origin x="0" y="-152"/>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5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5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6B626F-3C3F-4015-BFA0-DB08E9CDE31C}" type="datetimeFigureOut">
              <a:rPr lang="zh-CN" altLang="en-US" smtClean="0"/>
              <a:t>2026/6/22</a:t>
            </a:fld>
            <a:endParaRPr lang="zh-CN" altLang="en-US"/>
          </a:p>
        </p:txBody>
      </p:sp>
      <p:sp>
        <p:nvSpPr>
          <p:cNvPr id="104885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5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5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5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66D368-CBDF-4EC8-A09E-7865E2A2E21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Good evening, everyone. Now, I will begin the presentation of our project.</a:t>
            </a:r>
            <a:endParaRPr kumimoji="1" lang="zh-CN" altLang="en-US" dirty="0"/>
          </a:p>
        </p:txBody>
      </p:sp>
      <p:sp>
        <p:nvSpPr>
          <p:cNvPr id="4" name="灯片编号占位符 3"/>
          <p:cNvSpPr>
            <a:spLocks noGrp="1"/>
          </p:cNvSpPr>
          <p:nvPr>
            <p:ph type="sldNum" sz="quarter" idx="5"/>
          </p:nvPr>
        </p:nvSpPr>
        <p:spPr/>
        <p:txBody>
          <a:bodyPr/>
          <a:lstStyle/>
          <a:p>
            <a:fld id="{E366D368-CBDF-4EC8-A09E-7865E2A2E214}" type="slidenum">
              <a:rPr lang="zh-CN" altLang="en-US" smtClean="0"/>
              <a:t>1</a:t>
            </a:fld>
            <a:endParaRPr lang="zh-CN" altLang="en-US"/>
          </a:p>
        </p:txBody>
      </p:sp>
    </p:spTree>
    <p:extLst>
      <p:ext uri="{BB962C8B-B14F-4D97-AF65-F5344CB8AC3E}">
        <p14:creationId xmlns:p14="http://schemas.microsoft.com/office/powerpoint/2010/main" val="3707287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Our presentation is divided into the following sections:</a:t>
            </a:r>
          </a:p>
          <a:p>
            <a:endParaRPr kumimoji="1" lang="en" altLang="zh-CN" dirty="0"/>
          </a:p>
          <a:p>
            <a:r>
              <a:rPr kumimoji="1" lang="en" altLang="zh-CN" dirty="0"/>
              <a:t>Project Introduction &amp; Data Collection</a:t>
            </a:r>
          </a:p>
          <a:p>
            <a:endParaRPr kumimoji="1" lang="en" altLang="zh-CN" dirty="0"/>
          </a:p>
          <a:p>
            <a:r>
              <a:rPr kumimoji="1" lang="en" altLang="zh-CN" dirty="0"/>
              <a:t>Data Cleaning &amp; Dataset Construction</a:t>
            </a:r>
          </a:p>
          <a:p>
            <a:endParaRPr kumimoji="1" lang="en" altLang="zh-CN" dirty="0"/>
          </a:p>
          <a:p>
            <a:r>
              <a:rPr kumimoji="1" lang="en" altLang="zh-CN" dirty="0"/>
              <a:t>Feature Engineering &amp; Model Input Preparation</a:t>
            </a:r>
          </a:p>
          <a:p>
            <a:endParaRPr kumimoji="1" lang="en" altLang="zh-CN" dirty="0"/>
          </a:p>
          <a:p>
            <a:r>
              <a:rPr kumimoji="1" lang="en" altLang="zh-CN" dirty="0"/>
              <a:t>Model Training &amp; Evaluation</a:t>
            </a:r>
          </a:p>
          <a:p>
            <a:endParaRPr kumimoji="1" lang="en" altLang="zh-CN" dirty="0"/>
          </a:p>
          <a:p>
            <a:r>
              <a:rPr kumimoji="1" lang="en" altLang="zh-CN" dirty="0"/>
              <a:t>and Results Analysis</a:t>
            </a:r>
            <a:endParaRPr kumimoji="1" lang="zh-CN" altLang="en-US" dirty="0"/>
          </a:p>
        </p:txBody>
      </p:sp>
      <p:sp>
        <p:nvSpPr>
          <p:cNvPr id="4" name="灯片编号占位符 3"/>
          <p:cNvSpPr>
            <a:spLocks noGrp="1"/>
          </p:cNvSpPr>
          <p:nvPr>
            <p:ph type="sldNum" sz="quarter" idx="5"/>
          </p:nvPr>
        </p:nvSpPr>
        <p:spPr/>
        <p:txBody>
          <a:bodyPr/>
          <a:lstStyle/>
          <a:p>
            <a:fld id="{E366D368-CBDF-4EC8-A09E-7865E2A2E214}" type="slidenum">
              <a:rPr lang="zh-CN" altLang="en-US" smtClean="0"/>
              <a:t>2</a:t>
            </a:fld>
            <a:endParaRPr lang="zh-CN" altLang="en-US"/>
          </a:p>
        </p:txBody>
      </p:sp>
    </p:spTree>
    <p:extLst>
      <p:ext uri="{BB962C8B-B14F-4D97-AF65-F5344CB8AC3E}">
        <p14:creationId xmlns:p14="http://schemas.microsoft.com/office/powerpoint/2010/main" val="2001373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dirty="0"/>
              <a:t>First, I will briefly introduce the project and describe the process of data analysis and collection.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To</a:t>
            </a:r>
            <a:r>
              <a:rPr lang="zh-CN" altLang="en-US" dirty="0"/>
              <a:t> </a:t>
            </a:r>
            <a:r>
              <a:rPr lang="en-US" altLang="zh-CN" dirty="0"/>
              <a:t>begin</a:t>
            </a:r>
            <a:r>
              <a:rPr lang="zh-CN" altLang="en-US" dirty="0"/>
              <a:t> </a:t>
            </a:r>
            <a:r>
              <a:rPr lang="en-US" altLang="zh-CN" dirty="0"/>
              <a:t>with,</a:t>
            </a:r>
            <a:r>
              <a:rPr lang="zh-CN" altLang="en-US" dirty="0"/>
              <a:t> </a:t>
            </a:r>
            <a:r>
              <a:rPr lang="en" dirty="0"/>
              <a:t>Google Play provides a questionnaire service for developers to get a potential content rating evaluation for their apps. Google has not disclosed the algorithm behind, so it can be regarded as a black-box model.</a:t>
            </a:r>
          </a:p>
          <a:p>
            <a:endParaRPr lang="en" dirty="0"/>
          </a:p>
          <a:p>
            <a:r>
              <a:rPr lang="en-US" altLang="zh-CN" dirty="0"/>
              <a:t>Therefore,</a:t>
            </a:r>
            <a:r>
              <a:rPr lang="zh-CN" altLang="en-US" dirty="0"/>
              <a:t> </a:t>
            </a:r>
            <a:r>
              <a:rPr lang="en-US" altLang="zh-CN" dirty="0"/>
              <a:t>t</a:t>
            </a:r>
            <a:r>
              <a:rPr lang="en" altLang="zh-CN" dirty="0"/>
              <a:t>he core task of this project is to analyze this questionnaire, design a script to collect at least 1,000 sets of</a:t>
            </a:r>
            <a:r>
              <a:rPr lang="zh-CN" altLang="en-US" dirty="0"/>
              <a:t> </a:t>
            </a:r>
            <a:r>
              <a:rPr lang="en-US" altLang="zh-CN" dirty="0"/>
              <a:t>data</a:t>
            </a:r>
            <a:r>
              <a:rPr lang="en" altLang="zh-CN" dirty="0"/>
              <a:t>, and train a machine learning model for rating prediction.</a:t>
            </a:r>
          </a:p>
          <a:p>
            <a:endParaRPr lang="en" dirty="0"/>
          </a:p>
          <a:p>
            <a:r>
              <a:rPr lang="en" dirty="0"/>
              <a:t>The questionnaires are categorized into three types: Game, Social or Communication, and Other.</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7FE14-ABE6-B75A-675D-C0CFF1EA1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FDD7F-2762-96D3-B4C7-2AFFB73128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E685D-5E57-F51B-90D7-DBDEED0F7EC4}"/>
              </a:ext>
            </a:extLst>
          </p:cNvPr>
          <p:cNvSpPr>
            <a:spLocks noGrp="1"/>
          </p:cNvSpPr>
          <p:nvPr>
            <p:ph type="body" idx="1"/>
          </p:nvPr>
        </p:nvSpPr>
        <p:spPr/>
        <p:txBody>
          <a:bodyPr/>
          <a:lstStyle/>
          <a:p>
            <a:r>
              <a:rPr lang="en" dirty="0"/>
              <a:t>This is the questionnaire interface</a:t>
            </a:r>
            <a:r>
              <a:rPr lang="en-US" altLang="zh-CN" dirty="0"/>
              <a:t>,</a:t>
            </a:r>
            <a:r>
              <a:rPr lang="zh-CN" altLang="en-US" dirty="0"/>
              <a:t> </a:t>
            </a:r>
            <a:r>
              <a:rPr lang="en-US" altLang="zh-CN" dirty="0"/>
              <a:t>for</a:t>
            </a:r>
            <a:r>
              <a:rPr lang="zh-CN" altLang="en-US" dirty="0"/>
              <a:t> </a:t>
            </a:r>
            <a:r>
              <a:rPr lang="en-US" altLang="zh-CN" dirty="0"/>
              <a:t>example.</a:t>
            </a:r>
          </a:p>
          <a:p>
            <a:endParaRPr lang="en-US" altLang="zh-CN" dirty="0"/>
          </a:p>
          <a:p>
            <a:r>
              <a:rPr lang="en-US" altLang="zh-CN" dirty="0"/>
              <a:t>For</a:t>
            </a:r>
            <a:r>
              <a:rPr lang="zh-CN" altLang="en-US" dirty="0"/>
              <a:t> </a:t>
            </a:r>
            <a:r>
              <a:rPr lang="en-US" altLang="zh-CN" dirty="0"/>
              <a:t>each</a:t>
            </a:r>
            <a:r>
              <a:rPr lang="zh-CN" altLang="en-US" dirty="0"/>
              <a:t> </a:t>
            </a:r>
            <a:r>
              <a:rPr lang="en-US" altLang="zh-CN" dirty="0"/>
              <a:t>question</a:t>
            </a:r>
            <a:r>
              <a:rPr lang="zh-CN" altLang="en-US" dirty="0"/>
              <a:t> </a:t>
            </a:r>
            <a:r>
              <a:rPr lang="en-US" altLang="zh-CN" dirty="0"/>
              <a:t>you</a:t>
            </a:r>
            <a:r>
              <a:rPr lang="zh-CN" altLang="en-US" dirty="0"/>
              <a:t> </a:t>
            </a:r>
            <a:r>
              <a:rPr lang="en-US" altLang="zh-CN" dirty="0"/>
              <a:t>answered,</a:t>
            </a:r>
            <a:r>
              <a:rPr lang="zh-CN" altLang="en-US" dirty="0"/>
              <a:t> </a:t>
            </a:r>
            <a:r>
              <a:rPr lang="en-US" altLang="zh-CN" dirty="0"/>
              <a:t>there</a:t>
            </a:r>
            <a:r>
              <a:rPr lang="zh-CN" altLang="en-US" dirty="0"/>
              <a:t> </a:t>
            </a:r>
            <a:r>
              <a:rPr lang="en-US" altLang="zh-CN" dirty="0"/>
              <a:t>is</a:t>
            </a:r>
            <a:r>
              <a:rPr lang="zh-CN" altLang="en-US" dirty="0"/>
              <a:t> </a:t>
            </a:r>
            <a:r>
              <a:rPr lang="en-US" altLang="zh-CN" dirty="0"/>
              <a:t>a</a:t>
            </a:r>
            <a:r>
              <a:rPr lang="zh-CN" altLang="en-US" dirty="0"/>
              <a:t> </a:t>
            </a:r>
            <a:r>
              <a:rPr lang="en-US" altLang="zh-CN" dirty="0"/>
              <a:t>chance</a:t>
            </a:r>
            <a:r>
              <a:rPr lang="zh-CN" altLang="en-US" dirty="0"/>
              <a:t> </a:t>
            </a:r>
            <a:r>
              <a:rPr lang="en-US" altLang="zh-CN" dirty="0"/>
              <a:t>that</a:t>
            </a:r>
            <a:r>
              <a:rPr lang="zh-CN" altLang="en-US" dirty="0"/>
              <a:t> </a:t>
            </a:r>
            <a:r>
              <a:rPr lang="en-US" altLang="zh-CN" dirty="0"/>
              <a:t>one</a:t>
            </a:r>
            <a:r>
              <a:rPr lang="zh-CN" altLang="en-US" dirty="0"/>
              <a:t> </a:t>
            </a:r>
            <a:r>
              <a:rPr lang="en-US" altLang="zh-CN" dirty="0"/>
              <a:t>or</a:t>
            </a:r>
            <a:r>
              <a:rPr lang="zh-CN" altLang="en-US" dirty="0"/>
              <a:t> </a:t>
            </a:r>
            <a:r>
              <a:rPr lang="en-US" altLang="zh-CN" dirty="0"/>
              <a:t>more</a:t>
            </a:r>
            <a:r>
              <a:rPr lang="zh-CN" altLang="en-US" dirty="0"/>
              <a:t> </a:t>
            </a:r>
            <a:r>
              <a:rPr lang="en-US" altLang="zh-CN" dirty="0"/>
              <a:t>sub-questions</a:t>
            </a:r>
            <a:r>
              <a:rPr lang="zh-CN" altLang="en-US" dirty="0"/>
              <a:t> </a:t>
            </a:r>
            <a:r>
              <a:rPr lang="en-US" altLang="zh-CN" dirty="0"/>
              <a:t>are</a:t>
            </a:r>
            <a:r>
              <a:rPr lang="zh-CN" altLang="en-US" dirty="0"/>
              <a:t> </a:t>
            </a:r>
            <a:r>
              <a:rPr lang="en-US" altLang="zh-CN" dirty="0"/>
              <a:t>triggered.</a:t>
            </a:r>
            <a:r>
              <a:rPr lang="zh-CN" altLang="en-US" dirty="0"/>
              <a:t> </a:t>
            </a:r>
            <a:r>
              <a:rPr lang="en-US" altLang="zh-CN" dirty="0"/>
              <a:t>These</a:t>
            </a:r>
            <a:r>
              <a:rPr lang="zh-CN" altLang="en-US" dirty="0"/>
              <a:t> </a:t>
            </a:r>
            <a:r>
              <a:rPr lang="en-US" altLang="zh-CN" dirty="0"/>
              <a:t>sub-questions</a:t>
            </a:r>
            <a:r>
              <a:rPr lang="zh-CN" altLang="en-US" dirty="0"/>
              <a:t> </a:t>
            </a:r>
            <a:r>
              <a:rPr lang="en-US" altLang="zh-CN" dirty="0"/>
              <a:t>can</a:t>
            </a:r>
            <a:r>
              <a:rPr lang="zh-CN" altLang="en-US" dirty="0"/>
              <a:t> </a:t>
            </a:r>
            <a:r>
              <a:rPr lang="en-US" altLang="zh-CN" dirty="0"/>
              <a:t>trigger</a:t>
            </a:r>
            <a:r>
              <a:rPr lang="zh-CN" altLang="en-US" dirty="0"/>
              <a:t> </a:t>
            </a:r>
            <a:r>
              <a:rPr lang="en-US" altLang="zh-CN" dirty="0"/>
              <a:t>more</a:t>
            </a:r>
            <a:r>
              <a:rPr lang="zh-CN" altLang="en-US" dirty="0"/>
              <a:t> </a:t>
            </a:r>
            <a:r>
              <a:rPr lang="en-US" altLang="zh-CN" dirty="0"/>
              <a:t>sub-questions</a:t>
            </a:r>
            <a:r>
              <a:rPr lang="zh-CN" altLang="en-US" dirty="0"/>
              <a:t> </a:t>
            </a:r>
            <a:r>
              <a:rPr lang="en-US" altLang="zh-CN" dirty="0"/>
              <a:t>recursively.</a:t>
            </a:r>
          </a:p>
        </p:txBody>
      </p:sp>
      <p:sp>
        <p:nvSpPr>
          <p:cNvPr id="4" name="Slide Number Placeholder 3">
            <a:extLst>
              <a:ext uri="{FF2B5EF4-FFF2-40B4-BE49-F238E27FC236}">
                <a16:creationId xmlns:a16="http://schemas.microsoft.com/office/drawing/2014/main" id="{7DA12C88-E837-19F4-9A7A-B7675079F52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750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05906-AC7B-E296-50CC-695826E52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2D575-5122-E6A3-2A82-A18F65569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C324A-2452-B975-551C-D22C0A24D4F4}"/>
              </a:ext>
            </a:extLst>
          </p:cNvPr>
          <p:cNvSpPr>
            <a:spLocks noGrp="1"/>
          </p:cNvSpPr>
          <p:nvPr>
            <p:ph type="body" idx="1"/>
          </p:nvPr>
        </p:nvSpPr>
        <p:spPr/>
        <p:txBody>
          <a:bodyPr/>
          <a:lstStyle/>
          <a:p>
            <a:r>
              <a:rPr lang="en-US" altLang="zh-CN" dirty="0"/>
              <a:t>The Social questionnaire contains less</a:t>
            </a:r>
            <a:r>
              <a:rPr lang="zh-CN" altLang="en-US" dirty="0"/>
              <a:t> </a:t>
            </a:r>
            <a:r>
              <a:rPr lang="en-US" altLang="zh-CN" dirty="0"/>
              <a:t>than</a:t>
            </a:r>
            <a:r>
              <a:rPr lang="zh-CN" altLang="en-US" dirty="0"/>
              <a:t> </a:t>
            </a:r>
            <a:r>
              <a:rPr lang="en-US" altLang="zh-CN" dirty="0"/>
              <a:t>fifteen questions, and</a:t>
            </a:r>
            <a:r>
              <a:rPr lang="zh-CN" altLang="en-US" dirty="0"/>
              <a:t> </a:t>
            </a:r>
            <a:r>
              <a:rPr lang="en-US" altLang="zh-CN" dirty="0"/>
              <a:t>there are only 4,096 possible</a:t>
            </a:r>
            <a:r>
              <a:rPr lang="zh-CN" altLang="en-US" dirty="0"/>
              <a:t> </a:t>
            </a:r>
            <a:r>
              <a:rPr lang="en-US" altLang="zh-CN" dirty="0"/>
              <a:t>combinations</a:t>
            </a:r>
            <a:r>
              <a:rPr lang="zh-CN" altLang="en-US" dirty="0"/>
              <a:t> </a:t>
            </a:r>
            <a:r>
              <a:rPr lang="en-US" altLang="zh-CN" dirty="0"/>
              <a:t>for</a:t>
            </a:r>
            <a:r>
              <a:rPr lang="zh-CN" altLang="en-US" dirty="0"/>
              <a:t> </a:t>
            </a:r>
            <a:r>
              <a:rPr lang="en-US" altLang="zh-CN" dirty="0"/>
              <a:t>it. This means little significance for the machine learning research, so it was excluded from our scope.</a:t>
            </a:r>
            <a:endParaRPr lang="en" dirty="0"/>
          </a:p>
          <a:p>
            <a:endParaRPr lang="en" dirty="0"/>
          </a:p>
          <a:p>
            <a:r>
              <a:rPr lang="en" dirty="0"/>
              <a:t>For the other two categories, I implemented a DFS program to traverse the questions.</a:t>
            </a:r>
          </a:p>
          <a:p>
            <a:endParaRPr lang="en" dirty="0"/>
          </a:p>
          <a:p>
            <a:r>
              <a:rPr lang="en-US" altLang="zh-CN" dirty="0"/>
              <a:t>T</a:t>
            </a:r>
            <a:r>
              <a:rPr lang="en" dirty="0"/>
              <a:t>he program starts from </a:t>
            </a:r>
            <a:r>
              <a:rPr lang="en-US" altLang="zh-CN" dirty="0"/>
              <a:t>the</a:t>
            </a:r>
            <a:r>
              <a:rPr lang="en" dirty="0"/>
              <a:t> root questions of the questionnaire. By clicking each option sequentially, it identifies the sub-questions associated with that </a:t>
            </a:r>
            <a:r>
              <a:rPr lang="en-US" altLang="zh-CN" dirty="0"/>
              <a:t>option</a:t>
            </a:r>
            <a:r>
              <a:rPr lang="en" dirty="0"/>
              <a:t>, and then recursively traverses each sub-question. The program backtracks once it reaches a leaf node—meaning a point with no further sub-questions.</a:t>
            </a:r>
          </a:p>
        </p:txBody>
      </p:sp>
      <p:sp>
        <p:nvSpPr>
          <p:cNvPr id="4" name="Slide Number Placeholder 3">
            <a:extLst>
              <a:ext uri="{FF2B5EF4-FFF2-40B4-BE49-F238E27FC236}">
                <a16:creationId xmlns:a16="http://schemas.microsoft.com/office/drawing/2014/main" id="{16F14EFB-0AFF-E229-F1EF-36E3485AB01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47045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altLang="zh-CN" dirty="0"/>
              <a:t>Ultimately, we obtained the following structure:</a:t>
            </a:r>
          </a:p>
          <a:p>
            <a:r>
              <a:rPr lang="en" altLang="zh-CN" dirty="0"/>
              <a:t>As you can see, the questionnaire consists of 14 root questions. A few of these root questions branch into several sub-questions, with a </a:t>
            </a:r>
            <a:r>
              <a:rPr lang="en-US" altLang="zh-CN" dirty="0"/>
              <a:t>total</a:t>
            </a:r>
            <a:r>
              <a:rPr lang="en" altLang="zh-CN" dirty="0"/>
              <a:t> depth of four layers.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This is the structure for </a:t>
            </a:r>
            <a:r>
              <a:rPr lang="en-US" altLang="zh-CN" dirty="0"/>
              <a:t>the</a:t>
            </a:r>
            <a:r>
              <a:rPr lang="zh-CN" altLang="en-US" dirty="0"/>
              <a:t> </a:t>
            </a:r>
            <a:r>
              <a:rPr lang="en-US" altLang="zh-CN" dirty="0"/>
              <a:t>other</a:t>
            </a:r>
            <a:r>
              <a:rPr lang="en" altLang="zh-CN" dirty="0"/>
              <a:t> category.</a:t>
            </a:r>
            <a:r>
              <a:rPr lang="zh-CN" altLang="en-US" dirty="0"/>
              <a:t> </a:t>
            </a:r>
            <a:r>
              <a:rPr lang="en-US" altLang="zh-CN" dirty="0"/>
              <a:t>It</a:t>
            </a:r>
            <a:r>
              <a:rPr lang="zh-CN" altLang="en-US" dirty="0"/>
              <a:t> </a:t>
            </a:r>
            <a:r>
              <a:rPr lang="en-US" altLang="zh-CN" dirty="0"/>
              <a:t>has</a:t>
            </a:r>
            <a:r>
              <a:rPr lang="zh-CN" altLang="en-US" dirty="0"/>
              <a:t> </a:t>
            </a:r>
            <a:r>
              <a:rPr lang="en-US" altLang="zh-CN" dirty="0"/>
              <a:t>more</a:t>
            </a:r>
            <a:r>
              <a:rPr lang="zh-CN" altLang="en-US" dirty="0"/>
              <a:t> </a:t>
            </a:r>
            <a:r>
              <a:rPr lang="en-US" altLang="zh-CN" dirty="0"/>
              <a:t>questions</a:t>
            </a:r>
            <a:r>
              <a:rPr lang="zh-CN" altLang="en-US" dirty="0"/>
              <a:t> </a:t>
            </a:r>
            <a:r>
              <a:rPr lang="en-US" altLang="zh-CN" dirty="0"/>
              <a:t>and</a:t>
            </a:r>
            <a:r>
              <a:rPr lang="zh-CN" altLang="en-US" dirty="0"/>
              <a:t> </a:t>
            </a:r>
            <a:r>
              <a:rPr lang="en-US" altLang="zh-CN" dirty="0"/>
              <a:t>more</a:t>
            </a:r>
            <a:r>
              <a:rPr lang="zh-CN" altLang="en-US" dirty="0"/>
              <a:t> </a:t>
            </a:r>
            <a:r>
              <a:rPr lang="en-US" altLang="zh-CN" dirty="0"/>
              <a:t>layers.</a:t>
            </a:r>
            <a:endParaRPr lang="en" altLang="zh-CN"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dirty="0"/>
              <a:t>And this is a </a:t>
            </a:r>
            <a:r>
              <a:rPr lang="en-US" altLang="zh-CN" dirty="0"/>
              <a:t>single</a:t>
            </a:r>
            <a:r>
              <a:rPr lang="zh-CN" altLang="en-US" dirty="0"/>
              <a:t> </a:t>
            </a:r>
            <a:r>
              <a:rPr lang="en-US" altLang="zh-CN" dirty="0"/>
              <a:t>branch</a:t>
            </a:r>
            <a:r>
              <a:rPr lang="zh-CN" altLang="en-US" dirty="0"/>
              <a:t> </a:t>
            </a:r>
            <a:r>
              <a:rPr lang="en-US" altLang="zh-CN" dirty="0"/>
              <a:t>of</a:t>
            </a:r>
            <a:r>
              <a:rPr lang="zh-CN" altLang="en-US" dirty="0"/>
              <a:t> </a:t>
            </a:r>
            <a:r>
              <a:rPr lang="en-US" altLang="zh-CN" dirty="0"/>
              <a:t>a</a:t>
            </a:r>
            <a:r>
              <a:rPr lang="zh-CN" altLang="en-US" dirty="0"/>
              <a:t> </a:t>
            </a:r>
            <a:r>
              <a:rPr lang="en" dirty="0"/>
              <a:t>question for example. It has </a:t>
            </a:r>
            <a:r>
              <a:rPr lang="en-US" altLang="zh-CN" dirty="0"/>
              <a:t>4</a:t>
            </a:r>
            <a:r>
              <a:rPr lang="zh-CN" altLang="en-US" dirty="0"/>
              <a:t> </a:t>
            </a:r>
            <a:r>
              <a:rPr lang="en-US" altLang="zh-CN" dirty="0"/>
              <a:t>layers</a:t>
            </a:r>
            <a:r>
              <a:rPr lang="zh-CN" altLang="en-US" dirty="0"/>
              <a:t> </a:t>
            </a:r>
            <a:r>
              <a:rPr lang="en-US" altLang="zh-CN" dirty="0"/>
              <a:t>of</a:t>
            </a:r>
            <a:r>
              <a:rPr lang="en" dirty="0"/>
              <a:t> sub</a:t>
            </a:r>
            <a:r>
              <a:rPr lang="en-US" altLang="zh-CN" dirty="0"/>
              <a:t>-</a:t>
            </a:r>
            <a:r>
              <a:rPr lang="en" dirty="0"/>
              <a:t>questions </a:t>
            </a:r>
            <a:r>
              <a:rPr lang="en-US" altLang="zh-CN" dirty="0"/>
              <a:t>about</a:t>
            </a:r>
            <a:r>
              <a:rPr lang="zh-CN" altLang="en-US" dirty="0"/>
              <a:t> </a:t>
            </a:r>
            <a:r>
              <a:rPr lang="en-US" altLang="zh-CN" dirty="0"/>
              <a:t>whether</a:t>
            </a:r>
            <a:r>
              <a:rPr lang="zh-CN" altLang="en-US" dirty="0"/>
              <a:t> </a:t>
            </a:r>
            <a:r>
              <a:rPr lang="en-US" altLang="zh-CN" dirty="0"/>
              <a:t>there</a:t>
            </a:r>
            <a:r>
              <a:rPr lang="zh-CN" altLang="en-US" dirty="0"/>
              <a:t> </a:t>
            </a:r>
            <a:r>
              <a:rPr lang="en-US" altLang="zh-CN" dirty="0"/>
              <a:t>are</a:t>
            </a:r>
            <a:r>
              <a:rPr lang="en" dirty="0"/>
              <a:t> gambling elements in the app.</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dirty="0"/>
              <a:t>To acquire sufficient and well-distributed data, I used the following sampling methods:</a:t>
            </a:r>
          </a:p>
          <a:p>
            <a:endParaRPr lang="en" dirty="0"/>
          </a:p>
          <a:p>
            <a:r>
              <a:rPr lang="en" dirty="0"/>
              <a:t>Firstly, select “No” for all questions to obtain the lowest rating result, which </a:t>
            </a:r>
            <a:r>
              <a:rPr lang="en-US" altLang="zh-CN" dirty="0"/>
              <a:t>results</a:t>
            </a:r>
            <a:r>
              <a:rPr lang="zh-CN" altLang="en-US" dirty="0"/>
              <a:t> </a:t>
            </a:r>
            <a:r>
              <a:rPr lang="en-US" altLang="zh-CN" dirty="0"/>
              <a:t>in</a:t>
            </a:r>
            <a:r>
              <a:rPr lang="en" dirty="0"/>
              <a:t> ”</a:t>
            </a:r>
            <a:r>
              <a:rPr lang="en-US" altLang="zh-CN" dirty="0"/>
              <a:t>Everyone</a:t>
            </a:r>
            <a:r>
              <a:rPr lang="en" dirty="0"/>
              <a:t>“ </a:t>
            </a:r>
            <a:r>
              <a:rPr lang="en-US" altLang="zh-CN" dirty="0"/>
              <a:t>as</a:t>
            </a:r>
            <a:r>
              <a:rPr lang="zh-CN" altLang="en-US" dirty="0"/>
              <a:t> </a:t>
            </a:r>
            <a:r>
              <a:rPr lang="en-US" altLang="zh-CN" dirty="0"/>
              <a:t>the</a:t>
            </a:r>
            <a:r>
              <a:rPr lang="zh-CN" altLang="en-US" dirty="0"/>
              <a:t> </a:t>
            </a:r>
            <a:r>
              <a:rPr lang="en-US" altLang="zh-CN" dirty="0"/>
              <a:t>baseline.</a:t>
            </a:r>
          </a:p>
          <a:p>
            <a:endParaRPr lang="en-US" dirty="0"/>
          </a:p>
          <a:p>
            <a:r>
              <a:rPr lang="en" dirty="0"/>
              <a:t>Secondly, I prioritized options that trigger sub-questions. This </a:t>
            </a:r>
            <a:r>
              <a:rPr lang="en-US" altLang="zh-CN" dirty="0"/>
              <a:t>step</a:t>
            </a:r>
            <a:r>
              <a:rPr lang="zh-CN" altLang="en-US" dirty="0"/>
              <a:t> </a:t>
            </a:r>
            <a:r>
              <a:rPr lang="en" dirty="0"/>
              <a:t>improves question coverage and lays the foundation for the next sampling.</a:t>
            </a:r>
          </a:p>
          <a:p>
            <a:endParaRPr lang="en" dirty="0"/>
          </a:p>
          <a:p>
            <a:r>
              <a:rPr lang="en" dirty="0"/>
              <a:t>Thirdly I manually annotated every option of each question by labeling the risk types involved (such as gambling, drugs, and in-app purchases</a:t>
            </a:r>
            <a:r>
              <a:rPr lang="en-US" altLang="zh-CN" dirty="0"/>
              <a:t>)</a:t>
            </a:r>
            <a:r>
              <a:rPr lang="zh-CN" altLang="en-US" dirty="0"/>
              <a:t> </a:t>
            </a:r>
            <a:r>
              <a:rPr lang="en-US" altLang="zh-CN" dirty="0"/>
              <a:t>and</a:t>
            </a:r>
            <a:r>
              <a:rPr lang="zh-CN" altLang="en-US" dirty="0"/>
              <a:t> </a:t>
            </a:r>
            <a:r>
              <a:rPr lang="en-US" altLang="zh-CN" dirty="0"/>
              <a:t>gave</a:t>
            </a:r>
            <a:r>
              <a:rPr lang="zh-CN" altLang="en-US" dirty="0"/>
              <a:t> </a:t>
            </a:r>
            <a:r>
              <a:rPr lang="en-US" altLang="zh-CN" dirty="0"/>
              <a:t>a</a:t>
            </a:r>
            <a:r>
              <a:rPr lang="zh-CN" altLang="en-US" dirty="0"/>
              <a:t> </a:t>
            </a:r>
            <a:r>
              <a:rPr lang="en-US" altLang="zh-CN" dirty="0"/>
              <a:t>score</a:t>
            </a:r>
            <a:r>
              <a:rPr lang="zh-CN" altLang="en-US" dirty="0"/>
              <a:t> </a:t>
            </a:r>
            <a:r>
              <a:rPr lang="en-US" altLang="zh-CN" dirty="0"/>
              <a:t>to</a:t>
            </a:r>
            <a:r>
              <a:rPr lang="zh-CN" altLang="en-US" dirty="0"/>
              <a:t> </a:t>
            </a:r>
            <a:r>
              <a:rPr lang="en-US" altLang="zh-CN" dirty="0"/>
              <a:t>indicate</a:t>
            </a:r>
            <a:r>
              <a:rPr lang="zh-CN" altLang="en-US" dirty="0"/>
              <a:t> </a:t>
            </a:r>
            <a:r>
              <a:rPr lang="en-US" altLang="zh-CN" dirty="0"/>
              <a:t>severity</a:t>
            </a:r>
            <a:r>
              <a:rPr lang="zh-CN" altLang="en-US" dirty="0"/>
              <a:t> </a:t>
            </a:r>
            <a:r>
              <a:rPr lang="en-US" altLang="zh-CN" dirty="0"/>
              <a:t>level</a:t>
            </a:r>
            <a:r>
              <a:rPr lang="zh-CN" altLang="en-US" dirty="0"/>
              <a:t> </a:t>
            </a:r>
            <a:r>
              <a:rPr lang="en-US" altLang="zh-CN" dirty="0"/>
              <a:t>of</a:t>
            </a:r>
            <a:r>
              <a:rPr lang="zh-CN" altLang="en-US" dirty="0"/>
              <a:t> </a:t>
            </a:r>
            <a:r>
              <a:rPr lang="en-US" altLang="zh-CN" dirty="0"/>
              <a:t>its</a:t>
            </a:r>
            <a:r>
              <a:rPr lang="zh-CN" altLang="en-US" dirty="0"/>
              <a:t> </a:t>
            </a:r>
            <a:r>
              <a:rPr lang="en-US" altLang="zh-CN" dirty="0"/>
              <a:t>options</a:t>
            </a:r>
            <a:r>
              <a:rPr lang="en" dirty="0"/>
              <a:t>. By </a:t>
            </a:r>
            <a:r>
              <a:rPr lang="en-US" altLang="zh-CN" dirty="0"/>
              <a:t>answering</a:t>
            </a:r>
            <a:r>
              <a:rPr lang="zh-CN" altLang="en-US" dirty="0"/>
              <a:t> </a:t>
            </a:r>
            <a:r>
              <a:rPr lang="en" dirty="0"/>
              <a:t>the questionnaire </a:t>
            </a:r>
            <a:r>
              <a:rPr lang="en-US" altLang="zh-CN" dirty="0"/>
              <a:t>with</a:t>
            </a:r>
            <a:r>
              <a:rPr lang="zh-CN" altLang="en-US" dirty="0"/>
              <a:t> </a:t>
            </a:r>
            <a:r>
              <a:rPr lang="en" dirty="0"/>
              <a:t>a </a:t>
            </a:r>
            <a:r>
              <a:rPr lang="en-US" altLang="zh-CN" dirty="0"/>
              <a:t>either</a:t>
            </a:r>
            <a:r>
              <a:rPr lang="zh-CN" altLang="en-US" dirty="0"/>
              <a:t> </a:t>
            </a:r>
            <a:r>
              <a:rPr lang="en" dirty="0"/>
              <a:t>single risk item, multiple risk items, </a:t>
            </a:r>
            <a:r>
              <a:rPr lang="en-US" altLang="zh-CN" dirty="0"/>
              <a:t>or</a:t>
            </a:r>
            <a:r>
              <a:rPr lang="en" dirty="0"/>
              <a:t> all risk items.</a:t>
            </a:r>
          </a:p>
          <a:p>
            <a:endParaRPr lang="e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dirty="0"/>
              <a:t>Since I had given score to the options, this progress can be dynamically changed to achieve lower of higher ratings.</a:t>
            </a:r>
            <a:r>
              <a:rPr lang="en" altLang="zh-CN" dirty="0"/>
              <a:t> By doing this, </a:t>
            </a:r>
            <a:r>
              <a:rPr lang="en-US" altLang="zh-CN" dirty="0"/>
              <a:t>I</a:t>
            </a:r>
            <a:r>
              <a:rPr lang="en" altLang="zh-CN" dirty="0"/>
              <a:t> am able to cover sufficient data from Teen</a:t>
            </a:r>
            <a:r>
              <a:rPr lang="en-US" altLang="zh-CN" dirty="0"/>
              <a:t>ager</a:t>
            </a:r>
            <a:r>
              <a:rPr lang="en" altLang="zh-CN" dirty="0"/>
              <a:t> to Adult-Only classification.</a:t>
            </a:r>
          </a:p>
          <a:p>
            <a:endParaRPr lang="en" dirty="0"/>
          </a:p>
          <a:p>
            <a:endParaRPr lang="en" dirty="0"/>
          </a:p>
          <a:p>
            <a:r>
              <a:rPr lang="en" dirty="0"/>
              <a:t>Lastly, </a:t>
            </a:r>
            <a:r>
              <a:rPr lang="en-US" altLang="zh-CN" dirty="0"/>
              <a:t>I</a:t>
            </a:r>
            <a:r>
              <a:rPr lang="zh-CN" altLang="en-US" dirty="0"/>
              <a:t> </a:t>
            </a:r>
            <a:r>
              <a:rPr lang="en" dirty="0"/>
              <a:t>collect</a:t>
            </a:r>
            <a:r>
              <a:rPr lang="en-US" altLang="zh-CN" dirty="0"/>
              <a:t>ed</a:t>
            </a:r>
            <a:r>
              <a:rPr lang="en" dirty="0"/>
              <a:t> data for options</a:t>
            </a:r>
            <a:r>
              <a:rPr lang="zh-CN" altLang="en-US" dirty="0"/>
              <a:t> </a:t>
            </a:r>
            <a:r>
              <a:rPr lang="en-US" altLang="zh-CN" dirty="0"/>
              <a:t>or</a:t>
            </a:r>
            <a:r>
              <a:rPr lang="zh-CN" altLang="en-US" dirty="0"/>
              <a:t> </a:t>
            </a:r>
            <a:r>
              <a:rPr lang="en-US" altLang="zh-CN" dirty="0"/>
              <a:t>questions</a:t>
            </a:r>
            <a:r>
              <a:rPr lang="en" dirty="0"/>
              <a:t> that appeared with lower frequencies</a:t>
            </a:r>
            <a:r>
              <a:rPr lang="zh-CN" altLang="en-US" dirty="0"/>
              <a:t> </a:t>
            </a:r>
            <a:r>
              <a:rPr lang="en-US" altLang="zh-CN" dirty="0"/>
              <a:t>in</a:t>
            </a:r>
            <a:r>
              <a:rPr lang="zh-CN" altLang="en-US" dirty="0"/>
              <a:t> </a:t>
            </a:r>
            <a:r>
              <a:rPr lang="en-US" altLang="zh-CN" dirty="0"/>
              <a:t>the</a:t>
            </a:r>
            <a:r>
              <a:rPr lang="zh-CN" altLang="en-US" dirty="0"/>
              <a:t> </a:t>
            </a:r>
            <a:r>
              <a:rPr lang="en-US" altLang="zh-CN" dirty="0"/>
              <a:t>previous</a:t>
            </a:r>
            <a:r>
              <a:rPr lang="zh-CN" altLang="en-US" dirty="0"/>
              <a:t> </a:t>
            </a:r>
            <a:r>
              <a:rPr lang="en-US" altLang="zh-CN" dirty="0"/>
              <a:t>steps</a:t>
            </a:r>
            <a:r>
              <a:rPr lang="en"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dirty="0"/>
              <a:t>The final distribution of the collected data is shown in the chart. As you can see, each age rating category has been evenly and adequately covered</a:t>
            </a:r>
            <a:r>
              <a:rPr lang="en-US" altLang="zh-CN" dirty="0"/>
              <a:t>,</a:t>
            </a:r>
            <a:r>
              <a:rPr lang="zh-CN" altLang="en-US" dirty="0"/>
              <a:t> </a:t>
            </a:r>
            <a:r>
              <a:rPr lang="en-US" altLang="zh-CN" dirty="0"/>
              <a:t>with</a:t>
            </a:r>
            <a:r>
              <a:rPr lang="zh-CN" altLang="en-US" dirty="0"/>
              <a:t> </a:t>
            </a:r>
            <a:r>
              <a:rPr lang="en-US" altLang="zh-CN" dirty="0"/>
              <a:t>a</a:t>
            </a:r>
            <a:r>
              <a:rPr lang="zh-CN" altLang="en-US" dirty="0"/>
              <a:t> </a:t>
            </a:r>
            <a:r>
              <a:rPr lang="en-US" altLang="zh-CN" dirty="0"/>
              <a:t>total</a:t>
            </a:r>
            <a:r>
              <a:rPr lang="zh-CN" altLang="en-US" dirty="0"/>
              <a:t> </a:t>
            </a:r>
            <a:r>
              <a:rPr lang="en-US" altLang="zh-CN" dirty="0"/>
              <a:t>number</a:t>
            </a:r>
            <a:r>
              <a:rPr lang="zh-CN" altLang="en-US" dirty="0"/>
              <a:t> </a:t>
            </a:r>
            <a:r>
              <a:rPr lang="en-US" altLang="zh-CN" dirty="0"/>
              <a:t>of</a:t>
            </a:r>
            <a:r>
              <a:rPr lang="zh-CN" altLang="en-US" dirty="0"/>
              <a:t> </a:t>
            </a:r>
            <a:r>
              <a:rPr lang="en-US" altLang="zh-CN" dirty="0"/>
              <a:t>over</a:t>
            </a:r>
            <a:r>
              <a:rPr lang="zh-CN" altLang="en-US" dirty="0"/>
              <a:t> </a:t>
            </a:r>
            <a:r>
              <a:rPr lang="en-US" altLang="zh-CN" dirty="0"/>
              <a:t>1,000</a:t>
            </a:r>
            <a:r>
              <a:rPr lang="zh-CN" altLang="en-US" dirty="0"/>
              <a:t> </a:t>
            </a:r>
            <a:r>
              <a:rPr lang="en-US" altLang="zh-CN" dirty="0"/>
              <a:t>records</a:t>
            </a:r>
            <a:r>
              <a:rPr lang="zh-CN" altLang="en-US" dirty="0"/>
              <a:t> </a:t>
            </a:r>
            <a:r>
              <a:rPr lang="en-US" altLang="zh-CN" dirty="0"/>
              <a:t>of</a:t>
            </a:r>
            <a:r>
              <a:rPr lang="zh-CN" altLang="en-US" dirty="0"/>
              <a:t> </a:t>
            </a:r>
            <a:r>
              <a:rPr lang="en-US" altLang="zh-CN" dirty="0"/>
              <a:t>data.</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In this section, I will introduce the data cleaning and dataset construction stage of our project.</a:t>
            </a:r>
            <a:br>
              <a:rPr lang="en-US" altLang="zh-CN" dirty="0"/>
            </a:br>
            <a:r>
              <a:rPr lang="en-US" altLang="zh-CN" dirty="0"/>
              <a:t>The goal of this stage is to turn the raw questionnaire collection records into a structured, clean, and auditable dataset.</a:t>
            </a:r>
          </a:p>
          <a:p>
            <a:r>
              <a:rPr lang="en-US" altLang="zh-CN" dirty="0"/>
              <a:t>This part has a clear boundary. We do not perform feature encoding, label transformation, or model training here. Instead, we focus on standardizing the collected records, validating their structure, handling missing values, and producing reproducible train and test datasets.</a:t>
            </a:r>
          </a:p>
          <a:p>
            <a:r>
              <a:rPr lang="en-US" altLang="zh-CN" dirty="0"/>
              <a:t>After validation and consistency checks, we retained 1,265 clean samples. These samples were split into 1,012 training rows and 253 test rows. All cleaning-stage integrity checks passed, and upstream anomalies or conflicts were preserved in audit files for traceability.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This slide shows the validation pipeline from raw JSONL records to valid samples.</a:t>
            </a:r>
          </a:p>
          <a:p>
            <a:r>
              <a:rPr lang="en-US" altLang="zh-CN" dirty="0"/>
              <a:t>The input records contain questionnaire states and rating outputs. First, we check the structural schema, including the schema version, sample ID, category, and required fields. Then, we validate answer consistency, making sure radio and checkbox selections match the recorded explicit answers.</a:t>
            </a:r>
          </a:p>
          <a:p>
            <a:r>
              <a:rPr lang="en-US" altLang="zh-CN" dirty="0"/>
              <a:t>Next, we use the questionnaire dependency graph to recompute active branches. This helps detect skipped child questions or inactive questions that should not appear in a sample. Finally, we check rating completeness by app category. For example, game samples include additional regions such as Australia, Saudi Arabia, and Taiwan.</a:t>
            </a:r>
          </a:p>
          <a:p>
            <a:r>
              <a:rPr lang="en-US" altLang="zh-CN" dirty="0"/>
              <a:t>As a result, 1,265 records were retained, with zero validation errors in this cleaning stage and zero unexpected blank output cells.</a:t>
            </a:r>
          </a:p>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This slide summarizes how we handled duplicates, anomalies, and missing values.</a:t>
            </a:r>
          </a:p>
          <a:p>
            <a:r>
              <a:rPr lang="en-US" altLang="zh-CN" dirty="0"/>
              <a:t>For deduplication, we did not compare only the explicit answer list. Instead, we used the complete questionnaire state as the duplicate key. Exact duplicate groups retain one record, while samples with the same questionnaire state but different rating outputs are treated as rating conflicts and excluded as a group.</a:t>
            </a:r>
          </a:p>
          <a:p>
            <a:r>
              <a:rPr lang="en-US" altLang="zh-CN" dirty="0"/>
              <a:t>For anomaly audit, this cleaning stage did not newly exclude any sample from the current clean dataset. However, upstream anomalies are still preserved for transparency, including 30 category anomalies and 13 upstream rating conflicts.</a:t>
            </a:r>
          </a:p>
          <a:p>
            <a:r>
              <a:rPr lang="en-US" altLang="zh-CN" dirty="0"/>
              <a:t>For missing values, we did not use mean or mode imputation. Instead, structural missingness is explicitly marked using __INACTIVE__, __NOT_APPLICABLE__, and __NONE__, so every special value has a documented meaning.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After validation and cleaning, the nested questionnaire records are flattened into a unified wide-table format.</a:t>
            </a:r>
          </a:p>
          <a:p>
            <a:r>
              <a:rPr lang="en-US" altLang="zh-CN" dirty="0"/>
              <a:t>Each row represents one cleaned questionnaire sample. The table contains sample identifiers, the app category, normalized questionnaire answers, and regional rating outputs. The answer__* columns store standardized questionnaire responses. For radio questions, the selected option is kept directly. For checkbox questions, multiple selected options are joined using the || delimiter.</a:t>
            </a:r>
          </a:p>
          <a:p>
            <a:r>
              <a:rPr lang="en-US" altLang="zh-CN" dirty="0"/>
              <a:t>The rating__* columns store the original regional rating labels returned by the questionnaire result page. These are output labels, not cleaned answer fields.</a:t>
            </a:r>
          </a:p>
          <a:p>
            <a:r>
              <a:rPr lang="en-US" altLang="zh-CN" dirty="0"/>
              <a:t>In total, the schema includes 164 answer columns and 10 regional rating columns. The full cleaned dataset contains a split column, while train.csv and test.csv share identical column structures.</a:t>
            </a:r>
          </a:p>
          <a:p>
            <a:pPr marL="0" indent="0" algn="l">
              <a:lnSpc>
                <a:spcPct val="100000"/>
              </a:lnSpc>
            </a:pPr>
            <a:endPar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The final step of this stage is to produce a reproducible train and test split.</a:t>
            </a:r>
          </a:p>
          <a:p>
            <a:r>
              <a:rPr lang="en-US" altLang="zh-CN" dirty="0"/>
              <a:t>From the 1,265 clean samples, we generated 1,012 training rows and 253 test rows. The split uses deterministic stratified holdout. The stratification is based on app category and the North America rating label, with a 20% test ratio. This makes the split reproducible while preserving the main category and rating distribution.</a:t>
            </a:r>
          </a:p>
          <a:p>
            <a:r>
              <a:rPr lang="en-US" altLang="zh-CN" dirty="0"/>
              <a:t>The category distribution is also recorded: 616 samples are from All Other App Types, 633 are Game samples, and 16 are Social or Communication samples.</a:t>
            </a:r>
          </a:p>
          <a:p>
            <a:r>
              <a:rPr lang="en-US" altLang="zh-CN" dirty="0"/>
              <a:t>The delivered artifacts include the cleaned dataset, the train/test split, field documentation, and audit evidence. Together, these outputs provide clean rows, traceable exclusions, consistent field names, and reproducible splits for the following stages of the project.</a:t>
            </a:r>
          </a:p>
          <a:p>
            <a:pPr marL="0" indent="0" algn="l">
              <a:lnSpc>
                <a:spcPct val="100000"/>
              </a:lnSpc>
            </a:pPr>
            <a:endPar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This part is about Task 4, feature engineering and model input preparation.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In the whole project pipeline, our work is between data cleaning and model training. Task 3 provides a clean dataset, but the data is still in a raw questionnaire format. Machine learning models cannot directly use these text answers.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So our goal is to convert the cleaned questionnaire answers into numerical model inputs. Specifically, we encode different types of questions, prepare train, validation, and test datasets, encode the North America rating labels, and generate reusable metadata for the modeling stage.</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 very important requirement in this step is to avoid target leakage, because the dataset contains multiple regional rating outputs.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For the input, we mainly use four files from Task 3.</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first two are train.csv and test.csv, which contain the cleaned questionnaire samples. The other two are column_groups.json and data_dictionary.csv. These metadata files tell us which columns are features, which columns are target labels, and what type each question is.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After feature engineering, we generate several outputs for Task 5. The most important ones are X_train, X_val, and X_test, which are the encoded feature matrices. We also generate y_train, y_val, and y_test as encoded labels.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Besides that, we provide a feature dictionary, label mapping, class weights, sparse matrix files, and an engineering report. These files make the next modeling step easier and more reproducible.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In this task, we choose rating__north_america as the prediction target. This corresponds to the ESRB-style age rating in North America.</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For model inputs, we only allow the questionnaire category and the answer columns. These columns start with answer double underscore.</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We explicitly exclude sample_id, split, and all rating columns. This is important because all regional rating fields are outputs of the same questionnaire. If we use one regional rating to predict another regional rating, the model would indirectly see the answer.</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So this leakage guard makes sure that the model learns from questionnaire answers, not from other rating results.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The cleaned dataset still contains categorical text values, so we need to encode them into numerical features.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For the category field and radio questions, we use one-hot encoding. Each possible answer becomes a binary feature.</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For checkbox questions, one sample may select multiple options. Therefore, we split the combined answer string and convert it into multi-hot features.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We also preserve structural missing values, such as inactive questions and not applicable questions. These values are meaningful because the questionnaire has a tree-like structure. If a question is inactive, that itself tells us something about the previous answers.</a:t>
            </a:r>
            <a:br>
              <a:rPr lang="en-US" altLang="zh-CN" sz="1400" b="0" i="0" u="none" strike="noStrike">
                <a:solidFill>
                  <a:srgbClr val="000000"/>
                </a:solidFill>
              </a:rPr>
            </a:br>
            <a:br>
              <a:rPr lang="en-US" altLang="zh-CN" sz="1400" b="0" i="0" u="none" strike="noStrike">
                <a:solidFill>
                  <a:srgbClr val="000000"/>
                </a:solidFill>
              </a:rPr>
            </a:br>
            <a:r>
              <a:rPr lang="en-US" altLang="zh-CN" sz="1400" b="0" i="0" u="none" strike="noStrike">
                <a:solidFill>
                  <a:srgbClr val="000000"/>
                </a:solidFill>
              </a:rPr>
              <a:t>/////</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Task 3 already provides a train and test split, and we keep the original test set unchanged.</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From the Task 3 training set, we further split out a validation set. Finally, we have 810 training samples, 202 validation samples, and 253 test samples.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validation split uses a fixed seed, so the result is reproducible. It is also stratified by questionnaire category and North America rating, so the label distribution is kept as stable as possible across different splits.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This gives Task 5 a clean setup for model training, model selection, and final testing.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Here we show the distribution of the North America rating labels.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task is a five-class classification problem. The five classes are Everyone, Everyone 10+, Teen, Mature 17+, and Adults only 18+.</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distribution is not perfectly balanced. Mature 17+ and Teen have more samples, while Everyone 10+ has fewer samples. This imbalance may affect model training, especially for minority classes.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Because of this, we also generate class weights, so downstream models can reduce bias toward majority classes.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After encoding, the feature space becomes much larger.</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Originally, we have 165 raw feature columns. After one-hot and multi-hot encoding, we get 758 encoded feature columns.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This expansion is expected. Radio questions produce one binary feature for each possible answer, and checkbox questions can produce multiple binary indicators for different selected options.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final output is a binary feature matrix, which can be directly used by common machine learning models such as logistic regression, random forest, support vector machines, or gradient boosting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Finally, we generate balanced class weights for the model training stage.</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purpose is to reduce the model's bias toward majority classes and give more importance to smaller classes. For example, Everyone 10+ receives a higher weight because it has fewer training samples.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Before delivering the outputs, we also run several validation checks. We make sure that train, validation, and test have exactly the same feature columns. We check that there are no missing values in the encoded matrices. We also verify that no rating columns are included as model inputs.</a:t>
            </a: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Overall, Task 4 produces a clean, reproducible, and leakage-free feature engineering pipeline for Task 5 model training.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In </a:t>
            </a:r>
            <a:r>
              <a:rPr lang="en-US" altLang="zh-CN" sz="1400" b="0" i="0" u="none" strike="noStrike" dirty="0">
                <a:solidFill>
                  <a:srgbClr val="000000"/>
                </a:solidFill>
              </a:rPr>
              <a:t>Chapter 5</a:t>
            </a:r>
            <a:r>
              <a:rPr lang="en-US" sz="1400" b="0" i="0" u="none" strike="noStrike" dirty="0">
                <a:solidFill>
                  <a:srgbClr val="000000"/>
                </a:solidFill>
              </a:rPr>
              <a:t>, we will delve into the results of our analysis and discuss their implications for safety.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Our analysis is based on the L1-regularized logistic regression model, which performed best in Chapter 4. By examining the model's coefficients, we can see which features most strongly influence each age rating. </a:t>
            </a:r>
            <a:b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br>
            <a:r>
              <a:rPr lang="zh-CN" altLang="zh-CN" dirty="0"/>
              <a:t>This slide shows that different age ratings are driven by different content patterns. Lower ratings are mainly influenced by lighter signals such as visual style, mild violence, gambling themes, and minor profanity. As the rating increases, the key drivers become more severe and explicit, including drug references, graphic violence, sexual themes, gambling, criminal techniques, and sexual violence. The main takeaway is that age classification depends not only on whether content exists, but also on its severity, frequency, and presentation style.</a:t>
            </a:r>
          </a:p>
          <a:p>
            <a:pPr marL="0" indent="0" algn="l">
              <a:lnSpc>
                <a:spcPct val="100000"/>
              </a:lnSpc>
            </a:pPr>
            <a:endPar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We tested whether using fewer features could still yield good results. Interestingly, using just 200 key features actually achieved a slightly higher accuracy than using all 758 features. This indicates significant redundancy in the original questionnaire. Collecting excessive low-information data is not only unnecessary but also increases costs. This finding suggests that both researchers and platform designers could benefit from simplifying the questionnaire to focus on the most informative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By looking at the model's prediction probabilities, we identified the most uncertain cases. These are primarily concentrated between the 'Teen' and 'Mature 17+' ratings, where the model's confidence is very low. The </a:t>
            </a:r>
            <a:r>
              <a:rPr lang="en-US" altLang="zh-CN"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Sample NO.239</a:t>
            </a:r>
            <a: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shows that the difference between the top two predictions is minimal. This isn't just a model error; it highlights the inherent ambiguity in the rating criteria themselves. Therefore, model uncertainty can be a valuable tool to flag borderline cases for human review.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We found that structural missing values, like '__INACTIVE__' or '__NOT_APPLICABLE__', are not just noise. In a branching questionnaire, these values actually carry important semantic information. For example, if a question about severe violence is marked '__INACTIVE__', it indicates that the game doesn't contain such content, which is a strong signal for a lower age rating. Our model confirmed this by assigning significant weights to these sentinel values. Therefore, it's better to treat them as informative signals rather than simply imputing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To summarize, this chapter has used our best model to analyze the key drivers of age ratings, identified significant redundancy in the questionnaire, pinpointed the 'Teen'/'Mature 17+' boundary as a major gray area, and highlighted the informative value of structural missing data. Based on these findings, we recommend strengthening validation for high-risk content, implementing human review for borderline cases, simplifying the questionnaire, and being cautious with small sample sizes. This analysis provides a data-driven foundation for improving age rating systems.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80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104880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1048804" name="日期占位符 3"/>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05" name="页脚占位符 4"/>
          <p:cNvSpPr>
            <a:spLocks noGrp="1"/>
          </p:cNvSpPr>
          <p:nvPr>
            <p:ph type="ftr" sz="quarter" idx="11"/>
          </p:nvPr>
        </p:nvSpPr>
        <p:spPr/>
        <p:txBody>
          <a:bodyPr/>
          <a:lstStyle/>
          <a:p>
            <a:endParaRPr lang="zh-CN" altLang="en-US"/>
          </a:p>
        </p:txBody>
      </p:sp>
      <p:sp>
        <p:nvSpPr>
          <p:cNvPr id="1048806" name="灯片编号占位符 5"/>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81" name="标题 1"/>
          <p:cNvSpPr>
            <a:spLocks noGrp="1"/>
          </p:cNvSpPr>
          <p:nvPr>
            <p:ph type="title"/>
          </p:nvPr>
        </p:nvSpPr>
        <p:spPr/>
        <p:txBody>
          <a:bodyPr/>
          <a:lstStyle/>
          <a:p>
            <a:r>
              <a:rPr lang="zh-CN" altLang="en-US"/>
              <a:t>单击此处编辑母版标题样式</a:t>
            </a:r>
          </a:p>
        </p:txBody>
      </p:sp>
      <p:sp>
        <p:nvSpPr>
          <p:cNvPr id="1048582"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83" name="日期占位符 3"/>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584" name="页脚占位符 4"/>
          <p:cNvSpPr>
            <a:spLocks noGrp="1"/>
          </p:cNvSpPr>
          <p:nvPr>
            <p:ph type="ftr" sz="quarter" idx="11"/>
          </p:nvPr>
        </p:nvSpPr>
        <p:spPr/>
        <p:txBody>
          <a:bodyPr/>
          <a:lstStyle/>
          <a:p>
            <a:endParaRPr lang="zh-CN" altLang="en-US"/>
          </a:p>
        </p:txBody>
      </p:sp>
      <p:sp>
        <p:nvSpPr>
          <p:cNvPr id="1048585" name="灯片编号占位符 5"/>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27"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1048828"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1048829" name="日期占位符 3"/>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30" name="页脚占位符 4"/>
          <p:cNvSpPr>
            <a:spLocks noGrp="1"/>
          </p:cNvSpPr>
          <p:nvPr>
            <p:ph type="ftr" sz="quarter" idx="11"/>
          </p:nvPr>
        </p:nvSpPr>
        <p:spPr/>
        <p:txBody>
          <a:bodyPr/>
          <a:lstStyle/>
          <a:p>
            <a:endParaRPr lang="zh-CN" altLang="en-US"/>
          </a:p>
        </p:txBody>
      </p:sp>
      <p:sp>
        <p:nvSpPr>
          <p:cNvPr id="1048831" name="灯片编号占位符 5"/>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832" name="标题 1"/>
          <p:cNvSpPr>
            <a:spLocks noGrp="1"/>
          </p:cNvSpPr>
          <p:nvPr>
            <p:ph type="title"/>
          </p:nvPr>
        </p:nvSpPr>
        <p:spPr/>
        <p:txBody>
          <a:bodyPr/>
          <a:lstStyle/>
          <a:p>
            <a:r>
              <a:rPr lang="zh-CN" altLang="en-US"/>
              <a:t>单击此处编辑母版标题样式</a:t>
            </a:r>
          </a:p>
        </p:txBody>
      </p:sp>
      <p:sp>
        <p:nvSpPr>
          <p:cNvPr id="104883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3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35" name="日期占位符 4"/>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36" name="页脚占位符 5"/>
          <p:cNvSpPr>
            <a:spLocks noGrp="1"/>
          </p:cNvSpPr>
          <p:nvPr>
            <p:ph type="ftr" sz="quarter" idx="11"/>
          </p:nvPr>
        </p:nvSpPr>
        <p:spPr/>
        <p:txBody>
          <a:bodyPr/>
          <a:lstStyle/>
          <a:p>
            <a:endParaRPr lang="zh-CN" altLang="en-US"/>
          </a:p>
        </p:txBody>
      </p:sp>
      <p:sp>
        <p:nvSpPr>
          <p:cNvPr id="1048837" name="灯片编号占位符 6"/>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838"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1048839"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840"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41"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842"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43" name="日期占位符 6"/>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44" name="页脚占位符 7"/>
          <p:cNvSpPr>
            <a:spLocks noGrp="1"/>
          </p:cNvSpPr>
          <p:nvPr>
            <p:ph type="ftr" sz="quarter" idx="11"/>
          </p:nvPr>
        </p:nvSpPr>
        <p:spPr/>
        <p:txBody>
          <a:bodyPr/>
          <a:lstStyle/>
          <a:p>
            <a:endParaRPr lang="zh-CN" altLang="en-US"/>
          </a:p>
        </p:txBody>
      </p:sp>
      <p:sp>
        <p:nvSpPr>
          <p:cNvPr id="1048845" name="灯片编号占位符 8"/>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07" name="标题 1"/>
          <p:cNvSpPr>
            <a:spLocks noGrp="1"/>
          </p:cNvSpPr>
          <p:nvPr>
            <p:ph type="title"/>
          </p:nvPr>
        </p:nvSpPr>
        <p:spPr/>
        <p:txBody>
          <a:bodyPr/>
          <a:lstStyle/>
          <a:p>
            <a:r>
              <a:rPr lang="zh-CN" altLang="en-US"/>
              <a:t>单击此处编辑母版标题样式</a:t>
            </a:r>
          </a:p>
        </p:txBody>
      </p:sp>
      <p:sp>
        <p:nvSpPr>
          <p:cNvPr id="1048808" name="日期占位符 2"/>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09" name="页脚占位符 3"/>
          <p:cNvSpPr>
            <a:spLocks noGrp="1"/>
          </p:cNvSpPr>
          <p:nvPr>
            <p:ph type="ftr" sz="quarter" idx="11"/>
          </p:nvPr>
        </p:nvSpPr>
        <p:spPr/>
        <p:txBody>
          <a:bodyPr/>
          <a:lstStyle/>
          <a:p>
            <a:endParaRPr lang="zh-CN" altLang="en-US"/>
          </a:p>
        </p:txBody>
      </p:sp>
      <p:sp>
        <p:nvSpPr>
          <p:cNvPr id="1048810" name="灯片编号占位符 4"/>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591" name="日期占位符 1"/>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592" name="页脚占位符 2"/>
          <p:cNvSpPr>
            <a:spLocks noGrp="1"/>
          </p:cNvSpPr>
          <p:nvPr>
            <p:ph type="ftr" sz="quarter" idx="11"/>
          </p:nvPr>
        </p:nvSpPr>
        <p:spPr/>
        <p:txBody>
          <a:bodyPr/>
          <a:lstStyle/>
          <a:p>
            <a:endParaRPr lang="zh-CN" altLang="en-US"/>
          </a:p>
        </p:txBody>
      </p:sp>
      <p:sp>
        <p:nvSpPr>
          <p:cNvPr id="1048593" name="灯片编号占位符 3"/>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846"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1048847"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48"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849" name="日期占位符 4"/>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50" name="页脚占位符 5"/>
          <p:cNvSpPr>
            <a:spLocks noGrp="1"/>
          </p:cNvSpPr>
          <p:nvPr>
            <p:ph type="ftr" sz="quarter" idx="11"/>
          </p:nvPr>
        </p:nvSpPr>
        <p:spPr/>
        <p:txBody>
          <a:bodyPr/>
          <a:lstStyle/>
          <a:p>
            <a:endParaRPr lang="zh-CN" altLang="en-US"/>
          </a:p>
        </p:txBody>
      </p:sp>
      <p:sp>
        <p:nvSpPr>
          <p:cNvPr id="1048851" name="灯片编号占位符 6"/>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816"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1048817"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818"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819" name="日期占位符 4"/>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20" name="页脚占位符 5"/>
          <p:cNvSpPr>
            <a:spLocks noGrp="1"/>
          </p:cNvSpPr>
          <p:nvPr>
            <p:ph type="ftr" sz="quarter" idx="11"/>
          </p:nvPr>
        </p:nvSpPr>
        <p:spPr/>
        <p:txBody>
          <a:bodyPr/>
          <a:lstStyle/>
          <a:p>
            <a:endParaRPr lang="zh-CN" altLang="en-US"/>
          </a:p>
        </p:txBody>
      </p:sp>
      <p:sp>
        <p:nvSpPr>
          <p:cNvPr id="1048821" name="灯片编号占位符 6"/>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822" name="标题 1"/>
          <p:cNvSpPr>
            <a:spLocks noGrp="1"/>
          </p:cNvSpPr>
          <p:nvPr>
            <p:ph type="title"/>
          </p:nvPr>
        </p:nvSpPr>
        <p:spPr/>
        <p:txBody>
          <a:bodyPr/>
          <a:lstStyle/>
          <a:p>
            <a:r>
              <a:rPr lang="zh-CN" altLang="en-US"/>
              <a:t>单击此处编辑母版标题样式</a:t>
            </a:r>
          </a:p>
        </p:txBody>
      </p:sp>
      <p:sp>
        <p:nvSpPr>
          <p:cNvPr id="104882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24" name="日期占位符 3"/>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25" name="页脚占位符 4"/>
          <p:cNvSpPr>
            <a:spLocks noGrp="1"/>
          </p:cNvSpPr>
          <p:nvPr>
            <p:ph type="ftr" sz="quarter" idx="11"/>
          </p:nvPr>
        </p:nvSpPr>
        <p:spPr/>
        <p:txBody>
          <a:bodyPr/>
          <a:lstStyle/>
          <a:p>
            <a:endParaRPr lang="zh-CN" altLang="en-US"/>
          </a:p>
        </p:txBody>
      </p:sp>
      <p:sp>
        <p:nvSpPr>
          <p:cNvPr id="1048826" name="灯片编号占位符 5"/>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11"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1048812"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13" name="日期占位符 3"/>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814" name="页脚占位符 4"/>
          <p:cNvSpPr>
            <a:spLocks noGrp="1"/>
          </p:cNvSpPr>
          <p:nvPr>
            <p:ph type="ftr" sz="quarter" idx="11"/>
          </p:nvPr>
        </p:nvSpPr>
        <p:spPr/>
        <p:txBody>
          <a:bodyPr/>
          <a:lstStyle/>
          <a:p>
            <a:endParaRPr lang="zh-CN" altLang="en-US"/>
          </a:p>
        </p:txBody>
      </p:sp>
      <p:sp>
        <p:nvSpPr>
          <p:cNvPr id="1048815" name="灯片编号占位符 5"/>
          <p:cNvSpPr>
            <a:spLocks noGrp="1"/>
          </p:cNvSpPr>
          <p:nvPr>
            <p:ph type="sldNum" sz="quarter" idx="12"/>
          </p:nvPr>
        </p:nvSpPr>
        <p:spPr/>
        <p:txBody>
          <a:bodyPr/>
          <a:lstStyle/>
          <a:p>
            <a:fld id="{B8EC629E-8DEA-4C3D-8B15-BEE892BCF927}"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6694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BA10D-2B2D-471A-9601-27474E66AA77}" type="datetimeFigureOut">
              <a:rPr lang="zh-CN" altLang="en-US" smtClean="0"/>
              <a:t>2026/6/22</a:t>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EC629E-8DEA-4C3D-8B15-BEE892BCF92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image" Target="../media/image5.png"/><Relationship Id="rId3" Type="http://schemas.openxmlformats.org/officeDocument/2006/relationships/tags" Target="../tags/tag5.xml"/><Relationship Id="rId21" Type="http://schemas.openxmlformats.org/officeDocument/2006/relationships/tags" Target="../tags/tag23.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image" Target="../media/image4.png"/><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notesSlide" Target="../notesSlides/notesSlide2.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slideLayout" Target="../slideLayouts/slideLayout7.xml"/><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15.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5.png"/><Relationship Id="rId5" Type="http://schemas.openxmlformats.org/officeDocument/2006/relationships/tags" Target="../tags/tag29.xml"/><Relationship Id="rId10" Type="http://schemas.openxmlformats.org/officeDocument/2006/relationships/notesSlide" Target="../notesSlides/notesSlide18.xml"/><Relationship Id="rId4" Type="http://schemas.openxmlformats.org/officeDocument/2006/relationships/tags" Target="../tags/tag28.xml"/><Relationship Id="rId9"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5.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6.png"/><Relationship Id="rId5" Type="http://schemas.openxmlformats.org/officeDocument/2006/relationships/notesSlide" Target="../notesSlides/notesSlide19.xml"/><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3" Type="http://schemas.openxmlformats.org/officeDocument/2006/relationships/tags" Target="../tags/tag48.xml"/><Relationship Id="rId18" Type="http://schemas.openxmlformats.org/officeDocument/2006/relationships/tags" Target="../tags/tag53.xml"/><Relationship Id="rId26" Type="http://schemas.openxmlformats.org/officeDocument/2006/relationships/tags" Target="../tags/tag61.xml"/><Relationship Id="rId3" Type="http://schemas.openxmlformats.org/officeDocument/2006/relationships/tags" Target="../tags/tag38.xml"/><Relationship Id="rId21" Type="http://schemas.openxmlformats.org/officeDocument/2006/relationships/tags" Target="../tags/tag56.xml"/><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5" Type="http://schemas.openxmlformats.org/officeDocument/2006/relationships/tags" Target="../tags/tag60.xml"/><Relationship Id="rId33" Type="http://schemas.openxmlformats.org/officeDocument/2006/relationships/image" Target="../media/image4.png"/><Relationship Id="rId2" Type="http://schemas.openxmlformats.org/officeDocument/2006/relationships/tags" Target="../tags/tag37.xml"/><Relationship Id="rId16" Type="http://schemas.openxmlformats.org/officeDocument/2006/relationships/tags" Target="../tags/tag51.xml"/><Relationship Id="rId20" Type="http://schemas.openxmlformats.org/officeDocument/2006/relationships/tags" Target="../tags/tag55.xml"/><Relationship Id="rId29" Type="http://schemas.openxmlformats.org/officeDocument/2006/relationships/tags" Target="../tags/tag64.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24" Type="http://schemas.openxmlformats.org/officeDocument/2006/relationships/tags" Target="../tags/tag59.xml"/><Relationship Id="rId32" Type="http://schemas.openxmlformats.org/officeDocument/2006/relationships/image" Target="../media/image5.png"/><Relationship Id="rId5" Type="http://schemas.openxmlformats.org/officeDocument/2006/relationships/tags" Target="../tags/tag40.xml"/><Relationship Id="rId15" Type="http://schemas.openxmlformats.org/officeDocument/2006/relationships/tags" Target="../tags/tag50.xml"/><Relationship Id="rId23" Type="http://schemas.openxmlformats.org/officeDocument/2006/relationships/tags" Target="../tags/tag58.xml"/><Relationship Id="rId28" Type="http://schemas.openxmlformats.org/officeDocument/2006/relationships/tags" Target="../tags/tag63.xml"/><Relationship Id="rId10" Type="http://schemas.openxmlformats.org/officeDocument/2006/relationships/tags" Target="../tags/tag45.xml"/><Relationship Id="rId19" Type="http://schemas.openxmlformats.org/officeDocument/2006/relationships/tags" Target="../tags/tag54.xml"/><Relationship Id="rId31" Type="http://schemas.openxmlformats.org/officeDocument/2006/relationships/notesSlide" Target="../notesSlides/notesSlide20.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 Id="rId22" Type="http://schemas.openxmlformats.org/officeDocument/2006/relationships/tags" Target="../tags/tag57.xml"/><Relationship Id="rId27" Type="http://schemas.openxmlformats.org/officeDocument/2006/relationships/tags" Target="../tags/tag62.xml"/><Relationship Id="rId30" Type="http://schemas.openxmlformats.org/officeDocument/2006/relationships/slideLayout" Target="../slideLayouts/slideLayout1.xml"/><Relationship Id="rId8" Type="http://schemas.openxmlformats.org/officeDocument/2006/relationships/tags" Target="../tags/tag43.xml"/></Relationships>
</file>

<file path=ppt/slides/_rels/slide2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67.xml"/><Relationship Id="rId7" Type="http://schemas.openxmlformats.org/officeDocument/2006/relationships/image" Target="../media/image5.pn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notesSlide" Target="../notesSlides/notesSlide21.xml"/><Relationship Id="rId5" Type="http://schemas.openxmlformats.org/officeDocument/2006/relationships/slideLayout" Target="../slideLayouts/slideLayout1.xml"/><Relationship Id="rId10" Type="http://schemas.openxmlformats.org/officeDocument/2006/relationships/image" Target="../media/image18.png"/><Relationship Id="rId4" Type="http://schemas.openxmlformats.org/officeDocument/2006/relationships/tags" Target="../tags/tag68.xml"/><Relationship Id="rId9"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6"/>
          <p:cNvGrpSpPr/>
          <p:nvPr/>
        </p:nvGrpSpPr>
        <p:grpSpPr>
          <a:xfrm>
            <a:off x="183" y="1280318"/>
            <a:ext cx="12191635" cy="4838898"/>
            <a:chOff x="-1" y="1609725"/>
            <a:chExt cx="12192002" cy="4243803"/>
          </a:xfrm>
        </p:grpSpPr>
        <p:pic>
          <p:nvPicPr>
            <p:cNvPr id="2097152" name="Picture 3"/>
            <p:cNvPicPr>
              <a:picLocks noChangeAspect="1" noChangeArrowheads="1"/>
            </p:cNvPicPr>
            <p:nvPr/>
          </p:nvPicPr>
          <p:blipFill rotWithShape="1">
            <a:blip r:embed="rId4" cstate="print"/>
            <a:srcRect l="2767" r="7205" b="57679"/>
            <a:stretch>
              <a:fillRect/>
            </a:stretch>
          </p:blipFill>
          <p:spPr bwMode="auto">
            <a:xfrm rot="10800000">
              <a:off x="-1" y="5218330"/>
              <a:ext cx="12192001" cy="635198"/>
            </a:xfrm>
            <a:prstGeom prst="rect">
              <a:avLst/>
            </a:prstGeom>
            <a:noFill/>
            <a:ln>
              <a:noFill/>
            </a:ln>
            <a:effectLst/>
          </p:spPr>
        </p:pic>
        <p:sp>
          <p:nvSpPr>
            <p:cNvPr id="1048586" name="矩形 9"/>
            <p:cNvSpPr/>
            <p:nvPr/>
          </p:nvSpPr>
          <p:spPr>
            <a:xfrm>
              <a:off x="1" y="1609725"/>
              <a:ext cx="12192000" cy="3609333"/>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6230"/>
              <a:endParaRPr lang="zh-CN" altLang="en-US" sz="1245">
                <a:solidFill>
                  <a:srgbClr val="FFFFFF"/>
                </a:solidFill>
                <a:latin typeface="Arial" panose="020B0604020202020204"/>
                <a:ea typeface="微软雅黑" panose="020B0503020204020204" pitchFamily="34" charset="-122"/>
              </a:endParaRPr>
            </a:p>
          </p:txBody>
        </p:sp>
      </p:grpSp>
      <p:sp>
        <p:nvSpPr>
          <p:cNvPr id="1048587" name="文本框 12"/>
          <p:cNvSpPr txBox="1"/>
          <p:nvPr/>
        </p:nvSpPr>
        <p:spPr>
          <a:xfrm>
            <a:off x="2563490" y="1651876"/>
            <a:ext cx="4633359" cy="398780"/>
          </a:xfrm>
          <a:prstGeom prst="rect">
            <a:avLst/>
          </a:prstGeom>
          <a:noFill/>
        </p:spPr>
        <p:txBody>
          <a:bodyPr wrap="square" rtlCol="0">
            <a:spAutoFit/>
          </a:bodyPr>
          <a:lstStyle/>
          <a:p>
            <a:r>
              <a:rPr lang="en-US" altLang="zh-CN" sz="2000" dirty="0">
                <a:solidFill>
                  <a:schemeClr val="bg2">
                    <a:lumMod val="50000"/>
                  </a:schemeClr>
                </a:solidFill>
                <a:latin typeface="Segoe UI" panose="020B0502040204020203" charset="0"/>
                <a:ea typeface="宋体" panose="02010600030101010101" pitchFamily="2" charset="-122"/>
                <a:cs typeface="Segoe UI" panose="020B0502040204020203" charset="0"/>
              </a:rPr>
              <a:t>Social Network Privacy and Security</a:t>
            </a:r>
          </a:p>
        </p:txBody>
      </p:sp>
      <p:sp>
        <p:nvSpPr>
          <p:cNvPr id="1048588" name="文本框 13"/>
          <p:cNvSpPr txBox="1"/>
          <p:nvPr/>
        </p:nvSpPr>
        <p:spPr>
          <a:xfrm>
            <a:off x="2563495" y="2132330"/>
            <a:ext cx="8796655" cy="1076325"/>
          </a:xfrm>
          <a:prstGeom prst="rect">
            <a:avLst/>
          </a:prstGeom>
          <a:noFill/>
        </p:spPr>
        <p:txBody>
          <a:bodyPr wrap="square" rtlCol="0">
            <a:spAutoFit/>
          </a:bodyPr>
          <a:lstStyle/>
          <a:p>
            <a:r>
              <a:rPr lang="en-US" altLang="zh-CN" sz="3200" b="1" dirty="0">
                <a:solidFill>
                  <a:schemeClr val="accent1">
                    <a:lumMod val="50000"/>
                  </a:schemeClr>
                </a:solidFill>
                <a:latin typeface="Arial" panose="020B0604020202020204" pitchFamily="34" charset="0"/>
                <a:ea typeface="汉仪雅酷黑-85J" panose="00020600040101010101" charset="-122"/>
                <a:cs typeface="Arial" panose="020B0604020202020204" pitchFamily="34" charset="0"/>
              </a:rPr>
              <a:t>Project5</a:t>
            </a:r>
            <a:r>
              <a:rPr lang="zh-CN" altLang="en-US" sz="3200" b="1" dirty="0">
                <a:solidFill>
                  <a:schemeClr val="accent1">
                    <a:lumMod val="50000"/>
                  </a:schemeClr>
                </a:solidFill>
                <a:latin typeface="Arial" panose="020B0604020202020204" pitchFamily="34" charset="0"/>
                <a:ea typeface="汉仪雅酷黑-85J" panose="00020600040101010101" charset="-122"/>
                <a:cs typeface="Arial" panose="020B0604020202020204" pitchFamily="34" charset="0"/>
              </a:rPr>
              <a:t>：</a:t>
            </a:r>
            <a:endParaRPr lang="en-US" altLang="zh-CN" sz="3200" b="1" dirty="0">
              <a:solidFill>
                <a:schemeClr val="accent1">
                  <a:lumMod val="50000"/>
                </a:schemeClr>
              </a:solidFill>
              <a:latin typeface="Arial" panose="020B0604020202020204" pitchFamily="34" charset="0"/>
              <a:ea typeface="汉仪雅酷黑-85J" panose="00020600040101010101" charset="-122"/>
              <a:cs typeface="Arial" panose="020B0604020202020204" pitchFamily="34" charset="0"/>
            </a:endParaRPr>
          </a:p>
          <a:p>
            <a:r>
              <a:rPr lang="en-US" altLang="zh-CN" sz="3200" b="1" dirty="0">
                <a:solidFill>
                  <a:schemeClr val="accent1">
                    <a:lumMod val="50000"/>
                  </a:schemeClr>
                </a:solidFill>
                <a:latin typeface="Arial" panose="020B0604020202020204" pitchFamily="34" charset="0"/>
                <a:ea typeface="汉仪雅酷黑-85J" panose="00020600040101010101" charset="-122"/>
                <a:cs typeface="Arial" panose="020B0604020202020204" pitchFamily="34" charset="0"/>
              </a:rPr>
              <a:t>Decoding the Google Play Rating Black Box</a:t>
            </a:r>
          </a:p>
        </p:txBody>
      </p:sp>
      <p:cxnSp>
        <p:nvCxnSpPr>
          <p:cNvPr id="3145728" name="直接连接符 14"/>
          <p:cNvCxnSpPr/>
          <p:nvPr/>
        </p:nvCxnSpPr>
        <p:spPr>
          <a:xfrm flipH="1">
            <a:off x="2563497" y="3394761"/>
            <a:ext cx="9753600" cy="34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48589" name="文本框 25"/>
          <p:cNvSpPr txBox="1"/>
          <p:nvPr/>
        </p:nvSpPr>
        <p:spPr>
          <a:xfrm>
            <a:off x="2563495" y="3668395"/>
            <a:ext cx="7952740" cy="398780"/>
          </a:xfrm>
          <a:prstGeom prst="rect">
            <a:avLst/>
          </a:prstGeom>
          <a:noFill/>
        </p:spPr>
        <p:txBody>
          <a:bodyPr wrap="square" rtlCol="0">
            <a:spAutoFit/>
          </a:bodyPr>
          <a:lstStyle/>
          <a:p>
            <a:r>
              <a:rPr lang="en-US" sz="2000" b="1" dirty="0">
                <a:solidFill>
                  <a:schemeClr val="bg2">
                    <a:lumMod val="50000"/>
                  </a:schemeClr>
                </a:solidFill>
                <a:latin typeface="Segoe UI" panose="020B0502040204020203" charset="0"/>
                <a:ea typeface="宋体" panose="02010600030101010101" pitchFamily="2" charset="-122"/>
                <a:cs typeface="Segoe UI" panose="020B0502040204020203" charset="0"/>
              </a:rPr>
              <a:t>BoFan Chen, YuHan Chen, ZiHan Chen, ZiXuan Wang, JiaShun Shi</a:t>
            </a:r>
            <a:endParaRPr lang="en-US" altLang="en-US" sz="2000" b="1" dirty="0">
              <a:solidFill>
                <a:schemeClr val="bg2">
                  <a:lumMod val="50000"/>
                </a:schemeClr>
              </a:solidFill>
              <a:latin typeface="Segoe UI" panose="020B0502040204020203" charset="0"/>
              <a:ea typeface="宋体" panose="02010600030101010101" pitchFamily="2" charset="-122"/>
              <a:cs typeface="Segoe UI" panose="020B0502040204020203" charset="0"/>
            </a:endParaRPr>
          </a:p>
        </p:txBody>
      </p:sp>
      <p:sp>
        <p:nvSpPr>
          <p:cNvPr id="1048590" name="文本框 27"/>
          <p:cNvSpPr txBox="1"/>
          <p:nvPr/>
        </p:nvSpPr>
        <p:spPr>
          <a:xfrm>
            <a:off x="9844407" y="5959409"/>
            <a:ext cx="2472302" cy="346075"/>
          </a:xfrm>
          <a:prstGeom prst="rect">
            <a:avLst/>
          </a:prstGeom>
          <a:noFill/>
        </p:spPr>
        <p:txBody>
          <a:bodyPr wrap="square" rtlCol="0">
            <a:spAutoFit/>
          </a:bodyPr>
          <a:lstStyle/>
          <a:p>
            <a:r>
              <a:rPr lang="en-US" altLang="zh-CN" sz="1660" b="1" dirty="0">
                <a:solidFill>
                  <a:schemeClr val="bg2">
                    <a:lumMod val="50000"/>
                  </a:schemeClr>
                </a:solidFill>
                <a:latin typeface="Segoe UI" panose="020B0502040204020203" charset="0"/>
                <a:ea typeface="HYXuanSong 75J" panose="00020600040101010101" charset="-122"/>
                <a:cs typeface="Segoe UI" panose="020B0502040204020203" charset="0"/>
              </a:rPr>
              <a:t>2026.6.22</a:t>
            </a:r>
            <a:endParaRPr lang="zh-CN" altLang="en-US" sz="1660" b="1" dirty="0">
              <a:solidFill>
                <a:schemeClr val="bg2">
                  <a:lumMod val="50000"/>
                </a:schemeClr>
              </a:solidFill>
              <a:latin typeface="Segoe UI" panose="020B0502040204020203" charset="0"/>
              <a:ea typeface="HYXuanSong 75J" panose="00020600040101010101" charset="-122"/>
              <a:cs typeface="Segoe UI" panose="020B0502040204020203" charset="0"/>
            </a:endParaRP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988" y="0"/>
            <a:ext cx="4465329" cy="1520955"/>
          </a:xfrm>
          <a:prstGeom prst="rect">
            <a:avLst/>
          </a:prstGeom>
        </p:spPr>
      </p:pic>
      <p:pic>
        <p:nvPicPr>
          <p:cNvPr id="2097157" name="图片 102" descr="C:/Users/hugq/Desktop/微信图片_20240302080713.png微信图片_20240302080713"/>
          <p:cNvPicPr>
            <a:picLocks noChangeAspect="1"/>
          </p:cNvPicPr>
          <p:nvPr>
            <p:custDataLst>
              <p:tags r:id="rId1"/>
            </p:custDataLst>
          </p:nvPr>
        </p:nvPicPr>
        <p:blipFill>
          <a:blip r:embed="rId6"/>
          <a:srcRect t="10177" b="10177"/>
          <a:stretch>
            <a:fillRect/>
          </a:stretch>
        </p:blipFill>
        <p:spPr>
          <a:xfrm>
            <a:off x="-915035" y="1436370"/>
            <a:ext cx="3478530" cy="3575050"/>
          </a:xfrm>
          <a:prstGeom prst="rect">
            <a:avLst/>
          </a:prstGeom>
          <a:effectLst>
            <a:outerShdw blurRad="50800" dist="127000" dir="21540000" sx="98000" sy="98000" algn="ctr" rotWithShape="0">
              <a:schemeClr val="tx2">
                <a:lumMod val="75000"/>
                <a:alpha val="10000"/>
              </a:scheme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5" name="图片 53" descr="C:/Users/hugq/Desktop/图片2.png图片2"/>
          <p:cNvPicPr>
            <a:picLocks noChangeAspect="1"/>
          </p:cNvPicPr>
          <p:nvPr/>
        </p:nvPicPr>
        <p:blipFill>
          <a:blip r:embed="rId25">
            <a:duotone>
              <a:schemeClr val="bg2">
                <a:shade val="45000"/>
                <a:satMod val="135000"/>
              </a:schemeClr>
              <a:prstClr val="white"/>
            </a:duotone>
          </a:blip>
          <a:srcRect t="8215" b="8215"/>
          <a:stretch>
            <a:fillRect/>
          </a:stretch>
        </p:blipFill>
        <p:spPr>
          <a:xfrm>
            <a:off x="-1743710" y="-572770"/>
            <a:ext cx="5619115" cy="4364355"/>
          </a:xfrm>
          <a:prstGeom prst="rect">
            <a:avLst/>
          </a:prstGeom>
          <a:effectLst>
            <a:outerShdw blurRad="215900" dist="203200" dir="20940000" sx="99000" sy="99000" algn="ctr" rotWithShape="0">
              <a:srgbClr val="000000">
                <a:alpha val="17000"/>
              </a:srgbClr>
            </a:outerShdw>
          </a:effectLst>
        </p:spPr>
      </p:pic>
      <p:sp>
        <p:nvSpPr>
          <p:cNvPr id="1048594" name="文本框 33"/>
          <p:cNvSpPr txBox="1"/>
          <p:nvPr/>
        </p:nvSpPr>
        <p:spPr>
          <a:xfrm>
            <a:off x="478790" y="401955"/>
            <a:ext cx="2565400" cy="645160"/>
          </a:xfrm>
          <a:prstGeom prst="rect">
            <a:avLst/>
          </a:prstGeom>
          <a:noFill/>
        </p:spPr>
        <p:txBody>
          <a:bodyPr wrap="square" rtlCol="0">
            <a:spAutoFit/>
          </a:bodyPr>
          <a:lstStyle/>
          <a:p>
            <a:r>
              <a:rPr lang="en-US" altLang="zh-CN" sz="3600" b="1" dirty="0">
                <a:solidFill>
                  <a:srgbClr val="595959"/>
                </a:solidFill>
                <a:latin typeface="Arial" panose="020B0604020202020204" pitchFamily="34" charset="0"/>
                <a:ea typeface="宋体" panose="02010600030101010101" pitchFamily="2" charset="-122"/>
                <a:cs typeface="Arial" panose="020B0604020202020204" pitchFamily="34" charset="0"/>
              </a:rPr>
              <a:t>Content</a:t>
            </a:r>
          </a:p>
        </p:txBody>
      </p:sp>
      <p:cxnSp>
        <p:nvCxnSpPr>
          <p:cNvPr id="3145731" name="肘形连接符 4"/>
          <p:cNvCxnSpPr/>
          <p:nvPr>
            <p:custDataLst>
              <p:tags r:id="rId1"/>
            </p:custDataLst>
          </p:nvPr>
        </p:nvCxnSpPr>
        <p:spPr>
          <a:xfrm>
            <a:off x="478657" y="4617025"/>
            <a:ext cx="3489231" cy="1869231"/>
          </a:xfrm>
          <a:prstGeom prst="bentConnector3">
            <a:avLst>
              <a:gd name="adj1" fmla="val 83"/>
            </a:avLst>
          </a:prstGeom>
          <a:ln w="19050">
            <a:solidFill>
              <a:schemeClr val="bg1">
                <a:lumMod val="6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45732" name="肘形连接符 2"/>
          <p:cNvCxnSpPr/>
          <p:nvPr>
            <p:custDataLst>
              <p:tags r:id="rId2"/>
            </p:custDataLst>
          </p:nvPr>
        </p:nvCxnSpPr>
        <p:spPr>
          <a:xfrm rot="10800000" flipV="1">
            <a:off x="8273869" y="4555241"/>
            <a:ext cx="3489231" cy="1869231"/>
          </a:xfrm>
          <a:prstGeom prst="bentConnector3">
            <a:avLst>
              <a:gd name="adj1" fmla="val -114"/>
            </a:avLst>
          </a:prstGeom>
          <a:ln w="19050">
            <a:solidFill>
              <a:schemeClr val="bg1">
                <a:lumMod val="6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7" name="Picture 1"/>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cxnSp>
        <p:nvCxnSpPr>
          <p:cNvPr id="23"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sp>
        <p:nvSpPr>
          <p:cNvPr id="9" name="矩形 112"/>
          <p:cNvSpPr/>
          <p:nvPr>
            <p:custDataLst>
              <p:tags r:id="rId3"/>
            </p:custDataLst>
          </p:nvPr>
        </p:nvSpPr>
        <p:spPr>
          <a:xfrm>
            <a:off x="909320" y="1461135"/>
            <a:ext cx="10372725" cy="549275"/>
          </a:xfrm>
          <a:prstGeom prst="rect">
            <a:avLst/>
          </a:prstGeom>
          <a:solidFill>
            <a:schemeClr val="bg2"/>
          </a:solidFill>
          <a:ln w="381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8" name="图片 102" descr="C:/Users/hugq/Desktop/微信图片_20240302080713.png微信图片_20240302080713"/>
          <p:cNvPicPr>
            <a:picLocks noChangeAspect="1"/>
          </p:cNvPicPr>
          <p:nvPr>
            <p:custDataLst>
              <p:tags r:id="rId4"/>
            </p:custDataLst>
          </p:nvPr>
        </p:nvPicPr>
        <p:blipFill>
          <a:blip r:embed="rId27"/>
          <a:srcRect t="10177" b="10177"/>
          <a:stretch>
            <a:fillRect/>
          </a:stretch>
        </p:blipFill>
        <p:spPr>
          <a:xfrm>
            <a:off x="909320" y="1464945"/>
            <a:ext cx="530860" cy="545465"/>
          </a:xfrm>
          <a:prstGeom prst="rect">
            <a:avLst/>
          </a:prstGeom>
          <a:effectLst>
            <a:outerShdw blurRad="50800" dist="127000" dir="21540000" sx="98000" sy="98000" algn="ctr" rotWithShape="0">
              <a:schemeClr val="tx2">
                <a:lumMod val="75000"/>
                <a:alpha val="10000"/>
              </a:schemeClr>
            </a:outerShdw>
          </a:effectLst>
        </p:spPr>
      </p:pic>
      <p:sp>
        <p:nvSpPr>
          <p:cNvPr id="10" name="文本框 9"/>
          <p:cNvSpPr txBox="1"/>
          <p:nvPr>
            <p:custDataLst>
              <p:tags r:id="rId5"/>
            </p:custDataLst>
          </p:nvPr>
        </p:nvSpPr>
        <p:spPr>
          <a:xfrm>
            <a:off x="1490980" y="1464945"/>
            <a:ext cx="1828800" cy="545465"/>
          </a:xfrm>
          <a:prstGeom prst="rect">
            <a:avLst/>
          </a:prstGeom>
          <a:noFill/>
        </p:spPr>
        <p:txBody>
          <a:bodyPr wrap="square" rtlCol="0">
            <a:noAutofit/>
          </a:bodyPr>
          <a:lstStyle/>
          <a:p>
            <a:r>
              <a:rPr lang="en-US" altLang="zh-CN" sz="2800" b="1">
                <a:latin typeface="Arial" panose="020B0604020202020204" pitchFamily="34" charset="0"/>
                <a:cs typeface="Arial" panose="020B0604020202020204" pitchFamily="34" charset="0"/>
              </a:rPr>
              <a:t>Chapter1</a:t>
            </a:r>
          </a:p>
        </p:txBody>
      </p:sp>
      <p:sp>
        <p:nvSpPr>
          <p:cNvPr id="11" name="文本框 10"/>
          <p:cNvSpPr txBox="1"/>
          <p:nvPr>
            <p:custDataLst>
              <p:tags r:id="rId6"/>
            </p:custDataLst>
          </p:nvPr>
        </p:nvSpPr>
        <p:spPr>
          <a:xfrm>
            <a:off x="3319780" y="1502410"/>
            <a:ext cx="7950835" cy="450215"/>
          </a:xfrm>
          <a:prstGeom prst="rect">
            <a:avLst/>
          </a:prstGeom>
          <a:noFill/>
        </p:spPr>
        <p:txBody>
          <a:bodyPr wrap="square" rtlCol="0">
            <a:noAutofit/>
          </a:bodyPr>
          <a:lstStyle/>
          <a:p>
            <a:r>
              <a:rPr lang="en-US" altLang="zh-CN" sz="2400" dirty="0">
                <a:solidFill>
                  <a:schemeClr val="accent1">
                    <a:lumMod val="75000"/>
                  </a:schemeClr>
                </a:solidFill>
                <a:latin typeface="Segoe UI" panose="020B0502040204020203" charset="0"/>
                <a:cs typeface="Segoe UI" panose="020B0502040204020203" charset="0"/>
              </a:rPr>
              <a:t>Intro</a:t>
            </a:r>
            <a:r>
              <a:rPr lang="zh-CN" altLang="en-US" sz="2400" dirty="0">
                <a:solidFill>
                  <a:schemeClr val="accent1">
                    <a:lumMod val="75000"/>
                  </a:schemeClr>
                </a:solidFill>
                <a:latin typeface="Segoe UI" panose="020B0502040204020203" charset="0"/>
                <a:cs typeface="Segoe UI" panose="020B0502040204020203" charset="0"/>
              </a:rPr>
              <a:t> </a:t>
            </a:r>
            <a:r>
              <a:rPr lang="en-US" altLang="zh-CN" sz="2400" dirty="0">
                <a:solidFill>
                  <a:schemeClr val="accent1">
                    <a:lumMod val="75000"/>
                  </a:schemeClr>
                </a:solidFill>
                <a:latin typeface="Segoe UI" panose="020B0502040204020203" charset="0"/>
                <a:cs typeface="Segoe UI" panose="020B0502040204020203" charset="0"/>
              </a:rPr>
              <a:t>&amp;</a:t>
            </a:r>
            <a:r>
              <a:rPr lang="zh-CN" altLang="en-US" sz="2400" dirty="0">
                <a:solidFill>
                  <a:schemeClr val="accent1">
                    <a:lumMod val="75000"/>
                  </a:schemeClr>
                </a:solidFill>
                <a:latin typeface="Segoe UI" panose="020B0502040204020203" charset="0"/>
                <a:cs typeface="Segoe UI" panose="020B0502040204020203" charset="0"/>
              </a:rPr>
              <a:t> </a:t>
            </a:r>
            <a:r>
              <a:rPr lang="en-US" altLang="zh-CN" sz="2400" dirty="0">
                <a:solidFill>
                  <a:schemeClr val="accent1">
                    <a:lumMod val="75000"/>
                  </a:schemeClr>
                </a:solidFill>
                <a:latin typeface="Segoe UI" panose="020B0502040204020203" charset="0"/>
                <a:cs typeface="Segoe UI" panose="020B0502040204020203" charset="0"/>
              </a:rPr>
              <a:t>Questionnaire Data Collection</a:t>
            </a:r>
          </a:p>
          <a:p>
            <a:endParaRPr lang="en-US" altLang="zh-CN" sz="2400" dirty="0">
              <a:solidFill>
                <a:schemeClr val="accent1">
                  <a:lumMod val="75000"/>
                </a:schemeClr>
              </a:solidFill>
              <a:latin typeface="Segoe UI" panose="020B0502040204020203" charset="0"/>
              <a:cs typeface="Segoe UI" panose="020B0502040204020203" charset="0"/>
            </a:endParaRPr>
          </a:p>
          <a:p>
            <a:endParaRPr lang="en-US" altLang="zh-CN" sz="2400" dirty="0">
              <a:solidFill>
                <a:schemeClr val="accent1">
                  <a:lumMod val="75000"/>
                </a:schemeClr>
              </a:solidFill>
              <a:latin typeface="Segoe UI" panose="020B0502040204020203" charset="0"/>
              <a:cs typeface="Segoe UI" panose="020B0502040204020203" charset="0"/>
            </a:endParaRPr>
          </a:p>
        </p:txBody>
      </p:sp>
      <p:sp>
        <p:nvSpPr>
          <p:cNvPr id="12" name="矩形 112"/>
          <p:cNvSpPr/>
          <p:nvPr>
            <p:custDataLst>
              <p:tags r:id="rId7"/>
            </p:custDataLst>
          </p:nvPr>
        </p:nvSpPr>
        <p:spPr>
          <a:xfrm>
            <a:off x="909320" y="2454275"/>
            <a:ext cx="10372725" cy="549275"/>
          </a:xfrm>
          <a:prstGeom prst="rect">
            <a:avLst/>
          </a:prstGeom>
          <a:solidFill>
            <a:schemeClr val="bg2"/>
          </a:solidFill>
          <a:ln w="381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13" name="图片 102" descr="C:/Users/hugq/Desktop/微信图片_20240302080713.png微信图片_20240302080713"/>
          <p:cNvPicPr>
            <a:picLocks noChangeAspect="1"/>
          </p:cNvPicPr>
          <p:nvPr>
            <p:custDataLst>
              <p:tags r:id="rId8"/>
            </p:custDataLst>
          </p:nvPr>
        </p:nvPicPr>
        <p:blipFill>
          <a:blip r:embed="rId27"/>
          <a:srcRect t="10177" b="10177"/>
          <a:stretch>
            <a:fillRect/>
          </a:stretch>
        </p:blipFill>
        <p:spPr>
          <a:xfrm>
            <a:off x="909320" y="2458085"/>
            <a:ext cx="530860" cy="545465"/>
          </a:xfrm>
          <a:prstGeom prst="rect">
            <a:avLst/>
          </a:prstGeom>
          <a:effectLst>
            <a:outerShdw blurRad="50800" dist="127000" dir="21540000" sx="98000" sy="98000" algn="ctr" rotWithShape="0">
              <a:schemeClr val="tx2">
                <a:lumMod val="75000"/>
                <a:alpha val="10000"/>
              </a:schemeClr>
            </a:outerShdw>
          </a:effectLst>
        </p:spPr>
      </p:pic>
      <p:sp>
        <p:nvSpPr>
          <p:cNvPr id="14" name="文本框 13"/>
          <p:cNvSpPr txBox="1"/>
          <p:nvPr>
            <p:custDataLst>
              <p:tags r:id="rId9"/>
            </p:custDataLst>
          </p:nvPr>
        </p:nvSpPr>
        <p:spPr>
          <a:xfrm>
            <a:off x="1490980" y="2458085"/>
            <a:ext cx="1828800" cy="545465"/>
          </a:xfrm>
          <a:prstGeom prst="rect">
            <a:avLst/>
          </a:prstGeom>
          <a:noFill/>
        </p:spPr>
        <p:txBody>
          <a:bodyPr wrap="square" rtlCol="0">
            <a:noAutofit/>
          </a:bodyPr>
          <a:lstStyle/>
          <a:p>
            <a:r>
              <a:rPr lang="en-US" altLang="zh-CN" sz="2800" b="1">
                <a:latin typeface="Arial" panose="020B0604020202020204" pitchFamily="34" charset="0"/>
                <a:cs typeface="Arial" panose="020B0604020202020204" pitchFamily="34" charset="0"/>
              </a:rPr>
              <a:t>Chapter2</a:t>
            </a:r>
          </a:p>
        </p:txBody>
      </p:sp>
      <p:sp>
        <p:nvSpPr>
          <p:cNvPr id="15" name="文本框 14"/>
          <p:cNvSpPr txBox="1"/>
          <p:nvPr>
            <p:custDataLst>
              <p:tags r:id="rId10"/>
            </p:custDataLst>
          </p:nvPr>
        </p:nvSpPr>
        <p:spPr>
          <a:xfrm>
            <a:off x="3319780" y="2503805"/>
            <a:ext cx="7950835" cy="441960"/>
          </a:xfrm>
          <a:prstGeom prst="rect">
            <a:avLst/>
          </a:prstGeom>
          <a:noFill/>
        </p:spPr>
        <p:txBody>
          <a:bodyPr wrap="square" rtlCol="0">
            <a:noAutofit/>
          </a:bodyPr>
          <a:lstStyle/>
          <a:p>
            <a:pPr algn="l">
              <a:buClrTx/>
              <a:buSzTx/>
              <a:buFontTx/>
            </a:pPr>
            <a:r>
              <a:rPr lang="en-US" altLang="zh-CN" sz="2400" dirty="0">
                <a:solidFill>
                  <a:schemeClr val="accent1">
                    <a:lumMod val="75000"/>
                  </a:schemeClr>
                </a:solidFill>
                <a:latin typeface="Segoe UI" panose="020B0502040204020203" charset="0"/>
                <a:cs typeface="Segoe UI" panose="020B0502040204020203" charset="0"/>
              </a:rPr>
              <a:t>Data Cleaning and Dataset Construction</a:t>
            </a:r>
          </a:p>
          <a:p>
            <a:endParaRPr lang="en-US" altLang="zh-CN" sz="2400" dirty="0">
              <a:solidFill>
                <a:schemeClr val="accent1">
                  <a:lumMod val="75000"/>
                </a:schemeClr>
              </a:solidFill>
              <a:latin typeface="Segoe UI" panose="020B0502040204020203" charset="0"/>
              <a:cs typeface="Segoe UI" panose="020B0502040204020203" charset="0"/>
            </a:endParaRPr>
          </a:p>
        </p:txBody>
      </p:sp>
      <p:sp>
        <p:nvSpPr>
          <p:cNvPr id="17" name="矩形 112"/>
          <p:cNvSpPr/>
          <p:nvPr>
            <p:custDataLst>
              <p:tags r:id="rId11"/>
            </p:custDataLst>
          </p:nvPr>
        </p:nvSpPr>
        <p:spPr>
          <a:xfrm>
            <a:off x="909320" y="3447415"/>
            <a:ext cx="10372725" cy="549275"/>
          </a:xfrm>
          <a:prstGeom prst="rect">
            <a:avLst/>
          </a:prstGeom>
          <a:solidFill>
            <a:schemeClr val="bg2"/>
          </a:solidFill>
          <a:ln w="381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18" name="图片 102" descr="C:/Users/hugq/Desktop/微信图片_20240302080713.png微信图片_20240302080713"/>
          <p:cNvPicPr>
            <a:picLocks noChangeAspect="1"/>
          </p:cNvPicPr>
          <p:nvPr>
            <p:custDataLst>
              <p:tags r:id="rId12"/>
            </p:custDataLst>
          </p:nvPr>
        </p:nvPicPr>
        <p:blipFill>
          <a:blip r:embed="rId27"/>
          <a:srcRect t="10177" b="10177"/>
          <a:stretch>
            <a:fillRect/>
          </a:stretch>
        </p:blipFill>
        <p:spPr>
          <a:xfrm>
            <a:off x="909320" y="3451225"/>
            <a:ext cx="530860" cy="545465"/>
          </a:xfrm>
          <a:prstGeom prst="rect">
            <a:avLst/>
          </a:prstGeom>
          <a:effectLst>
            <a:outerShdw blurRad="50800" dist="127000" dir="21540000" sx="98000" sy="98000" algn="ctr" rotWithShape="0">
              <a:schemeClr val="tx2">
                <a:lumMod val="75000"/>
                <a:alpha val="10000"/>
              </a:schemeClr>
            </a:outerShdw>
          </a:effectLst>
        </p:spPr>
      </p:pic>
      <p:sp>
        <p:nvSpPr>
          <p:cNvPr id="19" name="文本框 18"/>
          <p:cNvSpPr txBox="1"/>
          <p:nvPr>
            <p:custDataLst>
              <p:tags r:id="rId13"/>
            </p:custDataLst>
          </p:nvPr>
        </p:nvSpPr>
        <p:spPr>
          <a:xfrm>
            <a:off x="1490980" y="3451225"/>
            <a:ext cx="1828800" cy="545465"/>
          </a:xfrm>
          <a:prstGeom prst="rect">
            <a:avLst/>
          </a:prstGeom>
          <a:noFill/>
        </p:spPr>
        <p:txBody>
          <a:bodyPr wrap="square" rtlCol="0">
            <a:noAutofit/>
          </a:bodyPr>
          <a:lstStyle/>
          <a:p>
            <a:r>
              <a:rPr lang="en-US" altLang="zh-CN" sz="2800" b="1">
                <a:latin typeface="Arial" panose="020B0604020202020204" pitchFamily="34" charset="0"/>
                <a:cs typeface="Arial" panose="020B0604020202020204" pitchFamily="34" charset="0"/>
              </a:rPr>
              <a:t>Chapter3</a:t>
            </a:r>
          </a:p>
        </p:txBody>
      </p:sp>
      <p:sp>
        <p:nvSpPr>
          <p:cNvPr id="20" name="文本框 19"/>
          <p:cNvSpPr txBox="1"/>
          <p:nvPr>
            <p:custDataLst>
              <p:tags r:id="rId14"/>
            </p:custDataLst>
          </p:nvPr>
        </p:nvSpPr>
        <p:spPr>
          <a:xfrm>
            <a:off x="3319780" y="3481070"/>
            <a:ext cx="7950835" cy="457835"/>
          </a:xfrm>
          <a:prstGeom prst="rect">
            <a:avLst/>
          </a:prstGeom>
          <a:noFill/>
        </p:spPr>
        <p:txBody>
          <a:bodyPr wrap="square" rtlCol="0">
            <a:noAutofit/>
          </a:bodyPr>
          <a:lstStyle/>
          <a:p>
            <a:pPr algn="l">
              <a:buClrTx/>
              <a:buSzTx/>
              <a:buFontTx/>
            </a:pPr>
            <a:r>
              <a:rPr lang="en-US" altLang="zh-CN" sz="2400" dirty="0">
                <a:solidFill>
                  <a:schemeClr val="accent1">
                    <a:lumMod val="75000"/>
                  </a:schemeClr>
                </a:solidFill>
                <a:latin typeface="Segoe UI" panose="020B0502040204020203" charset="0"/>
                <a:cs typeface="Segoe UI" panose="020B0502040204020203" charset="0"/>
              </a:rPr>
              <a:t>Feature Engineering and Model Input Preparation</a:t>
            </a:r>
          </a:p>
          <a:p>
            <a:endParaRPr lang="en-US" altLang="zh-CN" sz="2400" dirty="0">
              <a:solidFill>
                <a:schemeClr val="accent1">
                  <a:lumMod val="75000"/>
                </a:schemeClr>
              </a:solidFill>
              <a:latin typeface="Segoe UI" panose="020B0502040204020203" charset="0"/>
              <a:cs typeface="Segoe UI" panose="020B0502040204020203" charset="0"/>
            </a:endParaRPr>
          </a:p>
        </p:txBody>
      </p:sp>
      <p:sp>
        <p:nvSpPr>
          <p:cNvPr id="21" name="矩形 112"/>
          <p:cNvSpPr/>
          <p:nvPr>
            <p:custDataLst>
              <p:tags r:id="rId15"/>
            </p:custDataLst>
          </p:nvPr>
        </p:nvSpPr>
        <p:spPr>
          <a:xfrm>
            <a:off x="909320" y="4450080"/>
            <a:ext cx="10372725" cy="549275"/>
          </a:xfrm>
          <a:prstGeom prst="rect">
            <a:avLst/>
          </a:prstGeom>
          <a:solidFill>
            <a:schemeClr val="bg2"/>
          </a:solidFill>
          <a:ln w="381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22" name="图片 102" descr="C:/Users/hugq/Desktop/微信图片_20240302080713.png微信图片_20240302080713"/>
          <p:cNvPicPr>
            <a:picLocks noChangeAspect="1"/>
          </p:cNvPicPr>
          <p:nvPr>
            <p:custDataLst>
              <p:tags r:id="rId16"/>
            </p:custDataLst>
          </p:nvPr>
        </p:nvPicPr>
        <p:blipFill>
          <a:blip r:embed="rId27"/>
          <a:srcRect t="10177" b="10177"/>
          <a:stretch>
            <a:fillRect/>
          </a:stretch>
        </p:blipFill>
        <p:spPr>
          <a:xfrm>
            <a:off x="909320" y="4453890"/>
            <a:ext cx="530860" cy="545465"/>
          </a:xfrm>
          <a:prstGeom prst="rect">
            <a:avLst/>
          </a:prstGeom>
          <a:effectLst>
            <a:outerShdw blurRad="50800" dist="127000" dir="21540000" sx="98000" sy="98000" algn="ctr" rotWithShape="0">
              <a:schemeClr val="tx2">
                <a:lumMod val="75000"/>
                <a:alpha val="10000"/>
              </a:schemeClr>
            </a:outerShdw>
          </a:effectLst>
        </p:spPr>
      </p:pic>
      <p:sp>
        <p:nvSpPr>
          <p:cNvPr id="24" name="文本框 23"/>
          <p:cNvSpPr txBox="1"/>
          <p:nvPr>
            <p:custDataLst>
              <p:tags r:id="rId17"/>
            </p:custDataLst>
          </p:nvPr>
        </p:nvSpPr>
        <p:spPr>
          <a:xfrm>
            <a:off x="1490980" y="4453890"/>
            <a:ext cx="1828800" cy="545465"/>
          </a:xfrm>
          <a:prstGeom prst="rect">
            <a:avLst/>
          </a:prstGeom>
          <a:noFill/>
        </p:spPr>
        <p:txBody>
          <a:bodyPr wrap="square" rtlCol="0">
            <a:noAutofit/>
          </a:bodyPr>
          <a:lstStyle/>
          <a:p>
            <a:r>
              <a:rPr lang="en-US" altLang="zh-CN" sz="2800" b="1">
                <a:latin typeface="Arial" panose="020B0604020202020204" pitchFamily="34" charset="0"/>
                <a:cs typeface="Arial" panose="020B0604020202020204" pitchFamily="34" charset="0"/>
              </a:rPr>
              <a:t>Chapter4</a:t>
            </a:r>
          </a:p>
        </p:txBody>
      </p:sp>
      <p:sp>
        <p:nvSpPr>
          <p:cNvPr id="25" name="文本框 24"/>
          <p:cNvSpPr txBox="1"/>
          <p:nvPr>
            <p:custDataLst>
              <p:tags r:id="rId18"/>
            </p:custDataLst>
          </p:nvPr>
        </p:nvSpPr>
        <p:spPr>
          <a:xfrm>
            <a:off x="3319780" y="4474210"/>
            <a:ext cx="7950835" cy="467360"/>
          </a:xfrm>
          <a:prstGeom prst="rect">
            <a:avLst/>
          </a:prstGeom>
          <a:noFill/>
        </p:spPr>
        <p:txBody>
          <a:bodyPr wrap="square" rtlCol="0">
            <a:noAutofit/>
          </a:bodyPr>
          <a:lstStyle/>
          <a:p>
            <a:r>
              <a:rPr lang="en-US" altLang="zh-CN" sz="2400" dirty="0">
                <a:solidFill>
                  <a:schemeClr val="accent1">
                    <a:lumMod val="75000"/>
                  </a:schemeClr>
                </a:solidFill>
                <a:latin typeface="Segoe UI" panose="020B0502040204020203" charset="0"/>
                <a:cs typeface="Segoe UI" panose="020B0502040204020203" charset="0"/>
              </a:rPr>
              <a:t>Machine Learning Model Training &amp; Evaluation</a:t>
            </a:r>
            <a:endParaRPr lang="en-US" altLang="zh-CN" sz="2000" dirty="0">
              <a:solidFill>
                <a:schemeClr val="accent1">
                  <a:lumMod val="75000"/>
                </a:schemeClr>
              </a:solidFill>
              <a:latin typeface="Segoe UI" panose="020B0502040204020203" charset="0"/>
              <a:cs typeface="Segoe UI" panose="020B0502040204020203" charset="0"/>
            </a:endParaRPr>
          </a:p>
          <a:p>
            <a:endParaRPr lang="en-US" altLang="zh-CN" sz="2000" dirty="0">
              <a:solidFill>
                <a:schemeClr val="accent1">
                  <a:lumMod val="75000"/>
                </a:schemeClr>
              </a:solidFill>
              <a:latin typeface="Segoe UI" panose="020B0502040204020203" charset="0"/>
              <a:cs typeface="Segoe UI" panose="020B0502040204020203" charset="0"/>
            </a:endParaRPr>
          </a:p>
        </p:txBody>
      </p:sp>
      <p:sp>
        <p:nvSpPr>
          <p:cNvPr id="26" name="矩形 112"/>
          <p:cNvSpPr/>
          <p:nvPr>
            <p:custDataLst>
              <p:tags r:id="rId19"/>
            </p:custDataLst>
          </p:nvPr>
        </p:nvSpPr>
        <p:spPr>
          <a:xfrm>
            <a:off x="909320" y="5443220"/>
            <a:ext cx="10372725" cy="549275"/>
          </a:xfrm>
          <a:prstGeom prst="rect">
            <a:avLst/>
          </a:prstGeom>
          <a:solidFill>
            <a:schemeClr val="bg2"/>
          </a:solidFill>
          <a:ln w="381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27" name="图片 102" descr="C:/Users/hugq/Desktop/微信图片_20240302080713.png微信图片_20240302080713"/>
          <p:cNvPicPr>
            <a:picLocks noChangeAspect="1"/>
          </p:cNvPicPr>
          <p:nvPr>
            <p:custDataLst>
              <p:tags r:id="rId20"/>
            </p:custDataLst>
          </p:nvPr>
        </p:nvPicPr>
        <p:blipFill>
          <a:blip r:embed="rId27"/>
          <a:srcRect t="10177" b="10177"/>
          <a:stretch>
            <a:fillRect/>
          </a:stretch>
        </p:blipFill>
        <p:spPr>
          <a:xfrm>
            <a:off x="909320" y="5447030"/>
            <a:ext cx="530860" cy="545465"/>
          </a:xfrm>
          <a:prstGeom prst="rect">
            <a:avLst/>
          </a:prstGeom>
          <a:effectLst>
            <a:outerShdw blurRad="50800" dist="127000" dir="21540000" sx="98000" sy="98000" algn="ctr" rotWithShape="0">
              <a:schemeClr val="tx2">
                <a:lumMod val="75000"/>
                <a:alpha val="10000"/>
              </a:schemeClr>
            </a:outerShdw>
          </a:effectLst>
        </p:spPr>
      </p:pic>
      <p:sp>
        <p:nvSpPr>
          <p:cNvPr id="28" name="文本框 27"/>
          <p:cNvSpPr txBox="1"/>
          <p:nvPr>
            <p:custDataLst>
              <p:tags r:id="rId21"/>
            </p:custDataLst>
          </p:nvPr>
        </p:nvSpPr>
        <p:spPr>
          <a:xfrm>
            <a:off x="1490980" y="5447030"/>
            <a:ext cx="1828800" cy="545465"/>
          </a:xfrm>
          <a:prstGeom prst="rect">
            <a:avLst/>
          </a:prstGeom>
          <a:noFill/>
        </p:spPr>
        <p:txBody>
          <a:bodyPr wrap="square" rtlCol="0">
            <a:noAutofit/>
          </a:bodyPr>
          <a:lstStyle/>
          <a:p>
            <a:r>
              <a:rPr lang="en-US" altLang="zh-CN" sz="2800" b="1">
                <a:latin typeface="Arial" panose="020B0604020202020204" pitchFamily="34" charset="0"/>
                <a:cs typeface="Arial" panose="020B0604020202020204" pitchFamily="34" charset="0"/>
              </a:rPr>
              <a:t>Chapter5</a:t>
            </a:r>
          </a:p>
        </p:txBody>
      </p:sp>
      <p:sp>
        <p:nvSpPr>
          <p:cNvPr id="29" name="文本框 28"/>
          <p:cNvSpPr txBox="1"/>
          <p:nvPr>
            <p:custDataLst>
              <p:tags r:id="rId22"/>
            </p:custDataLst>
          </p:nvPr>
        </p:nvSpPr>
        <p:spPr>
          <a:xfrm>
            <a:off x="3319780" y="5467350"/>
            <a:ext cx="7950835" cy="467360"/>
          </a:xfrm>
          <a:prstGeom prst="rect">
            <a:avLst/>
          </a:prstGeom>
          <a:noFill/>
        </p:spPr>
        <p:txBody>
          <a:bodyPr wrap="square" rtlCol="0">
            <a:noAutofit/>
          </a:bodyPr>
          <a:lstStyle/>
          <a:p>
            <a:r>
              <a:rPr lang="en-US" altLang="zh-CN" sz="2400" dirty="0">
                <a:solidFill>
                  <a:schemeClr val="accent1">
                    <a:lumMod val="75000"/>
                  </a:schemeClr>
                </a:solidFill>
                <a:latin typeface="Segoe UI" panose="020B0502040204020203" charset="0"/>
                <a:cs typeface="Segoe UI" panose="020B0502040204020203" charset="0"/>
              </a:rPr>
              <a:t>Results Analysis and Safety Implications</a:t>
            </a:r>
          </a:p>
          <a:p>
            <a:endParaRPr lang="en-US" altLang="zh-CN" sz="2400" dirty="0">
              <a:solidFill>
                <a:schemeClr val="accent1">
                  <a:lumMod val="75000"/>
                </a:schemeClr>
              </a:solidFill>
              <a:latin typeface="Segoe UI" panose="020B0502040204020203" charset="0"/>
              <a:cs typeface="Segoe UI" panose="020B0502040204020203" charset="0"/>
            </a:endParaRPr>
          </a:p>
        </p:txBody>
      </p:sp>
    </p:spTree>
  </p:cSld>
  <p:clrMapOvr>
    <a:masterClrMapping/>
  </p:clrMapOvr>
  <mc:AlternateContent xmlns:mc="http://schemas.openxmlformats.org/markup-compatibility/2006" xmlns:p14="http://schemas.microsoft.com/office/powerpoint/2010/main">
    <mc:Choice Requires="p14">
      <p:transition spd="slow" p14:dur="34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p:blipFill>
        <p:spPr>
          <a:xfrm>
            <a:off x="9365190" y="323850"/>
            <a:ext cx="2119845" cy="819150"/>
          </a:xfrm>
          <a:prstGeom prst="rect">
            <a:avLst/>
          </a:prstGeom>
        </p:spPr>
      </p:pic>
      <p:sp>
        <p:nvSpPr>
          <p:cNvPr id="2" name="平行四边形 1">
            <a:extLst>
              <a:ext uri="{FF2B5EF4-FFF2-40B4-BE49-F238E27FC236}">
                <a16:creationId xmlns:a16="http://schemas.microsoft.com/office/drawing/2014/main" id="{F2428ACF-EC23-4A9F-820C-BD7365957463}"/>
              </a:ext>
            </a:extLst>
          </p:cNvPr>
          <p:cNvSpPr>
            <a:spLocks noGrp="1"/>
          </p:cNvSpPr>
          <p:nvPr/>
        </p:nvSpPr>
        <p:spPr>
          <a:xfrm>
            <a:off x="1428750" y="2647950"/>
            <a:ext cx="9429750" cy="2190750"/>
          </a:xfrm>
          <a:prstGeom prst="parallelogram">
            <a:avLst/>
          </a:prstGeom>
          <a:solidFill>
            <a:srgbClr val="315C9C"/>
          </a:solidFill>
          <a:ln w="0">
            <a:noFill/>
            <a:prstDash val="solid"/>
          </a:ln>
        </p:spPr>
      </p:sp>
      <p:sp>
        <p:nvSpPr>
          <p:cNvPr id="3" name="平行四边形 2">
            <a:extLst>
              <a:ext uri="{FF2B5EF4-FFF2-40B4-BE49-F238E27FC236}">
                <a16:creationId xmlns:a16="http://schemas.microsoft.com/office/drawing/2014/main" id="{AAF6CDB8-F101-4502-8574-8C976EE19DBF}"/>
              </a:ext>
            </a:extLst>
          </p:cNvPr>
          <p:cNvSpPr>
            <a:spLocks noGrp="1"/>
          </p:cNvSpPr>
          <p:nvPr/>
        </p:nvSpPr>
        <p:spPr>
          <a:xfrm>
            <a:off x="9048750" y="3848100"/>
            <a:ext cx="3524250" cy="1428750"/>
          </a:xfrm>
          <a:prstGeom prst="parallelogram">
            <a:avLst/>
          </a:prstGeom>
          <a:solidFill>
            <a:srgbClr val="27477A"/>
          </a:solidFill>
          <a:ln w="0">
            <a:noFill/>
            <a:prstDash val="solid"/>
          </a:ln>
        </p:spPr>
      </p:sp>
      <p:pic>
        <p:nvPicPr>
          <p:cNvPr id="11" name="图片 10"/>
          <p:cNvPicPr>
            <a:picLocks noChangeAspect="1"/>
          </p:cNvPicPr>
          <p:nvPr/>
        </p:nvPicPr>
        <p:blipFill>
          <a:blip r:embed="rId4"/>
          <a:stretch/>
        </p:blipFill>
        <p:spPr>
          <a:xfrm>
            <a:off x="285750" y="2140702"/>
            <a:ext cx="2238375" cy="2081296"/>
          </a:xfrm>
          <a:prstGeom prst="rect">
            <a:avLst/>
          </a:prstGeom>
        </p:spPr>
      </p:pic>
      <p:sp>
        <p:nvSpPr>
          <p:cNvPr id="5" name="矩形 4">
            <a:extLst>
              <a:ext uri="{FF2B5EF4-FFF2-40B4-BE49-F238E27FC236}">
                <a16:creationId xmlns:a16="http://schemas.microsoft.com/office/drawing/2014/main" id="{286133A6-9E36-425E-A935-3BDD7CC7AD0D}"/>
              </a:ext>
            </a:extLst>
          </p:cNvPr>
          <p:cNvSpPr>
            <a:spLocks noGrp="1"/>
          </p:cNvSpPr>
          <p:nvPr/>
        </p:nvSpPr>
        <p:spPr>
          <a:xfrm>
            <a:off x="3238500" y="3028950"/>
            <a:ext cx="7239000" cy="457200"/>
          </a:xfrm>
          <a:prstGeom prst="rect">
            <a:avLst/>
          </a:prstGeom>
          <a:noFill/>
          <a:ln w="0">
            <a:noFill/>
            <a:prstDash val="solid"/>
          </a:ln>
        </p:spPr>
        <p:txBody>
          <a:bodyPr/>
          <a:lstStyle/>
          <a:p>
            <a:pPr>
              <a:defRPr sz="2550" b="1">
                <a:solidFill>
                  <a:srgbClr val="FFFFFF"/>
                </a:solidFill>
              </a:defRPr>
            </a:pPr>
            <a:r>
              <a:rPr lang="en-US" altLang="zh-CN" sz="2550" b="1" dirty="0">
                <a:solidFill>
                  <a:srgbClr val="FFFFFF"/>
                </a:solidFill>
              </a:rPr>
              <a:t>Intro</a:t>
            </a:r>
            <a:r>
              <a:rPr lang="zh-CN" altLang="en-US" sz="2550" b="1" dirty="0">
                <a:solidFill>
                  <a:srgbClr val="FFFFFF"/>
                </a:solidFill>
              </a:rPr>
              <a:t> </a:t>
            </a:r>
            <a:r>
              <a:rPr lang="en-US" altLang="zh-CN" sz="2550" b="1" dirty="0">
                <a:solidFill>
                  <a:srgbClr val="FFFFFF"/>
                </a:solidFill>
              </a:rPr>
              <a:t>&amp;</a:t>
            </a:r>
            <a:r>
              <a:rPr lang="zh-CN" altLang="en-US" sz="2550" b="1" dirty="0">
                <a:solidFill>
                  <a:srgbClr val="FFFFFF"/>
                </a:solidFill>
              </a:rPr>
              <a:t> </a:t>
            </a:r>
            <a:r>
              <a:rPr lang="en" sz="2550" b="1" dirty="0">
                <a:solidFill>
                  <a:srgbClr val="FFFFFF"/>
                </a:solidFill>
              </a:rPr>
              <a:t>Questionnaire Data Collection</a:t>
            </a:r>
          </a:p>
        </p:txBody>
      </p:sp>
      <p:sp>
        <p:nvSpPr>
          <p:cNvPr id="6" name="矩形 5">
            <a:extLst>
              <a:ext uri="{FF2B5EF4-FFF2-40B4-BE49-F238E27FC236}">
                <a16:creationId xmlns:a16="http://schemas.microsoft.com/office/drawing/2014/main" id="{0487BE79-FF92-42FB-885E-7381244FC838}"/>
              </a:ext>
            </a:extLst>
          </p:cNvPr>
          <p:cNvSpPr>
            <a:spLocks noGrp="1"/>
          </p:cNvSpPr>
          <p:nvPr/>
        </p:nvSpPr>
        <p:spPr>
          <a:xfrm>
            <a:off x="3238500" y="3524250"/>
            <a:ext cx="6381750" cy="381000"/>
          </a:xfrm>
          <a:prstGeom prst="rect">
            <a:avLst/>
          </a:prstGeom>
          <a:noFill/>
          <a:ln w="0">
            <a:noFill/>
            <a:prstDash val="solid"/>
          </a:ln>
        </p:spPr>
        <p:txBody>
          <a:bodyPr/>
          <a:lstStyle/>
          <a:p>
            <a:pPr>
              <a:defRPr sz="1875" b="1">
                <a:solidFill>
                  <a:srgbClr val="FFFFFF"/>
                </a:solidFill>
              </a:defRPr>
            </a:pPr>
            <a:r>
              <a:rPr sz="1875" b="1">
                <a:solidFill>
                  <a:srgbClr val="FFFFFF"/>
                </a:solidFill>
              </a:rPr>
              <a:t>Question Structure Recovery and Sample Collection</a:t>
            </a:r>
          </a:p>
        </p:txBody>
      </p:sp>
      <p:sp>
        <p:nvSpPr>
          <p:cNvPr id="7" name="矩形 6">
            <a:extLst>
              <a:ext uri="{FF2B5EF4-FFF2-40B4-BE49-F238E27FC236}">
                <a16:creationId xmlns:a16="http://schemas.microsoft.com/office/drawing/2014/main" id="{99F5B203-A7F2-4F21-AEEA-63040E949F92}"/>
              </a:ext>
            </a:extLst>
          </p:cNvPr>
          <p:cNvSpPr>
            <a:spLocks noGrp="1"/>
          </p:cNvSpPr>
          <p:nvPr/>
        </p:nvSpPr>
        <p:spPr>
          <a:xfrm>
            <a:off x="3238500" y="4057650"/>
            <a:ext cx="4286250" cy="266700"/>
          </a:xfrm>
          <a:prstGeom prst="rect">
            <a:avLst/>
          </a:prstGeom>
          <a:noFill/>
          <a:ln w="0">
            <a:noFill/>
            <a:prstDash val="solid"/>
          </a:ln>
        </p:spPr>
        <p:txBody>
          <a:bodyPr/>
          <a:lstStyle/>
          <a:p>
            <a:pPr>
              <a:defRPr sz="1350" b="1">
                <a:solidFill>
                  <a:srgbClr val="111111"/>
                </a:solidFill>
              </a:defRPr>
            </a:pPr>
            <a:r>
              <a:rPr sz="1350" b="1">
                <a:solidFill>
                  <a:srgbClr val="111111"/>
                </a:solidFill>
              </a:rPr>
              <a:t>IARC Rating Questionnaire</a:t>
            </a:r>
          </a:p>
        </p:txBody>
      </p:sp>
    </p:spTree>
    <p:extLst>
      <p:ext uri="{BB962C8B-B14F-4D97-AF65-F5344CB8AC3E}">
        <p14:creationId xmlns:p14="http://schemas.microsoft.com/office/powerpoint/2010/main" val="1413117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a:stretch/>
        </p:blipFill>
        <p:spPr>
          <a:xfrm>
            <a:off x="9365190" y="323850"/>
            <a:ext cx="2119845" cy="819150"/>
          </a:xfrm>
          <a:prstGeom prst="rect">
            <a:avLst/>
          </a:prstGeom>
        </p:spPr>
      </p:pic>
      <p:sp>
        <p:nvSpPr>
          <p:cNvPr id="2" name="矩形 1">
            <a:extLst>
              <a:ext uri="{FF2B5EF4-FFF2-40B4-BE49-F238E27FC236}">
                <a16:creationId xmlns:a16="http://schemas.microsoft.com/office/drawing/2014/main" id="{7EDE796C-FE9E-48F6-BCDF-A9E3C4DF9C99}"/>
              </a:ext>
            </a:extLst>
          </p:cNvPr>
          <p:cNvSpPr>
            <a:spLocks noGrp="1"/>
          </p:cNvSpPr>
          <p:nvPr/>
        </p:nvSpPr>
        <p:spPr>
          <a:xfrm>
            <a:off x="609600" y="628650"/>
            <a:ext cx="8096250" cy="523875"/>
          </a:xfrm>
          <a:prstGeom prst="rect">
            <a:avLst/>
          </a:prstGeom>
          <a:noFill/>
          <a:ln w="0">
            <a:noFill/>
            <a:prstDash val="solid"/>
          </a:ln>
        </p:spPr>
        <p:txBody>
          <a:bodyPr/>
          <a:lstStyle/>
          <a:p>
            <a:pPr>
              <a:defRPr sz="2250" b="1">
                <a:solidFill>
                  <a:srgbClr val="20242A"/>
                </a:solidFill>
              </a:defRPr>
            </a:pPr>
            <a:r>
              <a:rPr lang="en-US" altLang="zh-CN" sz="2250" b="1" dirty="0">
                <a:solidFill>
                  <a:srgbClr val="20242A"/>
                </a:solidFill>
              </a:rPr>
              <a:t>Intro</a:t>
            </a:r>
            <a:endParaRPr sz="2250" b="1" dirty="0">
              <a:solidFill>
                <a:srgbClr val="20242A"/>
              </a:solidFill>
            </a:endParaRPr>
          </a:p>
        </p:txBody>
      </p:sp>
      <p:sp>
        <p:nvSpPr>
          <p:cNvPr id="3" name="直线连接符 2">
            <a:extLst>
              <a:ext uri="{FF2B5EF4-FFF2-40B4-BE49-F238E27FC236}">
                <a16:creationId xmlns:a16="http://schemas.microsoft.com/office/drawing/2014/main" id="{F0FF8F52-BC99-4BD5-82D4-2C17D16CAFFA}"/>
              </a:ext>
            </a:extLst>
          </p:cNvPr>
          <p:cNvSpPr>
            <a:spLocks noGrp="1"/>
          </p:cNvSpPr>
          <p:nvPr/>
        </p:nvSpPr>
        <p:spPr>
          <a:xfrm>
            <a:off x="352425" y="1171575"/>
            <a:ext cx="8382000" cy="0"/>
          </a:xfrm>
          <a:prstGeom prst="line">
            <a:avLst/>
          </a:prstGeom>
          <a:ln w="11430">
            <a:solidFill>
              <a:srgbClr val="555555"/>
            </a:solidFill>
            <a:prstDash val="solid"/>
          </a:ln>
        </p:spPr>
      </p:sp>
      <p:sp>
        <p:nvSpPr>
          <p:cNvPr id="4" name="矩形 3">
            <a:extLst>
              <a:ext uri="{FF2B5EF4-FFF2-40B4-BE49-F238E27FC236}">
                <a16:creationId xmlns:a16="http://schemas.microsoft.com/office/drawing/2014/main" id="{0E36F0F0-F9F6-4D5F-B06A-549F984F8CB6}"/>
              </a:ext>
            </a:extLst>
          </p:cNvPr>
          <p:cNvSpPr>
            <a:spLocks noGrp="1"/>
          </p:cNvSpPr>
          <p:nvPr/>
        </p:nvSpPr>
        <p:spPr>
          <a:xfrm>
            <a:off x="6191250" y="1647826"/>
            <a:ext cx="4953000" cy="4171950"/>
          </a:xfrm>
          <a:prstGeom prst="rect">
            <a:avLst/>
          </a:prstGeom>
          <a:solidFill>
            <a:srgbClr val="FFFFFF"/>
          </a:solidFill>
          <a:ln w="28575">
            <a:solidFill>
              <a:srgbClr val="2F66E8"/>
            </a:solidFill>
            <a:prstDash val="solid"/>
          </a:ln>
        </p:spPr>
      </p:sp>
      <p:sp>
        <p:nvSpPr>
          <p:cNvPr id="5" name="矩形 4">
            <a:extLst>
              <a:ext uri="{FF2B5EF4-FFF2-40B4-BE49-F238E27FC236}">
                <a16:creationId xmlns:a16="http://schemas.microsoft.com/office/drawing/2014/main" id="{6A0B2668-8E0E-46BD-8F45-DF80A917F22A}"/>
              </a:ext>
            </a:extLst>
          </p:cNvPr>
          <p:cNvSpPr>
            <a:spLocks noGrp="1"/>
          </p:cNvSpPr>
          <p:nvPr/>
        </p:nvSpPr>
        <p:spPr>
          <a:xfrm>
            <a:off x="6396990" y="1939291"/>
            <a:ext cx="4495800" cy="400050"/>
          </a:xfrm>
          <a:prstGeom prst="rect">
            <a:avLst/>
          </a:prstGeom>
          <a:noFill/>
          <a:ln w="0">
            <a:noFill/>
            <a:prstDash val="solid"/>
          </a:ln>
        </p:spPr>
        <p:txBody>
          <a:bodyPr/>
          <a:lstStyle/>
          <a:p>
            <a:pPr>
              <a:defRPr sz="1800" b="1">
                <a:solidFill>
                  <a:srgbClr val="2F66E8"/>
                </a:solidFill>
              </a:defRPr>
            </a:pPr>
            <a:r>
              <a:rPr lang="en-US" altLang="zh-CN" b="1" dirty="0">
                <a:solidFill>
                  <a:srgbClr val="2F66E8"/>
                </a:solidFill>
              </a:rPr>
              <a:t>App</a:t>
            </a:r>
            <a:r>
              <a:rPr lang="zh-CN" altLang="en-US" b="1" dirty="0">
                <a:solidFill>
                  <a:srgbClr val="2F66E8"/>
                </a:solidFill>
              </a:rPr>
              <a:t> </a:t>
            </a:r>
            <a:r>
              <a:rPr lang="en-US" altLang="zh-CN" b="1" dirty="0">
                <a:solidFill>
                  <a:srgbClr val="2F66E8"/>
                </a:solidFill>
              </a:rPr>
              <a:t>Categories</a:t>
            </a:r>
            <a:endParaRPr sz="1800" b="1" dirty="0">
              <a:solidFill>
                <a:srgbClr val="2F66E8"/>
              </a:solidFill>
            </a:endParaRPr>
          </a:p>
        </p:txBody>
      </p:sp>
      <p:sp>
        <p:nvSpPr>
          <p:cNvPr id="6" name="矩形 5">
            <a:extLst>
              <a:ext uri="{FF2B5EF4-FFF2-40B4-BE49-F238E27FC236}">
                <a16:creationId xmlns:a16="http://schemas.microsoft.com/office/drawing/2014/main" id="{03CF8337-47BF-487E-910F-F1E0C352FB32}"/>
              </a:ext>
            </a:extLst>
          </p:cNvPr>
          <p:cNvSpPr>
            <a:spLocks noGrp="1"/>
          </p:cNvSpPr>
          <p:nvPr/>
        </p:nvSpPr>
        <p:spPr>
          <a:xfrm>
            <a:off x="6396990" y="2339341"/>
            <a:ext cx="4419600" cy="3124200"/>
          </a:xfrm>
          <a:prstGeom prst="rect">
            <a:avLst/>
          </a:prstGeom>
          <a:noFill/>
          <a:ln w="0">
            <a:noFill/>
            <a:prstDash val="solid"/>
          </a:ln>
        </p:spPr>
        <p:txBody>
          <a:bodyPr/>
          <a:lstStyle/>
          <a:p>
            <a:r>
              <a:rPr lang="zh-CN" altLang="zh-CN" b="1" dirty="0"/>
              <a:t>Game</a:t>
            </a:r>
          </a:p>
          <a:p>
            <a:r>
              <a:rPr lang="zh-CN" altLang="zh-CN" sz="1200" dirty="0"/>
              <a:t>The app is a game or betting app. Examples include: Candy Crush Saga, Temple Run, Mario Kart, The Sims, Angry Birds, casino games, interactive visual novels, management games, or daily fantasy sports.</a:t>
            </a:r>
          </a:p>
          <a:p>
            <a:r>
              <a:rPr lang="zh-CN" altLang="zh-CN" b="1" dirty="0"/>
              <a:t>Social or Communication</a:t>
            </a:r>
          </a:p>
          <a:p>
            <a:r>
              <a:rPr lang="zh-CN" altLang="zh-CN" sz="1200" dirty="0"/>
              <a:t>The primary purpose of this app is to meet or communicate with people. Examples include Facebook, Twitter, Skype, and SMS.</a:t>
            </a:r>
          </a:p>
          <a:p>
            <a:r>
              <a:rPr lang="zh-CN" altLang="zh-CN" b="1" dirty="0"/>
              <a:t>All Other App Types</a:t>
            </a:r>
          </a:p>
          <a:p>
            <a:r>
              <a:rPr lang="zh-CN" altLang="zh-CN" sz="1200" dirty="0"/>
              <a:t>Any app that isn't a game, social networking app, or communication app. Examples include entertainment products, consumer stores, news apps, lifestyle apps, streaming services, utilities, tools, emoji sets, fitness apps, magazines, and customizations.</a:t>
            </a:r>
          </a:p>
          <a:p>
            <a:pPr>
              <a:defRPr sz="1350" b="1">
                <a:solidFill>
                  <a:srgbClr val="20242A"/>
                </a:solidFill>
              </a:defRPr>
            </a:pPr>
            <a:endParaRPr sz="1350" b="1" dirty="0">
              <a:solidFill>
                <a:srgbClr val="20242A"/>
              </a:solidFill>
            </a:endParaRPr>
          </a:p>
        </p:txBody>
      </p:sp>
      <p:sp>
        <p:nvSpPr>
          <p:cNvPr id="7" name="矩形 6">
            <a:extLst>
              <a:ext uri="{FF2B5EF4-FFF2-40B4-BE49-F238E27FC236}">
                <a16:creationId xmlns:a16="http://schemas.microsoft.com/office/drawing/2014/main" id="{66B23066-6BD2-4484-80F6-BBE5FEF5A072}"/>
              </a:ext>
            </a:extLst>
          </p:cNvPr>
          <p:cNvSpPr>
            <a:spLocks noGrp="1"/>
          </p:cNvSpPr>
          <p:nvPr/>
        </p:nvSpPr>
        <p:spPr>
          <a:xfrm>
            <a:off x="129540" y="1647826"/>
            <a:ext cx="5810250" cy="4171950"/>
          </a:xfrm>
          <a:prstGeom prst="rect">
            <a:avLst/>
          </a:prstGeom>
          <a:solidFill>
            <a:srgbClr val="FFFFFF"/>
          </a:solidFill>
          <a:ln w="19050">
            <a:solidFill>
              <a:srgbClr val="A9A9A9"/>
            </a:solidFill>
            <a:prstDash val="solid"/>
          </a:ln>
        </p:spPr>
      </p:sp>
      <p:sp>
        <p:nvSpPr>
          <p:cNvPr id="19" name="矩形 18">
            <a:extLst>
              <a:ext uri="{FF2B5EF4-FFF2-40B4-BE49-F238E27FC236}">
                <a16:creationId xmlns:a16="http://schemas.microsoft.com/office/drawing/2014/main" id="{14EC1FD1-8E97-3738-D7B7-AC28F4E8C2C7}"/>
              </a:ext>
            </a:extLst>
          </p:cNvPr>
          <p:cNvSpPr>
            <a:spLocks noGrp="1"/>
          </p:cNvSpPr>
          <p:nvPr/>
        </p:nvSpPr>
        <p:spPr>
          <a:xfrm>
            <a:off x="339090" y="1895476"/>
            <a:ext cx="4495800" cy="400050"/>
          </a:xfrm>
          <a:prstGeom prst="rect">
            <a:avLst/>
          </a:prstGeom>
          <a:noFill/>
          <a:ln w="0">
            <a:noFill/>
            <a:prstDash val="solid"/>
          </a:ln>
        </p:spPr>
        <p:txBody>
          <a:bodyPr/>
          <a:lstStyle/>
          <a:p>
            <a:pPr>
              <a:defRPr sz="1800" b="1">
                <a:solidFill>
                  <a:srgbClr val="2F66E8"/>
                </a:solidFill>
              </a:defRPr>
            </a:pPr>
            <a:r>
              <a:rPr lang="en-US" altLang="zh-CN" b="1" dirty="0">
                <a:solidFill>
                  <a:srgbClr val="2F66E8"/>
                </a:solidFill>
              </a:rPr>
              <a:t>Main</a:t>
            </a:r>
            <a:r>
              <a:rPr lang="zh-CN" altLang="en-US" b="1" dirty="0">
                <a:solidFill>
                  <a:srgbClr val="2F66E8"/>
                </a:solidFill>
              </a:rPr>
              <a:t> </a:t>
            </a:r>
            <a:r>
              <a:rPr lang="en-US" altLang="zh-CN" b="1" dirty="0">
                <a:solidFill>
                  <a:srgbClr val="2F66E8"/>
                </a:solidFill>
              </a:rPr>
              <a:t>Purpose</a:t>
            </a:r>
            <a:endParaRPr sz="1800" b="1" dirty="0">
              <a:solidFill>
                <a:srgbClr val="2F66E8"/>
              </a:solidFill>
            </a:endParaRPr>
          </a:p>
        </p:txBody>
      </p:sp>
      <p:sp>
        <p:nvSpPr>
          <p:cNvPr id="20" name="矩形 19">
            <a:extLst>
              <a:ext uri="{FF2B5EF4-FFF2-40B4-BE49-F238E27FC236}">
                <a16:creationId xmlns:a16="http://schemas.microsoft.com/office/drawing/2014/main" id="{521D1258-A7EC-90B8-8B6B-20BD51DB3C6C}"/>
              </a:ext>
            </a:extLst>
          </p:cNvPr>
          <p:cNvSpPr>
            <a:spLocks noGrp="1"/>
          </p:cNvSpPr>
          <p:nvPr/>
        </p:nvSpPr>
        <p:spPr>
          <a:xfrm>
            <a:off x="415290" y="2295526"/>
            <a:ext cx="2000250" cy="3124200"/>
          </a:xfrm>
          <a:prstGeom prst="rect">
            <a:avLst/>
          </a:prstGeom>
          <a:noFill/>
          <a:ln w="0">
            <a:noFill/>
            <a:prstDash val="solid"/>
          </a:ln>
        </p:spPr>
        <p:txBody>
          <a:bodyPr/>
          <a:lstStyle/>
          <a:p>
            <a:pPr>
              <a:defRPr sz="1350" b="1">
                <a:solidFill>
                  <a:srgbClr val="20242A"/>
                </a:solidFill>
              </a:defRPr>
            </a:pPr>
            <a:r>
              <a:rPr lang="zh-CN" altLang="zh-CN" sz="1350" b="1" dirty="0"/>
              <a:t>Obtain more than 1,000 questionnaires and completed response samples to train the machine learning model.</a:t>
            </a:r>
            <a:r>
              <a:rPr lang="zh-CN" altLang="en-US" sz="1350" b="1" dirty="0">
                <a:solidFill>
                  <a:srgbClr val="20242A"/>
                </a:solidFill>
              </a:rPr>
              <a:t>  </a:t>
            </a:r>
            <a:endParaRPr sz="1350" b="1" dirty="0">
              <a:solidFill>
                <a:srgbClr val="20242A"/>
              </a:solidFill>
            </a:endParaRPr>
          </a:p>
        </p:txBody>
      </p:sp>
      <p:pic>
        <p:nvPicPr>
          <p:cNvPr id="21" name="图片 20">
            <a:extLst>
              <a:ext uri="{FF2B5EF4-FFF2-40B4-BE49-F238E27FC236}">
                <a16:creationId xmlns:a16="http://schemas.microsoft.com/office/drawing/2014/main" id="{27D86634-ACD8-C4C7-CFF0-0ADFABD4A52D}"/>
              </a:ext>
            </a:extLst>
          </p:cNvPr>
          <p:cNvPicPr>
            <a:picLocks noChangeAspect="1"/>
          </p:cNvPicPr>
          <p:nvPr/>
        </p:nvPicPr>
        <p:blipFill>
          <a:blip r:embed="rId4"/>
          <a:stretch>
            <a:fillRect/>
          </a:stretch>
        </p:blipFill>
        <p:spPr>
          <a:xfrm>
            <a:off x="2625090" y="2339341"/>
            <a:ext cx="2940929" cy="3036569"/>
          </a:xfrm>
          <a:prstGeom prst="rect">
            <a:avLst/>
          </a:prstGeom>
        </p:spPr>
      </p:pic>
    </p:spTree>
    <p:extLst>
      <p:ext uri="{BB962C8B-B14F-4D97-AF65-F5344CB8AC3E}">
        <p14:creationId xmlns:p14="http://schemas.microsoft.com/office/powerpoint/2010/main" val="675526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16C0A-CE0F-E767-974A-B5423011165D}"/>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33522850-F616-F97B-CBD3-5A72F4875DF2}"/>
              </a:ext>
            </a:extLst>
          </p:cNvPr>
          <p:cNvPicPr>
            <a:picLocks noChangeAspect="1"/>
          </p:cNvPicPr>
          <p:nvPr/>
        </p:nvPicPr>
        <p:blipFill>
          <a:blip r:embed="rId3"/>
          <a:stretch/>
        </p:blipFill>
        <p:spPr>
          <a:xfrm>
            <a:off x="9365190" y="323850"/>
            <a:ext cx="2119845" cy="819150"/>
          </a:xfrm>
          <a:prstGeom prst="rect">
            <a:avLst/>
          </a:prstGeom>
        </p:spPr>
      </p:pic>
      <p:sp>
        <p:nvSpPr>
          <p:cNvPr id="2" name="矩形 1">
            <a:extLst>
              <a:ext uri="{FF2B5EF4-FFF2-40B4-BE49-F238E27FC236}">
                <a16:creationId xmlns:a16="http://schemas.microsoft.com/office/drawing/2014/main" id="{4D0FCACD-2D65-8C54-7795-9B3A35F754BA}"/>
              </a:ext>
            </a:extLst>
          </p:cNvPr>
          <p:cNvSpPr>
            <a:spLocks noGrp="1"/>
          </p:cNvSpPr>
          <p:nvPr/>
        </p:nvSpPr>
        <p:spPr>
          <a:xfrm>
            <a:off x="609600" y="628650"/>
            <a:ext cx="8096250" cy="523875"/>
          </a:xfrm>
          <a:prstGeom prst="rect">
            <a:avLst/>
          </a:prstGeom>
          <a:noFill/>
          <a:ln w="0">
            <a:noFill/>
            <a:prstDash val="solid"/>
          </a:ln>
        </p:spPr>
        <p:txBody>
          <a:bodyPr/>
          <a:lstStyle/>
          <a:p>
            <a:pPr>
              <a:defRPr sz="2250" b="1">
                <a:solidFill>
                  <a:srgbClr val="20242A"/>
                </a:solidFill>
              </a:defRPr>
            </a:pPr>
            <a:r>
              <a:rPr lang="en-US" altLang="zh-CN" sz="2250" b="1" dirty="0">
                <a:solidFill>
                  <a:srgbClr val="20242A"/>
                </a:solidFill>
              </a:rPr>
              <a:t>Questionnaire</a:t>
            </a:r>
            <a:endParaRPr sz="2250" b="1" dirty="0">
              <a:solidFill>
                <a:srgbClr val="20242A"/>
              </a:solidFill>
            </a:endParaRPr>
          </a:p>
        </p:txBody>
      </p:sp>
      <p:sp>
        <p:nvSpPr>
          <p:cNvPr id="3" name="直线连接符 2">
            <a:extLst>
              <a:ext uri="{FF2B5EF4-FFF2-40B4-BE49-F238E27FC236}">
                <a16:creationId xmlns:a16="http://schemas.microsoft.com/office/drawing/2014/main" id="{7DD31FE8-542F-E5E5-F0A8-A8A19A3A6106}"/>
              </a:ext>
            </a:extLst>
          </p:cNvPr>
          <p:cNvSpPr>
            <a:spLocks noGrp="1"/>
          </p:cNvSpPr>
          <p:nvPr/>
        </p:nvSpPr>
        <p:spPr>
          <a:xfrm>
            <a:off x="352425" y="1171575"/>
            <a:ext cx="8382000" cy="0"/>
          </a:xfrm>
          <a:prstGeom prst="line">
            <a:avLst/>
          </a:prstGeom>
          <a:ln w="11430">
            <a:solidFill>
              <a:srgbClr val="555555"/>
            </a:solidFill>
            <a:prstDash val="solid"/>
          </a:ln>
        </p:spPr>
      </p:sp>
      <p:pic>
        <p:nvPicPr>
          <p:cNvPr id="8" name="图片 7">
            <a:extLst>
              <a:ext uri="{FF2B5EF4-FFF2-40B4-BE49-F238E27FC236}">
                <a16:creationId xmlns:a16="http://schemas.microsoft.com/office/drawing/2014/main" id="{606BCF1C-62A7-6750-E83F-FC6E63DC9CA4}"/>
              </a:ext>
            </a:extLst>
          </p:cNvPr>
          <p:cNvPicPr>
            <a:picLocks noChangeAspect="1"/>
          </p:cNvPicPr>
          <p:nvPr/>
        </p:nvPicPr>
        <p:blipFill>
          <a:blip r:embed="rId4"/>
          <a:stretch>
            <a:fillRect/>
          </a:stretch>
        </p:blipFill>
        <p:spPr>
          <a:xfrm>
            <a:off x="352424" y="1338557"/>
            <a:ext cx="11188109" cy="5195587"/>
          </a:xfrm>
          <a:prstGeom prst="rect">
            <a:avLst/>
          </a:prstGeom>
        </p:spPr>
      </p:pic>
    </p:spTree>
    <p:extLst>
      <p:ext uri="{BB962C8B-B14F-4D97-AF65-F5344CB8AC3E}">
        <p14:creationId xmlns:p14="http://schemas.microsoft.com/office/powerpoint/2010/main" val="2498586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B748D-D2B5-3ED5-BF5A-898BB98801BE}"/>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63F2CD40-1062-80B5-1F33-FCFBC6C4AB33}"/>
              </a:ext>
            </a:extLst>
          </p:cNvPr>
          <p:cNvPicPr>
            <a:picLocks noChangeAspect="1"/>
          </p:cNvPicPr>
          <p:nvPr/>
        </p:nvPicPr>
        <p:blipFill>
          <a:blip r:embed="rId3"/>
          <a:stretch/>
        </p:blipFill>
        <p:spPr>
          <a:xfrm>
            <a:off x="9365190" y="323850"/>
            <a:ext cx="2119845" cy="819150"/>
          </a:xfrm>
          <a:prstGeom prst="rect">
            <a:avLst/>
          </a:prstGeom>
        </p:spPr>
      </p:pic>
      <p:sp>
        <p:nvSpPr>
          <p:cNvPr id="2" name="矩形 1">
            <a:extLst>
              <a:ext uri="{FF2B5EF4-FFF2-40B4-BE49-F238E27FC236}">
                <a16:creationId xmlns:a16="http://schemas.microsoft.com/office/drawing/2014/main" id="{8FDBC935-76CF-0A25-5DFA-B58A75051274}"/>
              </a:ext>
            </a:extLst>
          </p:cNvPr>
          <p:cNvSpPr>
            <a:spLocks noGrp="1"/>
          </p:cNvSpPr>
          <p:nvPr/>
        </p:nvSpPr>
        <p:spPr>
          <a:xfrm>
            <a:off x="609600" y="628650"/>
            <a:ext cx="8096250" cy="523875"/>
          </a:xfrm>
          <a:prstGeom prst="rect">
            <a:avLst/>
          </a:prstGeom>
          <a:noFill/>
          <a:ln w="0">
            <a:noFill/>
            <a:prstDash val="solid"/>
          </a:ln>
        </p:spPr>
        <p:txBody>
          <a:bodyPr/>
          <a:lstStyle/>
          <a:p>
            <a:pPr>
              <a:defRPr sz="2250" b="1">
                <a:solidFill>
                  <a:srgbClr val="20242A"/>
                </a:solidFill>
              </a:defRPr>
            </a:pPr>
            <a:r>
              <a:rPr sz="2250" b="1">
                <a:solidFill>
                  <a:srgbClr val="20242A"/>
                </a:solidFill>
              </a:rPr>
              <a:t>Part 1: Recovering the Questionnaire Graph with DFS</a:t>
            </a:r>
          </a:p>
        </p:txBody>
      </p:sp>
      <p:sp>
        <p:nvSpPr>
          <p:cNvPr id="3" name="直线连接符 2">
            <a:extLst>
              <a:ext uri="{FF2B5EF4-FFF2-40B4-BE49-F238E27FC236}">
                <a16:creationId xmlns:a16="http://schemas.microsoft.com/office/drawing/2014/main" id="{7822DF06-C607-88E1-FD40-58A801DFD684}"/>
              </a:ext>
            </a:extLst>
          </p:cNvPr>
          <p:cNvSpPr>
            <a:spLocks noGrp="1"/>
          </p:cNvSpPr>
          <p:nvPr/>
        </p:nvSpPr>
        <p:spPr>
          <a:xfrm>
            <a:off x="352425" y="1171575"/>
            <a:ext cx="8382000" cy="0"/>
          </a:xfrm>
          <a:prstGeom prst="line">
            <a:avLst/>
          </a:prstGeom>
          <a:ln w="11430">
            <a:solidFill>
              <a:srgbClr val="555555"/>
            </a:solidFill>
            <a:prstDash val="solid"/>
          </a:ln>
        </p:spPr>
      </p:sp>
      <p:sp>
        <p:nvSpPr>
          <p:cNvPr id="4" name="矩形 3">
            <a:extLst>
              <a:ext uri="{FF2B5EF4-FFF2-40B4-BE49-F238E27FC236}">
                <a16:creationId xmlns:a16="http://schemas.microsoft.com/office/drawing/2014/main" id="{C14DB05C-D8FB-D578-0B91-8FDFDD86139A}"/>
              </a:ext>
            </a:extLst>
          </p:cNvPr>
          <p:cNvSpPr>
            <a:spLocks noGrp="1"/>
          </p:cNvSpPr>
          <p:nvPr/>
        </p:nvSpPr>
        <p:spPr>
          <a:xfrm>
            <a:off x="495300" y="1619250"/>
            <a:ext cx="4953000" cy="4171950"/>
          </a:xfrm>
          <a:prstGeom prst="rect">
            <a:avLst/>
          </a:prstGeom>
          <a:solidFill>
            <a:srgbClr val="FFFFFF"/>
          </a:solidFill>
          <a:ln w="28575">
            <a:solidFill>
              <a:srgbClr val="2F66E8"/>
            </a:solidFill>
            <a:prstDash val="solid"/>
          </a:ln>
        </p:spPr>
      </p:sp>
      <p:sp>
        <p:nvSpPr>
          <p:cNvPr id="5" name="矩形 4">
            <a:extLst>
              <a:ext uri="{FF2B5EF4-FFF2-40B4-BE49-F238E27FC236}">
                <a16:creationId xmlns:a16="http://schemas.microsoft.com/office/drawing/2014/main" id="{F609D1D9-F1B9-DC47-A47D-B9A0C0A052EF}"/>
              </a:ext>
            </a:extLst>
          </p:cNvPr>
          <p:cNvSpPr>
            <a:spLocks noGrp="1"/>
          </p:cNvSpPr>
          <p:nvPr/>
        </p:nvSpPr>
        <p:spPr>
          <a:xfrm>
            <a:off x="723900" y="1866900"/>
            <a:ext cx="4495800" cy="400050"/>
          </a:xfrm>
          <a:prstGeom prst="rect">
            <a:avLst/>
          </a:prstGeom>
          <a:noFill/>
          <a:ln w="0">
            <a:noFill/>
            <a:prstDash val="solid"/>
          </a:ln>
        </p:spPr>
        <p:txBody>
          <a:bodyPr/>
          <a:lstStyle/>
          <a:p>
            <a:pPr>
              <a:defRPr sz="1800" b="1">
                <a:solidFill>
                  <a:srgbClr val="2F66E8"/>
                </a:solidFill>
              </a:defRPr>
            </a:pPr>
            <a:r>
              <a:rPr sz="1800" b="1">
                <a:solidFill>
                  <a:srgbClr val="2F66E8"/>
                </a:solidFill>
              </a:rPr>
              <a:t>Core idea</a:t>
            </a:r>
          </a:p>
        </p:txBody>
      </p:sp>
      <p:sp>
        <p:nvSpPr>
          <p:cNvPr id="6" name="矩形 5">
            <a:extLst>
              <a:ext uri="{FF2B5EF4-FFF2-40B4-BE49-F238E27FC236}">
                <a16:creationId xmlns:a16="http://schemas.microsoft.com/office/drawing/2014/main" id="{9819DFD6-8A69-2EA8-5B5B-7CA5829A061F}"/>
              </a:ext>
            </a:extLst>
          </p:cNvPr>
          <p:cNvSpPr>
            <a:spLocks noGrp="1"/>
          </p:cNvSpPr>
          <p:nvPr/>
        </p:nvSpPr>
        <p:spPr>
          <a:xfrm>
            <a:off x="762000" y="2457450"/>
            <a:ext cx="4419600" cy="3124200"/>
          </a:xfrm>
          <a:prstGeom prst="rect">
            <a:avLst/>
          </a:prstGeom>
          <a:noFill/>
          <a:ln w="0">
            <a:noFill/>
            <a:prstDash val="solid"/>
          </a:ln>
        </p:spPr>
        <p:txBody>
          <a:bodyPr/>
          <a:lstStyle/>
          <a:p>
            <a:pPr>
              <a:defRPr sz="1350" b="1">
                <a:solidFill>
                  <a:srgbClr val="20242A"/>
                </a:solidFill>
              </a:defRPr>
            </a:pPr>
            <a:r>
              <a:rPr sz="1350" b="1" dirty="0">
                <a:solidFill>
                  <a:srgbClr val="20242A"/>
                </a:solidFill>
              </a:rPr>
              <a:t>• Start traversal from multiple root questions</a:t>
            </a:r>
          </a:p>
          <a:p>
            <a:endParaRPr sz="1350" b="1" dirty="0">
              <a:solidFill>
                <a:srgbClr val="20242A"/>
              </a:solidFill>
            </a:endParaRPr>
          </a:p>
          <a:p>
            <a:pPr>
              <a:defRPr sz="1350" b="1">
                <a:solidFill>
                  <a:srgbClr val="20242A"/>
                </a:solidFill>
              </a:defRPr>
            </a:pPr>
            <a:r>
              <a:rPr sz="1350" b="1" dirty="0">
                <a:solidFill>
                  <a:srgbClr val="20242A"/>
                </a:solidFill>
              </a:rPr>
              <a:t>• Click each option and record newly revealed child questions</a:t>
            </a:r>
          </a:p>
          <a:p>
            <a:endParaRPr sz="1350" b="1" dirty="0">
              <a:solidFill>
                <a:srgbClr val="20242A"/>
              </a:solidFill>
            </a:endParaRPr>
          </a:p>
          <a:p>
            <a:pPr>
              <a:defRPr sz="1350" b="1">
                <a:solidFill>
                  <a:srgbClr val="20242A"/>
                </a:solidFill>
              </a:defRPr>
            </a:pPr>
            <a:r>
              <a:rPr sz="1350" b="1" dirty="0">
                <a:solidFill>
                  <a:srgbClr val="20242A"/>
                </a:solidFill>
              </a:rPr>
              <a:t>• Apply the same recursive process to each child question</a:t>
            </a:r>
          </a:p>
          <a:p>
            <a:endParaRPr sz="1350" b="1" dirty="0">
              <a:solidFill>
                <a:srgbClr val="20242A"/>
              </a:solidFill>
            </a:endParaRPr>
          </a:p>
          <a:p>
            <a:pPr>
              <a:defRPr sz="1350" b="1">
                <a:solidFill>
                  <a:srgbClr val="20242A"/>
                </a:solidFill>
              </a:defRPr>
            </a:pPr>
            <a:r>
              <a:rPr sz="1350" b="1" dirty="0">
                <a:solidFill>
                  <a:srgbClr val="20242A"/>
                </a:solidFill>
              </a:rPr>
              <a:t>• Backtrack after each branch and continue exploring other options</a:t>
            </a:r>
          </a:p>
        </p:txBody>
      </p:sp>
      <p:sp>
        <p:nvSpPr>
          <p:cNvPr id="7" name="矩形 6">
            <a:extLst>
              <a:ext uri="{FF2B5EF4-FFF2-40B4-BE49-F238E27FC236}">
                <a16:creationId xmlns:a16="http://schemas.microsoft.com/office/drawing/2014/main" id="{84CCF56F-2EB8-EE12-1352-2224AF8C0EDF}"/>
              </a:ext>
            </a:extLst>
          </p:cNvPr>
          <p:cNvSpPr>
            <a:spLocks noGrp="1"/>
          </p:cNvSpPr>
          <p:nvPr/>
        </p:nvSpPr>
        <p:spPr>
          <a:xfrm>
            <a:off x="5905500" y="1695450"/>
            <a:ext cx="5810250" cy="3524250"/>
          </a:xfrm>
          <a:prstGeom prst="rect">
            <a:avLst/>
          </a:prstGeom>
          <a:solidFill>
            <a:srgbClr val="FFFFFF"/>
          </a:solidFill>
          <a:ln w="19050">
            <a:solidFill>
              <a:srgbClr val="A9A9A9"/>
            </a:solidFill>
            <a:prstDash val="solid"/>
          </a:ln>
        </p:spPr>
      </p:sp>
      <p:sp>
        <p:nvSpPr>
          <p:cNvPr id="8" name="圆角矩形 7">
            <a:extLst>
              <a:ext uri="{FF2B5EF4-FFF2-40B4-BE49-F238E27FC236}">
                <a16:creationId xmlns:a16="http://schemas.microsoft.com/office/drawing/2014/main" id="{4A6005A1-0015-0D92-E0E4-AED77B224A0D}"/>
              </a:ext>
            </a:extLst>
          </p:cNvPr>
          <p:cNvSpPr>
            <a:spLocks noGrp="1"/>
          </p:cNvSpPr>
          <p:nvPr/>
        </p:nvSpPr>
        <p:spPr>
          <a:xfrm>
            <a:off x="6381750" y="2190750"/>
            <a:ext cx="1571625" cy="457200"/>
          </a:xfrm>
          <a:prstGeom prst="roundRect">
            <a:avLst>
              <a:gd name="adj" fmla="val 16667"/>
            </a:avLst>
          </a:prstGeom>
          <a:solidFill>
            <a:srgbClr val="EAF1FF"/>
          </a:solidFill>
          <a:ln w="15240">
            <a:solidFill>
              <a:srgbClr val="2F66E8"/>
            </a:solidFill>
            <a:prstDash val="solid"/>
          </a:ln>
        </p:spPr>
        <p:txBody>
          <a:bodyPr/>
          <a:lstStyle/>
          <a:p>
            <a:pPr algn="ctr">
              <a:defRPr sz="1275" b="1">
                <a:solidFill>
                  <a:srgbClr val="20242A"/>
                </a:solidFill>
              </a:defRPr>
            </a:pPr>
            <a:r>
              <a:rPr sz="1275" b="1">
                <a:solidFill>
                  <a:srgbClr val="20242A"/>
                </a:solidFill>
              </a:rPr>
              <a:t>Root Question</a:t>
            </a:r>
          </a:p>
        </p:txBody>
      </p:sp>
      <p:sp>
        <p:nvSpPr>
          <p:cNvPr id="9" name="圆角矩形 8">
            <a:extLst>
              <a:ext uri="{FF2B5EF4-FFF2-40B4-BE49-F238E27FC236}">
                <a16:creationId xmlns:a16="http://schemas.microsoft.com/office/drawing/2014/main" id="{58B0D5CF-2581-34BB-3FD7-CC465077523A}"/>
              </a:ext>
            </a:extLst>
          </p:cNvPr>
          <p:cNvSpPr>
            <a:spLocks noGrp="1"/>
          </p:cNvSpPr>
          <p:nvPr/>
        </p:nvSpPr>
        <p:spPr>
          <a:xfrm>
            <a:off x="6477000" y="3162300"/>
            <a:ext cx="1428750" cy="438150"/>
          </a:xfrm>
          <a:prstGeom prst="roundRect">
            <a:avLst>
              <a:gd name="adj" fmla="val 17391"/>
            </a:avLst>
          </a:prstGeom>
          <a:solidFill>
            <a:srgbClr val="E8FFF1"/>
          </a:solidFill>
          <a:ln w="15240">
            <a:solidFill>
              <a:srgbClr val="18A04D"/>
            </a:solidFill>
            <a:prstDash val="solid"/>
          </a:ln>
        </p:spPr>
        <p:txBody>
          <a:bodyPr/>
          <a:lstStyle/>
          <a:p>
            <a:pPr algn="ctr">
              <a:defRPr sz="1275" b="1">
                <a:solidFill>
                  <a:srgbClr val="20242A"/>
                </a:solidFill>
              </a:defRPr>
            </a:pPr>
            <a:r>
              <a:rPr sz="1275" b="1">
                <a:solidFill>
                  <a:srgbClr val="20242A"/>
                </a:solidFill>
              </a:rPr>
              <a:t>Option: Yes</a:t>
            </a:r>
          </a:p>
        </p:txBody>
      </p:sp>
      <p:sp>
        <p:nvSpPr>
          <p:cNvPr id="10" name="圆角矩形 9">
            <a:extLst>
              <a:ext uri="{FF2B5EF4-FFF2-40B4-BE49-F238E27FC236}">
                <a16:creationId xmlns:a16="http://schemas.microsoft.com/office/drawing/2014/main" id="{C6B4AC9C-881F-D9F3-CC80-F42DC846DE80}"/>
              </a:ext>
            </a:extLst>
          </p:cNvPr>
          <p:cNvSpPr>
            <a:spLocks noGrp="1"/>
          </p:cNvSpPr>
          <p:nvPr/>
        </p:nvSpPr>
        <p:spPr>
          <a:xfrm>
            <a:off x="8667750" y="3162300"/>
            <a:ext cx="1428750" cy="438150"/>
          </a:xfrm>
          <a:prstGeom prst="roundRect">
            <a:avLst>
              <a:gd name="adj" fmla="val 17391"/>
            </a:avLst>
          </a:prstGeom>
          <a:solidFill>
            <a:srgbClr val="F2F2F2"/>
          </a:solidFill>
          <a:ln w="15240">
            <a:solidFill>
              <a:srgbClr val="888888"/>
            </a:solidFill>
            <a:prstDash val="solid"/>
          </a:ln>
        </p:spPr>
        <p:txBody>
          <a:bodyPr/>
          <a:lstStyle/>
          <a:p>
            <a:pPr algn="ctr">
              <a:defRPr sz="1275" b="1">
                <a:solidFill>
                  <a:srgbClr val="20242A"/>
                </a:solidFill>
              </a:defRPr>
            </a:pPr>
            <a:r>
              <a:rPr sz="1275" b="1">
                <a:solidFill>
                  <a:srgbClr val="20242A"/>
                </a:solidFill>
              </a:rPr>
              <a:t>Option: No</a:t>
            </a:r>
          </a:p>
        </p:txBody>
      </p:sp>
      <p:sp>
        <p:nvSpPr>
          <p:cNvPr id="11" name="圆角矩形 10">
            <a:extLst>
              <a:ext uri="{FF2B5EF4-FFF2-40B4-BE49-F238E27FC236}">
                <a16:creationId xmlns:a16="http://schemas.microsoft.com/office/drawing/2014/main" id="{02F8B9E2-C7CC-A54A-E6D1-AD002C4B1A88}"/>
              </a:ext>
            </a:extLst>
          </p:cNvPr>
          <p:cNvSpPr>
            <a:spLocks noGrp="1"/>
          </p:cNvSpPr>
          <p:nvPr/>
        </p:nvSpPr>
        <p:spPr>
          <a:xfrm>
            <a:off x="6400800" y="4191000"/>
            <a:ext cx="1619250" cy="457200"/>
          </a:xfrm>
          <a:prstGeom prst="roundRect">
            <a:avLst>
              <a:gd name="adj" fmla="val 16667"/>
            </a:avLst>
          </a:prstGeom>
          <a:solidFill>
            <a:srgbClr val="F0E9FF"/>
          </a:solidFill>
          <a:ln w="15240">
            <a:solidFill>
              <a:srgbClr val="7B3FE4"/>
            </a:solidFill>
            <a:prstDash val="solid"/>
          </a:ln>
        </p:spPr>
        <p:txBody>
          <a:bodyPr/>
          <a:lstStyle/>
          <a:p>
            <a:pPr algn="ctr">
              <a:defRPr sz="1275" b="1">
                <a:solidFill>
                  <a:srgbClr val="20242A"/>
                </a:solidFill>
              </a:defRPr>
            </a:pPr>
            <a:r>
              <a:rPr sz="1275" b="1">
                <a:solidFill>
                  <a:srgbClr val="20242A"/>
                </a:solidFill>
              </a:rPr>
              <a:t>Child Question</a:t>
            </a:r>
          </a:p>
        </p:txBody>
      </p:sp>
      <p:sp>
        <p:nvSpPr>
          <p:cNvPr id="12" name="圆角矩形 11">
            <a:extLst>
              <a:ext uri="{FF2B5EF4-FFF2-40B4-BE49-F238E27FC236}">
                <a16:creationId xmlns:a16="http://schemas.microsoft.com/office/drawing/2014/main" id="{7B4FEEDF-3A9B-E0AB-342F-E336FECA39AA}"/>
              </a:ext>
            </a:extLst>
          </p:cNvPr>
          <p:cNvSpPr>
            <a:spLocks noGrp="1"/>
          </p:cNvSpPr>
          <p:nvPr/>
        </p:nvSpPr>
        <p:spPr>
          <a:xfrm>
            <a:off x="8686800" y="4191000"/>
            <a:ext cx="1428750" cy="457200"/>
          </a:xfrm>
          <a:prstGeom prst="roundRect">
            <a:avLst>
              <a:gd name="adj" fmla="val 16667"/>
            </a:avLst>
          </a:prstGeom>
          <a:solidFill>
            <a:srgbClr val="FFF4D8"/>
          </a:solidFill>
          <a:ln w="15240">
            <a:solidFill>
              <a:srgbClr val="F5A400"/>
            </a:solidFill>
            <a:prstDash val="solid"/>
          </a:ln>
        </p:spPr>
        <p:txBody>
          <a:bodyPr/>
          <a:lstStyle/>
          <a:p>
            <a:pPr algn="ctr">
              <a:defRPr sz="1275" b="1">
                <a:solidFill>
                  <a:srgbClr val="20242A"/>
                </a:solidFill>
              </a:defRPr>
            </a:pPr>
            <a:r>
              <a:rPr sz="1275" b="1">
                <a:solidFill>
                  <a:srgbClr val="20242A"/>
                </a:solidFill>
              </a:rPr>
              <a:t>Terminate</a:t>
            </a:r>
          </a:p>
        </p:txBody>
      </p:sp>
      <p:sp>
        <p:nvSpPr>
          <p:cNvPr id="13" name="直线连接符 12">
            <a:extLst>
              <a:ext uri="{FF2B5EF4-FFF2-40B4-BE49-F238E27FC236}">
                <a16:creationId xmlns:a16="http://schemas.microsoft.com/office/drawing/2014/main" id="{65F4AF75-26B3-5539-0FD1-E0E207EBC983}"/>
              </a:ext>
            </a:extLst>
          </p:cNvPr>
          <p:cNvSpPr>
            <a:spLocks noGrp="1"/>
          </p:cNvSpPr>
          <p:nvPr/>
        </p:nvSpPr>
        <p:spPr>
          <a:xfrm>
            <a:off x="7162800" y="2647950"/>
            <a:ext cx="0" cy="514350"/>
          </a:xfrm>
          <a:prstGeom prst="line">
            <a:avLst/>
          </a:prstGeom>
          <a:ln w="20003">
            <a:solidFill>
              <a:srgbClr val="46566F"/>
            </a:solidFill>
            <a:prstDash val="solid"/>
          </a:ln>
        </p:spPr>
      </p:sp>
      <p:sp>
        <p:nvSpPr>
          <p:cNvPr id="14" name="直线连接符 13">
            <a:extLst>
              <a:ext uri="{FF2B5EF4-FFF2-40B4-BE49-F238E27FC236}">
                <a16:creationId xmlns:a16="http://schemas.microsoft.com/office/drawing/2014/main" id="{CF967613-65CB-2CAE-AEBE-F27D391556D5}"/>
              </a:ext>
            </a:extLst>
          </p:cNvPr>
          <p:cNvSpPr>
            <a:spLocks noGrp="1"/>
          </p:cNvSpPr>
          <p:nvPr/>
        </p:nvSpPr>
        <p:spPr>
          <a:xfrm>
            <a:off x="7953375" y="2428875"/>
            <a:ext cx="1428750" cy="733425"/>
          </a:xfrm>
          <a:prstGeom prst="line">
            <a:avLst/>
          </a:prstGeom>
          <a:ln w="20003">
            <a:solidFill>
              <a:srgbClr val="46566F"/>
            </a:solidFill>
            <a:prstDash val="solid"/>
          </a:ln>
        </p:spPr>
      </p:sp>
      <p:sp>
        <p:nvSpPr>
          <p:cNvPr id="15" name="直线连接符 14">
            <a:extLst>
              <a:ext uri="{FF2B5EF4-FFF2-40B4-BE49-F238E27FC236}">
                <a16:creationId xmlns:a16="http://schemas.microsoft.com/office/drawing/2014/main" id="{B5EBF166-8D15-7A13-FB32-E988C4222ACB}"/>
              </a:ext>
            </a:extLst>
          </p:cNvPr>
          <p:cNvSpPr>
            <a:spLocks noGrp="1"/>
          </p:cNvSpPr>
          <p:nvPr/>
        </p:nvSpPr>
        <p:spPr>
          <a:xfrm>
            <a:off x="7191375" y="3600450"/>
            <a:ext cx="0" cy="590550"/>
          </a:xfrm>
          <a:prstGeom prst="line">
            <a:avLst/>
          </a:prstGeom>
          <a:ln w="20003">
            <a:solidFill>
              <a:srgbClr val="18A04D"/>
            </a:solidFill>
            <a:prstDash val="solid"/>
          </a:ln>
        </p:spPr>
      </p:sp>
      <p:sp>
        <p:nvSpPr>
          <p:cNvPr id="16" name="直线连接符 15">
            <a:extLst>
              <a:ext uri="{FF2B5EF4-FFF2-40B4-BE49-F238E27FC236}">
                <a16:creationId xmlns:a16="http://schemas.microsoft.com/office/drawing/2014/main" id="{C516AB4D-1A01-A27A-748C-C6BB001EB1F6}"/>
              </a:ext>
            </a:extLst>
          </p:cNvPr>
          <p:cNvSpPr>
            <a:spLocks noGrp="1"/>
          </p:cNvSpPr>
          <p:nvPr/>
        </p:nvSpPr>
        <p:spPr>
          <a:xfrm>
            <a:off x="9382125" y="3600450"/>
            <a:ext cx="0" cy="590550"/>
          </a:xfrm>
          <a:prstGeom prst="line">
            <a:avLst/>
          </a:prstGeom>
          <a:ln w="20003">
            <a:solidFill>
              <a:srgbClr val="888888"/>
            </a:solidFill>
            <a:prstDash val="solid"/>
          </a:ln>
        </p:spPr>
      </p:sp>
      <p:sp>
        <p:nvSpPr>
          <p:cNvPr id="17" name="矩形 16">
            <a:extLst>
              <a:ext uri="{FF2B5EF4-FFF2-40B4-BE49-F238E27FC236}">
                <a16:creationId xmlns:a16="http://schemas.microsoft.com/office/drawing/2014/main" id="{8E614DFC-3A51-6D62-2D82-EDD658A27483}"/>
              </a:ext>
            </a:extLst>
          </p:cNvPr>
          <p:cNvSpPr>
            <a:spLocks noGrp="1"/>
          </p:cNvSpPr>
          <p:nvPr/>
        </p:nvSpPr>
        <p:spPr>
          <a:xfrm>
            <a:off x="6972300" y="5362575"/>
            <a:ext cx="3714750" cy="342900"/>
          </a:xfrm>
          <a:prstGeom prst="rect">
            <a:avLst/>
          </a:prstGeom>
          <a:noFill/>
          <a:ln w="0">
            <a:noFill/>
            <a:prstDash val="solid"/>
          </a:ln>
        </p:spPr>
        <p:txBody>
          <a:bodyPr/>
          <a:lstStyle/>
          <a:p>
            <a:pPr algn="ctr">
              <a:defRPr sz="1800" b="1">
                <a:solidFill>
                  <a:srgbClr val="004098"/>
                </a:solidFill>
              </a:defRPr>
            </a:pPr>
            <a:r>
              <a:rPr sz="1800" b="1">
                <a:solidFill>
                  <a:srgbClr val="004098"/>
                </a:solidFill>
              </a:rPr>
              <a:t>DFS + Backtracking</a:t>
            </a:r>
          </a:p>
        </p:txBody>
      </p:sp>
    </p:spTree>
    <p:extLst>
      <p:ext uri="{BB962C8B-B14F-4D97-AF65-F5344CB8AC3E}">
        <p14:creationId xmlns:p14="http://schemas.microsoft.com/office/powerpoint/2010/main" val="1546143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p:blipFill>
        <p:spPr>
          <a:xfrm>
            <a:off x="9365190" y="323850"/>
            <a:ext cx="2119845" cy="819150"/>
          </a:xfrm>
          <a:prstGeom prst="rect">
            <a:avLst/>
          </a:prstGeom>
        </p:spPr>
      </p:pic>
      <p:sp>
        <p:nvSpPr>
          <p:cNvPr id="2" name="矩形 1">
            <a:extLst>
              <a:ext uri="{FF2B5EF4-FFF2-40B4-BE49-F238E27FC236}">
                <a16:creationId xmlns:a16="http://schemas.microsoft.com/office/drawing/2014/main" id="{0DAA4824-971C-46A5-8E0C-36C9C881CE0F}"/>
              </a:ext>
            </a:extLst>
          </p:cNvPr>
          <p:cNvSpPr>
            <a:spLocks noGrp="1"/>
          </p:cNvSpPr>
          <p:nvPr/>
        </p:nvSpPr>
        <p:spPr>
          <a:xfrm>
            <a:off x="609600" y="628650"/>
            <a:ext cx="8096250" cy="523875"/>
          </a:xfrm>
          <a:prstGeom prst="rect">
            <a:avLst/>
          </a:prstGeom>
          <a:noFill/>
          <a:ln w="0">
            <a:noFill/>
            <a:prstDash val="solid"/>
          </a:ln>
        </p:spPr>
        <p:txBody>
          <a:bodyPr/>
          <a:lstStyle/>
          <a:p>
            <a:pPr>
              <a:defRPr sz="2250" b="1">
                <a:solidFill>
                  <a:srgbClr val="20242A"/>
                </a:solidFill>
              </a:defRPr>
            </a:pPr>
            <a:r>
              <a:rPr sz="2250" b="1">
                <a:solidFill>
                  <a:srgbClr val="20242A"/>
                </a:solidFill>
              </a:rPr>
              <a:t>Recovered Structure: Complete Game Tree</a:t>
            </a:r>
          </a:p>
        </p:txBody>
      </p:sp>
      <p:sp>
        <p:nvSpPr>
          <p:cNvPr id="3" name="直线连接符 2">
            <a:extLst>
              <a:ext uri="{FF2B5EF4-FFF2-40B4-BE49-F238E27FC236}">
                <a16:creationId xmlns:a16="http://schemas.microsoft.com/office/drawing/2014/main" id="{C254FEF6-EC1C-4C77-B065-E9DC4CC590A8}"/>
              </a:ext>
            </a:extLst>
          </p:cNvPr>
          <p:cNvSpPr>
            <a:spLocks noGrp="1"/>
          </p:cNvSpPr>
          <p:nvPr/>
        </p:nvSpPr>
        <p:spPr>
          <a:xfrm>
            <a:off x="352425" y="1171575"/>
            <a:ext cx="8382000" cy="0"/>
          </a:xfrm>
          <a:prstGeom prst="line">
            <a:avLst/>
          </a:prstGeom>
          <a:ln w="11430">
            <a:solidFill>
              <a:srgbClr val="555555"/>
            </a:solidFill>
            <a:prstDash val="solid"/>
          </a:ln>
        </p:spPr>
      </p:sp>
      <p:sp>
        <p:nvSpPr>
          <p:cNvPr id="5" name="矩形 4">
            <a:extLst>
              <a:ext uri="{FF2B5EF4-FFF2-40B4-BE49-F238E27FC236}">
                <a16:creationId xmlns:a16="http://schemas.microsoft.com/office/drawing/2014/main" id="{D62D130E-74A0-480C-85DA-072622419252}"/>
              </a:ext>
            </a:extLst>
          </p:cNvPr>
          <p:cNvSpPr>
            <a:spLocks noGrp="1"/>
          </p:cNvSpPr>
          <p:nvPr/>
        </p:nvSpPr>
        <p:spPr>
          <a:xfrm>
            <a:off x="495300" y="1752600"/>
            <a:ext cx="11201400" cy="4810125"/>
          </a:xfrm>
          <a:prstGeom prst="rect">
            <a:avLst/>
          </a:prstGeom>
          <a:solidFill>
            <a:srgbClr val="FFFFFF"/>
          </a:solidFill>
          <a:ln w="28575">
            <a:solidFill>
              <a:srgbClr val="2F66E8"/>
            </a:solidFill>
            <a:prstDash val="solid"/>
          </a:ln>
        </p:spPr>
      </p:sp>
      <p:pic>
        <p:nvPicPr>
          <p:cNvPr id="12" name="图片 11"/>
          <p:cNvPicPr>
            <a:picLocks noChangeAspect="1"/>
          </p:cNvPicPr>
          <p:nvPr/>
        </p:nvPicPr>
        <p:blipFill>
          <a:blip r:embed="rId4"/>
          <a:stretch/>
        </p:blipFill>
        <p:spPr>
          <a:xfrm>
            <a:off x="1376516" y="1876425"/>
            <a:ext cx="9438968" cy="4572000"/>
          </a:xfrm>
          <a:prstGeom prst="rect">
            <a:avLst/>
          </a:prstGeom>
        </p:spPr>
      </p:pic>
    </p:spTree>
    <p:extLst>
      <p:ext uri="{BB962C8B-B14F-4D97-AF65-F5344CB8AC3E}">
        <p14:creationId xmlns:p14="http://schemas.microsoft.com/office/powerpoint/2010/main" val="1089387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p:blipFill>
        <p:spPr>
          <a:xfrm>
            <a:off x="9365190" y="323850"/>
            <a:ext cx="2119845" cy="819150"/>
          </a:xfrm>
          <a:prstGeom prst="rect">
            <a:avLst/>
          </a:prstGeom>
        </p:spPr>
      </p:pic>
      <p:sp>
        <p:nvSpPr>
          <p:cNvPr id="2" name="矩形 1">
            <a:extLst>
              <a:ext uri="{FF2B5EF4-FFF2-40B4-BE49-F238E27FC236}">
                <a16:creationId xmlns:a16="http://schemas.microsoft.com/office/drawing/2014/main" id="{180DCB10-24E2-46EA-8603-6303DF41C3EA}"/>
              </a:ext>
            </a:extLst>
          </p:cNvPr>
          <p:cNvSpPr>
            <a:spLocks noGrp="1"/>
          </p:cNvSpPr>
          <p:nvPr/>
        </p:nvSpPr>
        <p:spPr>
          <a:xfrm>
            <a:off x="609600" y="628650"/>
            <a:ext cx="8096250" cy="523875"/>
          </a:xfrm>
          <a:prstGeom prst="rect">
            <a:avLst/>
          </a:prstGeom>
          <a:noFill/>
          <a:ln w="0">
            <a:noFill/>
            <a:prstDash val="solid"/>
          </a:ln>
        </p:spPr>
        <p:txBody>
          <a:bodyPr/>
          <a:lstStyle/>
          <a:p>
            <a:pPr>
              <a:defRPr sz="2250" b="1">
                <a:solidFill>
                  <a:srgbClr val="20242A"/>
                </a:solidFill>
              </a:defRPr>
            </a:pPr>
            <a:r>
              <a:rPr sz="2250" b="1">
                <a:solidFill>
                  <a:srgbClr val="20242A"/>
                </a:solidFill>
              </a:rPr>
              <a:t>Recovered Structure: Complete All Other Tree</a:t>
            </a:r>
          </a:p>
        </p:txBody>
      </p:sp>
      <p:sp>
        <p:nvSpPr>
          <p:cNvPr id="3" name="直线连接符 2">
            <a:extLst>
              <a:ext uri="{FF2B5EF4-FFF2-40B4-BE49-F238E27FC236}">
                <a16:creationId xmlns:a16="http://schemas.microsoft.com/office/drawing/2014/main" id="{879DD4AC-58E4-49C5-942E-17F05C610136}"/>
              </a:ext>
            </a:extLst>
          </p:cNvPr>
          <p:cNvSpPr>
            <a:spLocks noGrp="1"/>
          </p:cNvSpPr>
          <p:nvPr/>
        </p:nvSpPr>
        <p:spPr>
          <a:xfrm>
            <a:off x="352425" y="1171575"/>
            <a:ext cx="8382000" cy="0"/>
          </a:xfrm>
          <a:prstGeom prst="line">
            <a:avLst/>
          </a:prstGeom>
          <a:ln w="11430">
            <a:solidFill>
              <a:srgbClr val="555555"/>
            </a:solidFill>
            <a:prstDash val="solid"/>
          </a:ln>
        </p:spPr>
      </p:sp>
      <p:sp>
        <p:nvSpPr>
          <p:cNvPr id="5" name="矩形 4">
            <a:extLst>
              <a:ext uri="{FF2B5EF4-FFF2-40B4-BE49-F238E27FC236}">
                <a16:creationId xmlns:a16="http://schemas.microsoft.com/office/drawing/2014/main" id="{49142069-8EE8-4F87-9F0F-56E14D63AC8C}"/>
              </a:ext>
            </a:extLst>
          </p:cNvPr>
          <p:cNvSpPr>
            <a:spLocks noGrp="1"/>
          </p:cNvSpPr>
          <p:nvPr/>
        </p:nvSpPr>
        <p:spPr>
          <a:xfrm>
            <a:off x="495300" y="1752600"/>
            <a:ext cx="11201400" cy="4810125"/>
          </a:xfrm>
          <a:prstGeom prst="rect">
            <a:avLst/>
          </a:prstGeom>
          <a:solidFill>
            <a:srgbClr val="FFFFFF"/>
          </a:solidFill>
          <a:ln w="28575">
            <a:solidFill>
              <a:srgbClr val="7B3FE4"/>
            </a:solidFill>
            <a:prstDash val="solid"/>
          </a:ln>
        </p:spPr>
      </p:sp>
      <p:pic>
        <p:nvPicPr>
          <p:cNvPr id="12" name="图片 11"/>
          <p:cNvPicPr>
            <a:picLocks noChangeAspect="1"/>
          </p:cNvPicPr>
          <p:nvPr/>
        </p:nvPicPr>
        <p:blipFill>
          <a:blip r:embed="rId4"/>
          <a:stretch/>
        </p:blipFill>
        <p:spPr>
          <a:xfrm>
            <a:off x="1376516" y="1876425"/>
            <a:ext cx="9438968" cy="4572000"/>
          </a:xfrm>
          <a:prstGeom prst="rect">
            <a:avLst/>
          </a:prstGeom>
        </p:spPr>
      </p:pic>
    </p:spTree>
    <p:extLst>
      <p:ext uri="{BB962C8B-B14F-4D97-AF65-F5344CB8AC3E}">
        <p14:creationId xmlns:p14="http://schemas.microsoft.com/office/powerpoint/2010/main" val="94210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p:blipFill>
        <p:spPr>
          <a:xfrm>
            <a:off x="9365190" y="323850"/>
            <a:ext cx="2119845" cy="819150"/>
          </a:xfrm>
          <a:prstGeom prst="rect">
            <a:avLst/>
          </a:prstGeom>
        </p:spPr>
      </p:pic>
      <p:sp>
        <p:nvSpPr>
          <p:cNvPr id="2" name="矩形 1">
            <a:extLst>
              <a:ext uri="{FF2B5EF4-FFF2-40B4-BE49-F238E27FC236}">
                <a16:creationId xmlns:a16="http://schemas.microsoft.com/office/drawing/2014/main" id="{45AAD983-83D3-4E82-890A-24DBB28AA2F3}"/>
              </a:ext>
            </a:extLst>
          </p:cNvPr>
          <p:cNvSpPr>
            <a:spLocks noGrp="1"/>
          </p:cNvSpPr>
          <p:nvPr/>
        </p:nvSpPr>
        <p:spPr>
          <a:xfrm>
            <a:off x="609600" y="628650"/>
            <a:ext cx="8648700" cy="523875"/>
          </a:xfrm>
          <a:prstGeom prst="rect">
            <a:avLst/>
          </a:prstGeom>
          <a:noFill/>
          <a:ln w="0">
            <a:noFill/>
            <a:prstDash val="solid"/>
          </a:ln>
        </p:spPr>
        <p:txBody>
          <a:bodyPr/>
          <a:lstStyle/>
          <a:p>
            <a:pPr>
              <a:defRPr sz="2250" b="1">
                <a:solidFill>
                  <a:srgbClr val="20242A"/>
                </a:solidFill>
              </a:defRPr>
            </a:pPr>
            <a:r>
              <a:rPr lang="en-US" altLang="zh-CN" sz="2250" b="1" dirty="0">
                <a:solidFill>
                  <a:srgbClr val="20242A"/>
                </a:solidFill>
              </a:rPr>
              <a:t>An</a:t>
            </a:r>
            <a:r>
              <a:rPr lang="zh-CN" altLang="en-US" sz="2250" b="1" dirty="0">
                <a:solidFill>
                  <a:srgbClr val="20242A"/>
                </a:solidFill>
              </a:rPr>
              <a:t> </a:t>
            </a:r>
            <a:r>
              <a:rPr lang="en-US" altLang="zh-CN" sz="2250" b="1" dirty="0">
                <a:solidFill>
                  <a:srgbClr val="20242A"/>
                </a:solidFill>
              </a:rPr>
              <a:t>Example</a:t>
            </a:r>
            <a:r>
              <a:rPr lang="zh-CN" altLang="en-US" sz="2250" b="1" dirty="0">
                <a:solidFill>
                  <a:srgbClr val="20242A"/>
                </a:solidFill>
              </a:rPr>
              <a:t> </a:t>
            </a:r>
            <a:r>
              <a:rPr lang="en-US" altLang="zh-CN" sz="2250" b="1" dirty="0">
                <a:solidFill>
                  <a:srgbClr val="20242A"/>
                </a:solidFill>
              </a:rPr>
              <a:t>Question</a:t>
            </a:r>
            <a:r>
              <a:rPr lang="zh-CN" altLang="en-US" sz="2250" b="1" dirty="0">
                <a:solidFill>
                  <a:srgbClr val="20242A"/>
                </a:solidFill>
              </a:rPr>
              <a:t> </a:t>
            </a:r>
            <a:r>
              <a:rPr lang="en-US" altLang="zh-CN" sz="2250" b="1" dirty="0">
                <a:solidFill>
                  <a:srgbClr val="20242A"/>
                </a:solidFill>
              </a:rPr>
              <a:t>with</a:t>
            </a:r>
            <a:r>
              <a:rPr lang="zh-CN" altLang="en-US" sz="2250" b="1" dirty="0">
                <a:solidFill>
                  <a:srgbClr val="20242A"/>
                </a:solidFill>
              </a:rPr>
              <a:t> </a:t>
            </a:r>
            <a:r>
              <a:rPr lang="en-US" altLang="zh-CN" sz="2250" b="1" dirty="0">
                <a:solidFill>
                  <a:srgbClr val="20242A"/>
                </a:solidFill>
              </a:rPr>
              <a:t>one</a:t>
            </a:r>
            <a:r>
              <a:rPr lang="zh-CN" altLang="en-US" sz="2250" b="1" dirty="0">
                <a:solidFill>
                  <a:srgbClr val="20242A"/>
                </a:solidFill>
              </a:rPr>
              <a:t> </a:t>
            </a:r>
            <a:r>
              <a:rPr lang="en-US" altLang="zh-CN" sz="2250" b="1" dirty="0">
                <a:solidFill>
                  <a:srgbClr val="20242A"/>
                </a:solidFill>
              </a:rPr>
              <a:t>of</a:t>
            </a:r>
            <a:r>
              <a:rPr lang="zh-CN" altLang="en-US" sz="2250" b="1" dirty="0">
                <a:solidFill>
                  <a:srgbClr val="20242A"/>
                </a:solidFill>
              </a:rPr>
              <a:t> </a:t>
            </a:r>
            <a:r>
              <a:rPr lang="en-US" altLang="zh-CN" sz="2250" b="1" dirty="0">
                <a:solidFill>
                  <a:srgbClr val="20242A"/>
                </a:solidFill>
              </a:rPr>
              <a:t>its</a:t>
            </a:r>
            <a:r>
              <a:rPr lang="zh-CN" altLang="en-US" sz="2250" b="1" dirty="0">
                <a:solidFill>
                  <a:srgbClr val="20242A"/>
                </a:solidFill>
              </a:rPr>
              <a:t> </a:t>
            </a:r>
            <a:r>
              <a:rPr lang="en-US" altLang="zh-CN" sz="2250" b="1" dirty="0">
                <a:solidFill>
                  <a:srgbClr val="20242A"/>
                </a:solidFill>
              </a:rPr>
              <a:t>options</a:t>
            </a:r>
            <a:r>
              <a:rPr lang="zh-CN" altLang="en-US" sz="2250" b="1" dirty="0">
                <a:solidFill>
                  <a:srgbClr val="20242A"/>
                </a:solidFill>
              </a:rPr>
              <a:t> </a:t>
            </a:r>
            <a:r>
              <a:rPr lang="en-US" altLang="zh-CN" sz="2250" b="1" dirty="0">
                <a:solidFill>
                  <a:srgbClr val="20242A"/>
                </a:solidFill>
              </a:rPr>
              <a:t>and</a:t>
            </a:r>
            <a:r>
              <a:rPr lang="zh-CN" altLang="en-US" sz="2250" b="1" dirty="0">
                <a:solidFill>
                  <a:srgbClr val="20242A"/>
                </a:solidFill>
              </a:rPr>
              <a:t> </a:t>
            </a:r>
            <a:r>
              <a:rPr lang="en-US" altLang="zh-CN" sz="2250" b="1" dirty="0">
                <a:solidFill>
                  <a:srgbClr val="20242A"/>
                </a:solidFill>
              </a:rPr>
              <a:t>sub-questions</a:t>
            </a:r>
            <a:r>
              <a:rPr lang="zh-CN" altLang="en-US" sz="2250" b="1" dirty="0">
                <a:solidFill>
                  <a:srgbClr val="20242A"/>
                </a:solidFill>
              </a:rPr>
              <a:t> </a:t>
            </a:r>
            <a:endParaRPr sz="2250" b="1" dirty="0">
              <a:solidFill>
                <a:srgbClr val="20242A"/>
              </a:solidFill>
            </a:endParaRPr>
          </a:p>
        </p:txBody>
      </p:sp>
      <p:sp>
        <p:nvSpPr>
          <p:cNvPr id="3" name="直线连接符 2">
            <a:extLst>
              <a:ext uri="{FF2B5EF4-FFF2-40B4-BE49-F238E27FC236}">
                <a16:creationId xmlns:a16="http://schemas.microsoft.com/office/drawing/2014/main" id="{6C717884-E895-494E-B8C1-88808F2088A7}"/>
              </a:ext>
            </a:extLst>
          </p:cNvPr>
          <p:cNvSpPr>
            <a:spLocks noGrp="1"/>
          </p:cNvSpPr>
          <p:nvPr/>
        </p:nvSpPr>
        <p:spPr>
          <a:xfrm>
            <a:off x="352425" y="1171575"/>
            <a:ext cx="8382000" cy="0"/>
          </a:xfrm>
          <a:prstGeom prst="line">
            <a:avLst/>
          </a:prstGeom>
          <a:ln w="11430">
            <a:solidFill>
              <a:srgbClr val="555555"/>
            </a:solidFill>
            <a:prstDash val="solid"/>
          </a:ln>
        </p:spPr>
      </p:sp>
      <p:pic>
        <p:nvPicPr>
          <p:cNvPr id="11" name="图片 10"/>
          <p:cNvPicPr>
            <a:picLocks noChangeAspect="1"/>
          </p:cNvPicPr>
          <p:nvPr/>
        </p:nvPicPr>
        <p:blipFill>
          <a:blip r:embed="rId4"/>
          <a:stretch/>
        </p:blipFill>
        <p:spPr>
          <a:xfrm>
            <a:off x="803413" y="1885950"/>
            <a:ext cx="10585174" cy="4286250"/>
          </a:xfrm>
          <a:prstGeom prst="rect">
            <a:avLst/>
          </a:prstGeom>
        </p:spPr>
      </p:pic>
    </p:spTree>
    <p:extLst>
      <p:ext uri="{BB962C8B-B14F-4D97-AF65-F5344CB8AC3E}">
        <p14:creationId xmlns:p14="http://schemas.microsoft.com/office/powerpoint/2010/main" val="508311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a:stretch/>
        </p:blipFill>
        <p:spPr>
          <a:xfrm>
            <a:off x="9365190" y="323850"/>
            <a:ext cx="2119845" cy="819150"/>
          </a:xfrm>
          <a:prstGeom prst="rect">
            <a:avLst/>
          </a:prstGeom>
        </p:spPr>
      </p:pic>
      <p:sp>
        <p:nvSpPr>
          <p:cNvPr id="2" name="矩形 1">
            <a:extLst>
              <a:ext uri="{FF2B5EF4-FFF2-40B4-BE49-F238E27FC236}">
                <a16:creationId xmlns:a16="http://schemas.microsoft.com/office/drawing/2014/main" id="{BBD5D387-AC69-425F-A6D6-D94DE545DE71}"/>
              </a:ext>
            </a:extLst>
          </p:cNvPr>
          <p:cNvSpPr>
            <a:spLocks noGrp="1"/>
          </p:cNvSpPr>
          <p:nvPr/>
        </p:nvSpPr>
        <p:spPr>
          <a:xfrm>
            <a:off x="609600" y="628650"/>
            <a:ext cx="8096250" cy="523875"/>
          </a:xfrm>
          <a:prstGeom prst="rect">
            <a:avLst/>
          </a:prstGeom>
          <a:noFill/>
          <a:ln w="0">
            <a:noFill/>
            <a:prstDash val="solid"/>
          </a:ln>
        </p:spPr>
        <p:txBody>
          <a:bodyPr/>
          <a:lstStyle/>
          <a:p>
            <a:pPr>
              <a:defRPr sz="2250" b="1">
                <a:solidFill>
                  <a:srgbClr val="20242A"/>
                </a:solidFill>
              </a:defRPr>
            </a:pPr>
            <a:r>
              <a:rPr sz="2250" b="1" dirty="0">
                <a:solidFill>
                  <a:srgbClr val="20242A"/>
                </a:solidFill>
              </a:rPr>
              <a:t>Questionnaire Sample Collectio</a:t>
            </a:r>
            <a:r>
              <a:rPr lang="en-US" altLang="zh-CN" sz="2250" b="1" dirty="0">
                <a:solidFill>
                  <a:srgbClr val="20242A"/>
                </a:solidFill>
              </a:rPr>
              <a:t>n</a:t>
            </a:r>
            <a:endParaRPr sz="2250" b="1" dirty="0">
              <a:solidFill>
                <a:srgbClr val="20242A"/>
              </a:solidFill>
            </a:endParaRPr>
          </a:p>
        </p:txBody>
      </p:sp>
      <p:sp>
        <p:nvSpPr>
          <p:cNvPr id="3" name="直线连接符 2">
            <a:extLst>
              <a:ext uri="{FF2B5EF4-FFF2-40B4-BE49-F238E27FC236}">
                <a16:creationId xmlns:a16="http://schemas.microsoft.com/office/drawing/2014/main" id="{FBC15409-20F3-4D21-A2F9-D9AF23BEEAC0}"/>
              </a:ext>
            </a:extLst>
          </p:cNvPr>
          <p:cNvSpPr>
            <a:spLocks noGrp="1"/>
          </p:cNvSpPr>
          <p:nvPr/>
        </p:nvSpPr>
        <p:spPr>
          <a:xfrm>
            <a:off x="352425" y="1171575"/>
            <a:ext cx="8382000" cy="0"/>
          </a:xfrm>
          <a:prstGeom prst="line">
            <a:avLst/>
          </a:prstGeom>
          <a:ln w="11430">
            <a:solidFill>
              <a:srgbClr val="555555"/>
            </a:solidFill>
            <a:prstDash val="solid"/>
          </a:ln>
        </p:spPr>
      </p:sp>
      <p:sp>
        <p:nvSpPr>
          <p:cNvPr id="5" name="椭圆 4">
            <a:extLst>
              <a:ext uri="{FF2B5EF4-FFF2-40B4-BE49-F238E27FC236}">
                <a16:creationId xmlns:a16="http://schemas.microsoft.com/office/drawing/2014/main" id="{DDA7E0C0-3D6A-493B-865A-1D0CD92EBB3D}"/>
              </a:ext>
            </a:extLst>
          </p:cNvPr>
          <p:cNvSpPr>
            <a:spLocks noGrp="1"/>
          </p:cNvSpPr>
          <p:nvPr/>
        </p:nvSpPr>
        <p:spPr>
          <a:xfrm>
            <a:off x="1676400" y="2190750"/>
            <a:ext cx="552450" cy="552450"/>
          </a:xfrm>
          <a:prstGeom prst="ellipse">
            <a:avLst/>
          </a:prstGeom>
          <a:solidFill>
            <a:srgbClr val="2F66E8"/>
          </a:solidFill>
          <a:ln w="19050">
            <a:solidFill>
              <a:srgbClr val="D6E3FF"/>
            </a:solidFill>
            <a:prstDash val="solid"/>
          </a:ln>
        </p:spPr>
        <p:txBody>
          <a:bodyPr/>
          <a:lstStyle/>
          <a:p>
            <a:pPr algn="ctr">
              <a:defRPr sz="1500" b="1">
                <a:solidFill>
                  <a:srgbClr val="FFFFFF"/>
                </a:solidFill>
              </a:defRPr>
            </a:pPr>
            <a:r>
              <a:rPr sz="1500" b="1">
                <a:solidFill>
                  <a:srgbClr val="FFFFFF"/>
                </a:solidFill>
              </a:rPr>
              <a:t>1</a:t>
            </a:r>
          </a:p>
        </p:txBody>
      </p:sp>
      <p:sp>
        <p:nvSpPr>
          <p:cNvPr id="6" name="矩形 5">
            <a:extLst>
              <a:ext uri="{FF2B5EF4-FFF2-40B4-BE49-F238E27FC236}">
                <a16:creationId xmlns:a16="http://schemas.microsoft.com/office/drawing/2014/main" id="{9DB1B93A-DFD6-477E-AE56-1298D16DFD9F}"/>
              </a:ext>
            </a:extLst>
          </p:cNvPr>
          <p:cNvSpPr>
            <a:spLocks noGrp="1"/>
          </p:cNvSpPr>
          <p:nvPr/>
        </p:nvSpPr>
        <p:spPr>
          <a:xfrm>
            <a:off x="876300" y="3000375"/>
            <a:ext cx="2286000" cy="2000250"/>
          </a:xfrm>
          <a:prstGeom prst="rect">
            <a:avLst/>
          </a:prstGeom>
          <a:solidFill>
            <a:srgbClr val="FFFFFF"/>
          </a:solidFill>
          <a:ln w="14288">
            <a:solidFill>
              <a:srgbClr val="CFCFCF"/>
            </a:solidFill>
            <a:prstDash val="solid"/>
          </a:ln>
        </p:spPr>
      </p:sp>
      <p:sp>
        <p:nvSpPr>
          <p:cNvPr id="7" name="矩形 6">
            <a:extLst>
              <a:ext uri="{FF2B5EF4-FFF2-40B4-BE49-F238E27FC236}">
                <a16:creationId xmlns:a16="http://schemas.microsoft.com/office/drawing/2014/main" id="{67B0B004-519D-468D-B10A-1F30DA6CB428}"/>
              </a:ext>
            </a:extLst>
          </p:cNvPr>
          <p:cNvSpPr>
            <a:spLocks noGrp="1"/>
          </p:cNvSpPr>
          <p:nvPr/>
        </p:nvSpPr>
        <p:spPr>
          <a:xfrm>
            <a:off x="1047750" y="3257550"/>
            <a:ext cx="1943100" cy="304800"/>
          </a:xfrm>
          <a:prstGeom prst="rect">
            <a:avLst/>
          </a:prstGeom>
          <a:noFill/>
          <a:ln w="0">
            <a:noFill/>
            <a:prstDash val="solid"/>
          </a:ln>
        </p:spPr>
        <p:txBody>
          <a:bodyPr/>
          <a:lstStyle/>
          <a:p>
            <a:pPr algn="ctr">
              <a:defRPr sz="1800" b="1">
                <a:solidFill>
                  <a:srgbClr val="2F66E8"/>
                </a:solidFill>
              </a:defRPr>
            </a:pPr>
            <a:r>
              <a:rPr sz="1800" b="1" dirty="0">
                <a:solidFill>
                  <a:srgbClr val="2F66E8"/>
                </a:solidFill>
              </a:rPr>
              <a:t>Baseline</a:t>
            </a:r>
          </a:p>
        </p:txBody>
      </p:sp>
      <p:sp>
        <p:nvSpPr>
          <p:cNvPr id="8" name="矩形 7">
            <a:extLst>
              <a:ext uri="{FF2B5EF4-FFF2-40B4-BE49-F238E27FC236}">
                <a16:creationId xmlns:a16="http://schemas.microsoft.com/office/drawing/2014/main" id="{18B3BC2C-7BF4-4B09-9071-16ACF4973A96}"/>
              </a:ext>
            </a:extLst>
          </p:cNvPr>
          <p:cNvSpPr>
            <a:spLocks noGrp="1"/>
          </p:cNvSpPr>
          <p:nvPr/>
        </p:nvSpPr>
        <p:spPr>
          <a:xfrm>
            <a:off x="1104900" y="3762375"/>
            <a:ext cx="1828800" cy="857250"/>
          </a:xfrm>
          <a:prstGeom prst="rect">
            <a:avLst/>
          </a:prstGeom>
          <a:noFill/>
          <a:ln w="0">
            <a:noFill/>
            <a:prstDash val="solid"/>
          </a:ln>
        </p:spPr>
        <p:txBody>
          <a:bodyPr/>
          <a:lstStyle/>
          <a:p>
            <a:pPr algn="ctr">
              <a:defRPr sz="1275" b="1">
                <a:solidFill>
                  <a:srgbClr val="20242A"/>
                </a:solidFill>
              </a:defRPr>
            </a:pPr>
            <a:r>
              <a:rPr sz="1275" b="1">
                <a:solidFill>
                  <a:srgbClr val="20242A"/>
                </a:solidFill>
              </a:rPr>
              <a:t>Choose the lowest-risk answers to establish the minimum-rating path</a:t>
            </a:r>
          </a:p>
        </p:txBody>
      </p:sp>
      <p:sp>
        <p:nvSpPr>
          <p:cNvPr id="9" name="直线连接符 8">
            <a:extLst>
              <a:ext uri="{FF2B5EF4-FFF2-40B4-BE49-F238E27FC236}">
                <a16:creationId xmlns:a16="http://schemas.microsoft.com/office/drawing/2014/main" id="{6B592BEE-1727-47F3-B8D5-E764E0D017AA}"/>
              </a:ext>
            </a:extLst>
          </p:cNvPr>
          <p:cNvSpPr>
            <a:spLocks noGrp="1"/>
          </p:cNvSpPr>
          <p:nvPr/>
        </p:nvSpPr>
        <p:spPr>
          <a:xfrm>
            <a:off x="3124200" y="2457450"/>
            <a:ext cx="1219200" cy="0"/>
          </a:xfrm>
          <a:prstGeom prst="line">
            <a:avLst/>
          </a:prstGeom>
          <a:ln w="20003">
            <a:solidFill>
              <a:srgbClr val="46566F"/>
            </a:solidFill>
            <a:prstDash val="solid"/>
          </a:ln>
        </p:spPr>
      </p:sp>
      <p:sp>
        <p:nvSpPr>
          <p:cNvPr id="10" name="椭圆 9">
            <a:extLst>
              <a:ext uri="{FF2B5EF4-FFF2-40B4-BE49-F238E27FC236}">
                <a16:creationId xmlns:a16="http://schemas.microsoft.com/office/drawing/2014/main" id="{E84BDDE2-8B5D-4FE3-8495-0657A70E41B9}"/>
              </a:ext>
            </a:extLst>
          </p:cNvPr>
          <p:cNvSpPr>
            <a:spLocks noGrp="1"/>
          </p:cNvSpPr>
          <p:nvPr/>
        </p:nvSpPr>
        <p:spPr>
          <a:xfrm>
            <a:off x="4343400" y="2190750"/>
            <a:ext cx="552450" cy="552450"/>
          </a:xfrm>
          <a:prstGeom prst="ellipse">
            <a:avLst/>
          </a:prstGeom>
          <a:solidFill>
            <a:srgbClr val="18A04D"/>
          </a:solidFill>
          <a:ln w="19050">
            <a:solidFill>
              <a:srgbClr val="D6E3FF"/>
            </a:solidFill>
            <a:prstDash val="solid"/>
          </a:ln>
        </p:spPr>
        <p:txBody>
          <a:bodyPr/>
          <a:lstStyle/>
          <a:p>
            <a:pPr algn="ctr">
              <a:defRPr sz="1500" b="1">
                <a:solidFill>
                  <a:srgbClr val="FFFFFF"/>
                </a:solidFill>
              </a:defRPr>
            </a:pPr>
            <a:r>
              <a:rPr sz="1500" b="1">
                <a:solidFill>
                  <a:srgbClr val="FFFFFF"/>
                </a:solidFill>
              </a:rPr>
              <a:t>2</a:t>
            </a:r>
          </a:p>
        </p:txBody>
      </p:sp>
      <p:sp>
        <p:nvSpPr>
          <p:cNvPr id="11" name="矩形 10">
            <a:extLst>
              <a:ext uri="{FF2B5EF4-FFF2-40B4-BE49-F238E27FC236}">
                <a16:creationId xmlns:a16="http://schemas.microsoft.com/office/drawing/2014/main" id="{CBEF6411-151F-4A3B-82E5-0BC94C7F121E}"/>
              </a:ext>
            </a:extLst>
          </p:cNvPr>
          <p:cNvSpPr>
            <a:spLocks noGrp="1"/>
          </p:cNvSpPr>
          <p:nvPr/>
        </p:nvSpPr>
        <p:spPr>
          <a:xfrm>
            <a:off x="3543300" y="3000375"/>
            <a:ext cx="2286000" cy="2000250"/>
          </a:xfrm>
          <a:prstGeom prst="rect">
            <a:avLst/>
          </a:prstGeom>
          <a:solidFill>
            <a:srgbClr val="FFFFFF"/>
          </a:solidFill>
          <a:ln w="14288">
            <a:solidFill>
              <a:srgbClr val="CFCFCF"/>
            </a:solidFill>
            <a:prstDash val="solid"/>
          </a:ln>
        </p:spPr>
      </p:sp>
      <p:sp>
        <p:nvSpPr>
          <p:cNvPr id="12" name="矩形 11">
            <a:extLst>
              <a:ext uri="{FF2B5EF4-FFF2-40B4-BE49-F238E27FC236}">
                <a16:creationId xmlns:a16="http://schemas.microsoft.com/office/drawing/2014/main" id="{CAC67F15-C510-4D83-8FB0-C9229A9FF3F4}"/>
              </a:ext>
            </a:extLst>
          </p:cNvPr>
          <p:cNvSpPr>
            <a:spLocks noGrp="1"/>
          </p:cNvSpPr>
          <p:nvPr/>
        </p:nvSpPr>
        <p:spPr>
          <a:xfrm>
            <a:off x="3543300" y="3257550"/>
            <a:ext cx="2247900" cy="304800"/>
          </a:xfrm>
          <a:prstGeom prst="rect">
            <a:avLst/>
          </a:prstGeom>
          <a:noFill/>
          <a:ln w="0">
            <a:noFill/>
            <a:prstDash val="solid"/>
          </a:ln>
        </p:spPr>
        <p:txBody>
          <a:bodyPr/>
          <a:lstStyle/>
          <a:p>
            <a:pPr algn="ctr">
              <a:defRPr sz="1800" b="1">
                <a:solidFill>
                  <a:srgbClr val="18A04D"/>
                </a:solidFill>
              </a:defRPr>
            </a:pPr>
            <a:r>
              <a:rPr sz="1800" b="1" dirty="0">
                <a:solidFill>
                  <a:srgbClr val="18A04D"/>
                </a:solidFill>
              </a:rPr>
              <a:t>Structural coverage</a:t>
            </a:r>
          </a:p>
        </p:txBody>
      </p:sp>
      <p:sp>
        <p:nvSpPr>
          <p:cNvPr id="13" name="矩形 12">
            <a:extLst>
              <a:ext uri="{FF2B5EF4-FFF2-40B4-BE49-F238E27FC236}">
                <a16:creationId xmlns:a16="http://schemas.microsoft.com/office/drawing/2014/main" id="{A086E0F1-A7C9-4186-A0C1-9F35CC40973A}"/>
              </a:ext>
            </a:extLst>
          </p:cNvPr>
          <p:cNvSpPr>
            <a:spLocks noGrp="1"/>
          </p:cNvSpPr>
          <p:nvPr/>
        </p:nvSpPr>
        <p:spPr>
          <a:xfrm>
            <a:off x="3771900" y="3762375"/>
            <a:ext cx="1828800" cy="857250"/>
          </a:xfrm>
          <a:prstGeom prst="rect">
            <a:avLst/>
          </a:prstGeom>
          <a:noFill/>
          <a:ln w="0">
            <a:noFill/>
            <a:prstDash val="solid"/>
          </a:ln>
        </p:spPr>
        <p:txBody>
          <a:bodyPr/>
          <a:lstStyle/>
          <a:p>
            <a:pPr algn="ctr">
              <a:defRPr sz="1275" b="1">
                <a:solidFill>
                  <a:srgbClr val="20242A"/>
                </a:solidFill>
              </a:defRPr>
            </a:pPr>
            <a:r>
              <a:rPr sz="1275" b="1" dirty="0">
                <a:solidFill>
                  <a:srgbClr val="20242A"/>
                </a:solidFill>
              </a:rPr>
              <a:t>Prioritize options that reveal child questions and increase coverage</a:t>
            </a:r>
          </a:p>
        </p:txBody>
      </p:sp>
      <p:sp>
        <p:nvSpPr>
          <p:cNvPr id="14" name="直线连接符 13">
            <a:extLst>
              <a:ext uri="{FF2B5EF4-FFF2-40B4-BE49-F238E27FC236}">
                <a16:creationId xmlns:a16="http://schemas.microsoft.com/office/drawing/2014/main" id="{FF02165E-A3F7-4D32-9AB8-D2601DCF408C}"/>
              </a:ext>
            </a:extLst>
          </p:cNvPr>
          <p:cNvSpPr>
            <a:spLocks noGrp="1"/>
          </p:cNvSpPr>
          <p:nvPr/>
        </p:nvSpPr>
        <p:spPr>
          <a:xfrm>
            <a:off x="5791200" y="2457450"/>
            <a:ext cx="1219200" cy="0"/>
          </a:xfrm>
          <a:prstGeom prst="line">
            <a:avLst/>
          </a:prstGeom>
          <a:ln w="20003">
            <a:solidFill>
              <a:srgbClr val="46566F"/>
            </a:solidFill>
            <a:prstDash val="solid"/>
          </a:ln>
        </p:spPr>
      </p:sp>
      <p:sp>
        <p:nvSpPr>
          <p:cNvPr id="15" name="椭圆 14">
            <a:extLst>
              <a:ext uri="{FF2B5EF4-FFF2-40B4-BE49-F238E27FC236}">
                <a16:creationId xmlns:a16="http://schemas.microsoft.com/office/drawing/2014/main" id="{DFE6133E-4ECE-4385-98E4-E2B32F0BD6A0}"/>
              </a:ext>
            </a:extLst>
          </p:cNvPr>
          <p:cNvSpPr>
            <a:spLocks noGrp="1"/>
          </p:cNvSpPr>
          <p:nvPr/>
        </p:nvSpPr>
        <p:spPr>
          <a:xfrm>
            <a:off x="7010400" y="2190750"/>
            <a:ext cx="552450" cy="552450"/>
          </a:xfrm>
          <a:prstGeom prst="ellipse">
            <a:avLst/>
          </a:prstGeom>
          <a:solidFill>
            <a:srgbClr val="7B3FE4"/>
          </a:solidFill>
          <a:ln w="19050">
            <a:solidFill>
              <a:srgbClr val="D6E3FF"/>
            </a:solidFill>
            <a:prstDash val="solid"/>
          </a:ln>
        </p:spPr>
        <p:txBody>
          <a:bodyPr/>
          <a:lstStyle/>
          <a:p>
            <a:pPr algn="ctr">
              <a:defRPr sz="1500" b="1">
                <a:solidFill>
                  <a:srgbClr val="FFFFFF"/>
                </a:solidFill>
              </a:defRPr>
            </a:pPr>
            <a:r>
              <a:rPr sz="1500" b="1">
                <a:solidFill>
                  <a:srgbClr val="FFFFFF"/>
                </a:solidFill>
              </a:rPr>
              <a:t>3</a:t>
            </a:r>
          </a:p>
        </p:txBody>
      </p:sp>
      <p:sp>
        <p:nvSpPr>
          <p:cNvPr id="16" name="矩形 15">
            <a:extLst>
              <a:ext uri="{FF2B5EF4-FFF2-40B4-BE49-F238E27FC236}">
                <a16:creationId xmlns:a16="http://schemas.microsoft.com/office/drawing/2014/main" id="{A66A7260-03F4-476E-B615-3B7D8663A2B6}"/>
              </a:ext>
            </a:extLst>
          </p:cNvPr>
          <p:cNvSpPr>
            <a:spLocks noGrp="1"/>
          </p:cNvSpPr>
          <p:nvPr/>
        </p:nvSpPr>
        <p:spPr>
          <a:xfrm>
            <a:off x="6210300" y="3000375"/>
            <a:ext cx="2286000" cy="2000250"/>
          </a:xfrm>
          <a:prstGeom prst="rect">
            <a:avLst/>
          </a:prstGeom>
          <a:solidFill>
            <a:srgbClr val="FFFFFF"/>
          </a:solidFill>
          <a:ln w="14288">
            <a:solidFill>
              <a:srgbClr val="CFCFCF"/>
            </a:solidFill>
            <a:prstDash val="solid"/>
          </a:ln>
        </p:spPr>
      </p:sp>
      <p:sp>
        <p:nvSpPr>
          <p:cNvPr id="17" name="矩形 16">
            <a:extLst>
              <a:ext uri="{FF2B5EF4-FFF2-40B4-BE49-F238E27FC236}">
                <a16:creationId xmlns:a16="http://schemas.microsoft.com/office/drawing/2014/main" id="{D63A52F8-6161-41AA-BF39-9449CBFEADA2}"/>
              </a:ext>
            </a:extLst>
          </p:cNvPr>
          <p:cNvSpPr>
            <a:spLocks noGrp="1"/>
          </p:cNvSpPr>
          <p:nvPr/>
        </p:nvSpPr>
        <p:spPr>
          <a:xfrm>
            <a:off x="6381750" y="3257550"/>
            <a:ext cx="1943100" cy="304800"/>
          </a:xfrm>
          <a:prstGeom prst="rect">
            <a:avLst/>
          </a:prstGeom>
          <a:noFill/>
          <a:ln w="0">
            <a:noFill/>
            <a:prstDash val="solid"/>
          </a:ln>
        </p:spPr>
        <p:txBody>
          <a:bodyPr/>
          <a:lstStyle/>
          <a:p>
            <a:pPr algn="ctr">
              <a:defRPr sz="1800" b="1">
                <a:solidFill>
                  <a:srgbClr val="7B3FE4"/>
                </a:solidFill>
              </a:defRPr>
            </a:pPr>
            <a:r>
              <a:rPr sz="1800" b="1" dirty="0">
                <a:solidFill>
                  <a:srgbClr val="7B3FE4"/>
                </a:solidFill>
              </a:rPr>
              <a:t>Risk paths</a:t>
            </a:r>
          </a:p>
        </p:txBody>
      </p:sp>
      <p:sp>
        <p:nvSpPr>
          <p:cNvPr id="18" name="矩形 17">
            <a:extLst>
              <a:ext uri="{FF2B5EF4-FFF2-40B4-BE49-F238E27FC236}">
                <a16:creationId xmlns:a16="http://schemas.microsoft.com/office/drawing/2014/main" id="{CF9FFC3A-E705-4569-AF31-2E2A80222DE9}"/>
              </a:ext>
            </a:extLst>
          </p:cNvPr>
          <p:cNvSpPr>
            <a:spLocks noGrp="1"/>
          </p:cNvSpPr>
          <p:nvPr/>
        </p:nvSpPr>
        <p:spPr>
          <a:xfrm>
            <a:off x="6438900" y="3762375"/>
            <a:ext cx="1828800" cy="857250"/>
          </a:xfrm>
          <a:prstGeom prst="rect">
            <a:avLst/>
          </a:prstGeom>
          <a:noFill/>
          <a:ln w="0">
            <a:noFill/>
            <a:prstDash val="solid"/>
          </a:ln>
        </p:spPr>
        <p:txBody>
          <a:bodyPr/>
          <a:lstStyle/>
          <a:p>
            <a:pPr algn="ctr">
              <a:defRPr sz="1275" b="1">
                <a:solidFill>
                  <a:srgbClr val="20242A"/>
                </a:solidFill>
              </a:defRPr>
            </a:pPr>
            <a:r>
              <a:rPr sz="1275" b="1">
                <a:solidFill>
                  <a:srgbClr val="20242A"/>
                </a:solidFill>
              </a:rPr>
              <a:t>Combine risk type and severity choices to cover different rating outcomes</a:t>
            </a:r>
          </a:p>
        </p:txBody>
      </p:sp>
      <p:sp>
        <p:nvSpPr>
          <p:cNvPr id="19" name="直线连接符 18">
            <a:extLst>
              <a:ext uri="{FF2B5EF4-FFF2-40B4-BE49-F238E27FC236}">
                <a16:creationId xmlns:a16="http://schemas.microsoft.com/office/drawing/2014/main" id="{113CF493-0AA7-4F99-BC74-6723C70BABCA}"/>
              </a:ext>
            </a:extLst>
          </p:cNvPr>
          <p:cNvSpPr>
            <a:spLocks noGrp="1"/>
          </p:cNvSpPr>
          <p:nvPr/>
        </p:nvSpPr>
        <p:spPr>
          <a:xfrm>
            <a:off x="8458200" y="2457450"/>
            <a:ext cx="1219200" cy="0"/>
          </a:xfrm>
          <a:prstGeom prst="line">
            <a:avLst/>
          </a:prstGeom>
          <a:ln w="20003">
            <a:solidFill>
              <a:srgbClr val="46566F"/>
            </a:solidFill>
            <a:prstDash val="solid"/>
          </a:ln>
        </p:spPr>
      </p:sp>
      <p:sp>
        <p:nvSpPr>
          <p:cNvPr id="20" name="椭圆 19">
            <a:extLst>
              <a:ext uri="{FF2B5EF4-FFF2-40B4-BE49-F238E27FC236}">
                <a16:creationId xmlns:a16="http://schemas.microsoft.com/office/drawing/2014/main" id="{C416C24D-5DB1-453D-A37B-64F1BE68A0DF}"/>
              </a:ext>
            </a:extLst>
          </p:cNvPr>
          <p:cNvSpPr>
            <a:spLocks noGrp="1"/>
          </p:cNvSpPr>
          <p:nvPr/>
        </p:nvSpPr>
        <p:spPr>
          <a:xfrm>
            <a:off x="9677400" y="2190750"/>
            <a:ext cx="552450" cy="552450"/>
          </a:xfrm>
          <a:prstGeom prst="ellipse">
            <a:avLst/>
          </a:prstGeom>
          <a:solidFill>
            <a:srgbClr val="F5A400"/>
          </a:solidFill>
          <a:ln w="19050">
            <a:solidFill>
              <a:srgbClr val="D6E3FF"/>
            </a:solidFill>
            <a:prstDash val="solid"/>
          </a:ln>
        </p:spPr>
        <p:txBody>
          <a:bodyPr/>
          <a:lstStyle/>
          <a:p>
            <a:pPr algn="ctr">
              <a:defRPr sz="1500" b="1">
                <a:solidFill>
                  <a:srgbClr val="FFFFFF"/>
                </a:solidFill>
              </a:defRPr>
            </a:pPr>
            <a:r>
              <a:rPr sz="1500" b="1">
                <a:solidFill>
                  <a:srgbClr val="FFFFFF"/>
                </a:solidFill>
              </a:rPr>
              <a:t>4</a:t>
            </a:r>
          </a:p>
        </p:txBody>
      </p:sp>
      <p:sp>
        <p:nvSpPr>
          <p:cNvPr id="21" name="矩形 20">
            <a:extLst>
              <a:ext uri="{FF2B5EF4-FFF2-40B4-BE49-F238E27FC236}">
                <a16:creationId xmlns:a16="http://schemas.microsoft.com/office/drawing/2014/main" id="{541D3FD3-61E5-45E3-920B-326B6875F9C9}"/>
              </a:ext>
            </a:extLst>
          </p:cNvPr>
          <p:cNvSpPr>
            <a:spLocks noGrp="1"/>
          </p:cNvSpPr>
          <p:nvPr/>
        </p:nvSpPr>
        <p:spPr>
          <a:xfrm>
            <a:off x="8877300" y="3000375"/>
            <a:ext cx="2286000" cy="2000250"/>
          </a:xfrm>
          <a:prstGeom prst="rect">
            <a:avLst/>
          </a:prstGeom>
          <a:solidFill>
            <a:srgbClr val="FFFFFF"/>
          </a:solidFill>
          <a:ln w="14288">
            <a:solidFill>
              <a:srgbClr val="CFCFCF"/>
            </a:solidFill>
            <a:prstDash val="solid"/>
          </a:ln>
        </p:spPr>
      </p:sp>
      <p:sp>
        <p:nvSpPr>
          <p:cNvPr id="22" name="矩形 21">
            <a:extLst>
              <a:ext uri="{FF2B5EF4-FFF2-40B4-BE49-F238E27FC236}">
                <a16:creationId xmlns:a16="http://schemas.microsoft.com/office/drawing/2014/main" id="{9BF0838A-5A00-4037-9E41-9901C25EB8C8}"/>
              </a:ext>
            </a:extLst>
          </p:cNvPr>
          <p:cNvSpPr>
            <a:spLocks noGrp="1"/>
          </p:cNvSpPr>
          <p:nvPr/>
        </p:nvSpPr>
        <p:spPr>
          <a:xfrm>
            <a:off x="9048750" y="3257550"/>
            <a:ext cx="1943100" cy="304800"/>
          </a:xfrm>
          <a:prstGeom prst="rect">
            <a:avLst/>
          </a:prstGeom>
          <a:noFill/>
          <a:ln w="0">
            <a:noFill/>
            <a:prstDash val="solid"/>
          </a:ln>
        </p:spPr>
        <p:txBody>
          <a:bodyPr/>
          <a:lstStyle/>
          <a:p>
            <a:pPr algn="ctr">
              <a:defRPr sz="1800" b="1">
                <a:solidFill>
                  <a:srgbClr val="F5A400"/>
                </a:solidFill>
              </a:defRPr>
            </a:pPr>
            <a:r>
              <a:rPr sz="1800" b="1" dirty="0">
                <a:solidFill>
                  <a:srgbClr val="F5A400"/>
                </a:solidFill>
              </a:rPr>
              <a:t>Gap filling</a:t>
            </a:r>
          </a:p>
        </p:txBody>
      </p:sp>
      <p:sp>
        <p:nvSpPr>
          <p:cNvPr id="23" name="矩形 22">
            <a:extLst>
              <a:ext uri="{FF2B5EF4-FFF2-40B4-BE49-F238E27FC236}">
                <a16:creationId xmlns:a16="http://schemas.microsoft.com/office/drawing/2014/main" id="{37C63F2E-14B4-48A4-A95B-902B5AD70DEC}"/>
              </a:ext>
            </a:extLst>
          </p:cNvPr>
          <p:cNvSpPr>
            <a:spLocks noGrp="1"/>
          </p:cNvSpPr>
          <p:nvPr/>
        </p:nvSpPr>
        <p:spPr>
          <a:xfrm>
            <a:off x="9105900" y="3762375"/>
            <a:ext cx="1828800" cy="857250"/>
          </a:xfrm>
          <a:prstGeom prst="rect">
            <a:avLst/>
          </a:prstGeom>
          <a:noFill/>
          <a:ln w="0">
            <a:noFill/>
            <a:prstDash val="solid"/>
          </a:ln>
        </p:spPr>
        <p:txBody>
          <a:bodyPr/>
          <a:lstStyle/>
          <a:p>
            <a:pPr algn="ctr">
              <a:defRPr sz="1275" b="1">
                <a:solidFill>
                  <a:srgbClr val="20242A"/>
                </a:solidFill>
              </a:defRPr>
            </a:pPr>
            <a:r>
              <a:rPr sz="1275" b="1">
                <a:solidFill>
                  <a:srgbClr val="20242A"/>
                </a:solidFill>
              </a:rPr>
              <a:t>Identify low-frequency options and add targeted supplemental samples</a:t>
            </a:r>
          </a:p>
        </p:txBody>
      </p:sp>
      <p:pic>
        <p:nvPicPr>
          <p:cNvPr id="4" name="图片 3">
            <a:extLst>
              <a:ext uri="{FF2B5EF4-FFF2-40B4-BE49-F238E27FC236}">
                <a16:creationId xmlns:a16="http://schemas.microsoft.com/office/drawing/2014/main" id="{762BC908-F756-3C5E-2359-6A1B57D8D4E4}"/>
              </a:ext>
            </a:extLst>
          </p:cNvPr>
          <p:cNvPicPr>
            <a:picLocks noChangeAspect="1"/>
          </p:cNvPicPr>
          <p:nvPr/>
        </p:nvPicPr>
        <p:blipFill>
          <a:blip r:embed="rId4"/>
          <a:stretch>
            <a:fillRect/>
          </a:stretch>
        </p:blipFill>
        <p:spPr>
          <a:xfrm>
            <a:off x="1114425" y="5353050"/>
            <a:ext cx="1676400" cy="876300"/>
          </a:xfrm>
          <a:prstGeom prst="rect">
            <a:avLst/>
          </a:prstGeom>
        </p:spPr>
      </p:pic>
      <p:pic>
        <p:nvPicPr>
          <p:cNvPr id="24" name="图片 23">
            <a:extLst>
              <a:ext uri="{FF2B5EF4-FFF2-40B4-BE49-F238E27FC236}">
                <a16:creationId xmlns:a16="http://schemas.microsoft.com/office/drawing/2014/main" id="{75209A3E-292E-99B3-A7CB-E495DE335861}"/>
              </a:ext>
            </a:extLst>
          </p:cNvPr>
          <p:cNvPicPr>
            <a:picLocks noChangeAspect="1"/>
          </p:cNvPicPr>
          <p:nvPr/>
        </p:nvPicPr>
        <p:blipFill>
          <a:blip r:embed="rId5"/>
          <a:stretch>
            <a:fillRect/>
          </a:stretch>
        </p:blipFill>
        <p:spPr>
          <a:xfrm>
            <a:off x="6115050" y="5069649"/>
            <a:ext cx="1790700" cy="927100"/>
          </a:xfrm>
          <a:prstGeom prst="rect">
            <a:avLst/>
          </a:prstGeom>
        </p:spPr>
      </p:pic>
      <p:pic>
        <p:nvPicPr>
          <p:cNvPr id="26" name="图片 25">
            <a:extLst>
              <a:ext uri="{FF2B5EF4-FFF2-40B4-BE49-F238E27FC236}">
                <a16:creationId xmlns:a16="http://schemas.microsoft.com/office/drawing/2014/main" id="{8F189AAF-FC9C-51E2-60FF-F9488A4299EB}"/>
              </a:ext>
            </a:extLst>
          </p:cNvPr>
          <p:cNvPicPr>
            <a:picLocks noChangeAspect="1"/>
          </p:cNvPicPr>
          <p:nvPr/>
        </p:nvPicPr>
        <p:blipFill>
          <a:blip r:embed="rId6"/>
          <a:stretch>
            <a:fillRect/>
          </a:stretch>
        </p:blipFill>
        <p:spPr>
          <a:xfrm>
            <a:off x="6727825" y="5791200"/>
            <a:ext cx="2006600" cy="787400"/>
          </a:xfrm>
          <a:prstGeom prst="rect">
            <a:avLst/>
          </a:prstGeom>
        </p:spPr>
      </p:pic>
    </p:spTree>
    <p:extLst>
      <p:ext uri="{BB962C8B-B14F-4D97-AF65-F5344CB8AC3E}">
        <p14:creationId xmlns:p14="http://schemas.microsoft.com/office/powerpoint/2010/main" val="2054524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3"/>
          <a:stretch/>
        </p:blipFill>
        <p:spPr>
          <a:xfrm>
            <a:off x="9365190" y="323850"/>
            <a:ext cx="2119845" cy="819150"/>
          </a:xfrm>
          <a:prstGeom prst="rect">
            <a:avLst/>
          </a:prstGeom>
        </p:spPr>
      </p:pic>
      <p:sp>
        <p:nvSpPr>
          <p:cNvPr id="2" name="矩形 1">
            <a:extLst>
              <a:ext uri="{FF2B5EF4-FFF2-40B4-BE49-F238E27FC236}">
                <a16:creationId xmlns:a16="http://schemas.microsoft.com/office/drawing/2014/main" id="{AA74FBC6-AB55-4EC8-BFC3-9041FFA7C4E9}"/>
              </a:ext>
            </a:extLst>
          </p:cNvPr>
          <p:cNvSpPr>
            <a:spLocks noGrp="1"/>
          </p:cNvSpPr>
          <p:nvPr/>
        </p:nvSpPr>
        <p:spPr>
          <a:xfrm>
            <a:off x="609600" y="628650"/>
            <a:ext cx="8096250" cy="523875"/>
          </a:xfrm>
          <a:prstGeom prst="rect">
            <a:avLst/>
          </a:prstGeom>
          <a:noFill/>
          <a:ln w="0">
            <a:noFill/>
            <a:prstDash val="solid"/>
          </a:ln>
        </p:spPr>
        <p:txBody>
          <a:bodyPr/>
          <a:lstStyle/>
          <a:p>
            <a:pPr>
              <a:defRPr sz="2250" b="1">
                <a:solidFill>
                  <a:srgbClr val="20242A"/>
                </a:solidFill>
              </a:defRPr>
            </a:pPr>
            <a:r>
              <a:rPr sz="2250" b="1" dirty="0">
                <a:solidFill>
                  <a:srgbClr val="20242A"/>
                </a:solidFill>
              </a:rPr>
              <a:t>Final Data Distribution</a:t>
            </a:r>
          </a:p>
        </p:txBody>
      </p:sp>
      <p:sp>
        <p:nvSpPr>
          <p:cNvPr id="3" name="直线连接符 2">
            <a:extLst>
              <a:ext uri="{FF2B5EF4-FFF2-40B4-BE49-F238E27FC236}">
                <a16:creationId xmlns:a16="http://schemas.microsoft.com/office/drawing/2014/main" id="{890EE7AF-A0F5-4F7A-A67C-BC1D749716F0}"/>
              </a:ext>
            </a:extLst>
          </p:cNvPr>
          <p:cNvSpPr>
            <a:spLocks noGrp="1"/>
          </p:cNvSpPr>
          <p:nvPr/>
        </p:nvSpPr>
        <p:spPr>
          <a:xfrm>
            <a:off x="352425" y="1171575"/>
            <a:ext cx="8382000" cy="0"/>
          </a:xfrm>
          <a:prstGeom prst="line">
            <a:avLst/>
          </a:prstGeom>
          <a:ln w="11430">
            <a:solidFill>
              <a:srgbClr val="555555"/>
            </a:solidFill>
            <a:prstDash val="solid"/>
          </a:ln>
        </p:spPr>
      </p:sp>
      <p:sp>
        <p:nvSpPr>
          <p:cNvPr id="4" name="矩形 3">
            <a:extLst>
              <a:ext uri="{FF2B5EF4-FFF2-40B4-BE49-F238E27FC236}">
                <a16:creationId xmlns:a16="http://schemas.microsoft.com/office/drawing/2014/main" id="{E1932041-B7A6-4A11-B54F-DB1A39C4A8A7}"/>
              </a:ext>
            </a:extLst>
          </p:cNvPr>
          <p:cNvSpPr>
            <a:spLocks noGrp="1"/>
          </p:cNvSpPr>
          <p:nvPr/>
        </p:nvSpPr>
        <p:spPr>
          <a:xfrm>
            <a:off x="571500" y="1571625"/>
            <a:ext cx="5667375" cy="3619500"/>
          </a:xfrm>
          <a:prstGeom prst="rect">
            <a:avLst/>
          </a:prstGeom>
          <a:solidFill>
            <a:srgbClr val="FFFFFF"/>
          </a:solidFill>
          <a:ln w="19050">
            <a:solidFill>
              <a:srgbClr val="A9A9A9"/>
            </a:solidFill>
            <a:prstDash val="solid"/>
          </a:ln>
        </p:spPr>
      </p:sp>
      <p:sp>
        <p:nvSpPr>
          <p:cNvPr id="5" name="矩形 4">
            <a:extLst>
              <a:ext uri="{FF2B5EF4-FFF2-40B4-BE49-F238E27FC236}">
                <a16:creationId xmlns:a16="http://schemas.microsoft.com/office/drawing/2014/main" id="{E6D0582A-5FA8-48B3-8A2B-2755E872E783}"/>
              </a:ext>
            </a:extLst>
          </p:cNvPr>
          <p:cNvSpPr>
            <a:spLocks noGrp="1"/>
          </p:cNvSpPr>
          <p:nvPr/>
        </p:nvSpPr>
        <p:spPr>
          <a:xfrm>
            <a:off x="904875" y="1857375"/>
            <a:ext cx="3429000" cy="323850"/>
          </a:xfrm>
          <a:prstGeom prst="rect">
            <a:avLst/>
          </a:prstGeom>
          <a:noFill/>
          <a:ln w="0">
            <a:noFill/>
            <a:prstDash val="solid"/>
          </a:ln>
        </p:spPr>
        <p:txBody>
          <a:bodyPr/>
          <a:lstStyle/>
          <a:p>
            <a:pPr>
              <a:defRPr sz="1875" b="1">
                <a:solidFill>
                  <a:srgbClr val="20242A"/>
                </a:solidFill>
              </a:defRPr>
            </a:pPr>
            <a:r>
              <a:rPr sz="1875" b="1">
                <a:solidFill>
                  <a:srgbClr val="20242A"/>
                </a:solidFill>
              </a:rPr>
              <a:t>ESRB Label Distribution</a:t>
            </a:r>
          </a:p>
        </p:txBody>
      </p:sp>
      <p:sp>
        <p:nvSpPr>
          <p:cNvPr id="6" name="矩形 5">
            <a:extLst>
              <a:ext uri="{FF2B5EF4-FFF2-40B4-BE49-F238E27FC236}">
                <a16:creationId xmlns:a16="http://schemas.microsoft.com/office/drawing/2014/main" id="{FBB7F2C7-E142-4B16-B2A9-C5B0C18B00BC}"/>
              </a:ext>
            </a:extLst>
          </p:cNvPr>
          <p:cNvSpPr>
            <a:spLocks noGrp="1"/>
          </p:cNvSpPr>
          <p:nvPr/>
        </p:nvSpPr>
        <p:spPr>
          <a:xfrm>
            <a:off x="904875" y="2419350"/>
            <a:ext cx="1571625" cy="228600"/>
          </a:xfrm>
          <a:prstGeom prst="rect">
            <a:avLst/>
          </a:prstGeom>
          <a:noFill/>
          <a:ln w="0">
            <a:noFill/>
            <a:prstDash val="solid"/>
          </a:ln>
        </p:spPr>
        <p:txBody>
          <a:bodyPr/>
          <a:lstStyle/>
          <a:p>
            <a:pPr>
              <a:defRPr sz="1200" b="1">
                <a:solidFill>
                  <a:srgbClr val="20242A"/>
                </a:solidFill>
              </a:defRPr>
            </a:pPr>
            <a:r>
              <a:rPr sz="1200" b="1">
                <a:solidFill>
                  <a:srgbClr val="20242A"/>
                </a:solidFill>
              </a:rPr>
              <a:t>Mature 17+</a:t>
            </a:r>
          </a:p>
        </p:txBody>
      </p:sp>
      <p:sp>
        <p:nvSpPr>
          <p:cNvPr id="7" name="矩形 6">
            <a:extLst>
              <a:ext uri="{FF2B5EF4-FFF2-40B4-BE49-F238E27FC236}">
                <a16:creationId xmlns:a16="http://schemas.microsoft.com/office/drawing/2014/main" id="{9BDF0399-2F7C-43EE-9495-D9CD17D58CEA}"/>
              </a:ext>
            </a:extLst>
          </p:cNvPr>
          <p:cNvSpPr>
            <a:spLocks noGrp="1"/>
          </p:cNvSpPr>
          <p:nvPr/>
        </p:nvSpPr>
        <p:spPr>
          <a:xfrm>
            <a:off x="2571750" y="2457450"/>
            <a:ext cx="3048000" cy="238125"/>
          </a:xfrm>
          <a:prstGeom prst="rect">
            <a:avLst/>
          </a:prstGeom>
          <a:solidFill>
            <a:srgbClr val="E6E6E6"/>
          </a:solidFill>
          <a:ln w="0">
            <a:noFill/>
            <a:prstDash val="solid"/>
          </a:ln>
        </p:spPr>
      </p:sp>
      <p:sp>
        <p:nvSpPr>
          <p:cNvPr id="8" name="矩形 7">
            <a:extLst>
              <a:ext uri="{FF2B5EF4-FFF2-40B4-BE49-F238E27FC236}">
                <a16:creationId xmlns:a16="http://schemas.microsoft.com/office/drawing/2014/main" id="{2C8085F6-3FF1-44E0-98EA-BEBF4C6BF816}"/>
              </a:ext>
            </a:extLst>
          </p:cNvPr>
          <p:cNvSpPr>
            <a:spLocks noGrp="1"/>
          </p:cNvSpPr>
          <p:nvPr/>
        </p:nvSpPr>
        <p:spPr>
          <a:xfrm>
            <a:off x="2571750" y="2457450"/>
            <a:ext cx="3048000" cy="238125"/>
          </a:xfrm>
          <a:prstGeom prst="rect">
            <a:avLst/>
          </a:prstGeom>
          <a:solidFill>
            <a:srgbClr val="2F66E8"/>
          </a:solidFill>
          <a:ln w="0">
            <a:noFill/>
            <a:prstDash val="solid"/>
          </a:ln>
        </p:spPr>
      </p:sp>
      <p:sp>
        <p:nvSpPr>
          <p:cNvPr id="9" name="矩形 8">
            <a:extLst>
              <a:ext uri="{FF2B5EF4-FFF2-40B4-BE49-F238E27FC236}">
                <a16:creationId xmlns:a16="http://schemas.microsoft.com/office/drawing/2014/main" id="{911DACF9-8384-4EBF-9CE2-6353E40D81D5}"/>
              </a:ext>
            </a:extLst>
          </p:cNvPr>
          <p:cNvSpPr>
            <a:spLocks noGrp="1"/>
          </p:cNvSpPr>
          <p:nvPr/>
        </p:nvSpPr>
        <p:spPr>
          <a:xfrm>
            <a:off x="5762625" y="2419350"/>
            <a:ext cx="666750" cy="238125"/>
          </a:xfrm>
          <a:prstGeom prst="rect">
            <a:avLst/>
          </a:prstGeom>
          <a:noFill/>
          <a:ln w="0">
            <a:noFill/>
            <a:prstDash val="solid"/>
          </a:ln>
        </p:spPr>
        <p:txBody>
          <a:bodyPr/>
          <a:lstStyle/>
          <a:p>
            <a:pPr>
              <a:defRPr sz="1200" b="1">
                <a:solidFill>
                  <a:srgbClr val="20242A"/>
                </a:solidFill>
              </a:defRPr>
            </a:pPr>
            <a:r>
              <a:rPr sz="1200" b="1">
                <a:solidFill>
                  <a:srgbClr val="20242A"/>
                </a:solidFill>
              </a:rPr>
              <a:t>365</a:t>
            </a:r>
          </a:p>
        </p:txBody>
      </p:sp>
      <p:sp>
        <p:nvSpPr>
          <p:cNvPr id="10" name="矩形 9">
            <a:extLst>
              <a:ext uri="{FF2B5EF4-FFF2-40B4-BE49-F238E27FC236}">
                <a16:creationId xmlns:a16="http://schemas.microsoft.com/office/drawing/2014/main" id="{CCF88D8F-515F-44E5-9B71-38CA3ADCC754}"/>
              </a:ext>
            </a:extLst>
          </p:cNvPr>
          <p:cNvSpPr>
            <a:spLocks noGrp="1"/>
          </p:cNvSpPr>
          <p:nvPr/>
        </p:nvSpPr>
        <p:spPr>
          <a:xfrm>
            <a:off x="904875" y="2914650"/>
            <a:ext cx="1571625" cy="228600"/>
          </a:xfrm>
          <a:prstGeom prst="rect">
            <a:avLst/>
          </a:prstGeom>
          <a:noFill/>
          <a:ln w="0">
            <a:noFill/>
            <a:prstDash val="solid"/>
          </a:ln>
        </p:spPr>
        <p:txBody>
          <a:bodyPr/>
          <a:lstStyle/>
          <a:p>
            <a:pPr>
              <a:defRPr sz="1200" b="1">
                <a:solidFill>
                  <a:srgbClr val="20242A"/>
                </a:solidFill>
              </a:defRPr>
            </a:pPr>
            <a:r>
              <a:rPr sz="1200" b="1">
                <a:solidFill>
                  <a:srgbClr val="20242A"/>
                </a:solidFill>
              </a:rPr>
              <a:t>Teen</a:t>
            </a:r>
          </a:p>
        </p:txBody>
      </p:sp>
      <p:sp>
        <p:nvSpPr>
          <p:cNvPr id="11" name="矩形 10">
            <a:extLst>
              <a:ext uri="{FF2B5EF4-FFF2-40B4-BE49-F238E27FC236}">
                <a16:creationId xmlns:a16="http://schemas.microsoft.com/office/drawing/2014/main" id="{EB25DA2B-8981-44B4-957C-BCC4BFAEDFE5}"/>
              </a:ext>
            </a:extLst>
          </p:cNvPr>
          <p:cNvSpPr>
            <a:spLocks noGrp="1"/>
          </p:cNvSpPr>
          <p:nvPr/>
        </p:nvSpPr>
        <p:spPr>
          <a:xfrm>
            <a:off x="2571750" y="2952750"/>
            <a:ext cx="3048000" cy="238125"/>
          </a:xfrm>
          <a:prstGeom prst="rect">
            <a:avLst/>
          </a:prstGeom>
          <a:solidFill>
            <a:srgbClr val="E6E6E6"/>
          </a:solidFill>
          <a:ln w="0">
            <a:noFill/>
            <a:prstDash val="solid"/>
          </a:ln>
        </p:spPr>
      </p:sp>
      <p:sp>
        <p:nvSpPr>
          <p:cNvPr id="12" name="矩形 11">
            <a:extLst>
              <a:ext uri="{FF2B5EF4-FFF2-40B4-BE49-F238E27FC236}">
                <a16:creationId xmlns:a16="http://schemas.microsoft.com/office/drawing/2014/main" id="{3F4FF5E2-432B-4C3B-B009-B25F5A1FADA1}"/>
              </a:ext>
            </a:extLst>
          </p:cNvPr>
          <p:cNvSpPr>
            <a:spLocks noGrp="1"/>
          </p:cNvSpPr>
          <p:nvPr/>
        </p:nvSpPr>
        <p:spPr>
          <a:xfrm>
            <a:off x="2571750" y="2952750"/>
            <a:ext cx="2830882" cy="238125"/>
          </a:xfrm>
          <a:prstGeom prst="rect">
            <a:avLst/>
          </a:prstGeom>
          <a:solidFill>
            <a:srgbClr val="7B3FE4"/>
          </a:solidFill>
          <a:ln w="0">
            <a:noFill/>
            <a:prstDash val="solid"/>
          </a:ln>
        </p:spPr>
      </p:sp>
      <p:sp>
        <p:nvSpPr>
          <p:cNvPr id="13" name="矩形 12">
            <a:extLst>
              <a:ext uri="{FF2B5EF4-FFF2-40B4-BE49-F238E27FC236}">
                <a16:creationId xmlns:a16="http://schemas.microsoft.com/office/drawing/2014/main" id="{1B8CE74D-81A1-4797-A79C-7DC01118FFF1}"/>
              </a:ext>
            </a:extLst>
          </p:cNvPr>
          <p:cNvSpPr>
            <a:spLocks noGrp="1"/>
          </p:cNvSpPr>
          <p:nvPr/>
        </p:nvSpPr>
        <p:spPr>
          <a:xfrm>
            <a:off x="5762625" y="2914650"/>
            <a:ext cx="666750" cy="238125"/>
          </a:xfrm>
          <a:prstGeom prst="rect">
            <a:avLst/>
          </a:prstGeom>
          <a:noFill/>
          <a:ln w="0">
            <a:noFill/>
            <a:prstDash val="solid"/>
          </a:ln>
        </p:spPr>
        <p:txBody>
          <a:bodyPr/>
          <a:lstStyle/>
          <a:p>
            <a:pPr>
              <a:defRPr sz="1200" b="1">
                <a:solidFill>
                  <a:srgbClr val="20242A"/>
                </a:solidFill>
              </a:defRPr>
            </a:pPr>
            <a:r>
              <a:rPr sz="1200" b="1">
                <a:solidFill>
                  <a:srgbClr val="20242A"/>
                </a:solidFill>
              </a:rPr>
              <a:t>339</a:t>
            </a:r>
          </a:p>
        </p:txBody>
      </p:sp>
      <p:sp>
        <p:nvSpPr>
          <p:cNvPr id="14" name="矩形 13">
            <a:extLst>
              <a:ext uri="{FF2B5EF4-FFF2-40B4-BE49-F238E27FC236}">
                <a16:creationId xmlns:a16="http://schemas.microsoft.com/office/drawing/2014/main" id="{8FC39B13-0143-44CF-BAAD-75B44DC63279}"/>
              </a:ext>
            </a:extLst>
          </p:cNvPr>
          <p:cNvSpPr>
            <a:spLocks noGrp="1"/>
          </p:cNvSpPr>
          <p:nvPr/>
        </p:nvSpPr>
        <p:spPr>
          <a:xfrm>
            <a:off x="904875" y="3409950"/>
            <a:ext cx="1571625" cy="228600"/>
          </a:xfrm>
          <a:prstGeom prst="rect">
            <a:avLst/>
          </a:prstGeom>
          <a:noFill/>
          <a:ln w="0">
            <a:noFill/>
            <a:prstDash val="solid"/>
          </a:ln>
        </p:spPr>
        <p:txBody>
          <a:bodyPr/>
          <a:lstStyle/>
          <a:p>
            <a:pPr>
              <a:defRPr sz="1200" b="1">
                <a:solidFill>
                  <a:srgbClr val="20242A"/>
                </a:solidFill>
              </a:defRPr>
            </a:pPr>
            <a:r>
              <a:rPr sz="1200" b="1">
                <a:solidFill>
                  <a:srgbClr val="20242A"/>
                </a:solidFill>
              </a:rPr>
              <a:t>Adults only 18+</a:t>
            </a:r>
          </a:p>
        </p:txBody>
      </p:sp>
      <p:sp>
        <p:nvSpPr>
          <p:cNvPr id="15" name="矩形 14">
            <a:extLst>
              <a:ext uri="{FF2B5EF4-FFF2-40B4-BE49-F238E27FC236}">
                <a16:creationId xmlns:a16="http://schemas.microsoft.com/office/drawing/2014/main" id="{3750B770-99C0-43CC-B249-AE70A46B156A}"/>
              </a:ext>
            </a:extLst>
          </p:cNvPr>
          <p:cNvSpPr>
            <a:spLocks noGrp="1"/>
          </p:cNvSpPr>
          <p:nvPr/>
        </p:nvSpPr>
        <p:spPr>
          <a:xfrm>
            <a:off x="2571750" y="3448050"/>
            <a:ext cx="3048000" cy="238125"/>
          </a:xfrm>
          <a:prstGeom prst="rect">
            <a:avLst/>
          </a:prstGeom>
          <a:solidFill>
            <a:srgbClr val="E6E6E6"/>
          </a:solidFill>
          <a:ln w="0">
            <a:noFill/>
            <a:prstDash val="solid"/>
          </a:ln>
        </p:spPr>
      </p:sp>
      <p:sp>
        <p:nvSpPr>
          <p:cNvPr id="16" name="矩形 15">
            <a:extLst>
              <a:ext uri="{FF2B5EF4-FFF2-40B4-BE49-F238E27FC236}">
                <a16:creationId xmlns:a16="http://schemas.microsoft.com/office/drawing/2014/main" id="{45BB6D08-22F0-4B50-B59F-47B98DC5E4A7}"/>
              </a:ext>
            </a:extLst>
          </p:cNvPr>
          <p:cNvSpPr>
            <a:spLocks noGrp="1"/>
          </p:cNvSpPr>
          <p:nvPr/>
        </p:nvSpPr>
        <p:spPr>
          <a:xfrm>
            <a:off x="2571750" y="3448050"/>
            <a:ext cx="2012515" cy="238125"/>
          </a:xfrm>
          <a:prstGeom prst="rect">
            <a:avLst/>
          </a:prstGeom>
          <a:solidFill>
            <a:srgbClr val="18A04D"/>
          </a:solidFill>
          <a:ln w="0">
            <a:noFill/>
            <a:prstDash val="solid"/>
          </a:ln>
        </p:spPr>
      </p:sp>
      <p:sp>
        <p:nvSpPr>
          <p:cNvPr id="17" name="矩形 16">
            <a:extLst>
              <a:ext uri="{FF2B5EF4-FFF2-40B4-BE49-F238E27FC236}">
                <a16:creationId xmlns:a16="http://schemas.microsoft.com/office/drawing/2014/main" id="{1CA33623-6524-43D0-872B-09E83BE7EA09}"/>
              </a:ext>
            </a:extLst>
          </p:cNvPr>
          <p:cNvSpPr>
            <a:spLocks noGrp="1"/>
          </p:cNvSpPr>
          <p:nvPr/>
        </p:nvSpPr>
        <p:spPr>
          <a:xfrm>
            <a:off x="5762625" y="3409950"/>
            <a:ext cx="666750" cy="238125"/>
          </a:xfrm>
          <a:prstGeom prst="rect">
            <a:avLst/>
          </a:prstGeom>
          <a:noFill/>
          <a:ln w="0">
            <a:noFill/>
            <a:prstDash val="solid"/>
          </a:ln>
        </p:spPr>
        <p:txBody>
          <a:bodyPr/>
          <a:lstStyle/>
          <a:p>
            <a:pPr>
              <a:defRPr sz="1200" b="1">
                <a:solidFill>
                  <a:srgbClr val="20242A"/>
                </a:solidFill>
              </a:defRPr>
            </a:pPr>
            <a:r>
              <a:rPr sz="1200" b="1">
                <a:solidFill>
                  <a:srgbClr val="20242A"/>
                </a:solidFill>
              </a:rPr>
              <a:t>241</a:t>
            </a:r>
          </a:p>
        </p:txBody>
      </p:sp>
      <p:sp>
        <p:nvSpPr>
          <p:cNvPr id="18" name="矩形 17">
            <a:extLst>
              <a:ext uri="{FF2B5EF4-FFF2-40B4-BE49-F238E27FC236}">
                <a16:creationId xmlns:a16="http://schemas.microsoft.com/office/drawing/2014/main" id="{4DCBF053-DEDC-49AD-B1B3-DB9AFE693CA8}"/>
              </a:ext>
            </a:extLst>
          </p:cNvPr>
          <p:cNvSpPr>
            <a:spLocks noGrp="1"/>
          </p:cNvSpPr>
          <p:nvPr/>
        </p:nvSpPr>
        <p:spPr>
          <a:xfrm>
            <a:off x="904875" y="3905250"/>
            <a:ext cx="1571625" cy="228600"/>
          </a:xfrm>
          <a:prstGeom prst="rect">
            <a:avLst/>
          </a:prstGeom>
          <a:noFill/>
          <a:ln w="0">
            <a:noFill/>
            <a:prstDash val="solid"/>
          </a:ln>
        </p:spPr>
        <p:txBody>
          <a:bodyPr/>
          <a:lstStyle/>
          <a:p>
            <a:pPr>
              <a:defRPr sz="1200" b="1">
                <a:solidFill>
                  <a:srgbClr val="20242A"/>
                </a:solidFill>
              </a:defRPr>
            </a:pPr>
            <a:r>
              <a:rPr sz="1200" b="1">
                <a:solidFill>
                  <a:srgbClr val="20242A"/>
                </a:solidFill>
              </a:rPr>
              <a:t>Everyone</a:t>
            </a:r>
          </a:p>
        </p:txBody>
      </p:sp>
      <p:sp>
        <p:nvSpPr>
          <p:cNvPr id="19" name="矩形 18">
            <a:extLst>
              <a:ext uri="{FF2B5EF4-FFF2-40B4-BE49-F238E27FC236}">
                <a16:creationId xmlns:a16="http://schemas.microsoft.com/office/drawing/2014/main" id="{7295BB36-3B37-4861-8E17-BF9571BEC44B}"/>
              </a:ext>
            </a:extLst>
          </p:cNvPr>
          <p:cNvSpPr>
            <a:spLocks noGrp="1"/>
          </p:cNvSpPr>
          <p:nvPr/>
        </p:nvSpPr>
        <p:spPr>
          <a:xfrm>
            <a:off x="2571750" y="3943350"/>
            <a:ext cx="3048000" cy="238125"/>
          </a:xfrm>
          <a:prstGeom prst="rect">
            <a:avLst/>
          </a:prstGeom>
          <a:solidFill>
            <a:srgbClr val="E6E6E6"/>
          </a:solidFill>
          <a:ln w="0">
            <a:noFill/>
            <a:prstDash val="solid"/>
          </a:ln>
        </p:spPr>
      </p:sp>
      <p:sp>
        <p:nvSpPr>
          <p:cNvPr id="20" name="矩形 19">
            <a:extLst>
              <a:ext uri="{FF2B5EF4-FFF2-40B4-BE49-F238E27FC236}">
                <a16:creationId xmlns:a16="http://schemas.microsoft.com/office/drawing/2014/main" id="{5E3C695A-8619-435F-9981-8C77272C0071}"/>
              </a:ext>
            </a:extLst>
          </p:cNvPr>
          <p:cNvSpPr>
            <a:spLocks noGrp="1"/>
          </p:cNvSpPr>
          <p:nvPr/>
        </p:nvSpPr>
        <p:spPr>
          <a:xfrm>
            <a:off x="2571750" y="3943350"/>
            <a:ext cx="1519825" cy="238125"/>
          </a:xfrm>
          <a:prstGeom prst="rect">
            <a:avLst/>
          </a:prstGeom>
          <a:solidFill>
            <a:srgbClr val="F5A400"/>
          </a:solidFill>
          <a:ln w="0">
            <a:noFill/>
            <a:prstDash val="solid"/>
          </a:ln>
        </p:spPr>
      </p:sp>
      <p:sp>
        <p:nvSpPr>
          <p:cNvPr id="21" name="矩形 20">
            <a:extLst>
              <a:ext uri="{FF2B5EF4-FFF2-40B4-BE49-F238E27FC236}">
                <a16:creationId xmlns:a16="http://schemas.microsoft.com/office/drawing/2014/main" id="{B58F69D7-6361-4C06-9DAE-F33863B33F35}"/>
              </a:ext>
            </a:extLst>
          </p:cNvPr>
          <p:cNvSpPr>
            <a:spLocks noGrp="1"/>
          </p:cNvSpPr>
          <p:nvPr/>
        </p:nvSpPr>
        <p:spPr>
          <a:xfrm>
            <a:off x="5762625" y="3905250"/>
            <a:ext cx="666750" cy="238125"/>
          </a:xfrm>
          <a:prstGeom prst="rect">
            <a:avLst/>
          </a:prstGeom>
          <a:noFill/>
          <a:ln w="0">
            <a:noFill/>
            <a:prstDash val="solid"/>
          </a:ln>
        </p:spPr>
        <p:txBody>
          <a:bodyPr/>
          <a:lstStyle/>
          <a:p>
            <a:pPr>
              <a:defRPr sz="1200" b="1">
                <a:solidFill>
                  <a:srgbClr val="20242A"/>
                </a:solidFill>
              </a:defRPr>
            </a:pPr>
            <a:r>
              <a:rPr sz="1200" b="1">
                <a:solidFill>
                  <a:srgbClr val="20242A"/>
                </a:solidFill>
              </a:rPr>
              <a:t>182</a:t>
            </a:r>
          </a:p>
        </p:txBody>
      </p:sp>
      <p:sp>
        <p:nvSpPr>
          <p:cNvPr id="22" name="矩形 21">
            <a:extLst>
              <a:ext uri="{FF2B5EF4-FFF2-40B4-BE49-F238E27FC236}">
                <a16:creationId xmlns:a16="http://schemas.microsoft.com/office/drawing/2014/main" id="{1063C2D7-9B7D-442A-8228-8CC0E0E7BC60}"/>
              </a:ext>
            </a:extLst>
          </p:cNvPr>
          <p:cNvSpPr>
            <a:spLocks noGrp="1"/>
          </p:cNvSpPr>
          <p:nvPr/>
        </p:nvSpPr>
        <p:spPr>
          <a:xfrm>
            <a:off x="904875" y="4400550"/>
            <a:ext cx="1571625" cy="228600"/>
          </a:xfrm>
          <a:prstGeom prst="rect">
            <a:avLst/>
          </a:prstGeom>
          <a:noFill/>
          <a:ln w="0">
            <a:noFill/>
            <a:prstDash val="solid"/>
          </a:ln>
        </p:spPr>
        <p:txBody>
          <a:bodyPr/>
          <a:lstStyle/>
          <a:p>
            <a:pPr>
              <a:defRPr sz="1200" b="1">
                <a:solidFill>
                  <a:srgbClr val="20242A"/>
                </a:solidFill>
              </a:defRPr>
            </a:pPr>
            <a:r>
              <a:rPr sz="1200" b="1">
                <a:solidFill>
                  <a:srgbClr val="20242A"/>
                </a:solidFill>
              </a:rPr>
              <a:t>Everyone 10+</a:t>
            </a:r>
          </a:p>
        </p:txBody>
      </p:sp>
      <p:sp>
        <p:nvSpPr>
          <p:cNvPr id="23" name="矩形 22">
            <a:extLst>
              <a:ext uri="{FF2B5EF4-FFF2-40B4-BE49-F238E27FC236}">
                <a16:creationId xmlns:a16="http://schemas.microsoft.com/office/drawing/2014/main" id="{80CC9971-3EAE-4BCB-AE4E-42FD59C9BA4D}"/>
              </a:ext>
            </a:extLst>
          </p:cNvPr>
          <p:cNvSpPr>
            <a:spLocks noGrp="1"/>
          </p:cNvSpPr>
          <p:nvPr/>
        </p:nvSpPr>
        <p:spPr>
          <a:xfrm>
            <a:off x="2571750" y="4438650"/>
            <a:ext cx="3048000" cy="238125"/>
          </a:xfrm>
          <a:prstGeom prst="rect">
            <a:avLst/>
          </a:prstGeom>
          <a:solidFill>
            <a:srgbClr val="E6E6E6"/>
          </a:solidFill>
          <a:ln w="0">
            <a:noFill/>
            <a:prstDash val="solid"/>
          </a:ln>
        </p:spPr>
      </p:sp>
      <p:sp>
        <p:nvSpPr>
          <p:cNvPr id="24" name="矩形 23">
            <a:extLst>
              <a:ext uri="{FF2B5EF4-FFF2-40B4-BE49-F238E27FC236}">
                <a16:creationId xmlns:a16="http://schemas.microsoft.com/office/drawing/2014/main" id="{6DE57DF9-132B-477E-98C8-DE949000ADA2}"/>
              </a:ext>
            </a:extLst>
          </p:cNvPr>
          <p:cNvSpPr>
            <a:spLocks noGrp="1"/>
          </p:cNvSpPr>
          <p:nvPr/>
        </p:nvSpPr>
        <p:spPr>
          <a:xfrm>
            <a:off x="2571750" y="4438650"/>
            <a:ext cx="1152395" cy="238125"/>
          </a:xfrm>
          <a:prstGeom prst="rect">
            <a:avLst/>
          </a:prstGeom>
          <a:solidFill>
            <a:srgbClr val="5DADE2"/>
          </a:solidFill>
          <a:ln w="0">
            <a:noFill/>
            <a:prstDash val="solid"/>
          </a:ln>
        </p:spPr>
      </p:sp>
      <p:sp>
        <p:nvSpPr>
          <p:cNvPr id="25" name="矩形 24">
            <a:extLst>
              <a:ext uri="{FF2B5EF4-FFF2-40B4-BE49-F238E27FC236}">
                <a16:creationId xmlns:a16="http://schemas.microsoft.com/office/drawing/2014/main" id="{60B16213-46A5-4A0C-B08D-DF2F0008410F}"/>
              </a:ext>
            </a:extLst>
          </p:cNvPr>
          <p:cNvSpPr>
            <a:spLocks noGrp="1"/>
          </p:cNvSpPr>
          <p:nvPr/>
        </p:nvSpPr>
        <p:spPr>
          <a:xfrm>
            <a:off x="5762625" y="4400550"/>
            <a:ext cx="666750" cy="238125"/>
          </a:xfrm>
          <a:prstGeom prst="rect">
            <a:avLst/>
          </a:prstGeom>
          <a:noFill/>
          <a:ln w="0">
            <a:noFill/>
            <a:prstDash val="solid"/>
          </a:ln>
        </p:spPr>
        <p:txBody>
          <a:bodyPr/>
          <a:lstStyle/>
          <a:p>
            <a:pPr>
              <a:defRPr sz="1200" b="1">
                <a:solidFill>
                  <a:srgbClr val="20242A"/>
                </a:solidFill>
              </a:defRPr>
            </a:pPr>
            <a:r>
              <a:rPr sz="1200" b="1">
                <a:solidFill>
                  <a:srgbClr val="20242A"/>
                </a:solidFill>
              </a:rPr>
              <a:t>138</a:t>
            </a:r>
          </a:p>
        </p:txBody>
      </p:sp>
      <p:sp>
        <p:nvSpPr>
          <p:cNvPr id="29" name="矩形 28">
            <a:extLst>
              <a:ext uri="{FF2B5EF4-FFF2-40B4-BE49-F238E27FC236}">
                <a16:creationId xmlns:a16="http://schemas.microsoft.com/office/drawing/2014/main" id="{F3723980-FF38-4E4F-8E08-835A5390D706}"/>
              </a:ext>
            </a:extLst>
          </p:cNvPr>
          <p:cNvSpPr>
            <a:spLocks noGrp="1"/>
          </p:cNvSpPr>
          <p:nvPr/>
        </p:nvSpPr>
        <p:spPr>
          <a:xfrm>
            <a:off x="6667500" y="3733800"/>
            <a:ext cx="4762500" cy="1381125"/>
          </a:xfrm>
          <a:prstGeom prst="rect">
            <a:avLst/>
          </a:prstGeom>
          <a:solidFill>
            <a:srgbClr val="FFFFFF"/>
          </a:solidFill>
          <a:ln w="0">
            <a:noFill/>
            <a:prstDash val="solid"/>
          </a:ln>
        </p:spPr>
      </p:sp>
      <p:sp>
        <p:nvSpPr>
          <p:cNvPr id="31" name="矩形 30">
            <a:extLst>
              <a:ext uri="{FF2B5EF4-FFF2-40B4-BE49-F238E27FC236}">
                <a16:creationId xmlns:a16="http://schemas.microsoft.com/office/drawing/2014/main" id="{0C34E608-9C42-49B5-A649-1A019D97D98B}"/>
              </a:ext>
            </a:extLst>
          </p:cNvPr>
          <p:cNvSpPr>
            <a:spLocks noGrp="1"/>
          </p:cNvSpPr>
          <p:nvPr/>
        </p:nvSpPr>
        <p:spPr>
          <a:xfrm>
            <a:off x="6857999" y="3909060"/>
            <a:ext cx="4429125" cy="1085850"/>
          </a:xfrm>
          <a:prstGeom prst="rect">
            <a:avLst/>
          </a:prstGeom>
          <a:noFill/>
          <a:ln w="0">
            <a:noFill/>
            <a:prstDash val="solid"/>
          </a:ln>
        </p:spPr>
        <p:txBody>
          <a:bodyPr/>
          <a:lstStyle/>
          <a:p>
            <a:pPr>
              <a:defRPr sz="1500" b="1">
                <a:solidFill>
                  <a:srgbClr val="595959"/>
                </a:solidFill>
              </a:defRPr>
            </a:pPr>
            <a:r>
              <a:rPr sz="1500" b="1" dirty="0">
                <a:solidFill>
                  <a:srgbClr val="595959"/>
                </a:solidFill>
              </a:rPr>
              <a:t>The samples cover the major rating labels </a:t>
            </a:r>
            <a:endParaRPr lang="en-US" sz="1500" b="1" dirty="0">
              <a:solidFill>
                <a:srgbClr val="595959"/>
              </a:solidFill>
            </a:endParaRPr>
          </a:p>
          <a:p>
            <a:pPr>
              <a:defRPr sz="1500" b="1">
                <a:solidFill>
                  <a:srgbClr val="595959"/>
                </a:solidFill>
              </a:defRPr>
            </a:pPr>
            <a:r>
              <a:rPr sz="1500" b="1" dirty="0">
                <a:solidFill>
                  <a:srgbClr val="595959"/>
                </a:solidFill>
              </a:rPr>
              <a:t>from Everyone to Adults Only 18+, </a:t>
            </a:r>
            <a:endParaRPr lang="en-US" sz="1500" b="1" dirty="0">
              <a:solidFill>
                <a:srgbClr val="595959"/>
              </a:solidFill>
            </a:endParaRPr>
          </a:p>
          <a:p>
            <a:pPr>
              <a:defRPr sz="1500" b="1">
                <a:solidFill>
                  <a:srgbClr val="595959"/>
                </a:solidFill>
              </a:defRPr>
            </a:pPr>
            <a:r>
              <a:rPr sz="1500" b="1" dirty="0">
                <a:solidFill>
                  <a:srgbClr val="595959"/>
                </a:solidFill>
              </a:rPr>
              <a:t>supporting downstream multi-class modeling.</a:t>
            </a:r>
          </a:p>
        </p:txBody>
      </p:sp>
    </p:spTree>
    <p:extLst>
      <p:ext uri="{BB962C8B-B14F-4D97-AF65-F5344CB8AC3E}">
        <p14:creationId xmlns:p14="http://schemas.microsoft.com/office/powerpoint/2010/main" val="680950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任意多边形 3"/>
          <p:cNvSpPr/>
          <p:nvPr/>
        </p:nvSpPr>
        <p:spPr>
          <a:xfrm rot="16872204">
            <a:off x="1095680" y="2934035"/>
            <a:ext cx="2679375" cy="1489619"/>
          </a:xfrm>
          <a:custGeom>
            <a:avLst/>
            <a:gdLst>
              <a:gd name="connsiteX0" fmla="*/ 0 w 1010195"/>
              <a:gd name="connsiteY0" fmla="*/ 0 h 217714"/>
              <a:gd name="connsiteX1" fmla="*/ 8709 w 1010195"/>
              <a:gd name="connsiteY1" fmla="*/ 217714 h 217714"/>
              <a:gd name="connsiteX2" fmla="*/ 1010195 w 1010195"/>
              <a:gd name="connsiteY2" fmla="*/ 87086 h 217714"/>
              <a:gd name="connsiteX3" fmla="*/ 0 w 1010195"/>
              <a:gd name="connsiteY3" fmla="*/ 0 h 217714"/>
              <a:gd name="connsiteX0-1" fmla="*/ 0 w 1017338"/>
              <a:gd name="connsiteY0-2" fmla="*/ 0 h 217714"/>
              <a:gd name="connsiteX1-3" fmla="*/ 8709 w 1017338"/>
              <a:gd name="connsiteY1-4" fmla="*/ 217714 h 217714"/>
              <a:gd name="connsiteX2-5" fmla="*/ 1017338 w 1017338"/>
              <a:gd name="connsiteY2-6" fmla="*/ 87086 h 217714"/>
              <a:gd name="connsiteX3-7" fmla="*/ 0 w 1017338"/>
              <a:gd name="connsiteY3-8" fmla="*/ 0 h 217714"/>
              <a:gd name="connsiteX0-1-1" fmla="*/ 0 w 1017338"/>
              <a:gd name="connsiteY0-2-2" fmla="*/ 0 h 248457"/>
              <a:gd name="connsiteX1-3-3" fmla="*/ 98341 w 1017338"/>
              <a:gd name="connsiteY1-4-4" fmla="*/ 248457 h 248457"/>
              <a:gd name="connsiteX2-5-5" fmla="*/ 1017338 w 1017338"/>
              <a:gd name="connsiteY2-6-6" fmla="*/ 87086 h 248457"/>
              <a:gd name="connsiteX3-7-7" fmla="*/ 0 w 1017338"/>
              <a:gd name="connsiteY3-8-8" fmla="*/ 0 h 248457"/>
              <a:gd name="connsiteX0-9" fmla="*/ 0 w 1041847"/>
              <a:gd name="connsiteY0-10" fmla="*/ 0 h 264949"/>
              <a:gd name="connsiteX1-11" fmla="*/ 122850 w 1041847"/>
              <a:gd name="connsiteY1-12" fmla="*/ 264949 h 264949"/>
              <a:gd name="connsiteX2-13" fmla="*/ 1041847 w 1041847"/>
              <a:gd name="connsiteY2-14" fmla="*/ 103578 h 264949"/>
              <a:gd name="connsiteX3-15" fmla="*/ 0 w 1041847"/>
              <a:gd name="connsiteY3-16" fmla="*/ 0 h 264949"/>
              <a:gd name="connsiteX0-17" fmla="*/ 0 w 1041847"/>
              <a:gd name="connsiteY0-18" fmla="*/ 0 h 252106"/>
              <a:gd name="connsiteX1-19" fmla="*/ 188050 w 1041847"/>
              <a:gd name="connsiteY1-20" fmla="*/ 252106 h 252106"/>
              <a:gd name="connsiteX2-21" fmla="*/ 1041847 w 1041847"/>
              <a:gd name="connsiteY2-22" fmla="*/ 103578 h 252106"/>
              <a:gd name="connsiteX3-23" fmla="*/ 0 w 1041847"/>
              <a:gd name="connsiteY3-24" fmla="*/ 0 h 252106"/>
              <a:gd name="connsiteX0-25" fmla="*/ 0 w 1041847"/>
              <a:gd name="connsiteY0-26" fmla="*/ 0 h 269441"/>
              <a:gd name="connsiteX1-27" fmla="*/ 182425 w 1041847"/>
              <a:gd name="connsiteY1-28" fmla="*/ 269441 h 269441"/>
              <a:gd name="connsiteX2-29" fmla="*/ 1041847 w 1041847"/>
              <a:gd name="connsiteY2-30" fmla="*/ 103578 h 269441"/>
              <a:gd name="connsiteX3-31" fmla="*/ 0 w 1041847"/>
              <a:gd name="connsiteY3-32" fmla="*/ 0 h 269441"/>
            </a:gdLst>
            <a:ahLst/>
            <a:cxnLst>
              <a:cxn ang="0">
                <a:pos x="connsiteX0-1-1" y="connsiteY0-2-2"/>
              </a:cxn>
              <a:cxn ang="0">
                <a:pos x="connsiteX1-3-3" y="connsiteY1-4-4"/>
              </a:cxn>
              <a:cxn ang="0">
                <a:pos x="connsiteX2-5-5" y="connsiteY2-6-6"/>
              </a:cxn>
              <a:cxn ang="0">
                <a:pos x="connsiteX3-7-7" y="connsiteY3-8-8"/>
              </a:cxn>
            </a:cxnLst>
            <a:rect l="l" t="t" r="r" b="b"/>
            <a:pathLst>
              <a:path w="1041847" h="269441">
                <a:moveTo>
                  <a:pt x="0" y="0"/>
                </a:moveTo>
                <a:lnTo>
                  <a:pt x="182425" y="269441"/>
                </a:lnTo>
                <a:lnTo>
                  <a:pt x="1041847" y="103578"/>
                </a:lnTo>
                <a:lnTo>
                  <a:pt x="0" y="0"/>
                </a:lnTo>
                <a:close/>
              </a:path>
            </a:pathLst>
          </a:custGeom>
          <a:gradFill>
            <a:gsLst>
              <a:gs pos="0">
                <a:schemeClr val="accent3">
                  <a:lumMod val="89000"/>
                </a:schemeClr>
              </a:gs>
              <a:gs pos="22000">
                <a:schemeClr val="accent3">
                  <a:lumMod val="75000"/>
                </a:schemeClr>
              </a:gs>
              <a:gs pos="63000">
                <a:schemeClr val="bg2">
                  <a:lumMod val="2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8" name="任意多边形 5"/>
          <p:cNvSpPr/>
          <p:nvPr/>
        </p:nvSpPr>
        <p:spPr>
          <a:xfrm>
            <a:off x="9101921" y="4739894"/>
            <a:ext cx="1762818" cy="825844"/>
          </a:xfrm>
          <a:custGeom>
            <a:avLst/>
            <a:gdLst>
              <a:gd name="connsiteX0" fmla="*/ 0 w 1670050"/>
              <a:gd name="connsiteY0" fmla="*/ 666750 h 666750"/>
              <a:gd name="connsiteX1" fmla="*/ 139700 w 1670050"/>
              <a:gd name="connsiteY1" fmla="*/ 0 h 666750"/>
              <a:gd name="connsiteX2" fmla="*/ 1670050 w 1670050"/>
              <a:gd name="connsiteY2" fmla="*/ 12700 h 666750"/>
              <a:gd name="connsiteX3" fmla="*/ 0 w 1670050"/>
              <a:gd name="connsiteY3" fmla="*/ 666750 h 666750"/>
              <a:gd name="connsiteX0-1" fmla="*/ 0 w 1676400"/>
              <a:gd name="connsiteY0-2" fmla="*/ 666750 h 666750"/>
              <a:gd name="connsiteX1-3" fmla="*/ 139700 w 1676400"/>
              <a:gd name="connsiteY1-4" fmla="*/ 0 h 666750"/>
              <a:gd name="connsiteX2-5" fmla="*/ 1676400 w 1676400"/>
              <a:gd name="connsiteY2-6" fmla="*/ 38100 h 666750"/>
              <a:gd name="connsiteX3-7" fmla="*/ 0 w 1676400"/>
              <a:gd name="connsiteY3-8" fmla="*/ 666750 h 666750"/>
              <a:gd name="connsiteX0-9" fmla="*/ 0 w 1668780"/>
              <a:gd name="connsiteY0-10" fmla="*/ 666750 h 666750"/>
              <a:gd name="connsiteX1-11" fmla="*/ 139700 w 1668780"/>
              <a:gd name="connsiteY1-12" fmla="*/ 0 h 666750"/>
              <a:gd name="connsiteX2-13" fmla="*/ 1668780 w 1668780"/>
              <a:gd name="connsiteY2-14" fmla="*/ 22860 h 666750"/>
              <a:gd name="connsiteX3-15" fmla="*/ 0 w 1668780"/>
              <a:gd name="connsiteY3-16" fmla="*/ 666750 h 666750"/>
              <a:gd name="connsiteX0-1-1" fmla="*/ 0 w 1668780"/>
              <a:gd name="connsiteY0-2-2" fmla="*/ 666750 h 666750"/>
              <a:gd name="connsiteX1-3-3" fmla="*/ 139700 w 1668780"/>
              <a:gd name="connsiteY1-4-4" fmla="*/ 0 h 666750"/>
              <a:gd name="connsiteX2-5-5" fmla="*/ 1668780 w 1668780"/>
              <a:gd name="connsiteY2-6-6" fmla="*/ 83463 h 666750"/>
              <a:gd name="connsiteX3-7-7" fmla="*/ 0 w 1668780"/>
              <a:gd name="connsiteY3-8-8" fmla="*/ 666750 h 666750"/>
              <a:gd name="connsiteX0-9-9" fmla="*/ 0 w 1722808"/>
              <a:gd name="connsiteY0-10-10" fmla="*/ 681901 h 681901"/>
              <a:gd name="connsiteX1-11-11" fmla="*/ 193728 w 1722808"/>
              <a:gd name="connsiteY1-12-12" fmla="*/ 0 h 681901"/>
              <a:gd name="connsiteX2-13-13" fmla="*/ 1722808 w 1722808"/>
              <a:gd name="connsiteY2-14-14" fmla="*/ 83463 h 681901"/>
              <a:gd name="connsiteX3-15-15" fmla="*/ 0 w 1722808"/>
              <a:gd name="connsiteY3-16-16" fmla="*/ 681901 h 681901"/>
            </a:gdLst>
            <a:ahLst/>
            <a:cxnLst>
              <a:cxn ang="0">
                <a:pos x="connsiteX0-1-1" y="connsiteY0-2-2"/>
              </a:cxn>
              <a:cxn ang="0">
                <a:pos x="connsiteX1-3-3" y="connsiteY1-4-4"/>
              </a:cxn>
              <a:cxn ang="0">
                <a:pos x="connsiteX2-5-5" y="connsiteY2-6-6"/>
              </a:cxn>
              <a:cxn ang="0">
                <a:pos x="connsiteX3-7-7" y="connsiteY3-8-8"/>
              </a:cxn>
            </a:cxnLst>
            <a:rect l="l" t="t" r="r" b="b"/>
            <a:pathLst>
              <a:path w="1722808" h="681901">
                <a:moveTo>
                  <a:pt x="0" y="681901"/>
                </a:moveTo>
                <a:lnTo>
                  <a:pt x="193728" y="0"/>
                </a:lnTo>
                <a:lnTo>
                  <a:pt x="1722808" y="83463"/>
                </a:lnTo>
                <a:lnTo>
                  <a:pt x="0" y="681901"/>
                </a:lnTo>
                <a:close/>
              </a:path>
            </a:pathLst>
          </a:custGeom>
          <a:gradFill>
            <a:gsLst>
              <a:gs pos="23000">
                <a:schemeClr val="bg2">
                  <a:lumMod val="25000"/>
                </a:schemeClr>
              </a:gs>
              <a:gs pos="62000">
                <a:schemeClr val="accent3">
                  <a:lumMod val="43000"/>
                </a:schemeClr>
              </a:gs>
              <a:gs pos="100000">
                <a:schemeClr val="accent3">
                  <a:lumMod val="70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9" name="任意多边形 4"/>
          <p:cNvSpPr/>
          <p:nvPr/>
        </p:nvSpPr>
        <p:spPr>
          <a:xfrm>
            <a:off x="1411354"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1048610" name="任意多边形 2"/>
          <p:cNvSpPr/>
          <p:nvPr/>
        </p:nvSpPr>
        <p:spPr>
          <a:xfrm>
            <a:off x="184"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1048611" name="任意多边形 6"/>
          <p:cNvSpPr/>
          <p:nvPr/>
        </p:nvSpPr>
        <p:spPr>
          <a:xfrm>
            <a:off x="9073112"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pic>
        <p:nvPicPr>
          <p:cNvPr id="2097162" name="图片 7"/>
          <p:cNvPicPr>
            <a:picLocks noChangeAspect="1"/>
          </p:cNvPicPr>
          <p:nvPr/>
        </p:nvPicPr>
        <p:blipFill rotWithShape="1">
          <a:blip r:embed="rId2"/>
          <a:srcRect l="15806" t="13440" r="18511" b="11972"/>
          <a:stretch>
            <a:fillRect/>
          </a:stretch>
        </p:blipFill>
        <p:spPr>
          <a:xfrm>
            <a:off x="251950" y="2096308"/>
            <a:ext cx="2385019" cy="2154768"/>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3" name="文本框 2"/>
          <p:cNvSpPr txBox="1"/>
          <p:nvPr/>
        </p:nvSpPr>
        <p:spPr>
          <a:xfrm>
            <a:off x="2893060" y="2978785"/>
            <a:ext cx="9371330" cy="1108075"/>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4: </a:t>
            </a: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Machine Learning Model Training &amp; Evaluation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Algorithm Benchmarking: </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From High-Dimensional Sparse Features to Age Rating Prediction</a:t>
            </a:r>
          </a:p>
        </p:txBody>
      </p:sp>
      <p:sp>
        <p:nvSpPr>
          <p:cNvPr id="4" name="任意多边形 4"/>
          <p:cNvSpPr/>
          <p:nvPr/>
        </p:nvSpPr>
        <p:spPr>
          <a:xfrm>
            <a:off x="1411989"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5" name="任意多边形 2"/>
          <p:cNvSpPr/>
          <p:nvPr/>
        </p:nvSpPr>
        <p:spPr>
          <a:xfrm>
            <a:off x="819"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6" name="任意多边形 6"/>
          <p:cNvSpPr/>
          <p:nvPr/>
        </p:nvSpPr>
        <p:spPr>
          <a:xfrm>
            <a:off x="9073747"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7" name="文本框 6"/>
          <p:cNvSpPr txBox="1"/>
          <p:nvPr/>
        </p:nvSpPr>
        <p:spPr>
          <a:xfrm>
            <a:off x="3145790" y="2926080"/>
            <a:ext cx="7802880" cy="1449977"/>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2: </a:t>
            </a: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Data Cleaning and Dataset Construction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Dataset Standardization: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From Raw Questionnaire Records to Reproducible Train/Test Splits</a:t>
            </a:r>
          </a:p>
          <a:p>
            <a:r>
              <a:rPr lang="en-US" altLang="zh-CN" sz="1400" b="1" dirty="0" err="1">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Presenter:JiaShun</a:t>
            </a:r>
            <a:r>
              <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 Shi</a:t>
            </a:r>
          </a:p>
        </p:txBody>
      </p:sp>
      <p:pic>
        <p:nvPicPr>
          <p:cNvPr id="8" name="图片 7"/>
          <p:cNvPicPr>
            <a:picLocks noChangeAspect="1"/>
          </p:cNvPicPr>
          <p:nvPr/>
        </p:nvPicPr>
        <p:blipFill rotWithShape="1">
          <a:blip r:embed="rId2"/>
          <a:srcRect l="15806" t="13440" r="18511" b="11972"/>
          <a:stretch>
            <a:fillRect/>
          </a:stretch>
        </p:blipFill>
        <p:spPr>
          <a:xfrm>
            <a:off x="184005" y="2037253"/>
            <a:ext cx="2385019" cy="21547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8611"/>
                                        </p:tgtEl>
                                        <p:attrNameLst>
                                          <p:attrName>style.visibility</p:attrName>
                                        </p:attrNameLst>
                                      </p:cBhvr>
                                      <p:to>
                                        <p:strVal val="visible"/>
                                      </p:to>
                                    </p:set>
                                    <p:animEffect transition="in" filter="wipe(down)">
                                      <p:cBhvr>
                                        <p:cTn id="7" dur="500"/>
                                        <p:tgtEl>
                                          <p:spTgt spid="104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panose="020B0604020202020204"/>
                <a:ea typeface="Arial" panose="020B0604020202020204"/>
                <a:cs typeface="Arial" panose="020B0604020202020204"/>
                <a:sym typeface="Arial" panose="020B0604020202020204"/>
              </a:rPr>
              <a:t>Data Cleaning and Dataset Construction</a:t>
            </a:r>
            <a:endParaRPr lang="en-US" sz="1100" dirty="0"/>
          </a:p>
        </p:txBody>
      </p:sp>
      <p:sp>
        <p:nvSpPr>
          <p:cNvPr id="4" name="AutoShape 4"/>
          <p:cNvSpPr/>
          <p:nvPr/>
        </p:nvSpPr>
        <p:spPr>
          <a:xfrm>
            <a:off x="508000" y="1689100"/>
            <a:ext cx="5270500" cy="4216400"/>
          </a:xfrm>
          <a:prstGeom prst="roundRect">
            <a:avLst>
              <a:gd name="adj" fmla="val 0"/>
            </a:avLst>
          </a:prstGeom>
          <a:solidFill>
            <a:srgbClr val="FFFFFF">
              <a:alpha val="100000"/>
            </a:srgbClr>
          </a:solidFill>
          <a:ln w="38100" cap="flat" cmpd="sng">
            <a:solidFill>
              <a:srgbClr val="AFABAB"/>
            </a:solidFill>
            <a:prstDash val="solid"/>
            <a:miter lim="100000000"/>
          </a:ln>
        </p:spPr>
        <p:txBody>
          <a:bodyPr vert="horz" wrap="square" lIns="63500" tIns="63500" rIns="63500" bIns="63500" rtlCol="0" anchor="ctr"/>
          <a:lstStyle/>
          <a:p>
            <a:pPr algn="ctr">
              <a:defRPr/>
            </a:pPr>
            <a:endParaRPr/>
          </a:p>
        </p:txBody>
      </p:sp>
      <p:sp>
        <p:nvSpPr>
          <p:cNvPr id="5" name="AutoShape 5"/>
          <p:cNvSpPr/>
          <p:nvPr/>
        </p:nvSpPr>
        <p:spPr>
          <a:xfrm>
            <a:off x="647700" y="1689100"/>
            <a:ext cx="4826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D93025"/>
                </a:solidFill>
                <a:latin typeface="+mn-lt"/>
                <a:ea typeface="Arial" panose="020B0604020202020204"/>
                <a:cs typeface="Arial" panose="020B0604020202020204"/>
                <a:sym typeface="Arial" panose="020B0604020202020204"/>
              </a:rPr>
              <a:t>📋 What this stage Does</a:t>
            </a:r>
            <a:endParaRPr lang="en-US" sz="1100" dirty="0">
              <a:latin typeface="+mn-lt"/>
            </a:endParaRPr>
          </a:p>
        </p:txBody>
      </p:sp>
      <p:cxnSp>
        <p:nvCxnSpPr>
          <p:cNvPr id="6" name="Connector 6"/>
          <p:cNvCxnSpPr/>
          <p:nvPr/>
        </p:nvCxnSpPr>
        <p:spPr>
          <a:xfrm rot="-9046">
            <a:off x="647708" y="2292350"/>
            <a:ext cx="4826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7" name="AutoShape 7"/>
          <p:cNvSpPr/>
          <p:nvPr/>
        </p:nvSpPr>
        <p:spPr>
          <a:xfrm>
            <a:off x="647700" y="2349500"/>
            <a:ext cx="488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mn-lt"/>
                <a:ea typeface="Segoe UI" panose="020B0502040204020203"/>
                <a:cs typeface="Segoe UI" panose="020B0502040204020203"/>
                <a:sym typeface="Segoe UI" panose="020B0502040204020203"/>
              </a:rPr>
              <a:t>Core Objective: Standardization &amp; Boundaries</a:t>
            </a:r>
            <a:endParaRPr lang="en-US" sz="1100" dirty="0">
              <a:latin typeface="+mn-lt"/>
            </a:endParaRPr>
          </a:p>
          <a:p>
            <a:pPr marL="0" indent="0" algn="l">
              <a:lnSpc>
                <a:spcPct val="108000"/>
              </a:lnSpc>
            </a:pPr>
            <a:r>
              <a:rPr lang="en-US" sz="1300" b="0" i="0" u="none" strike="noStrike" dirty="0">
                <a:solidFill>
                  <a:srgbClr val="595959"/>
                </a:solidFill>
                <a:latin typeface="+mn-lt"/>
                <a:ea typeface="Segoe UI" panose="020B0502040204020203"/>
                <a:cs typeface="Segoe UI" panose="020B0502040204020203"/>
                <a:sym typeface="Segoe UI" panose="020B0502040204020203"/>
              </a:rPr>
              <a:t>Processes raw questionnaire records into a structured, clean dataset. This phase strictly stops at dataset construction—no feature encoding, label transformation, or model training is included here.</a:t>
            </a:r>
          </a:p>
        </p:txBody>
      </p:sp>
      <p:cxnSp>
        <p:nvCxnSpPr>
          <p:cNvPr id="8" name="Connector 8"/>
          <p:cNvCxnSpPr/>
          <p:nvPr/>
        </p:nvCxnSpPr>
        <p:spPr>
          <a:xfrm rot="-9046">
            <a:off x="647708" y="3613150"/>
            <a:ext cx="4826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9" name="AutoShape 9"/>
          <p:cNvSpPr/>
          <p:nvPr/>
        </p:nvSpPr>
        <p:spPr>
          <a:xfrm>
            <a:off x="647700" y="3810000"/>
            <a:ext cx="2387600" cy="1638968"/>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286090"/>
                </a:solidFill>
                <a:latin typeface="+mn-lt"/>
                <a:ea typeface="Segoe UI" panose="020B0502040204020203"/>
                <a:cs typeface="Segoe UI" panose="020B0502040204020203"/>
                <a:sym typeface="Segoe UI" panose="020B0502040204020203"/>
              </a:rPr>
              <a:t>🔍 Input Boundary</a:t>
            </a:r>
            <a:endParaRPr lang="en-US" sz="1100" dirty="0">
              <a:latin typeface="+mn-lt"/>
            </a:endParaRPr>
          </a:p>
          <a:p>
            <a:pPr marL="0" indent="0" algn="l">
              <a:lnSpc>
                <a:spcPct val="100000"/>
              </a:lnSpc>
            </a:pPr>
            <a:r>
              <a:rPr lang="en-US" sz="1200" b="0" i="0" u="none" strike="noStrike" dirty="0">
                <a:solidFill>
                  <a:srgbClr val="595959"/>
                </a:solidFill>
                <a:latin typeface="+mn-lt"/>
                <a:ea typeface="Segoe UI" panose="020B0502040204020203"/>
                <a:cs typeface="Segoe UI" panose="020B0502040204020203"/>
                <a:sym typeface="Segoe UI" panose="020B0502040204020203"/>
              </a:rPr>
              <a:t>Source: dataset_v2/</a:t>
            </a:r>
            <a:r>
              <a:rPr lang="en-US" sz="1200" b="0" i="0" u="none" strike="noStrike" dirty="0" err="1">
                <a:solidFill>
                  <a:srgbClr val="595959"/>
                </a:solidFill>
                <a:latin typeface="+mn-lt"/>
                <a:ea typeface="Segoe UI" panose="020B0502040204020203"/>
                <a:cs typeface="Segoe UI" panose="020B0502040204020203"/>
                <a:sym typeface="Segoe UI" panose="020B0502040204020203"/>
              </a:rPr>
              <a:t>samples.jsonl</a:t>
            </a:r>
            <a:r>
              <a:rPr lang="en-US" sz="1200" b="0" i="0" u="none" strike="noStrike" dirty="0">
                <a:solidFill>
                  <a:srgbClr val="595959"/>
                </a:solidFill>
                <a:latin typeface="+mn-lt"/>
                <a:ea typeface="Segoe UI" panose="020B0502040204020203"/>
                <a:cs typeface="Segoe UI" panose="020B0502040204020203"/>
                <a:sym typeface="Segoe UI" panose="020B0502040204020203"/>
              </a:rPr>
              <a:t>. Validated against schema files, question dependency graphs, quarantine logs, and rating-conflict reports.</a:t>
            </a:r>
          </a:p>
        </p:txBody>
      </p:sp>
      <p:cxnSp>
        <p:nvCxnSpPr>
          <p:cNvPr id="10" name="Connector 10"/>
          <p:cNvCxnSpPr/>
          <p:nvPr/>
        </p:nvCxnSpPr>
        <p:spPr>
          <a:xfrm rot="5363814">
            <a:off x="2508250" y="4533933"/>
            <a:ext cx="12065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1" name="AutoShape 11"/>
          <p:cNvSpPr/>
          <p:nvPr/>
        </p:nvSpPr>
        <p:spPr>
          <a:xfrm>
            <a:off x="3213100" y="3809999"/>
            <a:ext cx="2387600" cy="1794563"/>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286090"/>
                </a:solidFill>
                <a:latin typeface="+mn-lt"/>
                <a:ea typeface="Segoe UI" panose="020B0502040204020203"/>
                <a:cs typeface="Segoe UI" panose="020B0502040204020203"/>
                <a:sym typeface="Segoe UI" panose="020B0502040204020203"/>
              </a:rPr>
              <a:t>📂 Output Boundary</a:t>
            </a:r>
            <a:endParaRPr lang="en-US" sz="1100" dirty="0">
              <a:latin typeface="+mn-lt"/>
            </a:endParaRPr>
          </a:p>
          <a:p>
            <a:pPr marL="0" indent="0" algn="l">
              <a:lnSpc>
                <a:spcPct val="100000"/>
              </a:lnSpc>
            </a:pPr>
            <a:r>
              <a:rPr lang="en-US" sz="1200" b="0" i="0" u="none" strike="noStrike" dirty="0">
                <a:solidFill>
                  <a:srgbClr val="595959"/>
                </a:solidFill>
                <a:latin typeface="+mn-lt"/>
                <a:ea typeface="Segoe UI" panose="020B0502040204020203"/>
                <a:cs typeface="Segoe UI" panose="020B0502040204020203"/>
                <a:sym typeface="Segoe UI" panose="020B0502040204020203"/>
              </a:rPr>
              <a:t>Generated under task3_data_cleaning/output: clean_dataset.csv, split train/test CSVs, and audit files for exclusions, split distribution, source hashes, and cleaning summary.</a:t>
            </a:r>
          </a:p>
        </p:txBody>
      </p:sp>
      <p:cxnSp>
        <p:nvCxnSpPr>
          <p:cNvPr id="12" name="Connector 12"/>
          <p:cNvCxnSpPr/>
          <p:nvPr/>
        </p:nvCxnSpPr>
        <p:spPr>
          <a:xfrm>
            <a:off x="6146800" y="1664821"/>
            <a:ext cx="50801" cy="4354997"/>
          </a:xfrm>
          <a:prstGeom prst="straightConnector1">
            <a:avLst/>
          </a:prstGeom>
          <a:solidFill>
            <a:srgbClr val="DEE0E3">
              <a:alpha val="100000"/>
            </a:srgbClr>
          </a:solidFill>
          <a:ln w="12700" cap="flat" cmpd="sng">
            <a:solidFill>
              <a:srgbClr val="AFABAB">
                <a:alpha val="50000"/>
              </a:srgbClr>
            </a:solidFill>
            <a:prstDash val="solid"/>
            <a:round/>
            <a:headEnd type="none" w="med" len="med"/>
            <a:tailEnd type="none" w="med" len="med"/>
          </a:ln>
        </p:spPr>
      </p:cxnSp>
      <p:sp>
        <p:nvSpPr>
          <p:cNvPr id="13" name="AutoShape 13"/>
          <p:cNvSpPr/>
          <p:nvPr/>
        </p:nvSpPr>
        <p:spPr>
          <a:xfrm>
            <a:off x="6591300" y="1828800"/>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718300" y="1892300"/>
            <a:ext cx="501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286090"/>
                </a:solidFill>
                <a:latin typeface="+mn-lt"/>
                <a:ea typeface="Arial" panose="020B0604020202020204"/>
                <a:cs typeface="Arial" panose="020B0604020202020204"/>
                <a:sym typeface="Arial" panose="020B0604020202020204"/>
              </a:rPr>
              <a:t>📊 1,265 Validated Clean Samples</a:t>
            </a:r>
            <a:endParaRPr lang="en-US" sz="1100" dirty="0">
              <a:latin typeface="+mn-lt"/>
            </a:endParaRPr>
          </a:p>
          <a:p>
            <a:pPr marL="0" indent="0" algn="l">
              <a:lnSpc>
                <a:spcPct val="108000"/>
              </a:lnSpc>
            </a:pPr>
            <a:r>
              <a:rPr lang="en-US" sz="1300" b="0" i="0" u="none" strike="noStrike" dirty="0">
                <a:solidFill>
                  <a:srgbClr val="595959"/>
                </a:solidFill>
                <a:latin typeface="+mn-lt"/>
                <a:ea typeface="Segoe UI" panose="020B0502040204020203"/>
                <a:cs typeface="Segoe UI" panose="020B0502040204020203"/>
                <a:sym typeface="Segoe UI" panose="020B0502040204020203"/>
              </a:rPr>
              <a:t>After validation and consistency checks, all 1,265 retained records formed the clean dataset.</a:t>
            </a:r>
          </a:p>
        </p:txBody>
      </p:sp>
      <p:sp>
        <p:nvSpPr>
          <p:cNvPr id="15" name="AutoShape 15"/>
          <p:cNvSpPr/>
          <p:nvPr/>
        </p:nvSpPr>
        <p:spPr>
          <a:xfrm>
            <a:off x="6591300" y="3225800"/>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718300" y="3289300"/>
            <a:ext cx="501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286090"/>
                </a:solidFill>
                <a:latin typeface="+mn-lt"/>
                <a:ea typeface="Arial" panose="020B0604020202020204"/>
                <a:cs typeface="Arial" panose="020B0604020202020204"/>
                <a:sym typeface="Arial" panose="020B0604020202020204"/>
              </a:rPr>
              <a:t>📂 Deterministic Train / Test Split (80/20)</a:t>
            </a:r>
            <a:endParaRPr lang="en-US" sz="1100" dirty="0">
              <a:latin typeface="+mn-lt"/>
            </a:endParaRPr>
          </a:p>
          <a:p>
            <a:pPr marL="0" indent="0" algn="l">
              <a:lnSpc>
                <a:spcPct val="108000"/>
              </a:lnSpc>
            </a:pPr>
            <a:r>
              <a:rPr lang="en-US" sz="1300" b="0" i="0" u="none" strike="noStrike" dirty="0">
                <a:solidFill>
                  <a:srgbClr val="595959"/>
                </a:solidFill>
                <a:latin typeface="+mn-lt"/>
                <a:ea typeface="Segoe UI" panose="020B0502040204020203"/>
                <a:cs typeface="Segoe UI" panose="020B0502040204020203"/>
                <a:sym typeface="Segoe UI" panose="020B0502040204020203"/>
              </a:rPr>
              <a:t>The clean data was partitioned into 1,012 training rows and 253 test rows, stratified by app category and North America rating label.</a:t>
            </a:r>
          </a:p>
        </p:txBody>
      </p:sp>
      <p:sp>
        <p:nvSpPr>
          <p:cNvPr id="17" name="AutoShape 17"/>
          <p:cNvSpPr/>
          <p:nvPr/>
        </p:nvSpPr>
        <p:spPr>
          <a:xfrm>
            <a:off x="6591300" y="4622800"/>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718300" y="4686300"/>
            <a:ext cx="501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286090"/>
                </a:solidFill>
                <a:latin typeface="+mn-lt"/>
                <a:ea typeface="Arial" panose="020B0604020202020204"/>
                <a:cs typeface="Arial" panose="020B0604020202020204"/>
                <a:sym typeface="Arial" panose="020B0604020202020204"/>
              </a:rPr>
              <a:t>✅ 0 Validation Errors in Pipeline</a:t>
            </a:r>
            <a:endParaRPr lang="en-US" sz="1100" dirty="0">
              <a:latin typeface="+mn-lt"/>
            </a:endParaRPr>
          </a:p>
          <a:p>
            <a:pPr marL="0" indent="0" algn="l">
              <a:lnSpc>
                <a:spcPct val="108000"/>
              </a:lnSpc>
            </a:pPr>
            <a:r>
              <a:rPr lang="en-US" sz="1300" b="0" i="0" u="none" strike="noStrike" dirty="0">
                <a:solidFill>
                  <a:srgbClr val="595959"/>
                </a:solidFill>
                <a:latin typeface="+mn-lt"/>
                <a:ea typeface="Segoe UI" panose="020B0502040204020203"/>
                <a:cs typeface="Segoe UI" panose="020B0502040204020203"/>
                <a:sym typeface="Segoe UI" panose="020B0502040204020203"/>
              </a:rPr>
              <a:t>All data integrity checks passed without exceptions. Upstream anomalies and conflicts are preserved in audit files for traceability.</a:t>
            </a:r>
          </a:p>
        </p:txBody>
      </p:sp>
      <p:sp>
        <p:nvSpPr>
          <p:cNvPr id="19" name="AutoShape 19"/>
          <p:cNvSpPr/>
          <p:nvPr/>
        </p:nvSpPr>
        <p:spPr>
          <a:xfrm>
            <a:off x="355600" y="6096000"/>
            <a:ext cx="11430000" cy="571500"/>
          </a:xfrm>
          <a:prstGeom prst="roundRect">
            <a:avLst>
              <a:gd name="adj" fmla="val 0"/>
            </a:avLst>
          </a:prstGeom>
          <a:solidFill>
            <a:srgbClr val="F5F5F5">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82600" y="6159500"/>
            <a:ext cx="11176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D93025"/>
                </a:solidFill>
                <a:latin typeface="+mn-lt"/>
                <a:ea typeface="Noto Sans SC" panose="020B0200000000000000" charset="-122"/>
                <a:cs typeface="Noto Sans SC" panose="020B0200000000000000" charset="-122"/>
                <a:sym typeface="Noto Sans SC" panose="020B0200000000000000" charset="-122"/>
              </a:rPr>
              <a:t>Outcome: </a:t>
            </a:r>
            <a:r>
              <a:rPr lang="en-US" sz="1300" dirty="0">
                <a:solidFill>
                  <a:srgbClr val="3C3C3C"/>
                </a:solidFill>
                <a:latin typeface="+mn-lt"/>
                <a:ea typeface="Noto Sans SC" panose="020B0200000000000000" charset="-122"/>
                <a:sym typeface="Noto Sans SC" panose="020B0200000000000000" charset="-122"/>
              </a:rPr>
              <a:t>a fully reproducible cleaned dataset with unified fields, explicit missing-value markers, and auditable exclusion records</a:t>
            </a:r>
            <a:r>
              <a:rPr lang="en-US" sz="1300" b="1" dirty="0">
                <a:solidFill>
                  <a:srgbClr val="D93025"/>
                </a:solidFill>
                <a:latin typeface="+mn-lt"/>
                <a:ea typeface="Noto Sans SC" panose="020B0200000000000000" charset="-122"/>
                <a:sym typeface="Noto Sans SC" panose="020B0200000000000000" charset="-122"/>
              </a:rPr>
              <a:t>.</a:t>
            </a:r>
            <a:endParaRPr lang="en-US" sz="1100" dirty="0">
              <a:latin typeface="+mn-lt"/>
            </a:endParaRPr>
          </a:p>
        </p:txBody>
      </p:sp>
      <p:pic>
        <p:nvPicPr>
          <p:cNvPr id="22" name="Picture 17"/>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cxnSp>
        <p:nvCxnSpPr>
          <p:cNvPr id="23"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sp>
        <p:nvSpPr>
          <p:cNvPr id="27" name="矩形 26"/>
          <p:cNvSpPr>
            <a:spLocks noGrp="1"/>
          </p:cNvSpPr>
          <p:nvPr/>
        </p:nvSpPr>
        <p:spPr>
          <a:xfrm>
            <a:off x="355600" y="1253437"/>
            <a:ext cx="10289001" cy="411384"/>
          </a:xfrm>
          <a:prstGeom prst="rect">
            <a:avLst/>
          </a:prstGeom>
          <a:noFill/>
          <a:ln w="0">
            <a:noFill/>
            <a:prstDash val="solid"/>
          </a:ln>
        </p:spPr>
        <p:txBody>
          <a:bodyPr/>
          <a:lstStyle/>
          <a:p>
            <a:pPr>
              <a:defRPr sz="1125">
                <a:solidFill>
                  <a:srgbClr val="5D6B7A"/>
                </a:solidFill>
                <a:latin typeface="Arial" panose="020B0604020202020204"/>
                <a:ea typeface="Arial" panose="020B0604020202020204"/>
                <a:cs typeface="Arial" panose="020B0604020202020204"/>
              </a:defRPr>
            </a:pPr>
            <a:r>
              <a:rPr lang="en-US" sz="1600" dirty="0">
                <a:solidFill>
                  <a:srgbClr val="1F2329"/>
                </a:solidFill>
              </a:rPr>
              <a:t>Turning raw questionnaire collection records into clean, auditable train/test datasets.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panose="020B0604020202020204"/>
                <a:ea typeface="Arial" panose="020B0604020202020204"/>
                <a:cs typeface="Arial" panose="020B0604020202020204"/>
                <a:sym typeface="Arial" panose="020B0604020202020204"/>
              </a:rPr>
              <a:t>From Raw JSONL to Valid Samples</a:t>
            </a:r>
          </a:p>
        </p:txBody>
      </p:sp>
      <p:sp>
        <p:nvSpPr>
          <p:cNvPr id="43" name="pipeline-card-1"/>
          <p:cNvSpPr>
            <a:spLocks noGrp="1"/>
          </p:cNvSpPr>
          <p:nvPr/>
        </p:nvSpPr>
        <p:spPr>
          <a:xfrm>
            <a:off x="360989" y="1921087"/>
            <a:ext cx="2019600" cy="1020085"/>
          </a:xfrm>
          <a:prstGeom prst="roundRect">
            <a:avLst>
              <a:gd name="adj" fmla="val 7767"/>
            </a:avLst>
          </a:prstGeom>
          <a:solidFill>
            <a:srgbClr val="FFFFFF"/>
          </a:solidFill>
          <a:ln w="11430">
            <a:solidFill>
              <a:srgbClr val="D6E2F0"/>
            </a:solidFill>
            <a:prstDash val="solid"/>
          </a:ln>
        </p:spPr>
        <p:txBody>
          <a:bodyPr lIns="9525" tIns="9525" rIns="9525" bIns="9525">
            <a:norm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pipeline-card-1</a:t>
            </a:r>
          </a:p>
        </p:txBody>
      </p:sp>
      <p:sp>
        <p:nvSpPr>
          <p:cNvPr id="63" name="pipeline-step-1"/>
          <p:cNvSpPr>
            <a:spLocks noGrp="1"/>
          </p:cNvSpPr>
          <p:nvPr/>
        </p:nvSpPr>
        <p:spPr>
          <a:xfrm>
            <a:off x="355600" y="2031987"/>
            <a:ext cx="2007263" cy="171671"/>
          </a:xfrm>
          <a:prstGeom prst="rect">
            <a:avLst/>
          </a:prstGeom>
          <a:noFill/>
          <a:ln w="0">
            <a:noFill/>
            <a:prstDash val="solid"/>
          </a:ln>
        </p:spPr>
        <p:txBody>
          <a:bodyPr lIns="0" tIns="0" rIns="0" bIns="0" anchor="t">
            <a:noAutofit/>
          </a:bodyPr>
          <a:lstStyle/>
          <a:p>
            <a:pPr algn="ctr">
              <a:defRPr sz="975" b="1">
                <a:solidFill>
                  <a:srgbClr val="0072CE"/>
                </a:solidFill>
                <a:latin typeface="Arial" panose="020B0604020202020204"/>
                <a:ea typeface="Arial" panose="020B0604020202020204"/>
                <a:cs typeface="Arial" panose="020B0604020202020204"/>
              </a:defRPr>
            </a:pPr>
            <a:r>
              <a:rPr lang="en-US" altLang="zh-CN" sz="1300" b="1" dirty="0">
                <a:solidFill>
                  <a:srgbClr val="0072CE"/>
                </a:solidFill>
                <a:latin typeface="Arial" panose="020B0604020202020204"/>
                <a:ea typeface="Arial" panose="020B0604020202020204"/>
                <a:cs typeface="Arial" panose="020B0604020202020204"/>
              </a:rPr>
              <a:t>01</a:t>
            </a:r>
            <a:r>
              <a:rPr lang="en-US" sz="1300" b="1" dirty="0">
                <a:solidFill>
                  <a:srgbClr val="0072CE"/>
                </a:solidFill>
                <a:latin typeface="Arial" panose="020B0604020202020204"/>
                <a:ea typeface="Arial" panose="020B0604020202020204"/>
                <a:cs typeface="Arial" panose="020B0604020202020204"/>
              </a:rPr>
              <a:t> </a:t>
            </a:r>
            <a:r>
              <a:rPr lang="en-US" altLang="zh-CN" sz="1300" b="1" dirty="0">
                <a:solidFill>
                  <a:srgbClr val="0072CE"/>
                </a:solidFill>
              </a:rPr>
              <a:t>Source Records</a:t>
            </a:r>
          </a:p>
          <a:p>
            <a:pPr algn="ctr">
              <a:defRPr sz="975" b="1">
                <a:solidFill>
                  <a:srgbClr val="0072CE"/>
                </a:solidFill>
                <a:latin typeface="Arial" panose="020B0604020202020204"/>
                <a:ea typeface="Arial" panose="020B0604020202020204"/>
                <a:cs typeface="Arial" panose="020B0604020202020204"/>
              </a:defRPr>
            </a:pPr>
            <a:endParaRPr sz="1300" b="1" dirty="0">
              <a:solidFill>
                <a:srgbClr val="0072CE"/>
              </a:solidFill>
              <a:latin typeface="Arial" panose="020B0604020202020204"/>
              <a:ea typeface="Arial" panose="020B0604020202020204"/>
              <a:cs typeface="Arial" panose="020B0604020202020204"/>
            </a:endParaRPr>
          </a:p>
        </p:txBody>
      </p:sp>
      <p:sp>
        <p:nvSpPr>
          <p:cNvPr id="65" name="pipeline-body-1"/>
          <p:cNvSpPr>
            <a:spLocks noGrp="1"/>
          </p:cNvSpPr>
          <p:nvPr/>
        </p:nvSpPr>
        <p:spPr>
          <a:xfrm>
            <a:off x="362857" y="2341550"/>
            <a:ext cx="2007263" cy="461730"/>
          </a:xfrm>
          <a:prstGeom prst="rect">
            <a:avLst/>
          </a:prstGeom>
          <a:noFill/>
          <a:ln w="0">
            <a:noFill/>
            <a:prstDash val="solid"/>
          </a:ln>
        </p:spPr>
        <p:txBody>
          <a:bodyPr lIns="0" tIns="0" rIns="0" bIns="0" anchor="t">
            <a:noAutofit/>
          </a:bodyPr>
          <a:lstStyle/>
          <a:p>
            <a:pPr algn="ctr">
              <a:defRPr sz="865" b="0">
                <a:solidFill>
                  <a:srgbClr val="52616F"/>
                </a:solidFill>
                <a:latin typeface="Arial" panose="020B0604020202020204"/>
                <a:ea typeface="Arial" panose="020B0604020202020204"/>
                <a:cs typeface="Arial" panose="020B0604020202020204"/>
              </a:defRPr>
            </a:pPr>
            <a:r>
              <a:rPr lang="en-US" sz="1200" b="0" dirty="0">
                <a:solidFill>
                  <a:srgbClr val="52616F"/>
                </a:solidFill>
                <a:latin typeface="Arial" panose="020B0604020202020204"/>
                <a:ea typeface="Arial" panose="020B0604020202020204"/>
                <a:cs typeface="Arial" panose="020B0604020202020204"/>
              </a:rPr>
              <a:t>questionnaire states + </a:t>
            </a:r>
          </a:p>
          <a:p>
            <a:pPr algn="ctr">
              <a:defRPr sz="865" b="0">
                <a:solidFill>
                  <a:srgbClr val="52616F"/>
                </a:solidFill>
                <a:latin typeface="Arial" panose="020B0604020202020204"/>
                <a:ea typeface="Arial" panose="020B0604020202020204"/>
                <a:cs typeface="Arial" panose="020B0604020202020204"/>
              </a:defRPr>
            </a:pPr>
            <a:r>
              <a:rPr lang="en-US" sz="1200" b="0" dirty="0">
                <a:solidFill>
                  <a:srgbClr val="52616F"/>
                </a:solidFill>
                <a:latin typeface="Arial" panose="020B0604020202020204"/>
                <a:ea typeface="Arial" panose="020B0604020202020204"/>
                <a:cs typeface="Arial" panose="020B0604020202020204"/>
              </a:rPr>
              <a:t>rating outputs</a:t>
            </a:r>
          </a:p>
        </p:txBody>
      </p:sp>
      <p:sp>
        <p:nvSpPr>
          <p:cNvPr id="66" name="pipeline-card-1"/>
          <p:cNvSpPr>
            <a:spLocks noGrp="1"/>
          </p:cNvSpPr>
          <p:nvPr/>
        </p:nvSpPr>
        <p:spPr>
          <a:xfrm>
            <a:off x="2676393" y="1923801"/>
            <a:ext cx="2019600" cy="1020085"/>
          </a:xfrm>
          <a:prstGeom prst="roundRect">
            <a:avLst>
              <a:gd name="adj" fmla="val 7767"/>
            </a:avLst>
          </a:prstGeom>
          <a:solidFill>
            <a:srgbClr val="FFFFFF"/>
          </a:solidFill>
          <a:ln w="11430">
            <a:solidFill>
              <a:srgbClr val="D6E2F0"/>
            </a:solidFill>
            <a:prstDash val="solid"/>
          </a:ln>
        </p:spPr>
        <p:txBody>
          <a:bodyPr lIns="9525" tIns="9525" rIns="9525" bIns="9525">
            <a:normAutofit/>
          </a:bodyPr>
          <a:lstStyle/>
          <a:p>
            <a:pPr>
              <a:defRPr sz="100">
                <a:solidFill>
                  <a:srgbClr val="FFFFFF"/>
                </a:solidFill>
                <a:latin typeface="Arial" panose="020B0604020202020204"/>
                <a:ea typeface="Arial" panose="020B0604020202020204"/>
                <a:cs typeface="Arial" panose="020B0604020202020204"/>
              </a:defRPr>
            </a:pPr>
            <a:r>
              <a:rPr sz="100" dirty="0">
                <a:solidFill>
                  <a:srgbClr val="FFFFFF"/>
                </a:solidFill>
                <a:latin typeface="Arial" panose="020B0604020202020204"/>
                <a:ea typeface="Arial" panose="020B0604020202020204"/>
                <a:cs typeface="Arial" panose="020B0604020202020204"/>
              </a:rPr>
              <a:t>pipeline-card-1</a:t>
            </a:r>
          </a:p>
        </p:txBody>
      </p:sp>
      <p:sp>
        <p:nvSpPr>
          <p:cNvPr id="67" name="pipeline-step-1"/>
          <p:cNvSpPr>
            <a:spLocks noGrp="1"/>
          </p:cNvSpPr>
          <p:nvPr/>
        </p:nvSpPr>
        <p:spPr>
          <a:xfrm>
            <a:off x="2671004" y="2034701"/>
            <a:ext cx="2002798" cy="168957"/>
          </a:xfrm>
          <a:prstGeom prst="rect">
            <a:avLst/>
          </a:prstGeom>
          <a:noFill/>
          <a:ln w="0">
            <a:noFill/>
            <a:prstDash val="solid"/>
          </a:ln>
        </p:spPr>
        <p:txBody>
          <a:bodyPr lIns="0" tIns="0" rIns="0" bIns="0" anchor="t">
            <a:noAutofit/>
          </a:bodyPr>
          <a:lstStyle/>
          <a:p>
            <a:pPr algn="ctr">
              <a:defRPr sz="975" b="1">
                <a:solidFill>
                  <a:srgbClr val="0072CE"/>
                </a:solidFill>
                <a:latin typeface="Arial" panose="020B0604020202020204"/>
                <a:ea typeface="Arial" panose="020B0604020202020204"/>
                <a:cs typeface="Arial" panose="020B0604020202020204"/>
              </a:defRPr>
            </a:pPr>
            <a:r>
              <a:rPr lang="en-US" sz="1300" b="1" dirty="0">
                <a:solidFill>
                  <a:srgbClr val="0072CE"/>
                </a:solidFill>
                <a:latin typeface="Arial" panose="020B0604020202020204"/>
                <a:ea typeface="Arial" panose="020B0604020202020204"/>
                <a:cs typeface="Arial" panose="020B0604020202020204"/>
              </a:rPr>
              <a:t>02 Schema validation</a:t>
            </a:r>
          </a:p>
          <a:p>
            <a:pPr algn="ctr">
              <a:defRPr sz="975" b="1">
                <a:solidFill>
                  <a:srgbClr val="0072CE"/>
                </a:solidFill>
                <a:latin typeface="Arial" panose="020B0604020202020204"/>
                <a:ea typeface="Arial" panose="020B0604020202020204"/>
                <a:cs typeface="Arial" panose="020B0604020202020204"/>
              </a:defRPr>
            </a:pPr>
            <a:endParaRPr sz="1300" b="1" dirty="0">
              <a:solidFill>
                <a:srgbClr val="0072CE"/>
              </a:solidFill>
              <a:latin typeface="Arial" panose="020B0604020202020204"/>
              <a:ea typeface="Arial" panose="020B0604020202020204"/>
              <a:cs typeface="Arial" panose="020B0604020202020204"/>
            </a:endParaRPr>
          </a:p>
        </p:txBody>
      </p:sp>
      <p:sp>
        <p:nvSpPr>
          <p:cNvPr id="68" name="pipeline-body-1"/>
          <p:cNvSpPr>
            <a:spLocks noGrp="1"/>
          </p:cNvSpPr>
          <p:nvPr/>
        </p:nvSpPr>
        <p:spPr>
          <a:xfrm>
            <a:off x="2675791" y="2344264"/>
            <a:ext cx="2002798" cy="461730"/>
          </a:xfrm>
          <a:prstGeom prst="rect">
            <a:avLst/>
          </a:prstGeom>
          <a:noFill/>
          <a:ln w="0">
            <a:noFill/>
            <a:prstDash val="solid"/>
          </a:ln>
        </p:spPr>
        <p:txBody>
          <a:bodyPr lIns="0" tIns="0" rIns="0" bIns="0" anchor="t">
            <a:noAutofit/>
          </a:bodyPr>
          <a:lstStyle/>
          <a:p>
            <a:pPr algn="ctr">
              <a:defRPr sz="865" b="0">
                <a:solidFill>
                  <a:srgbClr val="52616F"/>
                </a:solidFill>
                <a:latin typeface="Arial" panose="020B0604020202020204"/>
                <a:ea typeface="Arial" panose="020B0604020202020204"/>
                <a:cs typeface="Arial" panose="020B0604020202020204"/>
              </a:defRPr>
            </a:pPr>
            <a:r>
              <a:rPr lang="en-US" sz="1200" b="0" dirty="0" err="1">
                <a:solidFill>
                  <a:srgbClr val="52616F"/>
                </a:solidFill>
                <a:latin typeface="Arial" panose="020B0604020202020204"/>
                <a:ea typeface="Arial" panose="020B0604020202020204"/>
                <a:cs typeface="Arial" panose="020B0604020202020204"/>
              </a:rPr>
              <a:t>schemaVersion</a:t>
            </a:r>
            <a:r>
              <a:rPr lang="en-US" sz="1200" b="0" dirty="0">
                <a:solidFill>
                  <a:srgbClr val="52616F"/>
                </a:solidFill>
                <a:latin typeface="Arial" panose="020B0604020202020204"/>
                <a:ea typeface="Arial" panose="020B0604020202020204"/>
                <a:cs typeface="Arial" panose="020B0604020202020204"/>
              </a:rPr>
              <a:t>, </a:t>
            </a:r>
            <a:r>
              <a:rPr lang="en-US" sz="1200" b="0" dirty="0" err="1">
                <a:solidFill>
                  <a:srgbClr val="52616F"/>
                </a:solidFill>
                <a:latin typeface="Arial" panose="020B0604020202020204"/>
                <a:ea typeface="Arial" panose="020B0604020202020204"/>
                <a:cs typeface="Arial" panose="020B0604020202020204"/>
              </a:rPr>
              <a:t>sample_id</a:t>
            </a:r>
            <a:r>
              <a:rPr lang="en-US" sz="1200" b="0" dirty="0">
                <a:solidFill>
                  <a:srgbClr val="52616F"/>
                </a:solidFill>
                <a:latin typeface="Arial" panose="020B0604020202020204"/>
                <a:ea typeface="Arial" panose="020B0604020202020204"/>
                <a:cs typeface="Arial" panose="020B0604020202020204"/>
              </a:rPr>
              <a:t>, category, required fields</a:t>
            </a:r>
          </a:p>
        </p:txBody>
      </p:sp>
      <p:sp>
        <p:nvSpPr>
          <p:cNvPr id="69" name="pipeline-card-1"/>
          <p:cNvSpPr>
            <a:spLocks noGrp="1"/>
          </p:cNvSpPr>
          <p:nvPr/>
        </p:nvSpPr>
        <p:spPr>
          <a:xfrm>
            <a:off x="4989649" y="1921087"/>
            <a:ext cx="2019600" cy="1020085"/>
          </a:xfrm>
          <a:prstGeom prst="roundRect">
            <a:avLst>
              <a:gd name="adj" fmla="val 7767"/>
            </a:avLst>
          </a:prstGeom>
          <a:solidFill>
            <a:srgbClr val="FFFFFF"/>
          </a:solidFill>
          <a:ln w="11430">
            <a:solidFill>
              <a:srgbClr val="D6E2F0"/>
            </a:solidFill>
            <a:prstDash val="solid"/>
          </a:ln>
        </p:spPr>
        <p:txBody>
          <a:bodyPr lIns="9525" tIns="9525" rIns="9525" bIns="9525">
            <a:norm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pipeline-card-1</a:t>
            </a:r>
          </a:p>
        </p:txBody>
      </p:sp>
      <p:sp>
        <p:nvSpPr>
          <p:cNvPr id="70" name="pipeline-step-1"/>
          <p:cNvSpPr>
            <a:spLocks noGrp="1"/>
          </p:cNvSpPr>
          <p:nvPr/>
        </p:nvSpPr>
        <p:spPr>
          <a:xfrm>
            <a:off x="5006277" y="2031987"/>
            <a:ext cx="2019600" cy="171671"/>
          </a:xfrm>
          <a:prstGeom prst="rect">
            <a:avLst/>
          </a:prstGeom>
          <a:noFill/>
          <a:ln w="0">
            <a:noFill/>
            <a:prstDash val="solid"/>
          </a:ln>
        </p:spPr>
        <p:txBody>
          <a:bodyPr lIns="0" tIns="0" rIns="0" bIns="0" anchor="t">
            <a:noAutofit/>
          </a:bodyPr>
          <a:lstStyle/>
          <a:p>
            <a:pPr algn="ctr">
              <a:defRPr sz="975" b="1">
                <a:solidFill>
                  <a:srgbClr val="0072CE"/>
                </a:solidFill>
                <a:latin typeface="Arial" panose="020B0604020202020204"/>
                <a:ea typeface="Arial" panose="020B0604020202020204"/>
                <a:cs typeface="Arial" panose="020B0604020202020204"/>
              </a:defRPr>
            </a:pPr>
            <a:r>
              <a:rPr lang="en-US" sz="1300" b="1" dirty="0">
                <a:solidFill>
                  <a:srgbClr val="0072CE"/>
                </a:solidFill>
                <a:latin typeface="Arial" panose="020B0604020202020204"/>
                <a:ea typeface="Arial" panose="020B0604020202020204"/>
                <a:cs typeface="Arial" panose="020B0604020202020204"/>
              </a:rPr>
              <a:t>03 Answer Consistency</a:t>
            </a:r>
          </a:p>
          <a:p>
            <a:pPr algn="ctr">
              <a:defRPr sz="975" b="1">
                <a:solidFill>
                  <a:srgbClr val="0072CE"/>
                </a:solidFill>
                <a:latin typeface="Arial" panose="020B0604020202020204"/>
                <a:ea typeface="Arial" panose="020B0604020202020204"/>
                <a:cs typeface="Arial" panose="020B0604020202020204"/>
              </a:defRPr>
            </a:pPr>
            <a:endParaRPr sz="1300" b="1" dirty="0">
              <a:solidFill>
                <a:srgbClr val="0072CE"/>
              </a:solidFill>
              <a:latin typeface="Arial" panose="020B0604020202020204"/>
              <a:ea typeface="Arial" panose="020B0604020202020204"/>
              <a:cs typeface="Arial" panose="020B0604020202020204"/>
            </a:endParaRPr>
          </a:p>
        </p:txBody>
      </p:sp>
      <p:sp>
        <p:nvSpPr>
          <p:cNvPr id="71" name="pipeline-body-1"/>
          <p:cNvSpPr>
            <a:spLocks noGrp="1"/>
          </p:cNvSpPr>
          <p:nvPr/>
        </p:nvSpPr>
        <p:spPr>
          <a:xfrm>
            <a:off x="4984260" y="2341550"/>
            <a:ext cx="2019600" cy="461730"/>
          </a:xfrm>
          <a:prstGeom prst="rect">
            <a:avLst/>
          </a:prstGeom>
          <a:noFill/>
          <a:ln w="0">
            <a:noFill/>
            <a:prstDash val="solid"/>
          </a:ln>
        </p:spPr>
        <p:txBody>
          <a:bodyPr lIns="0" tIns="0" rIns="0" bIns="0" anchor="t">
            <a:noAutofit/>
          </a:bodyPr>
          <a:lstStyle/>
          <a:p>
            <a:pPr algn="ctr">
              <a:defRPr sz="865" b="0">
                <a:solidFill>
                  <a:srgbClr val="52616F"/>
                </a:solidFill>
                <a:latin typeface="Arial" panose="020B0604020202020204"/>
                <a:ea typeface="Arial" panose="020B0604020202020204"/>
                <a:cs typeface="Arial" panose="020B0604020202020204"/>
              </a:defRPr>
            </a:pPr>
            <a:r>
              <a:rPr lang="en-US" sz="1200" b="0" dirty="0">
                <a:solidFill>
                  <a:srgbClr val="52616F"/>
                </a:solidFill>
                <a:latin typeface="Arial" panose="020B0604020202020204"/>
                <a:ea typeface="Arial" panose="020B0604020202020204"/>
                <a:cs typeface="Arial" panose="020B0604020202020204"/>
              </a:rPr>
              <a:t>radio/checkbox selections and explicit answers</a:t>
            </a:r>
          </a:p>
        </p:txBody>
      </p:sp>
      <p:sp>
        <p:nvSpPr>
          <p:cNvPr id="72" name="pipeline-card-1"/>
          <p:cNvSpPr>
            <a:spLocks noGrp="1"/>
          </p:cNvSpPr>
          <p:nvPr/>
        </p:nvSpPr>
        <p:spPr>
          <a:xfrm>
            <a:off x="7314920" y="1921087"/>
            <a:ext cx="2019600" cy="1020085"/>
          </a:xfrm>
          <a:prstGeom prst="roundRect">
            <a:avLst>
              <a:gd name="adj" fmla="val 7767"/>
            </a:avLst>
          </a:prstGeom>
          <a:solidFill>
            <a:srgbClr val="FFFFFF"/>
          </a:solidFill>
          <a:ln w="11430">
            <a:solidFill>
              <a:srgbClr val="D6E2F0"/>
            </a:solidFill>
            <a:prstDash val="solid"/>
          </a:ln>
        </p:spPr>
        <p:txBody>
          <a:bodyPr lIns="9525" tIns="9525" rIns="9525" bIns="9525">
            <a:norm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pipeline-card-1</a:t>
            </a:r>
          </a:p>
        </p:txBody>
      </p:sp>
      <p:sp>
        <p:nvSpPr>
          <p:cNvPr id="73" name="pipeline-step-1"/>
          <p:cNvSpPr>
            <a:spLocks noGrp="1"/>
          </p:cNvSpPr>
          <p:nvPr/>
        </p:nvSpPr>
        <p:spPr>
          <a:xfrm>
            <a:off x="7309531" y="2031987"/>
            <a:ext cx="1974399" cy="171671"/>
          </a:xfrm>
          <a:prstGeom prst="rect">
            <a:avLst/>
          </a:prstGeom>
          <a:noFill/>
          <a:ln w="0">
            <a:noFill/>
            <a:prstDash val="solid"/>
          </a:ln>
        </p:spPr>
        <p:txBody>
          <a:bodyPr lIns="0" tIns="0" rIns="0" bIns="0" anchor="t">
            <a:noAutofit/>
          </a:bodyPr>
          <a:lstStyle/>
          <a:p>
            <a:pPr algn="ctr">
              <a:defRPr sz="975" b="1">
                <a:solidFill>
                  <a:srgbClr val="0072CE"/>
                </a:solidFill>
                <a:latin typeface="Arial" panose="020B0604020202020204"/>
                <a:ea typeface="Arial" panose="020B0604020202020204"/>
                <a:cs typeface="Arial" panose="020B0604020202020204"/>
              </a:defRPr>
            </a:pPr>
            <a:r>
              <a:rPr lang="en-US" altLang="zh-CN" sz="1300" b="1" dirty="0">
                <a:solidFill>
                  <a:srgbClr val="0072CE"/>
                </a:solidFill>
                <a:latin typeface="Arial" panose="020B0604020202020204"/>
                <a:ea typeface="Arial" panose="020B0604020202020204"/>
                <a:cs typeface="Arial" panose="020B0604020202020204"/>
              </a:rPr>
              <a:t>0</a:t>
            </a:r>
            <a:r>
              <a:rPr lang="en-US" sz="1300" b="1" dirty="0">
                <a:solidFill>
                  <a:srgbClr val="0072CE"/>
                </a:solidFill>
                <a:latin typeface="Arial" panose="020B0604020202020204"/>
                <a:ea typeface="Arial" panose="020B0604020202020204"/>
                <a:cs typeface="Arial" panose="020B0604020202020204"/>
              </a:rPr>
              <a:t>4 </a:t>
            </a:r>
            <a:r>
              <a:rPr lang="en-US" altLang="zh-CN" sz="1300" b="1" dirty="0">
                <a:solidFill>
                  <a:srgbClr val="0072CE"/>
                </a:solidFill>
              </a:rPr>
              <a:t>Branch Reachability</a:t>
            </a:r>
          </a:p>
          <a:p>
            <a:pPr algn="ctr">
              <a:defRPr sz="975" b="1">
                <a:solidFill>
                  <a:srgbClr val="0072CE"/>
                </a:solidFill>
                <a:latin typeface="Arial" panose="020B0604020202020204"/>
                <a:ea typeface="Arial" panose="020B0604020202020204"/>
                <a:cs typeface="Arial" panose="020B0604020202020204"/>
              </a:defRPr>
            </a:pPr>
            <a:endParaRPr lang="en-US" altLang="zh-CN" sz="1300" b="1" dirty="0">
              <a:solidFill>
                <a:srgbClr val="0072CE"/>
              </a:solidFill>
            </a:endParaRPr>
          </a:p>
          <a:p>
            <a:pPr algn="ctr">
              <a:defRPr sz="975" b="1">
                <a:solidFill>
                  <a:srgbClr val="0072CE"/>
                </a:solidFill>
                <a:latin typeface="Arial" panose="020B0604020202020204"/>
                <a:ea typeface="Arial" panose="020B0604020202020204"/>
                <a:cs typeface="Arial" panose="020B0604020202020204"/>
              </a:defRPr>
            </a:pPr>
            <a:endParaRPr sz="1300" b="1" dirty="0">
              <a:solidFill>
                <a:srgbClr val="0072CE"/>
              </a:solidFill>
              <a:latin typeface="Arial" panose="020B0604020202020204"/>
              <a:ea typeface="Arial" panose="020B0604020202020204"/>
              <a:cs typeface="Arial" panose="020B0604020202020204"/>
            </a:endParaRPr>
          </a:p>
        </p:txBody>
      </p:sp>
      <p:sp>
        <p:nvSpPr>
          <p:cNvPr id="74" name="pipeline-body-1"/>
          <p:cNvSpPr>
            <a:spLocks noGrp="1"/>
          </p:cNvSpPr>
          <p:nvPr/>
        </p:nvSpPr>
        <p:spPr>
          <a:xfrm>
            <a:off x="7320221" y="2341550"/>
            <a:ext cx="2008910" cy="461730"/>
          </a:xfrm>
          <a:prstGeom prst="rect">
            <a:avLst/>
          </a:prstGeom>
          <a:noFill/>
          <a:ln w="0">
            <a:noFill/>
            <a:prstDash val="solid"/>
          </a:ln>
        </p:spPr>
        <p:txBody>
          <a:bodyPr lIns="0" tIns="0" rIns="0" bIns="0" anchor="t">
            <a:noAutofit/>
          </a:bodyPr>
          <a:lstStyle/>
          <a:p>
            <a:pPr algn="ctr">
              <a:defRPr sz="865" b="0">
                <a:solidFill>
                  <a:srgbClr val="52616F"/>
                </a:solidFill>
                <a:latin typeface="Arial" panose="020B0604020202020204"/>
                <a:ea typeface="Arial" panose="020B0604020202020204"/>
                <a:cs typeface="Arial" panose="020B0604020202020204"/>
              </a:defRPr>
            </a:pPr>
            <a:r>
              <a:rPr lang="en-US" sz="1200" b="0" dirty="0">
                <a:solidFill>
                  <a:srgbClr val="52616F"/>
                </a:solidFill>
                <a:latin typeface="Arial" panose="020B0604020202020204"/>
                <a:ea typeface="Arial" panose="020B0604020202020204"/>
                <a:cs typeface="Arial" panose="020B0604020202020204"/>
              </a:rPr>
              <a:t>active branches checked with </a:t>
            </a:r>
            <a:r>
              <a:rPr lang="en-US" sz="1200" b="0" dirty="0" err="1">
                <a:solidFill>
                  <a:srgbClr val="52616F"/>
                </a:solidFill>
                <a:latin typeface="Arial" panose="020B0604020202020204"/>
                <a:ea typeface="Arial" panose="020B0604020202020204"/>
                <a:cs typeface="Arial" panose="020B0604020202020204"/>
              </a:rPr>
              <a:t>question_graph.json</a:t>
            </a:r>
            <a:endParaRPr lang="en-US" sz="1200" b="0" dirty="0">
              <a:solidFill>
                <a:srgbClr val="52616F"/>
              </a:solidFill>
              <a:latin typeface="Arial" panose="020B0604020202020204"/>
              <a:ea typeface="Arial" panose="020B0604020202020204"/>
              <a:cs typeface="Arial" panose="020B0604020202020204"/>
            </a:endParaRPr>
          </a:p>
        </p:txBody>
      </p:sp>
      <p:sp>
        <p:nvSpPr>
          <p:cNvPr id="75" name="pipeline-card-1"/>
          <p:cNvSpPr>
            <a:spLocks noGrp="1"/>
          </p:cNvSpPr>
          <p:nvPr/>
        </p:nvSpPr>
        <p:spPr>
          <a:xfrm>
            <a:off x="9640191" y="1931739"/>
            <a:ext cx="2019600" cy="1020085"/>
          </a:xfrm>
          <a:prstGeom prst="roundRect">
            <a:avLst>
              <a:gd name="adj" fmla="val 7767"/>
            </a:avLst>
          </a:prstGeom>
          <a:solidFill>
            <a:schemeClr val="accent1">
              <a:lumMod val="75000"/>
            </a:schemeClr>
          </a:solidFill>
          <a:ln w="11430">
            <a:solidFill>
              <a:srgbClr val="D6E2F0"/>
            </a:solidFill>
            <a:prstDash val="solid"/>
          </a:ln>
        </p:spPr>
        <p:txBody>
          <a:bodyPr lIns="9525" tIns="9525" rIns="9525" bIns="9525">
            <a:norm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pipeline-card-1</a:t>
            </a:r>
          </a:p>
        </p:txBody>
      </p:sp>
      <p:sp>
        <p:nvSpPr>
          <p:cNvPr id="76" name="pipeline-step-1"/>
          <p:cNvSpPr>
            <a:spLocks noGrp="1"/>
          </p:cNvSpPr>
          <p:nvPr/>
        </p:nvSpPr>
        <p:spPr>
          <a:xfrm>
            <a:off x="9645579" y="2042639"/>
            <a:ext cx="1998045" cy="161019"/>
          </a:xfrm>
          <a:prstGeom prst="rect">
            <a:avLst/>
          </a:prstGeom>
          <a:noFill/>
          <a:ln w="0">
            <a:noFill/>
            <a:prstDash val="solid"/>
          </a:ln>
        </p:spPr>
        <p:txBody>
          <a:bodyPr lIns="0" tIns="0" rIns="0" bIns="0" anchor="t">
            <a:noAutofit/>
          </a:bodyPr>
          <a:lstStyle/>
          <a:p>
            <a:pPr algn="ctr">
              <a:defRPr sz="975" b="1">
                <a:solidFill>
                  <a:srgbClr val="0072CE"/>
                </a:solidFill>
                <a:latin typeface="Arial" panose="020B0604020202020204"/>
                <a:ea typeface="Arial" panose="020B0604020202020204"/>
                <a:cs typeface="Arial" panose="020B0604020202020204"/>
              </a:defRPr>
            </a:pPr>
            <a:r>
              <a:rPr lang="en-US" altLang="zh-CN" sz="1300" b="1" dirty="0">
                <a:solidFill>
                  <a:schemeClr val="bg1"/>
                </a:solidFill>
                <a:latin typeface="Arial" panose="020B0604020202020204"/>
                <a:ea typeface="Arial" panose="020B0604020202020204"/>
                <a:cs typeface="Arial" panose="020B0604020202020204"/>
              </a:rPr>
              <a:t>0</a:t>
            </a:r>
            <a:r>
              <a:rPr lang="en-US" sz="1300" b="1" dirty="0">
                <a:solidFill>
                  <a:schemeClr val="bg1"/>
                </a:solidFill>
                <a:latin typeface="Arial" panose="020B0604020202020204"/>
                <a:ea typeface="Arial" panose="020B0604020202020204"/>
                <a:cs typeface="Arial" panose="020B0604020202020204"/>
              </a:rPr>
              <a:t>5 </a:t>
            </a:r>
            <a:r>
              <a:rPr lang="en-US" altLang="zh-CN" sz="1300" b="1" dirty="0">
                <a:solidFill>
                  <a:schemeClr val="bg1"/>
                </a:solidFill>
              </a:rPr>
              <a:t>Clean samples</a:t>
            </a:r>
          </a:p>
          <a:p>
            <a:pPr algn="ctr">
              <a:defRPr sz="975" b="1">
                <a:solidFill>
                  <a:srgbClr val="0072CE"/>
                </a:solidFill>
                <a:latin typeface="Arial" panose="020B0604020202020204"/>
                <a:ea typeface="Arial" panose="020B0604020202020204"/>
                <a:cs typeface="Arial" panose="020B0604020202020204"/>
              </a:defRPr>
            </a:pPr>
            <a:endParaRPr lang="en-US" altLang="zh-CN" sz="1300" b="1" dirty="0">
              <a:solidFill>
                <a:schemeClr val="bg1"/>
              </a:solidFill>
            </a:endParaRPr>
          </a:p>
          <a:p>
            <a:pPr algn="ctr">
              <a:defRPr sz="975" b="1">
                <a:solidFill>
                  <a:srgbClr val="0072CE"/>
                </a:solidFill>
                <a:latin typeface="Arial" panose="020B0604020202020204"/>
                <a:ea typeface="Arial" panose="020B0604020202020204"/>
                <a:cs typeface="Arial" panose="020B0604020202020204"/>
              </a:defRPr>
            </a:pPr>
            <a:endParaRPr sz="1300" b="1" dirty="0">
              <a:solidFill>
                <a:srgbClr val="0072CE"/>
              </a:solidFill>
              <a:latin typeface="Arial" panose="020B0604020202020204"/>
              <a:ea typeface="Arial" panose="020B0604020202020204"/>
              <a:cs typeface="Arial" panose="020B0604020202020204"/>
            </a:endParaRPr>
          </a:p>
        </p:txBody>
      </p:sp>
      <p:sp>
        <p:nvSpPr>
          <p:cNvPr id="77" name="pipeline-body-1"/>
          <p:cNvSpPr>
            <a:spLocks noGrp="1"/>
          </p:cNvSpPr>
          <p:nvPr/>
        </p:nvSpPr>
        <p:spPr>
          <a:xfrm>
            <a:off x="9645579" y="2352202"/>
            <a:ext cx="2008823" cy="461730"/>
          </a:xfrm>
          <a:prstGeom prst="rect">
            <a:avLst/>
          </a:prstGeom>
          <a:noFill/>
          <a:ln w="0">
            <a:noFill/>
            <a:prstDash val="solid"/>
          </a:ln>
        </p:spPr>
        <p:txBody>
          <a:bodyPr lIns="0" tIns="0" rIns="0" bIns="0" anchor="t">
            <a:noAutofit/>
          </a:bodyPr>
          <a:lstStyle/>
          <a:p>
            <a:pPr algn="ctr">
              <a:defRPr sz="865" b="0">
                <a:solidFill>
                  <a:srgbClr val="52616F"/>
                </a:solidFill>
                <a:latin typeface="Arial" panose="020B0604020202020204"/>
                <a:ea typeface="Arial" panose="020B0604020202020204"/>
                <a:cs typeface="Arial" panose="020B0604020202020204"/>
              </a:defRPr>
            </a:pPr>
            <a:r>
              <a:rPr lang="en-US" sz="1200" b="0" dirty="0">
                <a:solidFill>
                  <a:schemeClr val="bg1"/>
                </a:solidFill>
                <a:latin typeface="Arial" panose="020B0604020202020204"/>
                <a:ea typeface="Arial" panose="020B0604020202020204"/>
                <a:cs typeface="Arial" panose="020B0604020202020204"/>
              </a:rPr>
              <a:t>retained for flattening and train/test split</a:t>
            </a:r>
          </a:p>
        </p:txBody>
      </p:sp>
      <p:sp>
        <p:nvSpPr>
          <p:cNvPr id="78" name="pipeline-arrow-1"/>
          <p:cNvSpPr>
            <a:spLocks noGrp="1"/>
          </p:cNvSpPr>
          <p:nvPr/>
        </p:nvSpPr>
        <p:spPr>
          <a:xfrm>
            <a:off x="2414191" y="2272380"/>
            <a:ext cx="228600" cy="333375"/>
          </a:xfrm>
          <a:prstGeom prst="rect">
            <a:avLst/>
          </a:prstGeom>
          <a:noFill/>
          <a:ln w="0">
            <a:noFill/>
            <a:prstDash val="solid"/>
          </a:ln>
        </p:spPr>
        <p:txBody>
          <a:bodyPr lIns="0" tIns="0" rIns="0" bIns="0" anchor="t">
            <a:normAutofit/>
          </a:bodyPr>
          <a:lstStyle/>
          <a:p>
            <a:pPr algn="ctr">
              <a:defRPr sz="1875" b="1">
                <a:solidFill>
                  <a:srgbClr val="0072CE"/>
                </a:solidFill>
                <a:latin typeface="Arial" panose="020B0604020202020204"/>
                <a:ea typeface="Arial" panose="020B0604020202020204"/>
                <a:cs typeface="Arial" panose="020B0604020202020204"/>
              </a:defRPr>
            </a:pPr>
            <a:r>
              <a:rPr sz="1875" b="1" dirty="0">
                <a:solidFill>
                  <a:srgbClr val="0072CE"/>
                </a:solidFill>
                <a:latin typeface="Arial" panose="020B0604020202020204"/>
                <a:ea typeface="Arial" panose="020B0604020202020204"/>
                <a:cs typeface="Arial" panose="020B0604020202020204"/>
              </a:rPr>
              <a:t>&gt;</a:t>
            </a:r>
          </a:p>
        </p:txBody>
      </p:sp>
      <p:sp>
        <p:nvSpPr>
          <p:cNvPr id="79" name="pipeline-arrow-1"/>
          <p:cNvSpPr>
            <a:spLocks noGrp="1"/>
          </p:cNvSpPr>
          <p:nvPr/>
        </p:nvSpPr>
        <p:spPr>
          <a:xfrm>
            <a:off x="4728993" y="2249692"/>
            <a:ext cx="228600" cy="333375"/>
          </a:xfrm>
          <a:prstGeom prst="rect">
            <a:avLst/>
          </a:prstGeom>
          <a:noFill/>
          <a:ln w="0">
            <a:noFill/>
            <a:prstDash val="solid"/>
          </a:ln>
        </p:spPr>
        <p:txBody>
          <a:bodyPr lIns="0" tIns="0" rIns="0" bIns="0" anchor="t">
            <a:normAutofit/>
          </a:bodyPr>
          <a:lstStyle/>
          <a:p>
            <a:pPr algn="ctr">
              <a:defRPr sz="1875" b="1">
                <a:solidFill>
                  <a:srgbClr val="0072CE"/>
                </a:solidFill>
                <a:latin typeface="Arial" panose="020B0604020202020204"/>
                <a:ea typeface="Arial" panose="020B0604020202020204"/>
                <a:cs typeface="Arial" panose="020B0604020202020204"/>
              </a:defRPr>
            </a:pPr>
            <a:r>
              <a:rPr sz="1875" b="1" dirty="0">
                <a:solidFill>
                  <a:srgbClr val="0072CE"/>
                </a:solidFill>
                <a:latin typeface="Arial" panose="020B0604020202020204"/>
                <a:ea typeface="Arial" panose="020B0604020202020204"/>
                <a:cs typeface="Arial" panose="020B0604020202020204"/>
              </a:rPr>
              <a:t>&gt;</a:t>
            </a:r>
          </a:p>
        </p:txBody>
      </p:sp>
      <p:sp>
        <p:nvSpPr>
          <p:cNvPr id="80" name="pipeline-arrow-1"/>
          <p:cNvSpPr>
            <a:spLocks noGrp="1"/>
          </p:cNvSpPr>
          <p:nvPr/>
        </p:nvSpPr>
        <p:spPr>
          <a:xfrm>
            <a:off x="7050479" y="2264441"/>
            <a:ext cx="228600" cy="333375"/>
          </a:xfrm>
          <a:prstGeom prst="rect">
            <a:avLst/>
          </a:prstGeom>
          <a:noFill/>
          <a:ln w="0">
            <a:noFill/>
            <a:prstDash val="solid"/>
          </a:ln>
        </p:spPr>
        <p:txBody>
          <a:bodyPr lIns="0" tIns="0" rIns="0" bIns="0" anchor="t">
            <a:normAutofit/>
          </a:bodyPr>
          <a:lstStyle/>
          <a:p>
            <a:pPr algn="ctr">
              <a:defRPr sz="1875" b="1">
                <a:solidFill>
                  <a:srgbClr val="0072CE"/>
                </a:solidFill>
                <a:latin typeface="Arial" panose="020B0604020202020204"/>
                <a:ea typeface="Arial" panose="020B0604020202020204"/>
                <a:cs typeface="Arial" panose="020B0604020202020204"/>
              </a:defRPr>
            </a:pPr>
            <a:r>
              <a:rPr sz="1875" b="1" dirty="0">
                <a:solidFill>
                  <a:srgbClr val="0072CE"/>
                </a:solidFill>
                <a:latin typeface="Arial" panose="020B0604020202020204"/>
                <a:ea typeface="Arial" panose="020B0604020202020204"/>
                <a:cs typeface="Arial" panose="020B0604020202020204"/>
              </a:rPr>
              <a:t>&gt;</a:t>
            </a:r>
          </a:p>
        </p:txBody>
      </p:sp>
      <p:sp>
        <p:nvSpPr>
          <p:cNvPr id="81" name="pipeline-arrow-1"/>
          <p:cNvSpPr>
            <a:spLocks noGrp="1"/>
          </p:cNvSpPr>
          <p:nvPr/>
        </p:nvSpPr>
        <p:spPr>
          <a:xfrm>
            <a:off x="9370449" y="2265352"/>
            <a:ext cx="228600" cy="333375"/>
          </a:xfrm>
          <a:prstGeom prst="rect">
            <a:avLst/>
          </a:prstGeom>
          <a:noFill/>
          <a:ln w="0">
            <a:noFill/>
            <a:prstDash val="solid"/>
          </a:ln>
        </p:spPr>
        <p:txBody>
          <a:bodyPr lIns="0" tIns="0" rIns="0" bIns="0" anchor="t">
            <a:normAutofit/>
          </a:bodyPr>
          <a:lstStyle/>
          <a:p>
            <a:pPr algn="ctr">
              <a:defRPr sz="1875" b="1">
                <a:solidFill>
                  <a:srgbClr val="0072CE"/>
                </a:solidFill>
                <a:latin typeface="Arial" panose="020B0604020202020204"/>
                <a:ea typeface="Arial" panose="020B0604020202020204"/>
                <a:cs typeface="Arial" panose="020B0604020202020204"/>
              </a:defRPr>
            </a:pPr>
            <a:r>
              <a:rPr sz="1875" b="1" dirty="0">
                <a:solidFill>
                  <a:srgbClr val="0072CE"/>
                </a:solidFill>
                <a:latin typeface="Arial" panose="020B0604020202020204"/>
                <a:ea typeface="Arial" panose="020B0604020202020204"/>
                <a:cs typeface="Arial" panose="020B0604020202020204"/>
              </a:rPr>
              <a:t>&gt;</a:t>
            </a:r>
          </a:p>
        </p:txBody>
      </p:sp>
      <p:sp>
        <p:nvSpPr>
          <p:cNvPr id="83" name="result-badge"/>
          <p:cNvSpPr>
            <a:spLocks noGrp="1"/>
          </p:cNvSpPr>
          <p:nvPr/>
        </p:nvSpPr>
        <p:spPr>
          <a:xfrm>
            <a:off x="355600" y="3140282"/>
            <a:ext cx="11309580" cy="419100"/>
          </a:xfrm>
          <a:prstGeom prst="roundRect">
            <a:avLst>
              <a:gd name="adj" fmla="val 18182"/>
            </a:avLst>
          </a:prstGeom>
          <a:solidFill>
            <a:srgbClr val="ECF8F2"/>
          </a:solidFill>
          <a:ln w="9525">
            <a:solidFill>
              <a:srgbClr val="A9D8C0"/>
            </a:solidFill>
            <a:prstDash val="solid"/>
          </a:ln>
        </p:spPr>
        <p:txBody>
          <a:bodyPr lIns="9525" tIns="9525" rIns="9525" bIns="9525">
            <a:normAutofit/>
          </a:bodyPr>
          <a:lstStyle/>
          <a:p>
            <a:pPr>
              <a:defRPr sz="100">
                <a:solidFill>
                  <a:srgbClr val="ECF8F2"/>
                </a:solidFill>
                <a:latin typeface="Arial" panose="020B0604020202020204"/>
                <a:ea typeface="Arial" panose="020B0604020202020204"/>
                <a:cs typeface="Arial" panose="020B0604020202020204"/>
              </a:defRPr>
            </a:pPr>
            <a:r>
              <a:rPr sz="100" dirty="0">
                <a:solidFill>
                  <a:srgbClr val="ECF8F2"/>
                </a:solidFill>
                <a:latin typeface="Arial" panose="020B0604020202020204"/>
                <a:ea typeface="Arial" panose="020B0604020202020204"/>
                <a:cs typeface="Arial" panose="020B0604020202020204"/>
              </a:rPr>
              <a:t>result-badge</a:t>
            </a:r>
          </a:p>
        </p:txBody>
      </p:sp>
      <p:sp>
        <p:nvSpPr>
          <p:cNvPr id="84" name="result-badge-value"/>
          <p:cNvSpPr>
            <a:spLocks noGrp="1"/>
          </p:cNvSpPr>
          <p:nvPr/>
        </p:nvSpPr>
        <p:spPr>
          <a:xfrm>
            <a:off x="1082841" y="3234395"/>
            <a:ext cx="10589595" cy="336942"/>
          </a:xfrm>
          <a:prstGeom prst="rect">
            <a:avLst/>
          </a:prstGeom>
          <a:noFill/>
          <a:ln w="0">
            <a:noFill/>
            <a:prstDash val="solid"/>
          </a:ln>
        </p:spPr>
        <p:txBody>
          <a:bodyPr lIns="0" tIns="0" rIns="0" bIns="0" anchor="t">
            <a:normAutofit fontScale="92547"/>
          </a:bodyPr>
          <a:lstStyle/>
          <a:p>
            <a:pPr>
              <a:defRPr sz="1015" b="1">
                <a:solidFill>
                  <a:srgbClr val="003A70"/>
                </a:solidFill>
                <a:latin typeface="Arial" panose="020B0604020202020204"/>
                <a:ea typeface="Arial" panose="020B0604020202020204"/>
                <a:cs typeface="Arial" panose="020B0604020202020204"/>
              </a:defRPr>
            </a:pPr>
            <a:r>
              <a:rPr lang="en-US" sz="1600" b="1" dirty="0">
                <a:solidFill>
                  <a:srgbClr val="003A70"/>
                </a:solidFill>
                <a:latin typeface="Arial" panose="020B0604020202020204"/>
                <a:ea typeface="Arial" panose="020B0604020202020204"/>
                <a:cs typeface="Arial" panose="020B0604020202020204"/>
              </a:rPr>
              <a:t> </a:t>
            </a:r>
            <a:r>
              <a:rPr lang="en-US" altLang="zh-CN" sz="1600" b="1" dirty="0">
                <a:solidFill>
                  <a:srgbClr val="2E7D59"/>
                </a:solidFill>
                <a:latin typeface="Arial" panose="020B0604020202020204"/>
                <a:ea typeface="Arial" panose="020B0604020202020204"/>
                <a:cs typeface="Arial" panose="020B0604020202020204"/>
              </a:rPr>
              <a:t>VALIDATION PASSED</a:t>
            </a:r>
            <a:r>
              <a:rPr lang="en-US" sz="1600" b="1" dirty="0">
                <a:solidFill>
                  <a:srgbClr val="003A70"/>
                </a:solidFill>
                <a:latin typeface="Arial" panose="020B0604020202020204"/>
                <a:ea typeface="Arial" panose="020B0604020202020204"/>
                <a:cs typeface="Arial" panose="020B0604020202020204"/>
              </a:rPr>
              <a:t>: 1,265 retained samples | 0 Task 3 validation errors | 0 unexpected blank output cells</a:t>
            </a:r>
          </a:p>
        </p:txBody>
      </p:sp>
      <p:pic>
        <p:nvPicPr>
          <p:cNvPr id="150" name="Picture 17"/>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cxnSp>
        <p:nvCxnSpPr>
          <p:cNvPr id="151"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sp>
        <p:nvSpPr>
          <p:cNvPr id="153" name="矩形 152"/>
          <p:cNvSpPr>
            <a:spLocks noGrp="1"/>
          </p:cNvSpPr>
          <p:nvPr/>
        </p:nvSpPr>
        <p:spPr>
          <a:xfrm>
            <a:off x="355600" y="1253436"/>
            <a:ext cx="10573657" cy="557215"/>
          </a:xfrm>
          <a:prstGeom prst="rect">
            <a:avLst/>
          </a:prstGeom>
          <a:noFill/>
          <a:ln w="0">
            <a:noFill/>
            <a:prstDash val="solid"/>
          </a:ln>
        </p:spPr>
        <p:txBody>
          <a:bodyPr/>
          <a:lstStyle/>
          <a:p>
            <a:pPr>
              <a:defRPr sz="1125">
                <a:solidFill>
                  <a:srgbClr val="5D6B7A"/>
                </a:solidFill>
                <a:latin typeface="Arial" panose="020B0604020202020204"/>
                <a:ea typeface="Arial" panose="020B0604020202020204"/>
                <a:cs typeface="Arial" panose="020B0604020202020204"/>
              </a:defRPr>
            </a:pPr>
            <a:r>
              <a:rPr lang="en-US" sz="1600" dirty="0">
                <a:solidFill>
                  <a:srgbClr val="1F2329"/>
                </a:solidFill>
              </a:rPr>
              <a:t>Each record is validated against structural schema, answer consistency, branch reachability, and category-specific rating regions.</a:t>
            </a:r>
          </a:p>
        </p:txBody>
      </p:sp>
      <p:sp>
        <p:nvSpPr>
          <p:cNvPr id="50" name="validation-card-1"/>
          <p:cNvSpPr>
            <a:spLocks noGrp="1"/>
          </p:cNvSpPr>
          <p:nvPr/>
        </p:nvSpPr>
        <p:spPr>
          <a:xfrm>
            <a:off x="346974" y="3755778"/>
            <a:ext cx="2695575" cy="2076450"/>
          </a:xfrm>
          <a:prstGeom prst="roundRect">
            <a:avLst>
              <a:gd name="adj" fmla="val 4587"/>
            </a:avLst>
          </a:prstGeom>
          <a:solidFill>
            <a:srgbClr val="FFFFFF">
              <a:alpha val="88000"/>
            </a:srgbClr>
          </a:solidFill>
          <a:ln w="11430">
            <a:solidFill>
              <a:srgbClr val="DCE5F0"/>
            </a:solidFill>
            <a:prstDash val="solid"/>
          </a:ln>
        </p:spPr>
      </p:sp>
      <p:sp>
        <p:nvSpPr>
          <p:cNvPr id="51" name="validation-accent-1"/>
          <p:cNvSpPr>
            <a:spLocks noGrp="1"/>
          </p:cNvSpPr>
          <p:nvPr/>
        </p:nvSpPr>
        <p:spPr>
          <a:xfrm>
            <a:off x="346974" y="3755778"/>
            <a:ext cx="57150" cy="2076450"/>
          </a:xfrm>
          <a:prstGeom prst="rect">
            <a:avLst/>
          </a:prstGeom>
          <a:solidFill>
            <a:srgbClr val="2F5597"/>
          </a:solidFill>
          <a:ln w="0">
            <a:solidFill>
              <a:srgbClr val="2F5597"/>
            </a:solidFill>
            <a:prstDash val="solid"/>
          </a:ln>
        </p:spPr>
      </p:sp>
      <p:sp>
        <p:nvSpPr>
          <p:cNvPr id="52" name="validation-heading-1"/>
          <p:cNvSpPr>
            <a:spLocks noGrp="1"/>
          </p:cNvSpPr>
          <p:nvPr/>
        </p:nvSpPr>
        <p:spPr>
          <a:xfrm>
            <a:off x="537474" y="3927228"/>
            <a:ext cx="2333625" cy="266700"/>
          </a:xfrm>
          <a:prstGeom prst="rect">
            <a:avLst/>
          </a:prstGeom>
          <a:noFill/>
          <a:ln w="0">
            <a:noFill/>
            <a:prstDash val="solid"/>
          </a:ln>
        </p:spPr>
        <p:txBody>
          <a:bodyPr lIns="0" tIns="0" rIns="0" bIns="0" anchor="ctr"/>
          <a:lstStyle/>
          <a:p>
            <a:pPr algn="l">
              <a:lnSpc>
                <a:spcPct val="108000"/>
              </a:lnSpc>
              <a:buNone/>
              <a:defRPr sz="1200" b="1">
                <a:solidFill>
                  <a:srgbClr val="17375E"/>
                </a:solidFill>
                <a:latin typeface="Noto Sans SC" panose="020B0200000000000000" charset="-122"/>
                <a:ea typeface="Noto Sans SC" panose="020B0200000000000000" charset="-122"/>
                <a:cs typeface="Noto Sans SC" panose="020B0200000000000000" charset="-122"/>
              </a:defRPr>
            </a:pPr>
            <a:r>
              <a:rPr sz="1410" b="1" dirty="0">
                <a:solidFill>
                  <a:srgbClr val="17375E"/>
                </a:solidFill>
                <a:latin typeface="Noto Sans SC" panose="020B0200000000000000" charset="-122"/>
                <a:ea typeface="Noto Sans SC" panose="020B0200000000000000" charset="-122"/>
                <a:cs typeface="Noto Sans SC" panose="020B0200000000000000" charset="-122"/>
              </a:rPr>
              <a:t>Structure &amp; Identity</a:t>
            </a:r>
          </a:p>
        </p:txBody>
      </p:sp>
      <p:sp>
        <p:nvSpPr>
          <p:cNvPr id="53" name="validation-body-1"/>
          <p:cNvSpPr>
            <a:spLocks noGrp="1"/>
          </p:cNvSpPr>
          <p:nvPr/>
        </p:nvSpPr>
        <p:spPr>
          <a:xfrm>
            <a:off x="537474" y="4308228"/>
            <a:ext cx="2333625" cy="1257300"/>
          </a:xfrm>
          <a:prstGeom prst="rect">
            <a:avLst/>
          </a:prstGeom>
          <a:noFill/>
          <a:ln w="0">
            <a:noFill/>
            <a:prstDash val="solid"/>
          </a:ln>
        </p:spPr>
        <p:txBody>
          <a:bodyPr lIns="0" tIns="0" rIns="0" bIns="0" anchor="ctr"/>
          <a:lstStyle/>
          <a:p>
            <a:pPr algn="l">
              <a:lnSpc>
                <a:spcPct val="112000"/>
              </a:lnSpc>
              <a:buNone/>
              <a:defRPr sz="960" b="0">
                <a:solidFill>
                  <a:srgbClr val="374151"/>
                </a:solidFill>
                <a:latin typeface="Arial" panose="020B0604020202020204"/>
                <a:ea typeface="Arial" panose="020B0604020202020204"/>
                <a:cs typeface="Arial" panose="020B0604020202020204"/>
              </a:defRPr>
            </a:pPr>
            <a:r>
              <a:rPr lang="en-US" sz="1200" b="0" dirty="0">
                <a:solidFill>
                  <a:srgbClr val="374151"/>
                </a:solidFill>
                <a:latin typeface="Arial" panose="020B0604020202020204"/>
                <a:ea typeface="Arial" panose="020B0604020202020204"/>
                <a:cs typeface="Arial" panose="020B0604020202020204"/>
              </a:rPr>
              <a:t>Checked </a:t>
            </a:r>
            <a:r>
              <a:rPr lang="en-US" sz="1200" b="0" dirty="0" err="1">
                <a:solidFill>
                  <a:srgbClr val="374151"/>
                </a:solidFill>
                <a:latin typeface="Arial" panose="020B0604020202020204"/>
                <a:ea typeface="Arial" panose="020B0604020202020204"/>
                <a:cs typeface="Arial" panose="020B0604020202020204"/>
              </a:rPr>
              <a:t>schemaVersion</a:t>
            </a:r>
            <a:r>
              <a:rPr lang="en-US" sz="1200" b="0" dirty="0">
                <a:solidFill>
                  <a:srgbClr val="374151"/>
                </a:solidFill>
                <a:latin typeface="Arial" panose="020B0604020202020204"/>
                <a:ea typeface="Arial" panose="020B0604020202020204"/>
                <a:cs typeface="Arial" panose="020B0604020202020204"/>
              </a:rPr>
              <a:t> equals 2, non-empty </a:t>
            </a:r>
            <a:r>
              <a:rPr lang="en-US" sz="1200" b="0" dirty="0" err="1">
                <a:solidFill>
                  <a:srgbClr val="374151"/>
                </a:solidFill>
                <a:latin typeface="Arial" panose="020B0604020202020204"/>
                <a:ea typeface="Arial" panose="020B0604020202020204"/>
                <a:cs typeface="Arial" panose="020B0604020202020204"/>
              </a:rPr>
              <a:t>sample_id</a:t>
            </a:r>
            <a:r>
              <a:rPr lang="en-US" sz="1200" b="0" dirty="0">
                <a:solidFill>
                  <a:srgbClr val="374151"/>
                </a:solidFill>
                <a:latin typeface="Arial" panose="020B0604020202020204"/>
                <a:ea typeface="Arial" panose="020B0604020202020204"/>
                <a:cs typeface="Arial" panose="020B0604020202020204"/>
              </a:rPr>
              <a:t>, valid category, and required arrays.</a:t>
            </a:r>
          </a:p>
          <a:p>
            <a:pPr algn="l">
              <a:lnSpc>
                <a:spcPct val="112000"/>
              </a:lnSpc>
              <a:buNone/>
              <a:defRPr sz="960" b="0">
                <a:solidFill>
                  <a:srgbClr val="374151"/>
                </a:solidFill>
                <a:latin typeface="Arial" panose="020B0604020202020204"/>
                <a:ea typeface="Arial" panose="020B0604020202020204"/>
                <a:cs typeface="Arial" panose="020B0604020202020204"/>
              </a:defRPr>
            </a:pPr>
            <a:r>
              <a:rPr sz="1200" b="0" dirty="0">
                <a:solidFill>
                  <a:srgbClr val="374151"/>
                </a:solidFill>
                <a:latin typeface="Arial" panose="020B0604020202020204"/>
                <a:ea typeface="Arial" panose="020B0604020202020204"/>
                <a:cs typeface="Arial" panose="020B0604020202020204"/>
              </a:rPr>
              <a:t>Catches missing IDs, invalid categories, and malformed records.</a:t>
            </a:r>
          </a:p>
        </p:txBody>
      </p:sp>
      <p:sp>
        <p:nvSpPr>
          <p:cNvPr id="54" name="validation-card-2"/>
          <p:cNvSpPr>
            <a:spLocks noGrp="1"/>
          </p:cNvSpPr>
          <p:nvPr/>
        </p:nvSpPr>
        <p:spPr>
          <a:xfrm>
            <a:off x="3213999" y="3755778"/>
            <a:ext cx="2695575" cy="2076450"/>
          </a:xfrm>
          <a:prstGeom prst="roundRect">
            <a:avLst>
              <a:gd name="adj" fmla="val 4587"/>
            </a:avLst>
          </a:prstGeom>
          <a:solidFill>
            <a:srgbClr val="FFFFFF">
              <a:alpha val="88000"/>
            </a:srgbClr>
          </a:solidFill>
          <a:ln w="11430">
            <a:solidFill>
              <a:srgbClr val="DCE5F0"/>
            </a:solidFill>
            <a:prstDash val="solid"/>
          </a:ln>
        </p:spPr>
      </p:sp>
      <p:sp>
        <p:nvSpPr>
          <p:cNvPr id="55" name="validation-accent-2"/>
          <p:cNvSpPr>
            <a:spLocks noGrp="1"/>
          </p:cNvSpPr>
          <p:nvPr/>
        </p:nvSpPr>
        <p:spPr>
          <a:xfrm>
            <a:off x="3213999" y="3755778"/>
            <a:ext cx="57150" cy="2076450"/>
          </a:xfrm>
          <a:prstGeom prst="rect">
            <a:avLst/>
          </a:prstGeom>
          <a:solidFill>
            <a:srgbClr val="4472C4"/>
          </a:solidFill>
          <a:ln w="0">
            <a:solidFill>
              <a:srgbClr val="4472C4"/>
            </a:solidFill>
            <a:prstDash val="solid"/>
          </a:ln>
        </p:spPr>
      </p:sp>
      <p:sp>
        <p:nvSpPr>
          <p:cNvPr id="56" name="validation-heading-2"/>
          <p:cNvSpPr>
            <a:spLocks noGrp="1"/>
          </p:cNvSpPr>
          <p:nvPr/>
        </p:nvSpPr>
        <p:spPr>
          <a:xfrm>
            <a:off x="3404499" y="3927228"/>
            <a:ext cx="2333625" cy="266700"/>
          </a:xfrm>
          <a:prstGeom prst="rect">
            <a:avLst/>
          </a:prstGeom>
          <a:noFill/>
          <a:ln w="0">
            <a:noFill/>
            <a:prstDash val="solid"/>
          </a:ln>
        </p:spPr>
        <p:txBody>
          <a:bodyPr lIns="0" tIns="0" rIns="0" bIns="0" anchor="ctr"/>
          <a:lstStyle/>
          <a:p>
            <a:pPr algn="l">
              <a:lnSpc>
                <a:spcPct val="108000"/>
              </a:lnSpc>
              <a:buNone/>
              <a:defRPr sz="1200" b="1">
                <a:solidFill>
                  <a:srgbClr val="17375E"/>
                </a:solidFill>
                <a:latin typeface="Noto Sans SC" panose="020B0200000000000000" charset="-122"/>
                <a:ea typeface="Noto Sans SC" panose="020B0200000000000000" charset="-122"/>
                <a:cs typeface="Noto Sans SC" panose="020B0200000000000000" charset="-122"/>
              </a:defRPr>
            </a:pPr>
            <a:r>
              <a:rPr sz="1410" b="1" dirty="0">
                <a:solidFill>
                  <a:srgbClr val="17375E"/>
                </a:solidFill>
                <a:latin typeface="Noto Sans SC" panose="020B0200000000000000" charset="-122"/>
                <a:ea typeface="Noto Sans SC" panose="020B0200000000000000" charset="-122"/>
                <a:cs typeface="Noto Sans SC" panose="020B0200000000000000" charset="-122"/>
              </a:rPr>
              <a:t>Answer Consistency</a:t>
            </a:r>
          </a:p>
        </p:txBody>
      </p:sp>
      <p:sp>
        <p:nvSpPr>
          <p:cNvPr id="57" name="validation-body-2"/>
          <p:cNvSpPr>
            <a:spLocks noGrp="1"/>
          </p:cNvSpPr>
          <p:nvPr/>
        </p:nvSpPr>
        <p:spPr>
          <a:xfrm>
            <a:off x="3404499" y="4193928"/>
            <a:ext cx="2333625" cy="1246191"/>
          </a:xfrm>
          <a:prstGeom prst="rect">
            <a:avLst/>
          </a:prstGeom>
          <a:noFill/>
          <a:ln w="0">
            <a:noFill/>
            <a:prstDash val="solid"/>
          </a:ln>
        </p:spPr>
        <p:txBody>
          <a:bodyPr lIns="0" tIns="0" rIns="0" bIns="0" anchor="ctr"/>
          <a:lstStyle/>
          <a:p>
            <a:pPr algn="l">
              <a:lnSpc>
                <a:spcPct val="112000"/>
              </a:lnSpc>
              <a:buNone/>
              <a:defRPr sz="960" b="0">
                <a:solidFill>
                  <a:srgbClr val="374151"/>
                </a:solidFill>
                <a:latin typeface="Arial" panose="020B0604020202020204"/>
                <a:ea typeface="Arial" panose="020B0604020202020204"/>
                <a:cs typeface="Arial" panose="020B0604020202020204"/>
              </a:defRPr>
            </a:pPr>
            <a:r>
              <a:rPr sz="1200" b="0" dirty="0">
                <a:solidFill>
                  <a:srgbClr val="374151"/>
                </a:solidFill>
                <a:latin typeface="Arial" panose="020B0604020202020204"/>
                <a:ea typeface="Arial" panose="020B0604020202020204"/>
                <a:cs typeface="Arial" panose="020B0604020202020204"/>
              </a:rPr>
              <a:t>Radio questions must have one selected option.</a:t>
            </a:r>
          </a:p>
          <a:p>
            <a:pPr algn="l">
              <a:lnSpc>
                <a:spcPct val="112000"/>
              </a:lnSpc>
              <a:buNone/>
              <a:defRPr sz="960" b="0">
                <a:solidFill>
                  <a:srgbClr val="374151"/>
                </a:solidFill>
                <a:latin typeface="Arial" panose="020B0604020202020204"/>
                <a:ea typeface="Arial" panose="020B0604020202020204"/>
                <a:cs typeface="Arial" panose="020B0604020202020204"/>
              </a:defRPr>
            </a:pPr>
            <a:r>
              <a:rPr sz="1200" b="0" dirty="0">
                <a:solidFill>
                  <a:srgbClr val="374151"/>
                </a:solidFill>
                <a:latin typeface="Arial" panose="020B0604020202020204"/>
                <a:ea typeface="Arial" panose="020B0604020202020204"/>
                <a:cs typeface="Arial" panose="020B0604020202020204"/>
              </a:rPr>
              <a:t>Checkbox selections and explicit answers must match the recorded question state.</a:t>
            </a:r>
          </a:p>
        </p:txBody>
      </p:sp>
      <p:sp>
        <p:nvSpPr>
          <p:cNvPr id="58" name="validation-card-3"/>
          <p:cNvSpPr>
            <a:spLocks noGrp="1"/>
          </p:cNvSpPr>
          <p:nvPr/>
        </p:nvSpPr>
        <p:spPr>
          <a:xfrm>
            <a:off x="6081024" y="3755778"/>
            <a:ext cx="2695575" cy="2076450"/>
          </a:xfrm>
          <a:prstGeom prst="roundRect">
            <a:avLst>
              <a:gd name="adj" fmla="val 4587"/>
            </a:avLst>
          </a:prstGeom>
          <a:solidFill>
            <a:srgbClr val="FFFFFF">
              <a:alpha val="88000"/>
            </a:srgbClr>
          </a:solidFill>
          <a:ln w="11430">
            <a:solidFill>
              <a:srgbClr val="DCE5F0"/>
            </a:solidFill>
            <a:prstDash val="solid"/>
          </a:ln>
        </p:spPr>
      </p:sp>
      <p:sp>
        <p:nvSpPr>
          <p:cNvPr id="59" name="validation-accent-3"/>
          <p:cNvSpPr>
            <a:spLocks noGrp="1"/>
          </p:cNvSpPr>
          <p:nvPr/>
        </p:nvSpPr>
        <p:spPr>
          <a:xfrm>
            <a:off x="6081024" y="3755778"/>
            <a:ext cx="57150" cy="2076450"/>
          </a:xfrm>
          <a:prstGeom prst="rect">
            <a:avLst/>
          </a:prstGeom>
          <a:solidFill>
            <a:srgbClr val="ED7D31"/>
          </a:solidFill>
          <a:ln w="0">
            <a:solidFill>
              <a:srgbClr val="ED7D31"/>
            </a:solidFill>
            <a:prstDash val="solid"/>
          </a:ln>
        </p:spPr>
      </p:sp>
      <p:sp>
        <p:nvSpPr>
          <p:cNvPr id="60" name="validation-heading-3"/>
          <p:cNvSpPr>
            <a:spLocks noGrp="1"/>
          </p:cNvSpPr>
          <p:nvPr/>
        </p:nvSpPr>
        <p:spPr>
          <a:xfrm>
            <a:off x="6271524" y="3927228"/>
            <a:ext cx="2333625" cy="266700"/>
          </a:xfrm>
          <a:prstGeom prst="rect">
            <a:avLst/>
          </a:prstGeom>
          <a:noFill/>
          <a:ln w="0">
            <a:noFill/>
            <a:prstDash val="solid"/>
          </a:ln>
        </p:spPr>
        <p:txBody>
          <a:bodyPr lIns="0" tIns="0" rIns="0" bIns="0" anchor="ctr"/>
          <a:lstStyle/>
          <a:p>
            <a:pPr algn="l">
              <a:lnSpc>
                <a:spcPct val="108000"/>
              </a:lnSpc>
              <a:buNone/>
              <a:defRPr sz="1200" b="1">
                <a:solidFill>
                  <a:srgbClr val="17375E"/>
                </a:solidFill>
                <a:latin typeface="Noto Sans SC" panose="020B0200000000000000" charset="-122"/>
                <a:ea typeface="Noto Sans SC" panose="020B0200000000000000" charset="-122"/>
                <a:cs typeface="Noto Sans SC" panose="020B0200000000000000" charset="-122"/>
              </a:defRPr>
            </a:pPr>
            <a:r>
              <a:rPr sz="1410" b="1" dirty="0">
                <a:solidFill>
                  <a:srgbClr val="17375E"/>
                </a:solidFill>
                <a:latin typeface="Noto Sans SC" panose="020B0200000000000000" charset="-122"/>
                <a:ea typeface="Noto Sans SC" panose="020B0200000000000000" charset="-122"/>
                <a:cs typeface="Noto Sans SC" panose="020B0200000000000000" charset="-122"/>
              </a:rPr>
              <a:t>Branch Logic</a:t>
            </a:r>
          </a:p>
        </p:txBody>
      </p:sp>
      <p:sp>
        <p:nvSpPr>
          <p:cNvPr id="61" name="validation-body-3"/>
          <p:cNvSpPr>
            <a:spLocks noGrp="1"/>
          </p:cNvSpPr>
          <p:nvPr/>
        </p:nvSpPr>
        <p:spPr>
          <a:xfrm>
            <a:off x="6261998" y="4308228"/>
            <a:ext cx="2333625" cy="1009918"/>
          </a:xfrm>
          <a:prstGeom prst="rect">
            <a:avLst/>
          </a:prstGeom>
          <a:noFill/>
          <a:ln w="0">
            <a:noFill/>
            <a:prstDash val="solid"/>
          </a:ln>
        </p:spPr>
        <p:txBody>
          <a:bodyPr lIns="0" tIns="0" rIns="0" bIns="0" anchor="ctr"/>
          <a:lstStyle/>
          <a:p>
            <a:pPr algn="l">
              <a:lnSpc>
                <a:spcPct val="112000"/>
              </a:lnSpc>
              <a:buNone/>
              <a:defRPr sz="960" b="0">
                <a:solidFill>
                  <a:srgbClr val="374151"/>
                </a:solidFill>
                <a:latin typeface="Arial" panose="020B0604020202020204"/>
                <a:ea typeface="Arial" panose="020B0604020202020204"/>
                <a:cs typeface="Arial" panose="020B0604020202020204"/>
              </a:defRPr>
            </a:pPr>
            <a:r>
              <a:rPr sz="1200" b="0" dirty="0">
                <a:solidFill>
                  <a:srgbClr val="374151"/>
                </a:solidFill>
                <a:latin typeface="Arial" panose="020B0604020202020204"/>
                <a:ea typeface="Arial" panose="020B0604020202020204"/>
                <a:cs typeface="Arial" panose="020B0604020202020204"/>
              </a:rPr>
              <a:t>Active questions are recomputed from </a:t>
            </a:r>
            <a:r>
              <a:rPr sz="1200" b="0" dirty="0" err="1">
                <a:solidFill>
                  <a:srgbClr val="374151"/>
                </a:solidFill>
                <a:latin typeface="Arial" panose="020B0604020202020204"/>
                <a:ea typeface="Arial" panose="020B0604020202020204"/>
                <a:cs typeface="Arial" panose="020B0604020202020204"/>
              </a:rPr>
              <a:t>question_graph.json</a:t>
            </a:r>
            <a:r>
              <a:rPr sz="1200" b="0" dirty="0">
                <a:solidFill>
                  <a:srgbClr val="374151"/>
                </a:solidFill>
                <a:latin typeface="Arial" panose="020B0604020202020204"/>
                <a:ea typeface="Arial" panose="020B0604020202020204"/>
                <a:cs typeface="Arial" panose="020B0604020202020204"/>
              </a:rPr>
              <a:t>.</a:t>
            </a:r>
          </a:p>
          <a:p>
            <a:pPr algn="l">
              <a:lnSpc>
                <a:spcPct val="112000"/>
              </a:lnSpc>
              <a:buNone/>
              <a:defRPr sz="960" b="0">
                <a:solidFill>
                  <a:srgbClr val="374151"/>
                </a:solidFill>
                <a:latin typeface="Arial" panose="020B0604020202020204"/>
                <a:ea typeface="Arial" panose="020B0604020202020204"/>
                <a:cs typeface="Arial" panose="020B0604020202020204"/>
              </a:defRPr>
            </a:pPr>
            <a:r>
              <a:rPr sz="1200" b="0" dirty="0">
                <a:solidFill>
                  <a:srgbClr val="374151"/>
                </a:solidFill>
                <a:latin typeface="Arial" panose="020B0604020202020204"/>
                <a:ea typeface="Arial" panose="020B0604020202020204"/>
                <a:cs typeface="Arial" panose="020B0604020202020204"/>
              </a:rPr>
              <a:t>Detects skipped child questions and inactive questions mixed into a sample.</a:t>
            </a:r>
          </a:p>
        </p:txBody>
      </p:sp>
      <p:sp>
        <p:nvSpPr>
          <p:cNvPr id="62" name="validation-card-4"/>
          <p:cNvSpPr>
            <a:spLocks noGrp="1"/>
          </p:cNvSpPr>
          <p:nvPr/>
        </p:nvSpPr>
        <p:spPr>
          <a:xfrm>
            <a:off x="8948049" y="3755778"/>
            <a:ext cx="2695575" cy="2076450"/>
          </a:xfrm>
          <a:prstGeom prst="roundRect">
            <a:avLst>
              <a:gd name="adj" fmla="val 4587"/>
            </a:avLst>
          </a:prstGeom>
          <a:solidFill>
            <a:srgbClr val="FFFFFF">
              <a:alpha val="88000"/>
            </a:srgbClr>
          </a:solidFill>
          <a:ln w="11430">
            <a:solidFill>
              <a:srgbClr val="DCE5F0"/>
            </a:solidFill>
            <a:prstDash val="solid"/>
          </a:ln>
        </p:spPr>
      </p:sp>
      <p:sp>
        <p:nvSpPr>
          <p:cNvPr id="64" name="validation-accent-4"/>
          <p:cNvSpPr>
            <a:spLocks noGrp="1"/>
          </p:cNvSpPr>
          <p:nvPr/>
        </p:nvSpPr>
        <p:spPr>
          <a:xfrm>
            <a:off x="8948049" y="3755778"/>
            <a:ext cx="57150" cy="2076450"/>
          </a:xfrm>
          <a:prstGeom prst="rect">
            <a:avLst/>
          </a:prstGeom>
          <a:solidFill>
            <a:srgbClr val="31B66A"/>
          </a:solidFill>
          <a:ln w="0">
            <a:solidFill>
              <a:srgbClr val="31B66A"/>
            </a:solidFill>
            <a:prstDash val="solid"/>
          </a:ln>
        </p:spPr>
      </p:sp>
      <p:sp>
        <p:nvSpPr>
          <p:cNvPr id="82" name="validation-heading-4"/>
          <p:cNvSpPr>
            <a:spLocks noGrp="1"/>
          </p:cNvSpPr>
          <p:nvPr/>
        </p:nvSpPr>
        <p:spPr>
          <a:xfrm>
            <a:off x="9138549" y="3927228"/>
            <a:ext cx="2333625" cy="266700"/>
          </a:xfrm>
          <a:prstGeom prst="rect">
            <a:avLst/>
          </a:prstGeom>
          <a:noFill/>
          <a:ln w="0">
            <a:noFill/>
            <a:prstDash val="solid"/>
          </a:ln>
        </p:spPr>
        <p:txBody>
          <a:bodyPr lIns="0" tIns="0" rIns="0" bIns="0" anchor="ctr"/>
          <a:lstStyle/>
          <a:p>
            <a:pPr algn="l">
              <a:lnSpc>
                <a:spcPct val="108000"/>
              </a:lnSpc>
              <a:buNone/>
              <a:defRPr sz="1200" b="1">
                <a:solidFill>
                  <a:srgbClr val="17375E"/>
                </a:solidFill>
                <a:latin typeface="Noto Sans SC" panose="020B0200000000000000" charset="-122"/>
                <a:ea typeface="Noto Sans SC" panose="020B0200000000000000" charset="-122"/>
                <a:cs typeface="Noto Sans SC" panose="020B0200000000000000" charset="-122"/>
              </a:defRPr>
            </a:pPr>
            <a:r>
              <a:rPr sz="1410" b="1" dirty="0">
                <a:solidFill>
                  <a:srgbClr val="17375E"/>
                </a:solidFill>
                <a:latin typeface="Noto Sans SC" panose="020B0200000000000000" charset="-122"/>
                <a:ea typeface="Noto Sans SC" panose="020B0200000000000000" charset="-122"/>
                <a:cs typeface="Noto Sans SC" panose="020B0200000000000000" charset="-122"/>
              </a:rPr>
              <a:t>Rating Completeness</a:t>
            </a:r>
          </a:p>
        </p:txBody>
      </p:sp>
      <p:sp>
        <p:nvSpPr>
          <p:cNvPr id="85" name="validation-body-4"/>
          <p:cNvSpPr>
            <a:spLocks noGrp="1"/>
          </p:cNvSpPr>
          <p:nvPr/>
        </p:nvSpPr>
        <p:spPr>
          <a:xfrm>
            <a:off x="9138549" y="4308228"/>
            <a:ext cx="2333625" cy="1059114"/>
          </a:xfrm>
          <a:prstGeom prst="rect">
            <a:avLst/>
          </a:prstGeom>
          <a:noFill/>
          <a:ln w="0">
            <a:noFill/>
            <a:prstDash val="solid"/>
          </a:ln>
        </p:spPr>
        <p:txBody>
          <a:bodyPr lIns="0" tIns="0" rIns="0" bIns="0" anchor="ctr"/>
          <a:lstStyle/>
          <a:p>
            <a:pPr algn="l">
              <a:lnSpc>
                <a:spcPct val="112000"/>
              </a:lnSpc>
              <a:buNone/>
              <a:defRPr sz="960" b="0">
                <a:solidFill>
                  <a:srgbClr val="374151"/>
                </a:solidFill>
                <a:latin typeface="Arial" panose="020B0604020202020204"/>
                <a:ea typeface="Arial" panose="020B0604020202020204"/>
                <a:cs typeface="Arial" panose="020B0604020202020204"/>
              </a:defRPr>
            </a:pPr>
            <a:r>
              <a:rPr sz="1200" b="0" dirty="0">
                <a:solidFill>
                  <a:srgbClr val="374151"/>
                </a:solidFill>
                <a:latin typeface="Arial" panose="020B0604020202020204"/>
                <a:ea typeface="Arial" panose="020B0604020202020204"/>
                <a:cs typeface="Arial" panose="020B0604020202020204"/>
              </a:rPr>
              <a:t>Returned rating regions are checked by app category.</a:t>
            </a:r>
          </a:p>
          <a:p>
            <a:pPr algn="l">
              <a:lnSpc>
                <a:spcPct val="112000"/>
              </a:lnSpc>
              <a:buNone/>
              <a:defRPr sz="960" b="0">
                <a:solidFill>
                  <a:srgbClr val="374151"/>
                </a:solidFill>
                <a:latin typeface="Arial" panose="020B0604020202020204"/>
                <a:ea typeface="Arial" panose="020B0604020202020204"/>
                <a:cs typeface="Arial" panose="020B0604020202020204"/>
              </a:defRPr>
            </a:pPr>
            <a:r>
              <a:rPr sz="1200" b="0" dirty="0">
                <a:solidFill>
                  <a:srgbClr val="374151"/>
                </a:solidFill>
                <a:latin typeface="Arial" panose="020B0604020202020204"/>
                <a:ea typeface="Arial" panose="020B0604020202020204"/>
                <a:cs typeface="Arial" panose="020B0604020202020204"/>
              </a:rPr>
              <a:t>Game includes Australia, Saudi Arabia, and Taiwan; non-game categories use common regions.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panose="020B0604020202020204"/>
                <a:ea typeface="Arial" panose="020B0604020202020204"/>
                <a:cs typeface="Arial" panose="020B0604020202020204"/>
                <a:sym typeface="Arial" panose="020B0604020202020204"/>
              </a:rPr>
              <a:t>Making the Dataset Clean and Auditable</a:t>
            </a:r>
            <a:endParaRPr lang="en-US" sz="1100"/>
          </a:p>
        </p:txBody>
      </p:sp>
      <p:sp>
        <p:nvSpPr>
          <p:cNvPr id="4" name="AutoShape 4"/>
          <p:cNvSpPr/>
          <p:nvPr/>
        </p:nvSpPr>
        <p:spPr>
          <a:xfrm>
            <a:off x="508000" y="1689100"/>
            <a:ext cx="3396965" cy="4318000"/>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5" name="AutoShape 5"/>
          <p:cNvSpPr/>
          <p:nvPr/>
        </p:nvSpPr>
        <p:spPr>
          <a:xfrm>
            <a:off x="508001" y="1689100"/>
            <a:ext cx="3396964"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dirty="0">
                <a:solidFill>
                  <a:srgbClr val="D93025"/>
                </a:solidFill>
              </a:rPr>
              <a:t>   </a:t>
            </a:r>
            <a:r>
              <a:rPr lang="en-US" sz="2000" b="1" i="0" u="none" strike="noStrike" dirty="0">
                <a:solidFill>
                  <a:srgbClr val="D93025"/>
                </a:solidFill>
                <a:latin typeface="Arial" panose="020B0604020202020204"/>
                <a:ea typeface="Arial" panose="020B0604020202020204"/>
                <a:cs typeface="Arial" panose="020B0604020202020204"/>
                <a:sym typeface="Arial" panose="020B0604020202020204"/>
              </a:rPr>
              <a:t>🔍 Deduplication</a:t>
            </a:r>
            <a:endParaRPr lang="en-US" sz="1100" dirty="0"/>
          </a:p>
        </p:txBody>
      </p:sp>
      <p:cxnSp>
        <p:nvCxnSpPr>
          <p:cNvPr id="6" name="Connector 6"/>
          <p:cNvCxnSpPr/>
          <p:nvPr/>
        </p:nvCxnSpPr>
        <p:spPr>
          <a:xfrm rot="-9046">
            <a:off x="647711" y="2396274"/>
            <a:ext cx="306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cxnSp>
        <p:nvCxnSpPr>
          <p:cNvPr id="10" name="Connector 10"/>
          <p:cNvCxnSpPr/>
          <p:nvPr/>
        </p:nvCxnSpPr>
        <p:spPr>
          <a:xfrm rot="-9046">
            <a:off x="777743" y="3681920"/>
            <a:ext cx="3060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19" name="AutoShape 19"/>
          <p:cNvSpPr/>
          <p:nvPr/>
        </p:nvSpPr>
        <p:spPr>
          <a:xfrm>
            <a:off x="508000" y="6261100"/>
            <a:ext cx="11353800" cy="381000"/>
          </a:xfrm>
          <a:prstGeom prst="roundRect">
            <a:avLst>
              <a:gd name="adj" fmla="val 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35000" y="6299200"/>
            <a:ext cx="110998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No mean or mode imputation was used. Every structural missing-value marker has a documented meaning.</a:t>
            </a:r>
            <a:endParaRPr lang="en-US" sz="1100" dirty="0"/>
          </a:p>
        </p:txBody>
      </p:sp>
      <p:sp>
        <p:nvSpPr>
          <p:cNvPr id="21" name="AutoShape 4"/>
          <p:cNvSpPr/>
          <p:nvPr/>
        </p:nvSpPr>
        <p:spPr>
          <a:xfrm>
            <a:off x="4459586" y="1689100"/>
            <a:ext cx="3398400" cy="4318000"/>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22" name="AutoShape 4"/>
          <p:cNvSpPr/>
          <p:nvPr/>
        </p:nvSpPr>
        <p:spPr>
          <a:xfrm>
            <a:off x="8412608" y="1689100"/>
            <a:ext cx="3398400" cy="4318000"/>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27" name="AutoShape 5"/>
          <p:cNvSpPr/>
          <p:nvPr/>
        </p:nvSpPr>
        <p:spPr>
          <a:xfrm>
            <a:off x="4461022" y="1689100"/>
            <a:ext cx="3396964"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D93025"/>
                </a:solidFill>
                <a:latin typeface="Arial" panose="020B0604020202020204"/>
                <a:ea typeface="Arial" panose="020B0604020202020204"/>
                <a:cs typeface="Arial" panose="020B0604020202020204"/>
                <a:sym typeface="Arial" panose="020B0604020202020204"/>
              </a:rPr>
              <a:t>   📋 </a:t>
            </a:r>
            <a:r>
              <a:rPr lang="en-US" altLang="zh-CN" sz="2000" b="1" i="0" u="none" strike="noStrike" dirty="0">
                <a:solidFill>
                  <a:srgbClr val="286090"/>
                </a:solidFill>
                <a:latin typeface="Arial" panose="020B0604020202020204"/>
                <a:ea typeface="Arial" panose="020B0604020202020204"/>
                <a:cs typeface="Arial" panose="020B0604020202020204"/>
                <a:sym typeface="Arial" panose="020B0604020202020204"/>
              </a:rPr>
              <a:t>Anomaly Audit</a:t>
            </a:r>
            <a:endParaRPr lang="en-US" sz="1100" dirty="0"/>
          </a:p>
        </p:txBody>
      </p:sp>
      <p:cxnSp>
        <p:nvCxnSpPr>
          <p:cNvPr id="28" name="Connector 6"/>
          <p:cNvCxnSpPr/>
          <p:nvPr/>
        </p:nvCxnSpPr>
        <p:spPr>
          <a:xfrm rot="21590954">
            <a:off x="4600732" y="2396274"/>
            <a:ext cx="306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cxnSp>
        <p:nvCxnSpPr>
          <p:cNvPr id="30" name="Connector 10"/>
          <p:cNvCxnSpPr/>
          <p:nvPr/>
        </p:nvCxnSpPr>
        <p:spPr>
          <a:xfrm rot="21590954">
            <a:off x="4729597" y="3691686"/>
            <a:ext cx="3060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35" name="AutoShape 5"/>
          <p:cNvSpPr/>
          <p:nvPr/>
        </p:nvSpPr>
        <p:spPr>
          <a:xfrm>
            <a:off x="8414044" y="1689100"/>
            <a:ext cx="3396964"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D93025"/>
                </a:solidFill>
                <a:latin typeface="Arial" panose="020B0604020202020204"/>
                <a:ea typeface="Arial" panose="020B0604020202020204"/>
                <a:cs typeface="Arial" panose="020B0604020202020204"/>
                <a:sym typeface="Arial" panose="020B0604020202020204"/>
              </a:rPr>
              <a:t>   🏷 </a:t>
            </a:r>
            <a:r>
              <a:rPr lang="en-US" altLang="zh-CN" sz="2000" b="1" i="0" u="none" strike="noStrike" dirty="0">
                <a:solidFill>
                  <a:srgbClr val="00B050"/>
                </a:solidFill>
                <a:latin typeface="Arial" panose="020B0604020202020204"/>
                <a:ea typeface="Arial" panose="020B0604020202020204"/>
                <a:cs typeface="Arial" panose="020B0604020202020204"/>
                <a:sym typeface="Arial" panose="020B0604020202020204"/>
              </a:rPr>
              <a:t>Missing Values</a:t>
            </a:r>
            <a:endParaRPr lang="en-US" sz="1100" dirty="0"/>
          </a:p>
        </p:txBody>
      </p:sp>
      <p:cxnSp>
        <p:nvCxnSpPr>
          <p:cNvPr id="36" name="Connector 6"/>
          <p:cNvCxnSpPr/>
          <p:nvPr/>
        </p:nvCxnSpPr>
        <p:spPr>
          <a:xfrm rot="21590954">
            <a:off x="8553754" y="2396274"/>
            <a:ext cx="306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cxnSp>
        <p:nvCxnSpPr>
          <p:cNvPr id="37" name="Connector 8"/>
          <p:cNvCxnSpPr/>
          <p:nvPr/>
        </p:nvCxnSpPr>
        <p:spPr>
          <a:xfrm rot="21590954">
            <a:off x="8553754" y="3412274"/>
            <a:ext cx="3060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40" name="矩形 39"/>
          <p:cNvSpPr>
            <a:spLocks noGrp="1"/>
          </p:cNvSpPr>
          <p:nvPr/>
        </p:nvSpPr>
        <p:spPr>
          <a:xfrm>
            <a:off x="777732" y="2506548"/>
            <a:ext cx="2857500" cy="1065098"/>
          </a:xfrm>
          <a:prstGeom prst="rect">
            <a:avLst/>
          </a:prstGeom>
          <a:noFill/>
          <a:ln w="0">
            <a:noFill/>
            <a:prstDash val="solid"/>
          </a:ln>
        </p:spPr>
        <p:txBody>
          <a:bodyPr/>
          <a:lstStyle/>
          <a:p>
            <a:pPr>
              <a:defRPr sz="945">
                <a:solidFill>
                  <a:srgbClr val="5D6B7A"/>
                </a:solidFill>
                <a:latin typeface="Arial" panose="020B0604020202020204"/>
                <a:ea typeface="Arial" panose="020B0604020202020204"/>
                <a:cs typeface="Arial" panose="020B0604020202020204"/>
              </a:defRPr>
            </a:pPr>
            <a:r>
              <a:rPr sz="1600" dirty="0">
                <a:solidFill>
                  <a:srgbClr val="5D6B7A"/>
                </a:solidFill>
                <a:latin typeface="Arial" panose="020B0604020202020204"/>
                <a:ea typeface="Arial" panose="020B0604020202020204"/>
                <a:cs typeface="Arial" panose="020B0604020202020204"/>
              </a:rPr>
              <a:t>Duplicates are identified by the complete questionnaire state, not only by the explicit answer list.</a:t>
            </a:r>
          </a:p>
        </p:txBody>
      </p:sp>
      <p:sp>
        <p:nvSpPr>
          <p:cNvPr id="41" name="矩形 40"/>
          <p:cNvSpPr>
            <a:spLocks noGrp="1"/>
          </p:cNvSpPr>
          <p:nvPr/>
        </p:nvSpPr>
        <p:spPr>
          <a:xfrm>
            <a:off x="777731" y="3863751"/>
            <a:ext cx="2667000" cy="1596212"/>
          </a:xfrm>
          <a:prstGeom prst="rect">
            <a:avLst/>
          </a:prstGeom>
          <a:noFill/>
          <a:ln w="0">
            <a:noFill/>
            <a:prstDash val="solid"/>
          </a:ln>
        </p:spPr>
        <p:txBody>
          <a:bodyPr/>
          <a:lstStyle/>
          <a:p>
            <a:pPr>
              <a:defRPr sz="865">
                <a:solidFill>
                  <a:srgbClr val="13233A"/>
                </a:solidFill>
                <a:latin typeface="Arial" panose="020B0604020202020204"/>
                <a:ea typeface="Arial" panose="020B0604020202020204"/>
                <a:cs typeface="Arial" panose="020B0604020202020204"/>
              </a:defRPr>
            </a:pPr>
            <a:r>
              <a:rPr lang="en-US" sz="1410" dirty="0">
                <a:solidFill>
                  <a:srgbClr val="13233A"/>
                </a:solidFill>
                <a:latin typeface="Arial" panose="020B0604020202020204"/>
                <a:ea typeface="Arial" panose="020B0604020202020204"/>
                <a:cs typeface="Arial" panose="020B0604020202020204"/>
              </a:rPr>
              <a:t>Exact duplicate groups: one record retained per group.</a:t>
            </a:r>
          </a:p>
          <a:p>
            <a:pPr>
              <a:defRPr sz="865">
                <a:solidFill>
                  <a:srgbClr val="13233A"/>
                </a:solidFill>
                <a:latin typeface="Arial" panose="020B0604020202020204"/>
                <a:ea typeface="Arial" panose="020B0604020202020204"/>
                <a:cs typeface="Arial" panose="020B0604020202020204"/>
              </a:defRPr>
            </a:pPr>
            <a:r>
              <a:rPr sz="1410" dirty="0">
                <a:solidFill>
                  <a:srgbClr val="13233A"/>
                </a:solidFill>
                <a:latin typeface="Arial" panose="020B0604020202020204"/>
                <a:ea typeface="Arial" panose="020B0604020202020204"/>
                <a:cs typeface="Arial" panose="020B0604020202020204"/>
              </a:rPr>
              <a:t>Same state with different ratings: whole conflict group excluded</a:t>
            </a:r>
            <a:r>
              <a:rPr lang="en-US" sz="1410" dirty="0">
                <a:solidFill>
                  <a:srgbClr val="13233A"/>
                </a:solidFill>
                <a:latin typeface="Arial" panose="020B0604020202020204"/>
                <a:ea typeface="Arial" panose="020B0604020202020204"/>
                <a:cs typeface="Arial" panose="020B0604020202020204"/>
              </a:rPr>
              <a:t>.</a:t>
            </a:r>
            <a:endParaRPr sz="1410" dirty="0">
              <a:solidFill>
                <a:srgbClr val="13233A"/>
              </a:solidFill>
              <a:latin typeface="Arial" panose="020B0604020202020204"/>
              <a:ea typeface="Arial" panose="020B0604020202020204"/>
              <a:cs typeface="Arial" panose="020B0604020202020204"/>
            </a:endParaRPr>
          </a:p>
          <a:p>
            <a:pPr>
              <a:defRPr sz="865">
                <a:solidFill>
                  <a:srgbClr val="13233A"/>
                </a:solidFill>
                <a:latin typeface="Arial" panose="020B0604020202020204"/>
                <a:ea typeface="Arial" panose="020B0604020202020204"/>
                <a:cs typeface="Arial" panose="020B0604020202020204"/>
              </a:defRPr>
            </a:pPr>
            <a:r>
              <a:rPr sz="1410" dirty="0">
                <a:solidFill>
                  <a:srgbClr val="13233A"/>
                </a:solidFill>
                <a:latin typeface="Arial" panose="020B0604020202020204"/>
                <a:ea typeface="Arial" panose="020B0604020202020204"/>
                <a:cs typeface="Arial" panose="020B0604020202020204"/>
              </a:rPr>
              <a:t>Duplicate key: complete semantic questionnaire state</a:t>
            </a:r>
            <a:r>
              <a:rPr lang="en-US" sz="1410" dirty="0">
                <a:solidFill>
                  <a:srgbClr val="13233A"/>
                </a:solidFill>
                <a:latin typeface="Arial" panose="020B0604020202020204"/>
                <a:ea typeface="Arial" panose="020B0604020202020204"/>
                <a:cs typeface="Arial" panose="020B0604020202020204"/>
              </a:rPr>
              <a:t>.</a:t>
            </a:r>
            <a:endParaRPr sz="1410" dirty="0">
              <a:solidFill>
                <a:srgbClr val="13233A"/>
              </a:solidFill>
              <a:latin typeface="Arial" panose="020B0604020202020204"/>
              <a:ea typeface="Arial" panose="020B0604020202020204"/>
              <a:cs typeface="Arial" panose="020B0604020202020204"/>
            </a:endParaRPr>
          </a:p>
        </p:txBody>
      </p:sp>
      <p:sp>
        <p:nvSpPr>
          <p:cNvPr id="53" name="矩形 52"/>
          <p:cNvSpPr>
            <a:spLocks noGrp="1"/>
          </p:cNvSpPr>
          <p:nvPr/>
        </p:nvSpPr>
        <p:spPr>
          <a:xfrm>
            <a:off x="4729586" y="2500229"/>
            <a:ext cx="2858400" cy="1004544"/>
          </a:xfrm>
          <a:prstGeom prst="rect">
            <a:avLst/>
          </a:prstGeom>
          <a:noFill/>
          <a:ln w="0">
            <a:noFill/>
            <a:prstDash val="solid"/>
          </a:ln>
        </p:spPr>
        <p:txBody>
          <a:bodyPr/>
          <a:lstStyle/>
          <a:p>
            <a:pPr>
              <a:defRPr sz="945">
                <a:solidFill>
                  <a:srgbClr val="5D6B7A"/>
                </a:solidFill>
                <a:latin typeface="Arial" panose="020B0604020202020204"/>
                <a:ea typeface="Arial" panose="020B0604020202020204"/>
                <a:cs typeface="Arial" panose="020B0604020202020204"/>
              </a:defRPr>
            </a:pPr>
            <a:r>
              <a:rPr lang="en-US" sz="1600" dirty="0">
                <a:solidFill>
                  <a:srgbClr val="5D6B7A"/>
                </a:solidFill>
              </a:rPr>
              <a:t>The audit log keeps upstream anomalies visible instead of silently discarding their history.</a:t>
            </a:r>
            <a:endParaRPr lang="en-US" sz="945" dirty="0">
              <a:solidFill>
                <a:srgbClr val="5D6B7A"/>
              </a:solidFill>
              <a:latin typeface="Arial" panose="020B0604020202020204"/>
              <a:ea typeface="Arial" panose="020B0604020202020204"/>
              <a:cs typeface="Arial" panose="020B0604020202020204"/>
            </a:endParaRPr>
          </a:p>
        </p:txBody>
      </p:sp>
      <p:sp>
        <p:nvSpPr>
          <p:cNvPr id="74" name="矩形: 圆角 73"/>
          <p:cNvSpPr>
            <a:spLocks noGrp="1"/>
          </p:cNvSpPr>
          <p:nvPr/>
        </p:nvSpPr>
        <p:spPr>
          <a:xfrm>
            <a:off x="4733925" y="3839503"/>
            <a:ext cx="2777218" cy="323850"/>
          </a:xfrm>
          <a:prstGeom prst="roundRect">
            <a:avLst>
              <a:gd name="adj" fmla="val 23529"/>
            </a:avLst>
          </a:prstGeom>
          <a:solidFill>
            <a:srgbClr val="FFFFFF"/>
          </a:solidFill>
          <a:ln w="9525">
            <a:solidFill>
              <a:srgbClr val="E6B29F"/>
            </a:solidFill>
            <a:prstDash val="solid"/>
          </a:ln>
        </p:spPr>
      </p:sp>
      <p:sp>
        <p:nvSpPr>
          <p:cNvPr id="75" name="矩形 74"/>
          <p:cNvSpPr>
            <a:spLocks noGrp="1"/>
          </p:cNvSpPr>
          <p:nvPr/>
        </p:nvSpPr>
        <p:spPr>
          <a:xfrm>
            <a:off x="4857750" y="3863749"/>
            <a:ext cx="419100" cy="299603"/>
          </a:xfrm>
          <a:prstGeom prst="rect">
            <a:avLst/>
          </a:prstGeom>
          <a:noFill/>
          <a:ln w="0">
            <a:noFill/>
            <a:prstDash val="solid"/>
          </a:ln>
        </p:spPr>
        <p:txBody>
          <a:bodyPr/>
          <a:lstStyle/>
          <a:p>
            <a:pPr algn="ctr">
              <a:defRPr sz="1350" b="1">
                <a:solidFill>
                  <a:srgbClr val="0070C0"/>
                </a:solidFill>
                <a:latin typeface="Arial" panose="020B0604020202020204"/>
                <a:ea typeface="Arial" panose="020B0604020202020204"/>
                <a:cs typeface="Arial" panose="020B0604020202020204"/>
              </a:defRPr>
            </a:pPr>
            <a:r>
              <a:rPr sz="1350" b="1" dirty="0">
                <a:solidFill>
                  <a:srgbClr val="0070C0"/>
                </a:solidFill>
                <a:latin typeface="Arial" panose="020B0604020202020204"/>
                <a:ea typeface="Arial" panose="020B0604020202020204"/>
                <a:cs typeface="Arial" panose="020B0604020202020204"/>
              </a:rPr>
              <a:t>0</a:t>
            </a:r>
          </a:p>
        </p:txBody>
      </p:sp>
      <p:sp>
        <p:nvSpPr>
          <p:cNvPr id="76" name="矩形 75"/>
          <p:cNvSpPr>
            <a:spLocks noGrp="1"/>
          </p:cNvSpPr>
          <p:nvPr/>
        </p:nvSpPr>
        <p:spPr>
          <a:xfrm>
            <a:off x="5276850" y="3872179"/>
            <a:ext cx="2288818" cy="329272"/>
          </a:xfrm>
          <a:prstGeom prst="rect">
            <a:avLst/>
          </a:prstGeom>
          <a:noFill/>
          <a:ln w="0">
            <a:noFill/>
            <a:prstDash val="solid"/>
          </a:ln>
        </p:spPr>
        <p:txBody>
          <a:bodyPr/>
          <a:lstStyle/>
          <a:p>
            <a:pPr>
              <a:defRPr sz="790">
                <a:solidFill>
                  <a:srgbClr val="5D6B7A"/>
                </a:solidFill>
                <a:latin typeface="Arial" panose="020B0604020202020204"/>
                <a:ea typeface="Arial" panose="020B0604020202020204"/>
                <a:cs typeface="Arial" panose="020B0604020202020204"/>
              </a:defRPr>
            </a:pPr>
            <a:r>
              <a:rPr lang="en-US" sz="1100" dirty="0">
                <a:solidFill>
                  <a:srgbClr val="5D6B7A"/>
                </a:solidFill>
                <a:latin typeface="Arial" panose="020B0604020202020204"/>
                <a:ea typeface="Arial" panose="020B0604020202020204"/>
                <a:cs typeface="Arial" panose="020B0604020202020204"/>
              </a:rPr>
              <a:t>newly excluded during cleaning</a:t>
            </a:r>
          </a:p>
        </p:txBody>
      </p:sp>
      <p:sp>
        <p:nvSpPr>
          <p:cNvPr id="77" name="矩形: 圆角 76"/>
          <p:cNvSpPr>
            <a:spLocks noGrp="1"/>
          </p:cNvSpPr>
          <p:nvPr/>
        </p:nvSpPr>
        <p:spPr>
          <a:xfrm>
            <a:off x="4733925" y="4296703"/>
            <a:ext cx="2777218" cy="323850"/>
          </a:xfrm>
          <a:prstGeom prst="roundRect">
            <a:avLst>
              <a:gd name="adj" fmla="val 23529"/>
            </a:avLst>
          </a:prstGeom>
          <a:solidFill>
            <a:srgbClr val="FFFFFF"/>
          </a:solidFill>
          <a:ln w="9525">
            <a:solidFill>
              <a:srgbClr val="E6B29F"/>
            </a:solidFill>
            <a:prstDash val="solid"/>
          </a:ln>
        </p:spPr>
      </p:sp>
      <p:sp>
        <p:nvSpPr>
          <p:cNvPr id="78" name="矩形 77"/>
          <p:cNvSpPr>
            <a:spLocks noGrp="1"/>
          </p:cNvSpPr>
          <p:nvPr/>
        </p:nvSpPr>
        <p:spPr>
          <a:xfrm>
            <a:off x="4857750" y="4301719"/>
            <a:ext cx="419100" cy="313411"/>
          </a:xfrm>
          <a:prstGeom prst="rect">
            <a:avLst/>
          </a:prstGeom>
          <a:noFill/>
          <a:ln w="0">
            <a:noFill/>
            <a:prstDash val="solid"/>
          </a:ln>
        </p:spPr>
        <p:txBody>
          <a:bodyPr/>
          <a:lstStyle/>
          <a:p>
            <a:pPr algn="ctr">
              <a:defRPr sz="1350" b="1">
                <a:solidFill>
                  <a:srgbClr val="0070C0"/>
                </a:solidFill>
                <a:latin typeface="Arial" panose="020B0604020202020204"/>
                <a:ea typeface="Arial" panose="020B0604020202020204"/>
                <a:cs typeface="Arial" panose="020B0604020202020204"/>
              </a:defRPr>
            </a:pPr>
            <a:r>
              <a:rPr sz="1350" b="1" dirty="0">
                <a:solidFill>
                  <a:srgbClr val="0070C0"/>
                </a:solidFill>
                <a:latin typeface="Arial" panose="020B0604020202020204"/>
                <a:ea typeface="Arial" panose="020B0604020202020204"/>
                <a:cs typeface="Arial" panose="020B0604020202020204"/>
              </a:rPr>
              <a:t>30</a:t>
            </a:r>
          </a:p>
        </p:txBody>
      </p:sp>
      <p:sp>
        <p:nvSpPr>
          <p:cNvPr id="79" name="矩形 78"/>
          <p:cNvSpPr>
            <a:spLocks noGrp="1"/>
          </p:cNvSpPr>
          <p:nvPr/>
        </p:nvSpPr>
        <p:spPr>
          <a:xfrm>
            <a:off x="5276850" y="4327119"/>
            <a:ext cx="2181225" cy="293434"/>
          </a:xfrm>
          <a:prstGeom prst="rect">
            <a:avLst/>
          </a:prstGeom>
          <a:noFill/>
          <a:ln w="0">
            <a:noFill/>
            <a:prstDash val="solid"/>
          </a:ln>
        </p:spPr>
        <p:txBody>
          <a:bodyPr/>
          <a:lstStyle/>
          <a:p>
            <a:pPr>
              <a:defRPr sz="790">
                <a:solidFill>
                  <a:srgbClr val="5D6B7A"/>
                </a:solidFill>
                <a:latin typeface="Arial" panose="020B0604020202020204"/>
                <a:ea typeface="Arial" panose="020B0604020202020204"/>
                <a:cs typeface="Arial" panose="020B0604020202020204"/>
              </a:defRPr>
            </a:pPr>
            <a:r>
              <a:rPr sz="1100" dirty="0">
                <a:solidFill>
                  <a:srgbClr val="5D6B7A"/>
                </a:solidFill>
                <a:latin typeface="Arial" panose="020B0604020202020204"/>
                <a:ea typeface="Arial" panose="020B0604020202020204"/>
                <a:cs typeface="Arial" panose="020B0604020202020204"/>
              </a:rPr>
              <a:t>upstream category anomalies</a:t>
            </a:r>
          </a:p>
        </p:txBody>
      </p:sp>
      <p:sp>
        <p:nvSpPr>
          <p:cNvPr id="80" name="矩形: 圆角 79"/>
          <p:cNvSpPr>
            <a:spLocks noGrp="1"/>
          </p:cNvSpPr>
          <p:nvPr/>
        </p:nvSpPr>
        <p:spPr>
          <a:xfrm>
            <a:off x="4733925" y="4753903"/>
            <a:ext cx="2777218" cy="323850"/>
          </a:xfrm>
          <a:prstGeom prst="roundRect">
            <a:avLst>
              <a:gd name="adj" fmla="val 23529"/>
            </a:avLst>
          </a:prstGeom>
          <a:solidFill>
            <a:srgbClr val="FFFFFF"/>
          </a:solidFill>
          <a:ln w="9525">
            <a:solidFill>
              <a:srgbClr val="E6B29F"/>
            </a:solidFill>
            <a:prstDash val="solid"/>
          </a:ln>
        </p:spPr>
      </p:sp>
      <p:sp>
        <p:nvSpPr>
          <p:cNvPr id="81" name="矩形 80"/>
          <p:cNvSpPr>
            <a:spLocks noGrp="1"/>
          </p:cNvSpPr>
          <p:nvPr/>
        </p:nvSpPr>
        <p:spPr>
          <a:xfrm>
            <a:off x="4857750" y="4753901"/>
            <a:ext cx="419100" cy="323851"/>
          </a:xfrm>
          <a:prstGeom prst="rect">
            <a:avLst/>
          </a:prstGeom>
          <a:noFill/>
          <a:ln w="0">
            <a:noFill/>
            <a:prstDash val="solid"/>
          </a:ln>
        </p:spPr>
        <p:txBody>
          <a:bodyPr/>
          <a:lstStyle/>
          <a:p>
            <a:pPr algn="ctr">
              <a:defRPr sz="1350" b="1">
                <a:solidFill>
                  <a:srgbClr val="0070C0"/>
                </a:solidFill>
                <a:latin typeface="Arial" panose="020B0604020202020204"/>
                <a:ea typeface="Arial" panose="020B0604020202020204"/>
                <a:cs typeface="Arial" panose="020B0604020202020204"/>
              </a:defRPr>
            </a:pPr>
            <a:r>
              <a:rPr sz="1350" b="1" dirty="0">
                <a:solidFill>
                  <a:srgbClr val="0070C0"/>
                </a:solidFill>
                <a:latin typeface="Arial" panose="020B0604020202020204"/>
                <a:ea typeface="Arial" panose="020B0604020202020204"/>
                <a:cs typeface="Arial" panose="020B0604020202020204"/>
              </a:rPr>
              <a:t>13</a:t>
            </a:r>
          </a:p>
        </p:txBody>
      </p:sp>
      <p:sp>
        <p:nvSpPr>
          <p:cNvPr id="82" name="矩形 81"/>
          <p:cNvSpPr>
            <a:spLocks noGrp="1"/>
          </p:cNvSpPr>
          <p:nvPr/>
        </p:nvSpPr>
        <p:spPr>
          <a:xfrm>
            <a:off x="5276850" y="4775200"/>
            <a:ext cx="2076450" cy="302553"/>
          </a:xfrm>
          <a:prstGeom prst="rect">
            <a:avLst/>
          </a:prstGeom>
          <a:noFill/>
          <a:ln w="0">
            <a:noFill/>
            <a:prstDash val="solid"/>
          </a:ln>
        </p:spPr>
        <p:txBody>
          <a:bodyPr/>
          <a:lstStyle/>
          <a:p>
            <a:pPr>
              <a:defRPr sz="790">
                <a:solidFill>
                  <a:srgbClr val="5D6B7A"/>
                </a:solidFill>
                <a:latin typeface="Arial" panose="020B0604020202020204"/>
                <a:ea typeface="Arial" panose="020B0604020202020204"/>
                <a:cs typeface="Arial" panose="020B0604020202020204"/>
              </a:defRPr>
            </a:pPr>
            <a:r>
              <a:rPr sz="1100" dirty="0">
                <a:solidFill>
                  <a:srgbClr val="5D6B7A"/>
                </a:solidFill>
                <a:latin typeface="Arial" panose="020B0604020202020204"/>
                <a:ea typeface="Arial" panose="020B0604020202020204"/>
                <a:cs typeface="Arial" panose="020B0604020202020204"/>
              </a:rPr>
              <a:t>upstream rating conflicts</a:t>
            </a:r>
          </a:p>
        </p:txBody>
      </p:sp>
      <p:sp>
        <p:nvSpPr>
          <p:cNvPr id="83" name="矩形: 圆角 82"/>
          <p:cNvSpPr>
            <a:spLocks noGrp="1"/>
          </p:cNvSpPr>
          <p:nvPr/>
        </p:nvSpPr>
        <p:spPr>
          <a:xfrm>
            <a:off x="4733924" y="5287303"/>
            <a:ext cx="2443390" cy="323850"/>
          </a:xfrm>
          <a:prstGeom prst="roundRect">
            <a:avLst>
              <a:gd name="adj" fmla="val 33333"/>
            </a:avLst>
          </a:prstGeom>
          <a:solidFill>
            <a:srgbClr val="FFFFFF"/>
          </a:solidFill>
          <a:ln w="9525">
            <a:solidFill>
              <a:srgbClr val="C44E28"/>
            </a:solidFill>
            <a:prstDash val="solid"/>
          </a:ln>
        </p:spPr>
        <p:txBody>
          <a:bodyPr anchor="ctr"/>
          <a:lstStyle/>
          <a:p>
            <a:pPr algn="ctr">
              <a:defRPr sz="750" b="1">
                <a:solidFill>
                  <a:srgbClr val="C44E28"/>
                </a:solidFill>
                <a:latin typeface="Arial" panose="020B0604020202020204"/>
                <a:ea typeface="Arial" panose="020B0604020202020204"/>
                <a:cs typeface="Arial" panose="020B0604020202020204"/>
              </a:defRPr>
            </a:pPr>
            <a:r>
              <a:rPr sz="1100" b="1" dirty="0">
                <a:solidFill>
                  <a:srgbClr val="C44E28"/>
                </a:solidFill>
                <a:latin typeface="Arial" panose="020B0604020202020204"/>
                <a:ea typeface="Arial" panose="020B0604020202020204"/>
                <a:cs typeface="Arial" panose="020B0604020202020204"/>
              </a:rPr>
              <a:t>Audit file: excluded_samples.csv</a:t>
            </a:r>
          </a:p>
        </p:txBody>
      </p:sp>
      <p:sp>
        <p:nvSpPr>
          <p:cNvPr id="92" name="矩形 91"/>
          <p:cNvSpPr>
            <a:spLocks noGrp="1"/>
          </p:cNvSpPr>
          <p:nvPr/>
        </p:nvSpPr>
        <p:spPr>
          <a:xfrm>
            <a:off x="8632968" y="2500229"/>
            <a:ext cx="2781300" cy="882619"/>
          </a:xfrm>
          <a:prstGeom prst="rect">
            <a:avLst/>
          </a:prstGeom>
          <a:noFill/>
          <a:ln w="0">
            <a:noFill/>
            <a:prstDash val="solid"/>
          </a:ln>
        </p:spPr>
        <p:txBody>
          <a:bodyPr/>
          <a:lstStyle/>
          <a:p>
            <a:pPr>
              <a:defRPr sz="945">
                <a:solidFill>
                  <a:srgbClr val="5D6B7A"/>
                </a:solidFill>
                <a:latin typeface="Arial" panose="020B0604020202020204"/>
                <a:ea typeface="Arial" panose="020B0604020202020204"/>
                <a:cs typeface="Arial" panose="020B0604020202020204"/>
              </a:defRPr>
            </a:pPr>
            <a:r>
              <a:rPr sz="1600" dirty="0">
                <a:solidFill>
                  <a:srgbClr val="5D6B7A"/>
                </a:solidFill>
                <a:latin typeface="Arial" panose="020B0604020202020204"/>
                <a:ea typeface="Arial" panose="020B0604020202020204"/>
                <a:cs typeface="Arial" panose="020B0604020202020204"/>
              </a:rPr>
              <a:t>Missingness is structural, so it is marked explicitly rather than statistically imputed.</a:t>
            </a:r>
          </a:p>
        </p:txBody>
      </p:sp>
      <p:sp>
        <p:nvSpPr>
          <p:cNvPr id="93" name="矩形 92"/>
          <p:cNvSpPr>
            <a:spLocks noGrp="1"/>
          </p:cNvSpPr>
          <p:nvPr/>
        </p:nvSpPr>
        <p:spPr>
          <a:xfrm>
            <a:off x="8606873" y="3573460"/>
            <a:ext cx="1600200" cy="190500"/>
          </a:xfrm>
          <a:prstGeom prst="rect">
            <a:avLst/>
          </a:prstGeom>
          <a:noFill/>
          <a:ln w="0">
            <a:noFill/>
            <a:prstDash val="solid"/>
          </a:ln>
        </p:spPr>
        <p:txBody>
          <a:bodyPr/>
          <a:lstStyle/>
          <a:p>
            <a:pPr>
              <a:defRPr sz="810" b="1">
                <a:solidFill>
                  <a:srgbClr val="0070C0"/>
                </a:solidFill>
                <a:latin typeface="Courier New" panose="02070309020205020404"/>
                <a:ea typeface="Courier New" panose="02070309020205020404"/>
                <a:cs typeface="Courier New" panose="02070309020205020404"/>
              </a:defRPr>
            </a:pPr>
            <a:r>
              <a:rPr sz="1100" b="1" dirty="0">
                <a:solidFill>
                  <a:srgbClr val="0070C0"/>
                </a:solidFill>
                <a:latin typeface="Courier New" panose="02070309020205020404"/>
                <a:ea typeface="Courier New" panose="02070309020205020404"/>
                <a:cs typeface="Courier New" panose="02070309020205020404"/>
              </a:rPr>
              <a:t>__INACTIVE__</a:t>
            </a:r>
          </a:p>
        </p:txBody>
      </p:sp>
      <p:sp>
        <p:nvSpPr>
          <p:cNvPr id="94" name="矩形 93"/>
          <p:cNvSpPr>
            <a:spLocks noGrp="1"/>
          </p:cNvSpPr>
          <p:nvPr/>
        </p:nvSpPr>
        <p:spPr>
          <a:xfrm>
            <a:off x="10261598" y="3573460"/>
            <a:ext cx="1549409" cy="399826"/>
          </a:xfrm>
          <a:prstGeom prst="rect">
            <a:avLst/>
          </a:prstGeom>
          <a:noFill/>
          <a:ln w="0">
            <a:noFill/>
            <a:prstDash val="solid"/>
          </a:ln>
        </p:spPr>
        <p:txBody>
          <a:bodyPr/>
          <a:lstStyle/>
          <a:p>
            <a:pPr>
              <a:defRPr sz="720">
                <a:solidFill>
                  <a:srgbClr val="5D6B7A"/>
                </a:solidFill>
                <a:latin typeface="Arial" panose="020B0604020202020204"/>
                <a:ea typeface="Arial" panose="020B0604020202020204"/>
                <a:cs typeface="Arial" panose="020B0604020202020204"/>
              </a:defRPr>
            </a:pPr>
            <a:r>
              <a:rPr sz="1100" dirty="0">
                <a:solidFill>
                  <a:srgbClr val="5D6B7A"/>
                </a:solidFill>
                <a:latin typeface="Arial" panose="020B0604020202020204"/>
                <a:ea typeface="Arial" panose="020B0604020202020204"/>
                <a:cs typeface="Arial" panose="020B0604020202020204"/>
              </a:rPr>
              <a:t>branch not activated</a:t>
            </a:r>
          </a:p>
        </p:txBody>
      </p:sp>
      <p:sp>
        <p:nvSpPr>
          <p:cNvPr id="95" name="矩形 94"/>
          <p:cNvSpPr>
            <a:spLocks noGrp="1"/>
          </p:cNvSpPr>
          <p:nvPr/>
        </p:nvSpPr>
        <p:spPr>
          <a:xfrm>
            <a:off x="8498114" y="3973510"/>
            <a:ext cx="1708959" cy="209662"/>
          </a:xfrm>
          <a:prstGeom prst="rect">
            <a:avLst/>
          </a:prstGeom>
          <a:noFill/>
          <a:ln w="0">
            <a:noFill/>
            <a:prstDash val="solid"/>
          </a:ln>
        </p:spPr>
        <p:txBody>
          <a:bodyPr/>
          <a:lstStyle/>
          <a:p>
            <a:pPr>
              <a:defRPr sz="810" b="1">
                <a:solidFill>
                  <a:srgbClr val="0070C0"/>
                </a:solidFill>
                <a:latin typeface="Courier New" panose="02070309020205020404"/>
                <a:ea typeface="Courier New" panose="02070309020205020404"/>
                <a:cs typeface="Courier New" panose="02070309020205020404"/>
              </a:defRPr>
            </a:pPr>
            <a:r>
              <a:rPr sz="1100" b="1" dirty="0">
                <a:solidFill>
                  <a:srgbClr val="0070C0"/>
                </a:solidFill>
                <a:latin typeface="Courier New" panose="02070309020205020404"/>
                <a:ea typeface="Courier New" panose="02070309020205020404"/>
                <a:cs typeface="Courier New" panose="02070309020205020404"/>
              </a:rPr>
              <a:t>__NOT_APPLICABLE__</a:t>
            </a:r>
          </a:p>
        </p:txBody>
      </p:sp>
      <p:sp>
        <p:nvSpPr>
          <p:cNvPr id="96" name="矩形 95"/>
          <p:cNvSpPr>
            <a:spLocks noGrp="1"/>
          </p:cNvSpPr>
          <p:nvPr/>
        </p:nvSpPr>
        <p:spPr>
          <a:xfrm>
            <a:off x="10261599" y="3908420"/>
            <a:ext cx="1549409" cy="381000"/>
          </a:xfrm>
          <a:prstGeom prst="rect">
            <a:avLst/>
          </a:prstGeom>
          <a:noFill/>
          <a:ln w="0">
            <a:noFill/>
            <a:prstDash val="solid"/>
          </a:ln>
        </p:spPr>
        <p:txBody>
          <a:bodyPr/>
          <a:lstStyle/>
          <a:p>
            <a:pPr>
              <a:defRPr sz="720">
                <a:solidFill>
                  <a:srgbClr val="5D6B7A"/>
                </a:solidFill>
                <a:latin typeface="Arial" panose="020B0604020202020204"/>
                <a:ea typeface="Arial" panose="020B0604020202020204"/>
                <a:cs typeface="Arial" panose="020B0604020202020204"/>
              </a:defRPr>
            </a:pPr>
            <a:r>
              <a:rPr sz="1100" dirty="0">
                <a:solidFill>
                  <a:srgbClr val="5D6B7A"/>
                </a:solidFill>
                <a:latin typeface="Arial" panose="020B0604020202020204"/>
                <a:ea typeface="Arial" panose="020B0604020202020204"/>
                <a:cs typeface="Arial" panose="020B0604020202020204"/>
              </a:rPr>
              <a:t>category or region not applicable</a:t>
            </a:r>
          </a:p>
        </p:txBody>
      </p:sp>
      <p:sp>
        <p:nvSpPr>
          <p:cNvPr id="97" name="矩形 96"/>
          <p:cNvSpPr>
            <a:spLocks noGrp="1"/>
          </p:cNvSpPr>
          <p:nvPr/>
        </p:nvSpPr>
        <p:spPr>
          <a:xfrm>
            <a:off x="8606873" y="4373560"/>
            <a:ext cx="1600200" cy="190500"/>
          </a:xfrm>
          <a:prstGeom prst="rect">
            <a:avLst/>
          </a:prstGeom>
          <a:noFill/>
          <a:ln w="0">
            <a:noFill/>
            <a:prstDash val="solid"/>
          </a:ln>
        </p:spPr>
        <p:txBody>
          <a:bodyPr/>
          <a:lstStyle/>
          <a:p>
            <a:pPr>
              <a:defRPr sz="810" b="1">
                <a:solidFill>
                  <a:srgbClr val="0070C0"/>
                </a:solidFill>
                <a:latin typeface="Courier New" panose="02070309020205020404"/>
                <a:ea typeface="Courier New" panose="02070309020205020404"/>
                <a:cs typeface="Courier New" panose="02070309020205020404"/>
              </a:defRPr>
            </a:pPr>
            <a:r>
              <a:rPr sz="1100" b="1" dirty="0">
                <a:solidFill>
                  <a:srgbClr val="0070C0"/>
                </a:solidFill>
                <a:latin typeface="Courier New" panose="02070309020205020404"/>
                <a:ea typeface="Courier New" panose="02070309020205020404"/>
                <a:cs typeface="Courier New" panose="02070309020205020404"/>
              </a:rPr>
              <a:t>__NONE__</a:t>
            </a:r>
          </a:p>
        </p:txBody>
      </p:sp>
      <p:sp>
        <p:nvSpPr>
          <p:cNvPr id="98" name="矩形 97"/>
          <p:cNvSpPr>
            <a:spLocks noGrp="1"/>
          </p:cNvSpPr>
          <p:nvPr/>
        </p:nvSpPr>
        <p:spPr>
          <a:xfrm>
            <a:off x="10261597" y="4373336"/>
            <a:ext cx="1549411" cy="355712"/>
          </a:xfrm>
          <a:prstGeom prst="rect">
            <a:avLst/>
          </a:prstGeom>
          <a:noFill/>
          <a:ln w="0">
            <a:noFill/>
            <a:prstDash val="solid"/>
          </a:ln>
        </p:spPr>
        <p:txBody>
          <a:bodyPr/>
          <a:lstStyle/>
          <a:p>
            <a:pPr>
              <a:defRPr sz="720">
                <a:solidFill>
                  <a:srgbClr val="5D6B7A"/>
                </a:solidFill>
                <a:latin typeface="Arial" panose="020B0604020202020204"/>
                <a:ea typeface="Arial" panose="020B0604020202020204"/>
                <a:cs typeface="Arial" panose="020B0604020202020204"/>
              </a:defRPr>
            </a:pPr>
            <a:r>
              <a:rPr sz="1100" dirty="0">
                <a:solidFill>
                  <a:srgbClr val="5D6B7A"/>
                </a:solidFill>
                <a:latin typeface="Arial" panose="020B0604020202020204"/>
                <a:ea typeface="Arial" panose="020B0604020202020204"/>
                <a:cs typeface="Arial" panose="020B0604020202020204"/>
              </a:rPr>
              <a:t>active checkbox with no selected option</a:t>
            </a:r>
          </a:p>
        </p:txBody>
      </p:sp>
      <p:sp>
        <p:nvSpPr>
          <p:cNvPr id="99" name="矩形: 圆角 98"/>
          <p:cNvSpPr>
            <a:spLocks noGrp="1"/>
          </p:cNvSpPr>
          <p:nvPr/>
        </p:nvSpPr>
        <p:spPr>
          <a:xfrm>
            <a:off x="8632968" y="4914900"/>
            <a:ext cx="2179574" cy="323850"/>
          </a:xfrm>
          <a:prstGeom prst="roundRect">
            <a:avLst>
              <a:gd name="adj" fmla="val 33333"/>
            </a:avLst>
          </a:prstGeom>
          <a:solidFill>
            <a:srgbClr val="FFFFFF"/>
          </a:solidFill>
          <a:ln w="9525">
            <a:solidFill>
              <a:srgbClr val="1B7F5A"/>
            </a:solidFill>
            <a:prstDash val="solid"/>
          </a:ln>
        </p:spPr>
        <p:txBody>
          <a:bodyPr anchor="ctr"/>
          <a:lstStyle/>
          <a:p>
            <a:pPr algn="ctr">
              <a:defRPr sz="750" b="1">
                <a:solidFill>
                  <a:srgbClr val="1B7F5A"/>
                </a:solidFill>
                <a:latin typeface="Arial" panose="020B0604020202020204"/>
                <a:ea typeface="Arial" panose="020B0604020202020204"/>
                <a:cs typeface="Arial" panose="020B0604020202020204"/>
              </a:defRPr>
            </a:pPr>
            <a:r>
              <a:rPr sz="1100" b="1" dirty="0">
                <a:solidFill>
                  <a:srgbClr val="1B7F5A"/>
                </a:solidFill>
                <a:latin typeface="Arial" panose="020B0604020202020204"/>
                <a:ea typeface="Arial" panose="020B0604020202020204"/>
                <a:cs typeface="Arial" panose="020B0604020202020204"/>
              </a:rPr>
              <a:t>Unexpected blank cells: 0</a:t>
            </a:r>
          </a:p>
        </p:txBody>
      </p:sp>
      <p:cxnSp>
        <p:nvCxnSpPr>
          <p:cNvPr id="100"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01" name="Picture 17"/>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sp>
        <p:nvSpPr>
          <p:cNvPr id="104" name="矩形 103"/>
          <p:cNvSpPr>
            <a:spLocks noGrp="1"/>
          </p:cNvSpPr>
          <p:nvPr/>
        </p:nvSpPr>
        <p:spPr>
          <a:xfrm>
            <a:off x="355600" y="1253437"/>
            <a:ext cx="11154229" cy="411384"/>
          </a:xfrm>
          <a:prstGeom prst="rect">
            <a:avLst/>
          </a:prstGeom>
          <a:noFill/>
          <a:ln w="0">
            <a:noFill/>
            <a:prstDash val="solid"/>
          </a:ln>
        </p:spPr>
        <p:txBody>
          <a:bodyPr/>
          <a:lstStyle/>
          <a:p>
            <a:pPr>
              <a:defRPr sz="1125">
                <a:solidFill>
                  <a:srgbClr val="5D6B7A"/>
                </a:solidFill>
                <a:latin typeface="Arial" panose="020B0604020202020204"/>
                <a:ea typeface="Arial" panose="020B0604020202020204"/>
                <a:cs typeface="Arial" panose="020B0604020202020204"/>
              </a:defRPr>
            </a:pPr>
            <a:r>
              <a:rPr lang="en-US" sz="1600" dirty="0">
                <a:solidFill>
                  <a:srgbClr val="1F2329"/>
                </a:solidFill>
              </a:rPr>
              <a:t>The cleaning logic remains explicit: what was retained, what was excluded, and how missing structure is represented.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panose="020B0604020202020204"/>
                <a:ea typeface="Arial" panose="020B0604020202020204"/>
                <a:cs typeface="Arial" panose="020B0604020202020204"/>
                <a:sym typeface="Arial" panose="020B0604020202020204"/>
              </a:rPr>
              <a:t>Unified Wide-Table Format</a:t>
            </a:r>
            <a:endParaRPr lang="en-US" sz="1100" dirty="0"/>
          </a:p>
        </p:txBody>
      </p:sp>
      <p:cxnSp>
        <p:nvCxnSpPr>
          <p:cNvPr id="3" name="Connector 3"/>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4" name="Picture 4"/>
          <p:cNvPicPr>
            <a:picLocks noChangeAspect="1"/>
          </p:cNvPicPr>
          <p:nvPr/>
        </p:nvPicPr>
        <p:blipFill>
          <a:blip r:embed="rId3"/>
          <a:srcRect l="290" r="290"/>
          <a:stretch>
            <a:fillRect/>
          </a:stretch>
        </p:blipFill>
        <p:spPr>
          <a:xfrm>
            <a:off x="8826500" y="139700"/>
            <a:ext cx="3365500" cy="1308100"/>
          </a:xfrm>
          <a:prstGeom prst="rect">
            <a:avLst/>
          </a:prstGeom>
          <a:noFill/>
          <a:ln w="25400" cap="flat" cmpd="sng">
            <a:noFill/>
            <a:prstDash val="solid"/>
            <a:round/>
          </a:ln>
        </p:spPr>
      </p:pic>
      <p:sp>
        <p:nvSpPr>
          <p:cNvPr id="5" name="AutoShape 5"/>
          <p:cNvSpPr/>
          <p:nvPr/>
        </p:nvSpPr>
        <p:spPr>
          <a:xfrm>
            <a:off x="495300" y="1689100"/>
            <a:ext cx="10998201" cy="1496786"/>
          </a:xfrm>
          <a:prstGeom prst="roundRect">
            <a:avLst>
              <a:gd name="adj" fmla="val 0"/>
            </a:avLst>
          </a:prstGeom>
          <a:solidFill>
            <a:srgbClr val="FFFFFF">
              <a:alpha val="100000"/>
            </a:srgbClr>
          </a:solidFill>
          <a:ln w="38100" cap="flat" cmpd="sng">
            <a:solidFill>
              <a:srgbClr val="3B82F6">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77859" y="1612898"/>
            <a:ext cx="46609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B82F6"/>
                </a:solidFill>
                <a:latin typeface="Arial" panose="020B0604020202020204"/>
                <a:ea typeface="Arial" panose="020B0604020202020204"/>
                <a:cs typeface="Arial" panose="020B0604020202020204"/>
                <a:sym typeface="Arial" panose="020B0604020202020204"/>
              </a:rPr>
              <a:t>📋 Questionnaire Answer Normalization</a:t>
            </a:r>
            <a:endParaRPr lang="en-US" sz="1100" dirty="0"/>
          </a:p>
        </p:txBody>
      </p:sp>
      <p:graphicFrame>
        <p:nvGraphicFramePr>
          <p:cNvPr id="18" name="表格 17"/>
          <p:cNvGraphicFramePr/>
          <p:nvPr/>
        </p:nvGraphicFramePr>
        <p:xfrm>
          <a:off x="698499" y="2184399"/>
          <a:ext cx="10620375" cy="822960"/>
        </p:xfrm>
        <a:graphic>
          <a:graphicData uri="http://schemas.openxmlformats.org/drawingml/2006/table">
            <a:tbl>
              <a:tblPr/>
              <a:tblGrid>
                <a:gridCol w="1666875">
                  <a:extLst>
                    <a:ext uri="{9D8B030D-6E8A-4147-A177-3AD203B41FA5}">
                      <a16:colId xmlns:a16="http://schemas.microsoft.com/office/drawing/2014/main" val="20000"/>
                    </a:ext>
                  </a:extLst>
                </a:gridCol>
                <a:gridCol w="1865540">
                  <a:extLst>
                    <a:ext uri="{9D8B030D-6E8A-4147-A177-3AD203B41FA5}">
                      <a16:colId xmlns:a16="http://schemas.microsoft.com/office/drawing/2014/main" val="20001"/>
                    </a:ext>
                  </a:extLst>
                </a:gridCol>
                <a:gridCol w="4468585">
                  <a:extLst>
                    <a:ext uri="{9D8B030D-6E8A-4147-A177-3AD203B41FA5}">
                      <a16:colId xmlns:a16="http://schemas.microsoft.com/office/drawing/2014/main" val="20002"/>
                    </a:ext>
                  </a:extLst>
                </a:gridCol>
                <a:gridCol w="2619375">
                  <a:extLst>
                    <a:ext uri="{9D8B030D-6E8A-4147-A177-3AD203B41FA5}">
                      <a16:colId xmlns:a16="http://schemas.microsoft.com/office/drawing/2014/main" val="20003"/>
                    </a:ext>
                  </a:extLst>
                </a:gridCol>
              </a:tblGrid>
              <a:tr h="268514">
                <a:tc>
                  <a:txBody>
                    <a:bodyPr/>
                    <a:lstStyle/>
                    <a:p>
                      <a:pPr algn="ctr"/>
                      <a:r>
                        <a:rPr sz="1200" b="1" dirty="0" err="1">
                          <a:solidFill>
                            <a:srgbClr val="FFFFFF"/>
                          </a:solidFill>
                          <a:latin typeface="+mn-lt"/>
                          <a:ea typeface="Arial" panose="020B0604020202020204"/>
                          <a:cs typeface="Arial" panose="020B0604020202020204"/>
                        </a:rPr>
                        <a:t>sample_id</a:t>
                      </a:r>
                      <a:endParaRPr sz="1200" b="1" dirty="0">
                        <a:solidFill>
                          <a:srgbClr val="FFFFFF"/>
                        </a:solidFill>
                        <a:latin typeface="+mn-lt"/>
                        <a:ea typeface="Arial" panose="020B0604020202020204"/>
                        <a:cs typeface="Arial" panose="020B0604020202020204"/>
                      </a:endParaRPr>
                    </a:p>
                  </a:txBody>
                  <a:tcPr>
                    <a:solidFill>
                      <a:srgbClr val="0B2E63"/>
                    </a:solidFill>
                  </a:tcPr>
                </a:tc>
                <a:tc>
                  <a:txBody>
                    <a:bodyPr/>
                    <a:lstStyle/>
                    <a:p>
                      <a:pPr algn="ctr"/>
                      <a:r>
                        <a:rPr sz="1200" b="1" dirty="0">
                          <a:solidFill>
                            <a:srgbClr val="FFFFFF"/>
                          </a:solidFill>
                          <a:latin typeface="+mn-lt"/>
                          <a:ea typeface="Arial" panose="020B0604020202020204"/>
                          <a:cs typeface="Arial" panose="020B0604020202020204"/>
                        </a:rPr>
                        <a:t>category</a:t>
                      </a:r>
                    </a:p>
                  </a:txBody>
                  <a:tcPr>
                    <a:solidFill>
                      <a:srgbClr val="0B2E63"/>
                    </a:solidFill>
                  </a:tcPr>
                </a:tc>
                <a:tc>
                  <a:txBody>
                    <a:bodyPr/>
                    <a:lstStyle/>
                    <a:p>
                      <a:pPr algn="ctr"/>
                      <a:r>
                        <a:rPr sz="1200" b="1" dirty="0">
                          <a:solidFill>
                            <a:srgbClr val="FFFFFF"/>
                          </a:solidFill>
                          <a:latin typeface="+mn-lt"/>
                          <a:ea typeface="Arial" panose="020B0604020202020204"/>
                          <a:cs typeface="Arial" panose="020B0604020202020204"/>
                        </a:rPr>
                        <a:t>answer__&lt;</a:t>
                      </a:r>
                      <a:r>
                        <a:rPr sz="1200" b="1" dirty="0" err="1">
                          <a:solidFill>
                            <a:srgbClr val="FFFFFF"/>
                          </a:solidFill>
                          <a:latin typeface="+mn-lt"/>
                          <a:ea typeface="Arial" panose="020B0604020202020204"/>
                          <a:cs typeface="Arial" panose="020B0604020202020204"/>
                        </a:rPr>
                        <a:t>question_id</a:t>
                      </a:r>
                      <a:r>
                        <a:rPr sz="1200" b="1" dirty="0">
                          <a:solidFill>
                            <a:srgbClr val="FFFFFF"/>
                          </a:solidFill>
                          <a:latin typeface="+mn-lt"/>
                          <a:ea typeface="Arial" panose="020B0604020202020204"/>
                          <a:cs typeface="Arial" panose="020B0604020202020204"/>
                        </a:rPr>
                        <a:t>&gt;</a:t>
                      </a:r>
                    </a:p>
                  </a:txBody>
                  <a:tcPr>
                    <a:solidFill>
                      <a:srgbClr val="0B2E63"/>
                    </a:solidFill>
                  </a:tcPr>
                </a:tc>
                <a:tc>
                  <a:txBody>
                    <a:bodyPr/>
                    <a:lstStyle/>
                    <a:p>
                      <a:pPr algn="ctr"/>
                      <a:r>
                        <a:rPr sz="1200" b="1" dirty="0">
                          <a:solidFill>
                            <a:srgbClr val="FFFFFF"/>
                          </a:solidFill>
                          <a:latin typeface="+mn-lt"/>
                          <a:ea typeface="Arial" panose="020B0604020202020204"/>
                          <a:cs typeface="Arial" panose="020B0604020202020204"/>
                        </a:rPr>
                        <a:t>rating__&lt;territory&gt;</a:t>
                      </a:r>
                    </a:p>
                  </a:txBody>
                  <a:tcPr>
                    <a:solidFill>
                      <a:srgbClr val="0B2E63"/>
                    </a:solidFill>
                  </a:tcPr>
                </a:tc>
                <a:extLst>
                  <a:ext uri="{0D108BD9-81ED-4DB2-BD59-A6C34878D82A}">
                    <a16:rowId xmlns:a16="http://schemas.microsoft.com/office/drawing/2014/main" val="10000"/>
                  </a:ext>
                </a:extLst>
              </a:tr>
              <a:tr h="269966">
                <a:tc>
                  <a:txBody>
                    <a:bodyPr/>
                    <a:lstStyle/>
                    <a:p>
                      <a:pPr algn="ctr"/>
                      <a:r>
                        <a:rPr sz="1200" dirty="0">
                          <a:solidFill>
                            <a:srgbClr val="1F2937"/>
                          </a:solidFill>
                          <a:latin typeface="+mn-lt"/>
                          <a:ea typeface="Courier New" panose="02070309020205020404"/>
                          <a:cs typeface="Courier New" panose="02070309020205020404"/>
                        </a:rPr>
                        <a:t>game_00042</a:t>
                      </a:r>
                    </a:p>
                  </a:txBody>
                  <a:tcPr>
                    <a:solidFill>
                      <a:srgbClr val="FFFFFF"/>
                    </a:solidFill>
                  </a:tcPr>
                </a:tc>
                <a:tc>
                  <a:txBody>
                    <a:bodyPr/>
                    <a:lstStyle/>
                    <a:p>
                      <a:pPr algn="ctr"/>
                      <a:r>
                        <a:rPr sz="1200" dirty="0">
                          <a:solidFill>
                            <a:srgbClr val="1F2937"/>
                          </a:solidFill>
                          <a:latin typeface="+mn-lt"/>
                          <a:ea typeface="Arial" panose="020B0604020202020204"/>
                          <a:cs typeface="Arial" panose="020B0604020202020204"/>
                        </a:rPr>
                        <a:t>Game</a:t>
                      </a:r>
                    </a:p>
                  </a:txBody>
                  <a:tcPr>
                    <a:solidFill>
                      <a:srgbClr val="FFFFFF"/>
                    </a:solidFill>
                  </a:tcPr>
                </a:tc>
                <a:tc>
                  <a:txBody>
                    <a:bodyPr/>
                    <a:lstStyle/>
                    <a:p>
                      <a:pPr algn="ctr"/>
                      <a:r>
                        <a:rPr sz="1200" dirty="0">
                          <a:solidFill>
                            <a:srgbClr val="344054"/>
                          </a:solidFill>
                          <a:latin typeface="+mn-lt"/>
                          <a:ea typeface="Arial" panose="020B0604020202020204"/>
                          <a:cs typeface="Arial" panose="020B0604020202020204"/>
                        </a:rPr>
                        <a:t>Yes || Moderate</a:t>
                      </a:r>
                    </a:p>
                  </a:txBody>
                  <a:tcPr>
                    <a:solidFill>
                      <a:srgbClr val="FFFFFF"/>
                    </a:solidFill>
                  </a:tcPr>
                </a:tc>
                <a:tc>
                  <a:txBody>
                    <a:bodyPr/>
                    <a:lstStyle/>
                    <a:p>
                      <a:pPr algn="ctr"/>
                      <a:r>
                        <a:rPr sz="1200" dirty="0">
                          <a:solidFill>
                            <a:srgbClr val="344054"/>
                          </a:solidFill>
                          <a:latin typeface="+mn-lt"/>
                          <a:ea typeface="Arial" panose="020B0604020202020204"/>
                          <a:cs typeface="Arial" panose="020B0604020202020204"/>
                        </a:rPr>
                        <a:t>Mature 17+</a:t>
                      </a:r>
                    </a:p>
                  </a:txBody>
                  <a:tcPr>
                    <a:solidFill>
                      <a:srgbClr val="FFFFFF"/>
                    </a:solidFill>
                  </a:tcPr>
                </a:tc>
                <a:extLst>
                  <a:ext uri="{0D108BD9-81ED-4DB2-BD59-A6C34878D82A}">
                    <a16:rowId xmlns:a16="http://schemas.microsoft.com/office/drawing/2014/main" val="10001"/>
                  </a:ext>
                </a:extLst>
              </a:tr>
              <a:tr h="217714">
                <a:tc>
                  <a:txBody>
                    <a:bodyPr/>
                    <a:lstStyle/>
                    <a:p>
                      <a:pPr algn="ctr"/>
                      <a:r>
                        <a:rPr sz="1200">
                          <a:solidFill>
                            <a:srgbClr val="1F2937"/>
                          </a:solidFill>
                          <a:latin typeface="+mn-lt"/>
                          <a:ea typeface="Courier New" panose="02070309020205020404"/>
                          <a:cs typeface="Courier New" panose="02070309020205020404"/>
                        </a:rPr>
                        <a:t>app_00118</a:t>
                      </a:r>
                    </a:p>
                  </a:txBody>
                  <a:tcPr>
                    <a:solidFill>
                      <a:srgbClr val="F7F9FC"/>
                    </a:solidFill>
                  </a:tcPr>
                </a:tc>
                <a:tc>
                  <a:txBody>
                    <a:bodyPr/>
                    <a:lstStyle/>
                    <a:p>
                      <a:pPr algn="ctr"/>
                      <a:r>
                        <a:rPr lang="en-US" sz="1200" dirty="0">
                          <a:solidFill>
                            <a:srgbClr val="1F2937"/>
                          </a:solidFill>
                          <a:latin typeface="+mn-lt"/>
                          <a:ea typeface="Arial" panose="020B0604020202020204"/>
                          <a:cs typeface="Arial" panose="020B0604020202020204"/>
                        </a:rPr>
                        <a:t>All Other App Types</a:t>
                      </a:r>
                      <a:endParaRPr sz="1200" dirty="0">
                        <a:solidFill>
                          <a:srgbClr val="1F2937"/>
                        </a:solidFill>
                        <a:latin typeface="+mn-lt"/>
                        <a:ea typeface="Arial" panose="020B0604020202020204"/>
                        <a:cs typeface="Arial" panose="020B0604020202020204"/>
                      </a:endParaRPr>
                    </a:p>
                  </a:txBody>
                  <a:tcPr>
                    <a:solidFill>
                      <a:srgbClr val="F7F9FC"/>
                    </a:solidFill>
                  </a:tcPr>
                </a:tc>
                <a:tc>
                  <a:txBody>
                    <a:bodyPr/>
                    <a:lstStyle/>
                    <a:p>
                      <a:pPr algn="ctr"/>
                      <a:r>
                        <a:rPr sz="1200" dirty="0">
                          <a:solidFill>
                            <a:srgbClr val="344054"/>
                          </a:solidFill>
                          <a:latin typeface="+mn-lt"/>
                          <a:ea typeface="Arial" panose="020B0604020202020204"/>
                          <a:cs typeface="Arial" panose="020B0604020202020204"/>
                        </a:rPr>
                        <a:t>No</a:t>
                      </a:r>
                    </a:p>
                  </a:txBody>
                  <a:tcPr>
                    <a:solidFill>
                      <a:srgbClr val="F7F9FC"/>
                    </a:solidFill>
                  </a:tcPr>
                </a:tc>
                <a:tc>
                  <a:txBody>
                    <a:bodyPr/>
                    <a:lstStyle/>
                    <a:p>
                      <a:pPr algn="ctr"/>
                      <a:r>
                        <a:rPr sz="1200" dirty="0">
                          <a:solidFill>
                            <a:srgbClr val="344054"/>
                          </a:solidFill>
                          <a:latin typeface="+mn-lt"/>
                          <a:ea typeface="Arial" panose="020B0604020202020204"/>
                          <a:cs typeface="Arial" panose="020B0604020202020204"/>
                        </a:rPr>
                        <a:t>Teen</a:t>
                      </a:r>
                    </a:p>
                  </a:txBody>
                  <a:tcPr>
                    <a:solidFill>
                      <a:srgbClr val="F7F9FC"/>
                    </a:solidFill>
                  </a:tcPr>
                </a:tc>
                <a:extLst>
                  <a:ext uri="{0D108BD9-81ED-4DB2-BD59-A6C34878D82A}">
                    <a16:rowId xmlns:a16="http://schemas.microsoft.com/office/drawing/2014/main" val="10002"/>
                  </a:ext>
                </a:extLst>
              </a:tr>
            </a:tbl>
          </a:graphicData>
        </a:graphic>
      </p:graphicFrame>
      <p:sp>
        <p:nvSpPr>
          <p:cNvPr id="21" name="矩形 20"/>
          <p:cNvSpPr>
            <a:spLocks noGrp="1"/>
          </p:cNvSpPr>
          <p:nvPr/>
        </p:nvSpPr>
        <p:spPr>
          <a:xfrm>
            <a:off x="355600" y="1253437"/>
            <a:ext cx="10289001" cy="411384"/>
          </a:xfrm>
          <a:prstGeom prst="rect">
            <a:avLst/>
          </a:prstGeom>
          <a:noFill/>
          <a:ln w="0">
            <a:noFill/>
            <a:prstDash val="solid"/>
          </a:ln>
        </p:spPr>
        <p:txBody>
          <a:bodyPr/>
          <a:lstStyle/>
          <a:p>
            <a:pPr>
              <a:defRPr sz="1125">
                <a:solidFill>
                  <a:srgbClr val="5D6B7A"/>
                </a:solidFill>
                <a:latin typeface="Arial" panose="020B0604020202020204"/>
                <a:ea typeface="Arial" panose="020B0604020202020204"/>
                <a:cs typeface="Arial" panose="020B0604020202020204"/>
              </a:defRPr>
            </a:pPr>
            <a:r>
              <a:rPr lang="en-US" sz="1600" dirty="0">
                <a:solidFill>
                  <a:srgbClr val="1F2329"/>
                </a:solidFill>
              </a:rPr>
              <a:t>Nested questionnaire records are flattened into one row per sample with consistent column names.</a:t>
            </a:r>
          </a:p>
        </p:txBody>
      </p:sp>
      <p:sp>
        <p:nvSpPr>
          <p:cNvPr id="22" name="AutoShape 11"/>
          <p:cNvSpPr/>
          <p:nvPr/>
        </p:nvSpPr>
        <p:spPr>
          <a:xfrm>
            <a:off x="6270627" y="3427186"/>
            <a:ext cx="5222874" cy="1572985"/>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23" name="AutoShape 12"/>
          <p:cNvSpPr/>
          <p:nvPr/>
        </p:nvSpPr>
        <p:spPr>
          <a:xfrm>
            <a:off x="6270626" y="3427186"/>
            <a:ext cx="70579" cy="1572985"/>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13"/>
          <p:cNvSpPr/>
          <p:nvPr/>
        </p:nvSpPr>
        <p:spPr>
          <a:xfrm>
            <a:off x="6461126" y="3427185"/>
            <a:ext cx="4940556" cy="157298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Segoe UI" panose="020B0502040204020203"/>
                <a:ea typeface="Segoe UI" panose="020B0502040204020203"/>
                <a:cs typeface="Segoe UI" panose="020B0502040204020203"/>
                <a:sym typeface="Segoe UI" panose="020B0502040204020203"/>
              </a:rPr>
              <a:t>⭐ Rating Outputs</a:t>
            </a:r>
          </a:p>
          <a:p>
            <a:pPr marL="0" indent="0" algn="l">
              <a:lnSpc>
                <a:spcPct val="108000"/>
              </a:lnSpc>
              <a:defRPr/>
            </a:pPr>
            <a:r>
              <a:rPr lang="en-US" b="1" dirty="0">
                <a:solidFill>
                  <a:srgbClr val="10B981"/>
                </a:solidFill>
                <a:latin typeface="Segoe UI" panose="020B0502040204020203"/>
                <a:cs typeface="Segoe UI" panose="020B0502040204020203"/>
                <a:sym typeface="Segoe UI" panose="020B0502040204020203"/>
              </a:rPr>
              <a:t>rating__* </a:t>
            </a:r>
            <a:r>
              <a:rPr lang="en-US" sz="14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columns store the original regional rating labels returned by the questionnaire result page. They are output labels, not cleaned answer fields.</a:t>
            </a:r>
          </a:p>
        </p:txBody>
      </p:sp>
      <p:sp>
        <p:nvSpPr>
          <p:cNvPr id="27" name="AutoShape 14"/>
          <p:cNvSpPr/>
          <p:nvPr/>
        </p:nvSpPr>
        <p:spPr>
          <a:xfrm>
            <a:off x="508000" y="3403602"/>
            <a:ext cx="5222874" cy="1572985"/>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28" name="AutoShape 15"/>
          <p:cNvSpPr/>
          <p:nvPr/>
        </p:nvSpPr>
        <p:spPr>
          <a:xfrm>
            <a:off x="507999" y="3403602"/>
            <a:ext cx="70579" cy="1572985"/>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6"/>
          <p:cNvSpPr/>
          <p:nvPr/>
        </p:nvSpPr>
        <p:spPr>
          <a:xfrm>
            <a:off x="698499" y="3403601"/>
            <a:ext cx="4940556" cy="157298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Segoe UI" panose="020B0502040204020203"/>
                <a:ea typeface="Segoe UI" panose="020B0502040204020203"/>
                <a:cs typeface="Segoe UI" panose="020B0502040204020203"/>
                <a:sym typeface="Segoe UI" panose="020B0502040204020203"/>
              </a:rPr>
              <a:t>📝 Questionnaire answers</a:t>
            </a:r>
          </a:p>
          <a:p>
            <a:pPr marL="0" indent="0" algn="l">
              <a:lnSpc>
                <a:spcPct val="108000"/>
              </a:lnSpc>
              <a:defRPr/>
            </a:pPr>
            <a:r>
              <a:rPr lang="en-US" b="1" dirty="0">
                <a:solidFill>
                  <a:srgbClr val="8B5CF6"/>
                </a:solidFill>
                <a:latin typeface="Segoe UI" panose="020B0502040204020203"/>
                <a:cs typeface="Segoe UI" panose="020B0502040204020203"/>
                <a:sym typeface="Segoe UI" panose="020B0502040204020203"/>
              </a:rPr>
              <a:t>answer__*</a:t>
            </a:r>
            <a:r>
              <a:rPr lang="en-US" sz="14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 columns store standardized questionnaire responses. Radio questions keep the selected option. Checkbox questions join multiple selected options with " || ".</a:t>
            </a:r>
          </a:p>
        </p:txBody>
      </p:sp>
      <p:sp>
        <p:nvSpPr>
          <p:cNvPr id="30" name="AutoShape 14"/>
          <p:cNvSpPr/>
          <p:nvPr/>
        </p:nvSpPr>
        <p:spPr>
          <a:xfrm>
            <a:off x="507999" y="5217885"/>
            <a:ext cx="10985502" cy="1204685"/>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31" name="AutoShape 15"/>
          <p:cNvSpPr/>
          <p:nvPr/>
        </p:nvSpPr>
        <p:spPr>
          <a:xfrm>
            <a:off x="507998" y="5217885"/>
            <a:ext cx="69861" cy="1204685"/>
          </a:xfrm>
          <a:prstGeom prst="roundRect">
            <a:avLst>
              <a:gd name="adj" fmla="val 0"/>
            </a:avLst>
          </a:prstGeom>
          <a:solidFill>
            <a:srgbClr val="AFABAB"/>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16"/>
          <p:cNvSpPr/>
          <p:nvPr/>
        </p:nvSpPr>
        <p:spPr>
          <a:xfrm>
            <a:off x="698499" y="5217884"/>
            <a:ext cx="10391690" cy="1204684"/>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Segoe UI" panose="020B0502040204020203"/>
                <a:ea typeface="Segoe UI" panose="020B0502040204020203"/>
                <a:cs typeface="Segoe UI" panose="020B0502040204020203"/>
                <a:sym typeface="Segoe UI" panose="020B0502040204020203"/>
              </a:rPr>
              <a:t>📊 Dataset Scale &amp; Structural Consistency</a:t>
            </a:r>
            <a:endParaRPr lang="en-US" sz="1100" dirty="0"/>
          </a:p>
          <a:p>
            <a:pPr marL="0" indent="0" algn="l">
              <a:lnSpc>
                <a:spcPct val="108000"/>
              </a:lnSpc>
            </a:pPr>
            <a:r>
              <a:rPr lang="en-US" sz="14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The schema includes </a:t>
            </a:r>
            <a:r>
              <a:rPr lang="en-US" sz="1400" b="1" i="0" u="none" strike="noStrike" dirty="0">
                <a:solidFill>
                  <a:srgbClr val="595959"/>
                </a:solidFill>
                <a:latin typeface="Segoe UI" panose="020B0502040204020203"/>
                <a:ea typeface="Segoe UI" panose="020B0502040204020203"/>
                <a:cs typeface="Segoe UI" panose="020B0502040204020203"/>
                <a:sym typeface="Segoe UI" panose="020B0502040204020203"/>
              </a:rPr>
              <a:t>164 answer columns </a:t>
            </a:r>
            <a:r>
              <a:rPr lang="en-US" sz="14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and </a:t>
            </a:r>
            <a:r>
              <a:rPr lang="en-US" b="1" dirty="0">
                <a:solidFill>
                  <a:srgbClr val="595959"/>
                </a:solidFill>
                <a:latin typeface="Segoe UI" panose="020B0502040204020203"/>
                <a:cs typeface="Segoe UI" panose="020B0502040204020203"/>
                <a:sym typeface="Segoe UI" panose="020B0502040204020203"/>
              </a:rPr>
              <a:t>10 regional rating columns</a:t>
            </a:r>
            <a:r>
              <a:rPr lang="en-US" sz="14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  </a:t>
            </a:r>
            <a:r>
              <a:rPr lang="en-US" sz="1400" b="1" i="0" u="none" strike="noStrike" dirty="0">
                <a:solidFill>
                  <a:srgbClr val="595959"/>
                </a:solidFill>
                <a:latin typeface="Segoe UI" panose="020B0502040204020203"/>
                <a:ea typeface="Segoe UI" panose="020B0502040204020203"/>
                <a:cs typeface="Segoe UI" panose="020B0502040204020203"/>
                <a:sym typeface="Segoe UI" panose="020B0502040204020203"/>
              </a:rPr>
              <a:t>clean_dataset.csv</a:t>
            </a:r>
            <a:r>
              <a:rPr lang="en-US" sz="14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 includes the split column. </a:t>
            </a:r>
          </a:p>
          <a:p>
            <a:pPr marL="0" indent="0" algn="l">
              <a:lnSpc>
                <a:spcPct val="108000"/>
              </a:lnSpc>
            </a:pPr>
            <a:r>
              <a:rPr lang="en-US" sz="1400" b="1" i="0" u="none" strike="noStrike" dirty="0">
                <a:solidFill>
                  <a:srgbClr val="595959"/>
                </a:solidFill>
                <a:latin typeface="Segoe UI" panose="020B0502040204020203"/>
                <a:ea typeface="Segoe UI" panose="020B0502040204020203"/>
                <a:cs typeface="Segoe UI" panose="020B0502040204020203"/>
                <a:sym typeface="Segoe UI" panose="020B0502040204020203"/>
              </a:rPr>
              <a:t>train.csv</a:t>
            </a:r>
            <a:r>
              <a:rPr lang="en-US" sz="14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 and </a:t>
            </a:r>
            <a:r>
              <a:rPr lang="en-US" sz="1400" b="1" i="0" u="none" strike="noStrike" dirty="0">
                <a:solidFill>
                  <a:srgbClr val="595959"/>
                </a:solidFill>
                <a:latin typeface="Segoe UI" panose="020B0502040204020203"/>
                <a:ea typeface="Segoe UI" panose="020B0502040204020203"/>
                <a:cs typeface="Segoe UI" panose="020B0502040204020203"/>
                <a:sym typeface="Segoe UI" panose="020B0502040204020203"/>
              </a:rPr>
              <a:t>test.csv</a:t>
            </a:r>
            <a:r>
              <a:rPr lang="en-US" sz="1400" b="0" i="0" u="none" strike="noStrike" dirty="0">
                <a:solidFill>
                  <a:srgbClr val="595959"/>
                </a:solidFill>
                <a:latin typeface="Segoe UI" panose="020B0502040204020203"/>
                <a:ea typeface="Segoe UI" panose="020B0502040204020203"/>
                <a:cs typeface="Segoe UI" panose="020B0502040204020203"/>
                <a:sym typeface="Segoe UI" panose="020B0502040204020203"/>
              </a:rPr>
              <a:t> share identical columns.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AutoShape 5"/>
          <p:cNvSpPr/>
          <p:nvPr/>
        </p:nvSpPr>
        <p:spPr>
          <a:xfrm>
            <a:off x="7939313" y="3050447"/>
            <a:ext cx="3528107" cy="2689951"/>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130" name="AutoShape 5"/>
          <p:cNvSpPr/>
          <p:nvPr/>
        </p:nvSpPr>
        <p:spPr>
          <a:xfrm>
            <a:off x="4324350" y="3050448"/>
            <a:ext cx="3352800" cy="2689950"/>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118" name="AutoShape 5"/>
          <p:cNvSpPr/>
          <p:nvPr/>
        </p:nvSpPr>
        <p:spPr>
          <a:xfrm>
            <a:off x="566964" y="3038219"/>
            <a:ext cx="3495223" cy="2689949"/>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panose="020B0604020202020204"/>
                <a:ea typeface="Arial" panose="020B0604020202020204"/>
                <a:cs typeface="Arial" panose="020B0604020202020204"/>
                <a:sym typeface="Arial" panose="020B0604020202020204"/>
              </a:rPr>
              <a:t>Reproducible Train/Test Dataset</a:t>
            </a:r>
            <a:endParaRPr lang="en-US" sz="1100" dirty="0"/>
          </a:p>
        </p:txBody>
      </p:sp>
      <p:cxnSp>
        <p:nvCxnSpPr>
          <p:cNvPr id="3" name="Connector 3"/>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4" name="Picture 4"/>
          <p:cNvPicPr>
            <a:picLocks noChangeAspect="1"/>
          </p:cNvPicPr>
          <p:nvPr/>
        </p:nvPicPr>
        <p:blipFill>
          <a:blip r:embed="rId3"/>
          <a:srcRect l="290" r="290"/>
          <a:stretch>
            <a:fillRect/>
          </a:stretch>
        </p:blipFill>
        <p:spPr>
          <a:xfrm>
            <a:off x="8826500" y="139700"/>
            <a:ext cx="3365500" cy="1308100"/>
          </a:xfrm>
          <a:prstGeom prst="rect">
            <a:avLst/>
          </a:prstGeom>
          <a:noFill/>
          <a:ln w="25400" cap="flat" cmpd="sng">
            <a:noFill/>
            <a:prstDash val="solid"/>
            <a:round/>
          </a:ln>
        </p:spPr>
      </p:pic>
      <p:sp>
        <p:nvSpPr>
          <p:cNvPr id="21" name="矩形 20"/>
          <p:cNvSpPr>
            <a:spLocks noGrp="1"/>
          </p:cNvSpPr>
          <p:nvPr/>
        </p:nvSpPr>
        <p:spPr>
          <a:xfrm>
            <a:off x="355600" y="1253437"/>
            <a:ext cx="10289001" cy="411384"/>
          </a:xfrm>
          <a:prstGeom prst="rect">
            <a:avLst/>
          </a:prstGeom>
          <a:noFill/>
          <a:ln w="0">
            <a:noFill/>
            <a:prstDash val="solid"/>
          </a:ln>
        </p:spPr>
        <p:txBody>
          <a:bodyPr/>
          <a:lstStyle/>
          <a:p>
            <a:pPr>
              <a:defRPr sz="1125">
                <a:solidFill>
                  <a:srgbClr val="5D6B7A"/>
                </a:solidFill>
                <a:latin typeface="Arial" panose="020B0604020202020204"/>
                <a:ea typeface="Arial" panose="020B0604020202020204"/>
                <a:cs typeface="Arial" panose="020B0604020202020204"/>
              </a:defRPr>
            </a:pPr>
            <a:r>
              <a:rPr lang="en-US" sz="1600" dirty="0">
                <a:solidFill>
                  <a:srgbClr val="1F2329"/>
                </a:solidFill>
              </a:rPr>
              <a:t>The cleaned dataset is split once using deterministic stratification and is accompanied by audit evidence.</a:t>
            </a:r>
          </a:p>
        </p:txBody>
      </p:sp>
      <p:sp>
        <p:nvSpPr>
          <p:cNvPr id="72" name="clean-samples-card"/>
          <p:cNvSpPr>
            <a:spLocks noGrp="1"/>
          </p:cNvSpPr>
          <p:nvPr/>
        </p:nvSpPr>
        <p:spPr>
          <a:xfrm>
            <a:off x="700314" y="1775258"/>
            <a:ext cx="2686050" cy="914400"/>
          </a:xfrm>
          <a:prstGeom prst="roundRect">
            <a:avLst>
              <a:gd name="adj" fmla="val 16667"/>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a:t>
            </a:r>
          </a:p>
        </p:txBody>
      </p:sp>
      <p:sp>
        <p:nvSpPr>
          <p:cNvPr id="73" name="clean-samples-number"/>
          <p:cNvSpPr>
            <a:spLocks noGrp="1"/>
          </p:cNvSpPr>
          <p:nvPr/>
        </p:nvSpPr>
        <p:spPr>
          <a:xfrm>
            <a:off x="814614" y="1918133"/>
            <a:ext cx="2457450" cy="428625"/>
          </a:xfrm>
          <a:prstGeom prst="rect">
            <a:avLst/>
          </a:prstGeom>
          <a:noFill/>
          <a:ln w="0">
            <a:noFill/>
            <a:prstDash val="solid"/>
          </a:ln>
        </p:spPr>
        <p:txBody>
          <a:bodyPr lIns="38100" tIns="19050" rIns="38100" bIns="19050" anchor="ctr">
            <a:normAutofit fontScale="89912" lnSpcReduction="10000"/>
          </a:bodyPr>
          <a:lstStyle/>
          <a:p>
            <a:pPr algn="ctr">
              <a:defRPr sz="2850" b="1">
                <a:solidFill>
                  <a:srgbClr val="1178C7"/>
                </a:solidFill>
                <a:latin typeface="Arial" panose="020B0604020202020204"/>
                <a:ea typeface="Arial" panose="020B0604020202020204"/>
                <a:cs typeface="Arial" panose="020B0604020202020204"/>
              </a:defRPr>
            </a:pPr>
            <a:r>
              <a:rPr sz="2850" b="1">
                <a:solidFill>
                  <a:srgbClr val="1178C7"/>
                </a:solidFill>
                <a:latin typeface="Arial" panose="020B0604020202020204"/>
                <a:ea typeface="Arial" panose="020B0604020202020204"/>
                <a:cs typeface="Arial" panose="020B0604020202020204"/>
              </a:rPr>
              <a:t>1,265</a:t>
            </a:r>
          </a:p>
        </p:txBody>
      </p:sp>
      <p:sp>
        <p:nvSpPr>
          <p:cNvPr id="74" name="clean-samples-label"/>
          <p:cNvSpPr>
            <a:spLocks noGrp="1"/>
          </p:cNvSpPr>
          <p:nvPr/>
        </p:nvSpPr>
        <p:spPr>
          <a:xfrm>
            <a:off x="852714" y="2356283"/>
            <a:ext cx="2381250" cy="228600"/>
          </a:xfrm>
          <a:prstGeom prst="rect">
            <a:avLst/>
          </a:prstGeom>
          <a:noFill/>
          <a:ln w="0">
            <a:noFill/>
            <a:prstDash val="solid"/>
          </a:ln>
        </p:spPr>
        <p:txBody>
          <a:bodyPr lIns="38100" tIns="19050" rIns="38100" bIns="19050" anchor="ctr">
            <a:noAutofit/>
          </a:bodyPr>
          <a:lstStyle/>
          <a:p>
            <a:pPr algn="ctr">
              <a:defRPr sz="975" b="1">
                <a:solidFill>
                  <a:srgbClr val="0E2A47"/>
                </a:solidFill>
                <a:latin typeface="Arial" panose="020B0604020202020204"/>
                <a:ea typeface="Arial" panose="020B0604020202020204"/>
                <a:cs typeface="Arial" panose="020B0604020202020204"/>
              </a:defRPr>
            </a:pPr>
            <a:r>
              <a:rPr sz="1300" b="1" dirty="0">
                <a:solidFill>
                  <a:srgbClr val="0E2A47"/>
                </a:solidFill>
                <a:latin typeface="Arial" panose="020B0604020202020204"/>
                <a:ea typeface="Arial" panose="020B0604020202020204"/>
                <a:cs typeface="Arial" panose="020B0604020202020204"/>
              </a:rPr>
              <a:t>clean samples</a:t>
            </a:r>
          </a:p>
        </p:txBody>
      </p:sp>
      <p:sp>
        <p:nvSpPr>
          <p:cNvPr id="75" name="flow-arrow"/>
          <p:cNvSpPr>
            <a:spLocks noGrp="1"/>
          </p:cNvSpPr>
          <p:nvPr/>
        </p:nvSpPr>
        <p:spPr>
          <a:xfrm>
            <a:off x="3557814" y="1994333"/>
            <a:ext cx="666750" cy="457200"/>
          </a:xfrm>
          <a:prstGeom prst="rect">
            <a:avLst/>
          </a:prstGeom>
          <a:noFill/>
          <a:ln w="0">
            <a:noFill/>
            <a:prstDash val="solid"/>
          </a:ln>
        </p:spPr>
        <p:txBody>
          <a:bodyPr lIns="38100" tIns="19050" rIns="38100" bIns="19050" anchor="ctr">
            <a:normAutofit fontScale="96491"/>
          </a:bodyPr>
          <a:lstStyle/>
          <a:p>
            <a:pPr algn="ctr">
              <a:defRPr sz="2850" b="1">
                <a:solidFill>
                  <a:srgbClr val="0F5F9F"/>
                </a:solidFill>
                <a:latin typeface="Arial" panose="020B0604020202020204"/>
                <a:ea typeface="Arial" panose="020B0604020202020204"/>
                <a:cs typeface="Arial" panose="020B0604020202020204"/>
              </a:defRPr>
            </a:pPr>
            <a:r>
              <a:rPr sz="2850" b="1">
                <a:solidFill>
                  <a:srgbClr val="0F5F9F"/>
                </a:solidFill>
                <a:latin typeface="Arial" panose="020B0604020202020204"/>
                <a:ea typeface="Arial" panose="020B0604020202020204"/>
                <a:cs typeface="Arial" panose="020B0604020202020204"/>
              </a:rPr>
              <a:t>→</a:t>
            </a:r>
          </a:p>
        </p:txBody>
      </p:sp>
      <p:sp>
        <p:nvSpPr>
          <p:cNvPr id="76" name="train-rows-card"/>
          <p:cNvSpPr>
            <a:spLocks noGrp="1"/>
          </p:cNvSpPr>
          <p:nvPr/>
        </p:nvSpPr>
        <p:spPr>
          <a:xfrm>
            <a:off x="4443639" y="1775258"/>
            <a:ext cx="2686050" cy="914400"/>
          </a:xfrm>
          <a:prstGeom prst="roundRect">
            <a:avLst>
              <a:gd name="adj" fmla="val 16667"/>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a:t>
            </a:r>
          </a:p>
        </p:txBody>
      </p:sp>
      <p:sp>
        <p:nvSpPr>
          <p:cNvPr id="77" name="train-rows-number"/>
          <p:cNvSpPr>
            <a:spLocks noGrp="1"/>
          </p:cNvSpPr>
          <p:nvPr/>
        </p:nvSpPr>
        <p:spPr>
          <a:xfrm>
            <a:off x="4557939" y="1918133"/>
            <a:ext cx="2457450" cy="428625"/>
          </a:xfrm>
          <a:prstGeom prst="rect">
            <a:avLst/>
          </a:prstGeom>
          <a:noFill/>
          <a:ln w="0">
            <a:noFill/>
            <a:prstDash val="solid"/>
          </a:ln>
        </p:spPr>
        <p:txBody>
          <a:bodyPr lIns="38100" tIns="19050" rIns="38100" bIns="19050" anchor="ctr">
            <a:normAutofit fontScale="89912" lnSpcReduction="10000"/>
          </a:bodyPr>
          <a:lstStyle/>
          <a:p>
            <a:pPr algn="ctr">
              <a:defRPr sz="2850" b="1">
                <a:solidFill>
                  <a:srgbClr val="1178C7"/>
                </a:solidFill>
                <a:latin typeface="Arial" panose="020B0604020202020204"/>
                <a:ea typeface="Arial" panose="020B0604020202020204"/>
                <a:cs typeface="Arial" panose="020B0604020202020204"/>
              </a:defRPr>
            </a:pPr>
            <a:r>
              <a:rPr sz="2850" b="1">
                <a:solidFill>
                  <a:srgbClr val="1178C7"/>
                </a:solidFill>
                <a:latin typeface="Arial" panose="020B0604020202020204"/>
                <a:ea typeface="Arial" panose="020B0604020202020204"/>
                <a:cs typeface="Arial" panose="020B0604020202020204"/>
              </a:rPr>
              <a:t>1,012</a:t>
            </a:r>
          </a:p>
        </p:txBody>
      </p:sp>
      <p:sp>
        <p:nvSpPr>
          <p:cNvPr id="78" name="train-rows-label"/>
          <p:cNvSpPr>
            <a:spLocks noGrp="1"/>
          </p:cNvSpPr>
          <p:nvPr/>
        </p:nvSpPr>
        <p:spPr>
          <a:xfrm>
            <a:off x="4596039" y="2356283"/>
            <a:ext cx="2381250" cy="228600"/>
          </a:xfrm>
          <a:prstGeom prst="rect">
            <a:avLst/>
          </a:prstGeom>
          <a:noFill/>
          <a:ln w="0">
            <a:noFill/>
            <a:prstDash val="solid"/>
          </a:ln>
        </p:spPr>
        <p:txBody>
          <a:bodyPr lIns="38100" tIns="19050" rIns="38100" bIns="19050" anchor="ctr">
            <a:noAutofit/>
          </a:bodyPr>
          <a:lstStyle/>
          <a:p>
            <a:pPr algn="ctr">
              <a:defRPr sz="975" b="1">
                <a:solidFill>
                  <a:srgbClr val="0E2A47"/>
                </a:solidFill>
                <a:latin typeface="Arial" panose="020B0604020202020204"/>
                <a:ea typeface="Arial" panose="020B0604020202020204"/>
                <a:cs typeface="Arial" panose="020B0604020202020204"/>
              </a:defRPr>
            </a:pPr>
            <a:r>
              <a:rPr sz="1300" b="1" dirty="0">
                <a:solidFill>
                  <a:srgbClr val="0E2A47"/>
                </a:solidFill>
              </a:rPr>
              <a:t>train rows</a:t>
            </a:r>
          </a:p>
        </p:txBody>
      </p:sp>
      <p:sp>
        <p:nvSpPr>
          <p:cNvPr id="79" name="flow-plus"/>
          <p:cNvSpPr>
            <a:spLocks noGrp="1"/>
          </p:cNvSpPr>
          <p:nvPr/>
        </p:nvSpPr>
        <p:spPr>
          <a:xfrm>
            <a:off x="7272564" y="2013383"/>
            <a:ext cx="457200" cy="400050"/>
          </a:xfrm>
          <a:prstGeom prst="rect">
            <a:avLst/>
          </a:prstGeom>
          <a:noFill/>
          <a:ln w="0">
            <a:noFill/>
            <a:prstDash val="solid"/>
          </a:ln>
        </p:spPr>
        <p:txBody>
          <a:bodyPr lIns="38100" tIns="19050" rIns="38100" bIns="19050" anchor="ctr">
            <a:normAutofit fontScale="98958" lnSpcReduction="10000"/>
          </a:bodyPr>
          <a:lstStyle/>
          <a:p>
            <a:pPr algn="ctr">
              <a:defRPr sz="2400" b="1">
                <a:solidFill>
                  <a:srgbClr val="0E2A47"/>
                </a:solidFill>
                <a:latin typeface="Arial" panose="020B0604020202020204"/>
                <a:ea typeface="Arial" panose="020B0604020202020204"/>
                <a:cs typeface="Arial" panose="020B0604020202020204"/>
              </a:defRPr>
            </a:pPr>
            <a:r>
              <a:rPr sz="2400" b="1">
                <a:solidFill>
                  <a:srgbClr val="0E2A47"/>
                </a:solidFill>
                <a:latin typeface="Arial" panose="020B0604020202020204"/>
                <a:ea typeface="Arial" panose="020B0604020202020204"/>
                <a:cs typeface="Arial" panose="020B0604020202020204"/>
              </a:rPr>
              <a:t>+</a:t>
            </a:r>
          </a:p>
        </p:txBody>
      </p:sp>
      <p:sp>
        <p:nvSpPr>
          <p:cNvPr id="80" name="test-rows-card"/>
          <p:cNvSpPr>
            <a:spLocks noGrp="1"/>
          </p:cNvSpPr>
          <p:nvPr/>
        </p:nvSpPr>
        <p:spPr>
          <a:xfrm>
            <a:off x="7920264" y="1775258"/>
            <a:ext cx="2686050" cy="914400"/>
          </a:xfrm>
          <a:prstGeom prst="roundRect">
            <a:avLst>
              <a:gd name="adj" fmla="val 16667"/>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a:t>
            </a:r>
          </a:p>
        </p:txBody>
      </p:sp>
      <p:sp>
        <p:nvSpPr>
          <p:cNvPr id="81" name="test-rows-number"/>
          <p:cNvSpPr>
            <a:spLocks noGrp="1"/>
          </p:cNvSpPr>
          <p:nvPr/>
        </p:nvSpPr>
        <p:spPr>
          <a:xfrm>
            <a:off x="8034564" y="1918133"/>
            <a:ext cx="2457450" cy="428625"/>
          </a:xfrm>
          <a:prstGeom prst="rect">
            <a:avLst/>
          </a:prstGeom>
          <a:noFill/>
          <a:ln w="0">
            <a:noFill/>
            <a:prstDash val="solid"/>
          </a:ln>
        </p:spPr>
        <p:txBody>
          <a:bodyPr lIns="38100" tIns="19050" rIns="38100" bIns="19050" anchor="ctr">
            <a:normAutofit fontScale="89912" lnSpcReduction="10000"/>
          </a:bodyPr>
          <a:lstStyle/>
          <a:p>
            <a:pPr algn="ctr">
              <a:defRPr sz="2850" b="1">
                <a:solidFill>
                  <a:srgbClr val="1178C7"/>
                </a:solidFill>
                <a:latin typeface="Arial" panose="020B0604020202020204"/>
                <a:ea typeface="Arial" panose="020B0604020202020204"/>
                <a:cs typeface="Arial" panose="020B0604020202020204"/>
              </a:defRPr>
            </a:pPr>
            <a:r>
              <a:rPr sz="2850" b="1">
                <a:solidFill>
                  <a:srgbClr val="1178C7"/>
                </a:solidFill>
                <a:latin typeface="Arial" panose="020B0604020202020204"/>
                <a:ea typeface="Arial" panose="020B0604020202020204"/>
                <a:cs typeface="Arial" panose="020B0604020202020204"/>
              </a:rPr>
              <a:t>253</a:t>
            </a:r>
          </a:p>
        </p:txBody>
      </p:sp>
      <p:sp>
        <p:nvSpPr>
          <p:cNvPr id="82" name="test-rows-label"/>
          <p:cNvSpPr>
            <a:spLocks noGrp="1"/>
          </p:cNvSpPr>
          <p:nvPr/>
        </p:nvSpPr>
        <p:spPr>
          <a:xfrm>
            <a:off x="8072664" y="2356283"/>
            <a:ext cx="2381250" cy="228600"/>
          </a:xfrm>
          <a:prstGeom prst="rect">
            <a:avLst/>
          </a:prstGeom>
          <a:noFill/>
          <a:ln w="0">
            <a:noFill/>
            <a:prstDash val="solid"/>
          </a:ln>
        </p:spPr>
        <p:txBody>
          <a:bodyPr lIns="38100" tIns="19050" rIns="38100" bIns="19050" anchor="ctr">
            <a:noAutofit/>
          </a:bodyPr>
          <a:lstStyle/>
          <a:p>
            <a:pPr algn="ctr">
              <a:defRPr sz="975" b="1">
                <a:solidFill>
                  <a:srgbClr val="0E2A47"/>
                </a:solidFill>
                <a:latin typeface="Arial" panose="020B0604020202020204"/>
                <a:ea typeface="Arial" panose="020B0604020202020204"/>
                <a:cs typeface="Arial" panose="020B0604020202020204"/>
              </a:defRPr>
            </a:pPr>
            <a:r>
              <a:rPr sz="1300" b="1" dirty="0">
                <a:solidFill>
                  <a:srgbClr val="0E2A47"/>
                </a:solidFill>
              </a:rPr>
              <a:t>test rows</a:t>
            </a:r>
          </a:p>
        </p:txBody>
      </p:sp>
      <p:sp>
        <p:nvSpPr>
          <p:cNvPr id="84" name="split-rule-title"/>
          <p:cNvSpPr>
            <a:spLocks noGrp="1"/>
          </p:cNvSpPr>
          <p:nvPr/>
        </p:nvSpPr>
        <p:spPr>
          <a:xfrm>
            <a:off x="703150" y="3153855"/>
            <a:ext cx="1905000" cy="340606"/>
          </a:xfrm>
          <a:prstGeom prst="rect">
            <a:avLst/>
          </a:prstGeom>
          <a:noFill/>
          <a:ln w="0">
            <a:noFill/>
            <a:prstDash val="solid"/>
          </a:ln>
        </p:spPr>
        <p:txBody>
          <a:bodyPr lIns="38100" tIns="19050" rIns="38100" bIns="19050">
            <a:noAutofit/>
          </a:bodyPr>
          <a:lstStyle/>
          <a:p>
            <a:pPr>
              <a:defRPr sz="1165" b="1">
                <a:solidFill>
                  <a:srgbClr val="0E2A47"/>
                </a:solidFill>
                <a:latin typeface="Arial" panose="020B0604020202020204"/>
                <a:ea typeface="Arial" panose="020B0604020202020204"/>
                <a:cs typeface="Arial" panose="020B0604020202020204"/>
              </a:defRPr>
            </a:pPr>
            <a:r>
              <a:rPr lang="en-US" altLang="zh-CN" sz="1600" b="1" dirty="0">
                <a:solidFill>
                  <a:srgbClr val="D93025"/>
                </a:solidFill>
                <a:latin typeface="+mn-lt"/>
                <a:ea typeface="Noto Sans SC" panose="020B0200000000000000" charset="-122"/>
                <a:sym typeface="Noto Sans SC" panose="020B0200000000000000" charset="-122"/>
              </a:rPr>
              <a:t>📊</a:t>
            </a:r>
            <a:r>
              <a:rPr lang="en-US" altLang="zh-CN" sz="2000" b="1" i="0" u="none" strike="noStrike" dirty="0">
                <a:solidFill>
                  <a:srgbClr val="D9302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sz="1600" b="1" dirty="0">
                <a:solidFill>
                  <a:srgbClr val="D93025"/>
                </a:solidFill>
                <a:latin typeface="+mn-lt"/>
                <a:ea typeface="Noto Sans SC" panose="020B0200000000000000" charset="-122"/>
              </a:rPr>
              <a:t>Split rule</a:t>
            </a:r>
          </a:p>
        </p:txBody>
      </p:sp>
      <p:sp>
        <p:nvSpPr>
          <p:cNvPr id="85" name="split-rule-row-0-line"/>
          <p:cNvSpPr>
            <a:spLocks noGrp="1"/>
          </p:cNvSpPr>
          <p:nvPr/>
        </p:nvSpPr>
        <p:spPr>
          <a:xfrm>
            <a:off x="703150" y="4017188"/>
            <a:ext cx="2971800" cy="0"/>
          </a:xfrm>
          <a:prstGeom prst="line">
            <a:avLst/>
          </a:prstGeom>
          <a:noFill/>
          <a:ln w="9525">
            <a:solidFill>
              <a:srgbClr val="E3EAF2"/>
            </a:solidFill>
            <a:prstDash val="solid"/>
          </a:ln>
        </p:spPr>
      </p:sp>
      <p:sp>
        <p:nvSpPr>
          <p:cNvPr id="86" name="split-rule-field-0"/>
          <p:cNvSpPr>
            <a:spLocks noGrp="1"/>
          </p:cNvSpPr>
          <p:nvPr/>
        </p:nvSpPr>
        <p:spPr>
          <a:xfrm>
            <a:off x="679110" y="3721745"/>
            <a:ext cx="819150" cy="268704"/>
          </a:xfrm>
          <a:prstGeom prst="rect">
            <a:avLst/>
          </a:prstGeom>
          <a:noFill/>
          <a:ln w="0">
            <a:noFill/>
            <a:prstDash val="solid"/>
          </a:ln>
        </p:spPr>
        <p:txBody>
          <a:bodyPr lIns="38100" tIns="19050" rIns="38100" bIns="19050">
            <a:normAutofit/>
          </a:bodyPr>
          <a:lstStyle/>
          <a:p>
            <a:pPr>
              <a:defRPr sz="885" b="1">
                <a:solidFill>
                  <a:srgbClr val="566579"/>
                </a:solidFill>
                <a:latin typeface="Arial" panose="020B0604020202020204"/>
                <a:ea typeface="Arial" panose="020B0604020202020204"/>
                <a:cs typeface="Arial" panose="020B0604020202020204"/>
              </a:defRPr>
            </a:pPr>
            <a:r>
              <a:rPr sz="1300" b="1" dirty="0">
                <a:solidFill>
                  <a:srgbClr val="566579"/>
                </a:solidFill>
                <a:latin typeface="Arial" panose="020B0604020202020204"/>
                <a:ea typeface="Arial" panose="020B0604020202020204"/>
                <a:cs typeface="Arial" panose="020B0604020202020204"/>
              </a:rPr>
              <a:t>Method</a:t>
            </a:r>
          </a:p>
        </p:txBody>
      </p:sp>
      <p:sp>
        <p:nvSpPr>
          <p:cNvPr id="87" name="split-rule-value-0"/>
          <p:cNvSpPr>
            <a:spLocks noGrp="1"/>
          </p:cNvSpPr>
          <p:nvPr/>
        </p:nvSpPr>
        <p:spPr>
          <a:xfrm>
            <a:off x="1803060" y="3729271"/>
            <a:ext cx="2175556" cy="245752"/>
          </a:xfrm>
          <a:prstGeom prst="rect">
            <a:avLst/>
          </a:prstGeom>
          <a:noFill/>
          <a:ln w="0">
            <a:noFill/>
            <a:prstDash val="solid"/>
          </a:ln>
        </p:spPr>
        <p:txBody>
          <a:bodyPr lIns="38100" tIns="19050" rIns="38100" bIns="19050">
            <a:noAutofit/>
          </a:bodyPr>
          <a:lstStyle/>
          <a:p>
            <a:pPr>
              <a:defRPr sz="855">
                <a:solidFill>
                  <a:srgbClr val="1F2A37"/>
                </a:solidFill>
                <a:latin typeface="Arial" panose="020B0604020202020204"/>
                <a:ea typeface="Arial" panose="020B0604020202020204"/>
                <a:cs typeface="Arial" panose="020B0604020202020204"/>
              </a:defRPr>
            </a:pPr>
            <a:r>
              <a:rPr sz="1050" dirty="0">
                <a:solidFill>
                  <a:srgbClr val="1F2A37"/>
                </a:solidFill>
                <a:latin typeface="Arial" panose="020B0604020202020204"/>
                <a:ea typeface="Arial" panose="020B0604020202020204"/>
                <a:cs typeface="Arial" panose="020B0604020202020204"/>
              </a:rPr>
              <a:t>deterministic stratified holdout</a:t>
            </a:r>
          </a:p>
        </p:txBody>
      </p:sp>
      <p:sp>
        <p:nvSpPr>
          <p:cNvPr id="98" name="distribution-title"/>
          <p:cNvSpPr>
            <a:spLocks noGrp="1"/>
          </p:cNvSpPr>
          <p:nvPr/>
        </p:nvSpPr>
        <p:spPr>
          <a:xfrm>
            <a:off x="4514849" y="3152267"/>
            <a:ext cx="2600325" cy="311829"/>
          </a:xfrm>
          <a:prstGeom prst="rect">
            <a:avLst/>
          </a:prstGeom>
          <a:noFill/>
          <a:ln w="0">
            <a:noFill/>
            <a:prstDash val="solid"/>
          </a:ln>
        </p:spPr>
        <p:txBody>
          <a:bodyPr lIns="38100" tIns="19050" rIns="38100" bIns="19050">
            <a:noAutofit/>
          </a:bodyPr>
          <a:lstStyle/>
          <a:p>
            <a:pPr>
              <a:lnSpc>
                <a:spcPct val="108000"/>
              </a:lnSpc>
              <a:defRPr/>
            </a:pPr>
            <a:r>
              <a:rPr lang="en-US" altLang="zh-CN" sz="1600" b="1" i="0" u="none" strike="noStrike" dirty="0">
                <a:solidFill>
                  <a:srgbClr val="286090"/>
                </a:solidFill>
                <a:latin typeface="+mn-lt"/>
                <a:ea typeface="Noto Sans SC" panose="020B0200000000000000" charset="-122"/>
                <a:cs typeface="Noto Sans SC" panose="020B0200000000000000" charset="-122"/>
                <a:sym typeface="Noto Sans SC" panose="020B0200000000000000" charset="-122"/>
              </a:rPr>
              <a:t>📂 </a:t>
            </a:r>
            <a:r>
              <a:rPr sz="1600" b="1" dirty="0">
                <a:solidFill>
                  <a:srgbClr val="286090"/>
                </a:solidFill>
                <a:latin typeface="+mn-lt"/>
                <a:ea typeface="Noto Sans SC" panose="020B0200000000000000" charset="-122"/>
              </a:rPr>
              <a:t>Category Distribution</a:t>
            </a:r>
          </a:p>
        </p:txBody>
      </p:sp>
      <p:graphicFrame>
        <p:nvGraphicFramePr>
          <p:cNvPr id="99" name="表格 98"/>
          <p:cNvGraphicFramePr/>
          <p:nvPr/>
        </p:nvGraphicFramePr>
        <p:xfrm>
          <a:off x="4514850" y="3633306"/>
          <a:ext cx="2971800" cy="1696215"/>
        </p:xfrm>
        <a:graphic>
          <a:graphicData uri="http://schemas.openxmlformats.org/drawingml/2006/table">
            <a:tbl>
              <a:tblPr firstRow="1" bandRow="1"/>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413005">
                <a:tc>
                  <a:txBody>
                    <a:bodyPr/>
                    <a:lstStyle/>
                    <a:p>
                      <a:pPr algn="l"/>
                      <a:r>
                        <a:rPr sz="1200" b="1" dirty="0">
                          <a:solidFill>
                            <a:srgbClr val="0E2A47"/>
                          </a:solidFill>
                          <a:latin typeface="Arial" panose="020B0604020202020204"/>
                          <a:ea typeface="Arial" panose="020B0604020202020204"/>
                          <a:cs typeface="Arial" panose="020B0604020202020204"/>
                        </a:rPr>
                        <a:t>Category</a:t>
                      </a:r>
                    </a:p>
                  </a:txBody>
                  <a:tcPr>
                    <a:solidFill>
                      <a:srgbClr val="E6F0FA"/>
                    </a:solidFill>
                  </a:tcPr>
                </a:tc>
                <a:tc>
                  <a:txBody>
                    <a:bodyPr/>
                    <a:lstStyle/>
                    <a:p>
                      <a:pPr algn="ctr"/>
                      <a:r>
                        <a:rPr sz="1200" b="1">
                          <a:solidFill>
                            <a:srgbClr val="0E2A47"/>
                          </a:solidFill>
                          <a:latin typeface="Arial" panose="020B0604020202020204"/>
                          <a:ea typeface="Arial" panose="020B0604020202020204"/>
                          <a:cs typeface="Arial" panose="020B0604020202020204"/>
                        </a:rPr>
                        <a:t>Total</a:t>
                      </a:r>
                    </a:p>
                  </a:txBody>
                  <a:tcPr>
                    <a:solidFill>
                      <a:srgbClr val="E6F0FA"/>
                    </a:solidFill>
                  </a:tcPr>
                </a:tc>
                <a:tc>
                  <a:txBody>
                    <a:bodyPr/>
                    <a:lstStyle/>
                    <a:p>
                      <a:pPr algn="ctr"/>
                      <a:r>
                        <a:rPr sz="1200" b="1">
                          <a:solidFill>
                            <a:srgbClr val="0E2A47"/>
                          </a:solidFill>
                          <a:latin typeface="Arial" panose="020B0604020202020204"/>
                          <a:ea typeface="Arial" panose="020B0604020202020204"/>
                          <a:cs typeface="Arial" panose="020B0604020202020204"/>
                        </a:rPr>
                        <a:t>Share</a:t>
                      </a:r>
                    </a:p>
                  </a:txBody>
                  <a:tcPr>
                    <a:solidFill>
                      <a:srgbClr val="E6F0FA"/>
                    </a:solidFill>
                  </a:tcPr>
                </a:tc>
                <a:extLst>
                  <a:ext uri="{0D108BD9-81ED-4DB2-BD59-A6C34878D82A}">
                    <a16:rowId xmlns:a16="http://schemas.microsoft.com/office/drawing/2014/main" val="10000"/>
                  </a:ext>
                </a:extLst>
              </a:tr>
              <a:tr h="413005">
                <a:tc>
                  <a:txBody>
                    <a:bodyPr/>
                    <a:lstStyle/>
                    <a:p>
                      <a:pPr algn="l"/>
                      <a:r>
                        <a:rPr sz="1200" dirty="0">
                          <a:solidFill>
                            <a:srgbClr val="243449"/>
                          </a:solidFill>
                          <a:latin typeface="Arial" panose="020B0604020202020204"/>
                          <a:ea typeface="Arial" panose="020B0604020202020204"/>
                          <a:cs typeface="Arial" panose="020B0604020202020204"/>
                        </a:rPr>
                        <a:t>All Other App Types</a:t>
                      </a:r>
                    </a:p>
                  </a:txBody>
                  <a:tcPr>
                    <a:solidFill>
                      <a:srgbClr val="FFFFFF"/>
                    </a:solidFill>
                  </a:tcPr>
                </a:tc>
                <a:tc>
                  <a:txBody>
                    <a:bodyPr/>
                    <a:lstStyle/>
                    <a:p>
                      <a:pPr algn="ctr"/>
                      <a:r>
                        <a:rPr sz="1200">
                          <a:solidFill>
                            <a:srgbClr val="243449"/>
                          </a:solidFill>
                          <a:latin typeface="Arial" panose="020B0604020202020204"/>
                          <a:ea typeface="Arial" panose="020B0604020202020204"/>
                          <a:cs typeface="Arial" panose="020B0604020202020204"/>
                        </a:rPr>
                        <a:t>616</a:t>
                      </a:r>
                    </a:p>
                  </a:txBody>
                  <a:tcPr>
                    <a:solidFill>
                      <a:srgbClr val="FFFFFF"/>
                    </a:solidFill>
                  </a:tcPr>
                </a:tc>
                <a:tc>
                  <a:txBody>
                    <a:bodyPr/>
                    <a:lstStyle/>
                    <a:p>
                      <a:pPr algn="ctr"/>
                      <a:r>
                        <a:rPr sz="1200" dirty="0">
                          <a:solidFill>
                            <a:srgbClr val="243449"/>
                          </a:solidFill>
                          <a:latin typeface="Arial" panose="020B0604020202020204"/>
                          <a:ea typeface="Arial" panose="020B0604020202020204"/>
                          <a:cs typeface="Arial" panose="020B0604020202020204"/>
                        </a:rPr>
                        <a:t>48.7%</a:t>
                      </a:r>
                    </a:p>
                  </a:txBody>
                  <a:tcPr>
                    <a:solidFill>
                      <a:srgbClr val="FFFFFF"/>
                    </a:solidFill>
                  </a:tcPr>
                </a:tc>
                <a:extLst>
                  <a:ext uri="{0D108BD9-81ED-4DB2-BD59-A6C34878D82A}">
                    <a16:rowId xmlns:a16="http://schemas.microsoft.com/office/drawing/2014/main" val="10001"/>
                  </a:ext>
                </a:extLst>
              </a:tr>
              <a:tr h="413005">
                <a:tc>
                  <a:txBody>
                    <a:bodyPr/>
                    <a:lstStyle/>
                    <a:p>
                      <a:pPr algn="l"/>
                      <a:r>
                        <a:rPr sz="1200" dirty="0">
                          <a:solidFill>
                            <a:srgbClr val="243449"/>
                          </a:solidFill>
                          <a:latin typeface="Arial" panose="020B0604020202020204"/>
                          <a:ea typeface="Arial" panose="020B0604020202020204"/>
                          <a:cs typeface="Arial" panose="020B0604020202020204"/>
                        </a:rPr>
                        <a:t>Game</a:t>
                      </a:r>
                    </a:p>
                  </a:txBody>
                  <a:tcPr>
                    <a:solidFill>
                      <a:srgbClr val="F6F9FD"/>
                    </a:solidFill>
                  </a:tcPr>
                </a:tc>
                <a:tc>
                  <a:txBody>
                    <a:bodyPr/>
                    <a:lstStyle/>
                    <a:p>
                      <a:pPr algn="ctr"/>
                      <a:r>
                        <a:rPr sz="1200" dirty="0">
                          <a:solidFill>
                            <a:srgbClr val="243449"/>
                          </a:solidFill>
                          <a:latin typeface="Arial" panose="020B0604020202020204"/>
                          <a:ea typeface="Arial" panose="020B0604020202020204"/>
                          <a:cs typeface="Arial" panose="020B0604020202020204"/>
                        </a:rPr>
                        <a:t>633</a:t>
                      </a:r>
                    </a:p>
                  </a:txBody>
                  <a:tcPr>
                    <a:solidFill>
                      <a:srgbClr val="F6F9FD"/>
                    </a:solidFill>
                  </a:tcPr>
                </a:tc>
                <a:tc>
                  <a:txBody>
                    <a:bodyPr/>
                    <a:lstStyle/>
                    <a:p>
                      <a:pPr algn="ctr"/>
                      <a:r>
                        <a:rPr sz="1200">
                          <a:solidFill>
                            <a:srgbClr val="243449"/>
                          </a:solidFill>
                          <a:latin typeface="Arial" panose="020B0604020202020204"/>
                          <a:ea typeface="Arial" panose="020B0604020202020204"/>
                          <a:cs typeface="Arial" panose="020B0604020202020204"/>
                        </a:rPr>
                        <a:t>50.0%</a:t>
                      </a:r>
                    </a:p>
                  </a:txBody>
                  <a:tcPr>
                    <a:solidFill>
                      <a:srgbClr val="F6F9FD"/>
                    </a:solidFill>
                  </a:tcPr>
                </a:tc>
                <a:extLst>
                  <a:ext uri="{0D108BD9-81ED-4DB2-BD59-A6C34878D82A}">
                    <a16:rowId xmlns:a16="http://schemas.microsoft.com/office/drawing/2014/main" val="10002"/>
                  </a:ext>
                </a:extLst>
              </a:tr>
              <a:tr h="413005">
                <a:tc>
                  <a:txBody>
                    <a:bodyPr/>
                    <a:lstStyle/>
                    <a:p>
                      <a:pPr algn="l"/>
                      <a:r>
                        <a:rPr sz="1200" dirty="0">
                          <a:solidFill>
                            <a:srgbClr val="243449"/>
                          </a:solidFill>
                          <a:latin typeface="Arial" panose="020B0604020202020204"/>
                          <a:ea typeface="Arial" panose="020B0604020202020204"/>
                          <a:cs typeface="Arial" panose="020B0604020202020204"/>
                        </a:rPr>
                        <a:t>Social or Communication</a:t>
                      </a:r>
                    </a:p>
                  </a:txBody>
                  <a:tcPr>
                    <a:solidFill>
                      <a:srgbClr val="FFFFFF"/>
                    </a:solidFill>
                  </a:tcPr>
                </a:tc>
                <a:tc>
                  <a:txBody>
                    <a:bodyPr/>
                    <a:lstStyle/>
                    <a:p>
                      <a:pPr algn="ctr"/>
                      <a:r>
                        <a:rPr sz="1200" dirty="0">
                          <a:solidFill>
                            <a:srgbClr val="243449"/>
                          </a:solidFill>
                          <a:latin typeface="Arial" panose="020B0604020202020204"/>
                          <a:ea typeface="Arial" panose="020B0604020202020204"/>
                          <a:cs typeface="Arial" panose="020B0604020202020204"/>
                        </a:rPr>
                        <a:t>16</a:t>
                      </a:r>
                    </a:p>
                  </a:txBody>
                  <a:tcPr>
                    <a:solidFill>
                      <a:srgbClr val="FFFFFF"/>
                    </a:solidFill>
                  </a:tcPr>
                </a:tc>
                <a:tc>
                  <a:txBody>
                    <a:bodyPr/>
                    <a:lstStyle/>
                    <a:p>
                      <a:pPr algn="ctr"/>
                      <a:r>
                        <a:rPr sz="1200" dirty="0">
                          <a:solidFill>
                            <a:srgbClr val="243449"/>
                          </a:solidFill>
                          <a:latin typeface="Arial" panose="020B0604020202020204"/>
                          <a:ea typeface="Arial" panose="020B0604020202020204"/>
                          <a:cs typeface="Arial" panose="020B0604020202020204"/>
                        </a:rPr>
                        <a:t>1.3%</a:t>
                      </a:r>
                    </a:p>
                  </a:txBody>
                  <a:tcPr>
                    <a:solidFill>
                      <a:srgbClr val="FFFFFF"/>
                    </a:solidFill>
                  </a:tcPr>
                </a:tc>
                <a:extLst>
                  <a:ext uri="{0D108BD9-81ED-4DB2-BD59-A6C34878D82A}">
                    <a16:rowId xmlns:a16="http://schemas.microsoft.com/office/drawing/2014/main" val="10003"/>
                  </a:ext>
                </a:extLst>
              </a:tr>
            </a:tbl>
          </a:graphicData>
        </a:graphic>
      </p:graphicFrame>
      <p:sp>
        <p:nvSpPr>
          <p:cNvPr id="114" name="AutoShape 20"/>
          <p:cNvSpPr/>
          <p:nvPr/>
        </p:nvSpPr>
        <p:spPr>
          <a:xfrm>
            <a:off x="566964" y="5988552"/>
            <a:ext cx="11353800" cy="508000"/>
          </a:xfrm>
          <a:prstGeom prst="roundRect">
            <a:avLst>
              <a:gd name="adj" fmla="val 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5" name="AutoShape 21"/>
          <p:cNvSpPr/>
          <p:nvPr/>
        </p:nvSpPr>
        <p:spPr>
          <a:xfrm>
            <a:off x="668564" y="6052052"/>
            <a:ext cx="11176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1F2329"/>
                </a:solidFill>
                <a:latin typeface="+mn-lt"/>
                <a:ea typeface="Noto Sans SC" panose="020B0200000000000000" charset="-122"/>
                <a:cs typeface="Noto Sans SC" panose="020B0200000000000000" charset="-122"/>
                <a:sym typeface="Noto Sans SC" panose="020B0200000000000000" charset="-122"/>
              </a:rPr>
              <a:t>Final Outcome: </a:t>
            </a:r>
            <a:r>
              <a:rPr lang="en-US" sz="1300" b="0" i="0" u="none" strike="noStrike" dirty="0">
                <a:solidFill>
                  <a:srgbClr val="1F2329"/>
                </a:solidFill>
                <a:latin typeface="+mn-lt"/>
                <a:ea typeface="Noto Sans SC" panose="020B0200000000000000" charset="-122"/>
                <a:cs typeface="Noto Sans SC" panose="020B0200000000000000" charset="-122"/>
                <a:sym typeface="Noto Sans SC" panose="020B0200000000000000" charset="-122"/>
              </a:rPr>
              <a:t>clean rows, traceable exclusions, consistent field names, and reproducible splits.</a:t>
            </a:r>
            <a:endParaRPr lang="en-US" sz="1100" dirty="0">
              <a:latin typeface="+mn-lt"/>
            </a:endParaRPr>
          </a:p>
        </p:txBody>
      </p:sp>
      <p:cxnSp>
        <p:nvCxnSpPr>
          <p:cNvPr id="119" name="Connector 7"/>
          <p:cNvCxnSpPr/>
          <p:nvPr/>
        </p:nvCxnSpPr>
        <p:spPr>
          <a:xfrm flipV="1">
            <a:off x="733425" y="3581115"/>
            <a:ext cx="3052989" cy="1"/>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20" name="split-rule-row-0-line"/>
          <p:cNvSpPr>
            <a:spLocks noGrp="1"/>
          </p:cNvSpPr>
          <p:nvPr/>
        </p:nvSpPr>
        <p:spPr>
          <a:xfrm>
            <a:off x="724580" y="4548488"/>
            <a:ext cx="2971800" cy="0"/>
          </a:xfrm>
          <a:prstGeom prst="line">
            <a:avLst/>
          </a:prstGeom>
          <a:noFill/>
          <a:ln w="9525">
            <a:solidFill>
              <a:srgbClr val="E3EAF2"/>
            </a:solidFill>
            <a:prstDash val="solid"/>
          </a:ln>
        </p:spPr>
      </p:sp>
      <p:sp>
        <p:nvSpPr>
          <p:cNvPr id="121" name="split-rule-field-0"/>
          <p:cNvSpPr>
            <a:spLocks noGrp="1"/>
          </p:cNvSpPr>
          <p:nvPr/>
        </p:nvSpPr>
        <p:spPr>
          <a:xfrm>
            <a:off x="670265" y="4111524"/>
            <a:ext cx="819150" cy="268704"/>
          </a:xfrm>
          <a:prstGeom prst="rect">
            <a:avLst/>
          </a:prstGeom>
          <a:noFill/>
          <a:ln w="0">
            <a:noFill/>
            <a:prstDash val="solid"/>
          </a:ln>
        </p:spPr>
        <p:txBody>
          <a:bodyPr lIns="38100" tIns="19050" rIns="38100" bIns="19050">
            <a:normAutofit/>
          </a:bodyPr>
          <a:lstStyle/>
          <a:p>
            <a:pPr>
              <a:defRPr sz="885" b="1">
                <a:solidFill>
                  <a:srgbClr val="566579"/>
                </a:solidFill>
                <a:latin typeface="Arial" panose="020B0604020202020204"/>
                <a:ea typeface="Arial" panose="020B0604020202020204"/>
                <a:cs typeface="Arial" panose="020B0604020202020204"/>
              </a:defRPr>
            </a:pPr>
            <a:r>
              <a:rPr lang="en-US" sz="1300" b="1" dirty="0">
                <a:solidFill>
                  <a:srgbClr val="566579"/>
                </a:solidFill>
                <a:latin typeface="Arial" panose="020B0604020202020204"/>
                <a:ea typeface="Arial" panose="020B0604020202020204"/>
                <a:cs typeface="Arial" panose="020B0604020202020204"/>
              </a:rPr>
              <a:t>Strata</a:t>
            </a:r>
          </a:p>
        </p:txBody>
      </p:sp>
      <p:sp>
        <p:nvSpPr>
          <p:cNvPr id="122" name="split-rule-value-0"/>
          <p:cNvSpPr>
            <a:spLocks noGrp="1"/>
          </p:cNvSpPr>
          <p:nvPr/>
        </p:nvSpPr>
        <p:spPr>
          <a:xfrm>
            <a:off x="1803060" y="4110457"/>
            <a:ext cx="2276476" cy="374530"/>
          </a:xfrm>
          <a:prstGeom prst="rect">
            <a:avLst/>
          </a:prstGeom>
          <a:noFill/>
          <a:ln w="0">
            <a:noFill/>
            <a:prstDash val="solid"/>
          </a:ln>
        </p:spPr>
        <p:txBody>
          <a:bodyPr lIns="38100" tIns="19050" rIns="38100" bIns="19050">
            <a:noAutofit/>
          </a:bodyPr>
          <a:lstStyle/>
          <a:p>
            <a:pPr>
              <a:defRPr sz="855">
                <a:solidFill>
                  <a:srgbClr val="1F2A37"/>
                </a:solidFill>
                <a:latin typeface="Arial" panose="020B0604020202020204"/>
                <a:ea typeface="Arial" panose="020B0604020202020204"/>
                <a:cs typeface="Arial" panose="020B0604020202020204"/>
              </a:defRPr>
            </a:pPr>
            <a:r>
              <a:rPr lang="en-US" sz="1050" dirty="0">
                <a:solidFill>
                  <a:srgbClr val="1F2A37"/>
                </a:solidFill>
                <a:latin typeface="Arial" panose="020B0604020202020204"/>
                <a:ea typeface="Arial" panose="020B0604020202020204"/>
                <a:cs typeface="Arial" panose="020B0604020202020204"/>
              </a:rPr>
              <a:t>app category x North America </a:t>
            </a:r>
          </a:p>
          <a:p>
            <a:pPr>
              <a:defRPr sz="855">
                <a:solidFill>
                  <a:srgbClr val="1F2A37"/>
                </a:solidFill>
                <a:latin typeface="Arial" panose="020B0604020202020204"/>
                <a:ea typeface="Arial" panose="020B0604020202020204"/>
                <a:cs typeface="Arial" panose="020B0604020202020204"/>
              </a:defRPr>
            </a:pPr>
            <a:r>
              <a:rPr lang="en-US" sz="1050" dirty="0">
                <a:solidFill>
                  <a:srgbClr val="1F2A37"/>
                </a:solidFill>
                <a:latin typeface="Arial" panose="020B0604020202020204"/>
                <a:ea typeface="Arial" panose="020B0604020202020204"/>
                <a:cs typeface="Arial" panose="020B0604020202020204"/>
              </a:rPr>
              <a:t>rating label</a:t>
            </a:r>
          </a:p>
        </p:txBody>
      </p:sp>
      <p:sp>
        <p:nvSpPr>
          <p:cNvPr id="123" name="split-rule-row-0-line"/>
          <p:cNvSpPr>
            <a:spLocks noGrp="1"/>
          </p:cNvSpPr>
          <p:nvPr/>
        </p:nvSpPr>
        <p:spPr>
          <a:xfrm>
            <a:off x="733425" y="4965327"/>
            <a:ext cx="2971800" cy="0"/>
          </a:xfrm>
          <a:prstGeom prst="line">
            <a:avLst/>
          </a:prstGeom>
          <a:noFill/>
          <a:ln w="9525">
            <a:solidFill>
              <a:srgbClr val="E3EAF2"/>
            </a:solidFill>
            <a:prstDash val="solid"/>
          </a:ln>
        </p:spPr>
      </p:sp>
      <p:sp>
        <p:nvSpPr>
          <p:cNvPr id="124" name="split-rule-field-0"/>
          <p:cNvSpPr>
            <a:spLocks noGrp="1"/>
          </p:cNvSpPr>
          <p:nvPr/>
        </p:nvSpPr>
        <p:spPr>
          <a:xfrm>
            <a:off x="709385" y="4667997"/>
            <a:ext cx="838200" cy="294191"/>
          </a:xfrm>
          <a:prstGeom prst="rect">
            <a:avLst/>
          </a:prstGeom>
          <a:noFill/>
          <a:ln w="0">
            <a:noFill/>
            <a:prstDash val="solid"/>
          </a:ln>
        </p:spPr>
        <p:txBody>
          <a:bodyPr lIns="38100" tIns="19050" rIns="38100" bIns="19050">
            <a:noAutofit/>
          </a:bodyPr>
          <a:lstStyle/>
          <a:p>
            <a:pPr>
              <a:defRPr sz="885" b="1">
                <a:solidFill>
                  <a:srgbClr val="566579"/>
                </a:solidFill>
                <a:latin typeface="Arial" panose="020B0604020202020204"/>
                <a:ea typeface="Arial" panose="020B0604020202020204"/>
                <a:cs typeface="Arial" panose="020B0604020202020204"/>
              </a:defRPr>
            </a:pPr>
            <a:r>
              <a:rPr lang="en-US" altLang="zh-CN" sz="1300" b="1" dirty="0">
                <a:solidFill>
                  <a:srgbClr val="566579"/>
                </a:solidFill>
                <a:latin typeface="Arial" panose="020B0604020202020204"/>
                <a:ea typeface="Arial" panose="020B0604020202020204"/>
                <a:cs typeface="Arial" panose="020B0604020202020204"/>
              </a:rPr>
              <a:t>Test ratio</a:t>
            </a:r>
          </a:p>
        </p:txBody>
      </p:sp>
      <p:sp>
        <p:nvSpPr>
          <p:cNvPr id="125" name="split-rule-value-0"/>
          <p:cNvSpPr>
            <a:spLocks noGrp="1"/>
          </p:cNvSpPr>
          <p:nvPr/>
        </p:nvSpPr>
        <p:spPr>
          <a:xfrm>
            <a:off x="1833335" y="4688077"/>
            <a:ext cx="2014309" cy="172168"/>
          </a:xfrm>
          <a:prstGeom prst="rect">
            <a:avLst/>
          </a:prstGeom>
          <a:noFill/>
          <a:ln w="0">
            <a:noFill/>
            <a:prstDash val="solid"/>
          </a:ln>
        </p:spPr>
        <p:txBody>
          <a:bodyPr lIns="38100" tIns="19050" rIns="38100" bIns="19050">
            <a:noAutofit/>
          </a:bodyPr>
          <a:lstStyle/>
          <a:p>
            <a:pPr>
              <a:defRPr sz="855">
                <a:solidFill>
                  <a:srgbClr val="1F2A37"/>
                </a:solidFill>
                <a:latin typeface="Arial" panose="020B0604020202020204"/>
                <a:ea typeface="Arial" panose="020B0604020202020204"/>
                <a:cs typeface="Arial" panose="020B0604020202020204"/>
              </a:defRPr>
            </a:pPr>
            <a:r>
              <a:rPr lang="en-US" sz="1050" dirty="0">
                <a:solidFill>
                  <a:srgbClr val="1F2A37"/>
                </a:solidFill>
              </a:rPr>
              <a:t>20%</a:t>
            </a:r>
          </a:p>
        </p:txBody>
      </p:sp>
      <p:sp>
        <p:nvSpPr>
          <p:cNvPr id="126" name="split-rule-row-0-line"/>
          <p:cNvSpPr>
            <a:spLocks noGrp="1"/>
          </p:cNvSpPr>
          <p:nvPr/>
        </p:nvSpPr>
        <p:spPr>
          <a:xfrm>
            <a:off x="724580" y="5408138"/>
            <a:ext cx="2971800" cy="0"/>
          </a:xfrm>
          <a:prstGeom prst="line">
            <a:avLst/>
          </a:prstGeom>
          <a:noFill/>
          <a:ln w="9525">
            <a:solidFill>
              <a:srgbClr val="E3EAF2"/>
            </a:solidFill>
            <a:prstDash val="solid"/>
          </a:ln>
        </p:spPr>
      </p:sp>
      <p:sp>
        <p:nvSpPr>
          <p:cNvPr id="127" name="split-rule-field-0"/>
          <p:cNvSpPr>
            <a:spLocks noGrp="1"/>
          </p:cNvSpPr>
          <p:nvPr/>
        </p:nvSpPr>
        <p:spPr>
          <a:xfrm>
            <a:off x="700085" y="5097623"/>
            <a:ext cx="1133250" cy="231942"/>
          </a:xfrm>
          <a:prstGeom prst="rect">
            <a:avLst/>
          </a:prstGeom>
          <a:noFill/>
          <a:ln w="0">
            <a:noFill/>
            <a:prstDash val="solid"/>
          </a:ln>
        </p:spPr>
        <p:txBody>
          <a:bodyPr lIns="38100" tIns="19050" rIns="38100" bIns="19050">
            <a:noAutofit/>
          </a:bodyPr>
          <a:lstStyle/>
          <a:p>
            <a:pPr>
              <a:defRPr sz="885" b="1">
                <a:solidFill>
                  <a:srgbClr val="566579"/>
                </a:solidFill>
                <a:latin typeface="Arial" panose="020B0604020202020204"/>
                <a:ea typeface="Arial" panose="020B0604020202020204"/>
                <a:cs typeface="Arial" panose="020B0604020202020204"/>
              </a:defRPr>
            </a:pPr>
            <a:r>
              <a:rPr lang="en-US" sz="1100" b="1" dirty="0">
                <a:solidFill>
                  <a:srgbClr val="566579"/>
                </a:solidFill>
                <a:latin typeface="Arial" panose="020B0604020202020204"/>
                <a:ea typeface="Arial" panose="020B0604020202020204"/>
                <a:cs typeface="Arial" panose="020B0604020202020204"/>
              </a:rPr>
              <a:t>Reproducibility</a:t>
            </a:r>
            <a:endParaRPr sz="1100" b="1" dirty="0">
              <a:solidFill>
                <a:srgbClr val="566579"/>
              </a:solidFill>
              <a:latin typeface="Arial" panose="020B0604020202020204"/>
              <a:ea typeface="Arial" panose="020B0604020202020204"/>
              <a:cs typeface="Arial" panose="020B0604020202020204"/>
            </a:endParaRPr>
          </a:p>
        </p:txBody>
      </p:sp>
      <p:sp>
        <p:nvSpPr>
          <p:cNvPr id="128" name="split-rule-value-0"/>
          <p:cNvSpPr>
            <a:spLocks noGrp="1"/>
          </p:cNvSpPr>
          <p:nvPr/>
        </p:nvSpPr>
        <p:spPr>
          <a:xfrm>
            <a:off x="1833336" y="5097624"/>
            <a:ext cx="2005464" cy="307375"/>
          </a:xfrm>
          <a:prstGeom prst="rect">
            <a:avLst/>
          </a:prstGeom>
          <a:noFill/>
          <a:ln w="0">
            <a:noFill/>
            <a:prstDash val="solid"/>
          </a:ln>
        </p:spPr>
        <p:txBody>
          <a:bodyPr lIns="38100" tIns="19050" rIns="38100" bIns="19050">
            <a:noAutofit/>
          </a:bodyPr>
          <a:lstStyle/>
          <a:p>
            <a:pPr>
              <a:defRPr sz="855">
                <a:solidFill>
                  <a:srgbClr val="1F2A37"/>
                </a:solidFill>
                <a:latin typeface="Arial" panose="020B0604020202020204"/>
                <a:ea typeface="Arial" panose="020B0604020202020204"/>
                <a:cs typeface="Arial" panose="020B0604020202020204"/>
              </a:defRPr>
            </a:pPr>
            <a:r>
              <a:rPr lang="en-US" sz="1050" dirty="0">
                <a:solidFill>
                  <a:srgbClr val="1F2A37"/>
                </a:solidFill>
                <a:latin typeface="Arial" panose="020B0604020202020204"/>
                <a:ea typeface="Arial" panose="020B0604020202020204"/>
                <a:cs typeface="Arial" panose="020B0604020202020204"/>
              </a:rPr>
              <a:t>fixed deterministic split</a:t>
            </a:r>
          </a:p>
        </p:txBody>
      </p:sp>
      <p:sp>
        <p:nvSpPr>
          <p:cNvPr id="145" name="artifact-cleaned-mini-card"/>
          <p:cNvSpPr>
            <a:spLocks noGrp="1"/>
          </p:cNvSpPr>
          <p:nvPr/>
        </p:nvSpPr>
        <p:spPr>
          <a:xfrm>
            <a:off x="8072664" y="3545225"/>
            <a:ext cx="1552575" cy="914460"/>
          </a:xfrm>
          <a:prstGeom prst="roundRect">
            <a:avLst>
              <a:gd name="adj" fmla="val 14493"/>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a:t>
            </a:r>
          </a:p>
        </p:txBody>
      </p:sp>
      <p:sp>
        <p:nvSpPr>
          <p:cNvPr id="146" name="artifact-cleaned-mini-heading"/>
          <p:cNvSpPr>
            <a:spLocks noGrp="1"/>
          </p:cNvSpPr>
          <p:nvPr/>
        </p:nvSpPr>
        <p:spPr>
          <a:xfrm>
            <a:off x="8167914" y="3621425"/>
            <a:ext cx="1362075" cy="180975"/>
          </a:xfrm>
          <a:prstGeom prst="rect">
            <a:avLst/>
          </a:prstGeom>
          <a:noFill/>
          <a:ln w="0">
            <a:noFill/>
            <a:prstDash val="solid"/>
          </a:ln>
        </p:spPr>
        <p:txBody>
          <a:bodyPr lIns="38100" tIns="19050" rIns="38100" bIns="19050">
            <a:noAutofit/>
          </a:bodyPr>
          <a:lstStyle/>
          <a:p>
            <a:pPr algn="l">
              <a:defRPr sz="865" b="1">
                <a:solidFill>
                  <a:srgbClr val="0E2A47"/>
                </a:solidFill>
                <a:latin typeface="Arial" panose="020B0604020202020204"/>
                <a:ea typeface="Arial" panose="020B0604020202020204"/>
                <a:cs typeface="Arial" panose="020B0604020202020204"/>
              </a:defRPr>
            </a:pPr>
            <a:r>
              <a:rPr sz="1200" b="1" dirty="0">
                <a:solidFill>
                  <a:srgbClr val="0E2A47"/>
                </a:solidFill>
                <a:latin typeface="Arial" panose="020B0604020202020204"/>
                <a:ea typeface="Arial" panose="020B0604020202020204"/>
                <a:cs typeface="Arial" panose="020B0604020202020204"/>
              </a:rPr>
              <a:t>Cleaned </a:t>
            </a:r>
            <a:r>
              <a:rPr sz="1100" b="1" dirty="0">
                <a:solidFill>
                  <a:srgbClr val="0E2A47"/>
                </a:solidFill>
                <a:latin typeface="Arial" panose="020B0604020202020204"/>
                <a:ea typeface="Arial" panose="020B0604020202020204"/>
                <a:cs typeface="Arial" panose="020B0604020202020204"/>
              </a:rPr>
              <a:t>Dataset</a:t>
            </a:r>
          </a:p>
        </p:txBody>
      </p:sp>
      <p:sp>
        <p:nvSpPr>
          <p:cNvPr id="147" name="artifact-cleaned-mini-text"/>
          <p:cNvSpPr>
            <a:spLocks noGrp="1"/>
          </p:cNvSpPr>
          <p:nvPr/>
        </p:nvSpPr>
        <p:spPr>
          <a:xfrm>
            <a:off x="8167914" y="3821449"/>
            <a:ext cx="1452791" cy="620443"/>
          </a:xfrm>
          <a:prstGeom prst="rect">
            <a:avLst/>
          </a:prstGeom>
          <a:noFill/>
          <a:ln w="0">
            <a:noFill/>
            <a:prstDash val="solid"/>
          </a:ln>
        </p:spPr>
        <p:txBody>
          <a:bodyPr lIns="38100" tIns="19050" rIns="38100" bIns="19050">
            <a:noAutofit/>
          </a:bodyPr>
          <a:lstStyle/>
          <a:p>
            <a:pPr algn="l">
              <a:lnSpc>
                <a:spcPct val="104000"/>
              </a:lnSpc>
              <a:buNone/>
              <a:defRPr sz="735">
                <a:solidFill>
                  <a:srgbClr val="536273"/>
                </a:solidFill>
                <a:latin typeface="Arial" panose="020B0604020202020204"/>
                <a:ea typeface="Arial" panose="020B0604020202020204"/>
                <a:cs typeface="Arial" panose="020B0604020202020204"/>
              </a:defRPr>
            </a:pPr>
            <a:r>
              <a:rPr sz="1100" dirty="0">
                <a:solidFill>
                  <a:srgbClr val="536273"/>
                </a:solidFill>
              </a:rPr>
              <a:t>Normalized samples with unified field names.</a:t>
            </a:r>
          </a:p>
        </p:txBody>
      </p:sp>
      <p:sp>
        <p:nvSpPr>
          <p:cNvPr id="158" name="distribution-title"/>
          <p:cNvSpPr>
            <a:spLocks noGrp="1"/>
          </p:cNvSpPr>
          <p:nvPr/>
        </p:nvSpPr>
        <p:spPr>
          <a:xfrm>
            <a:off x="8072664" y="3141922"/>
            <a:ext cx="2600325" cy="311829"/>
          </a:xfrm>
          <a:prstGeom prst="rect">
            <a:avLst/>
          </a:prstGeom>
          <a:noFill/>
          <a:ln w="0">
            <a:noFill/>
            <a:prstDash val="solid"/>
          </a:ln>
        </p:spPr>
        <p:txBody>
          <a:bodyPr lIns="38100" tIns="19050" rIns="38100" bIns="19050">
            <a:noAutofit/>
          </a:bodyPr>
          <a:lstStyle/>
          <a:p>
            <a:pPr>
              <a:lnSpc>
                <a:spcPct val="108000"/>
              </a:lnSpc>
              <a:defRPr/>
            </a:pPr>
            <a:r>
              <a:rPr lang="zh-CN" altLang="en-US" sz="1600" b="1" i="0" u="none" strike="noStrike" dirty="0">
                <a:solidFill>
                  <a:srgbClr val="286090"/>
                </a:solidFill>
                <a:latin typeface="+mn-lt"/>
                <a:ea typeface="Noto Sans SC" panose="020B0200000000000000" charset="-122"/>
                <a:cs typeface="Noto Sans SC" panose="020B0200000000000000" charset="-122"/>
                <a:sym typeface="Noto Sans SC" panose="020B0200000000000000" charset="-122"/>
              </a:rPr>
              <a:t>🔍 </a:t>
            </a:r>
            <a:r>
              <a:rPr lang="en-US" sz="1600" b="1" dirty="0">
                <a:solidFill>
                  <a:srgbClr val="286090"/>
                </a:solidFill>
                <a:latin typeface="+mn-lt"/>
                <a:ea typeface="Noto Sans SC" panose="020B0200000000000000" charset="-122"/>
              </a:rPr>
              <a:t>Delivered Artifacts</a:t>
            </a:r>
          </a:p>
        </p:txBody>
      </p:sp>
      <p:sp>
        <p:nvSpPr>
          <p:cNvPr id="159" name="artifact-cleaned-mini-card"/>
          <p:cNvSpPr>
            <a:spLocks noGrp="1"/>
          </p:cNvSpPr>
          <p:nvPr/>
        </p:nvSpPr>
        <p:spPr>
          <a:xfrm>
            <a:off x="9777639" y="3541141"/>
            <a:ext cx="1552575" cy="914460"/>
          </a:xfrm>
          <a:prstGeom prst="roundRect">
            <a:avLst>
              <a:gd name="adj" fmla="val 14493"/>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a:t>
            </a:r>
          </a:p>
        </p:txBody>
      </p:sp>
      <p:sp>
        <p:nvSpPr>
          <p:cNvPr id="160" name="artifact-cleaned-mini-heading"/>
          <p:cNvSpPr>
            <a:spLocks noGrp="1"/>
          </p:cNvSpPr>
          <p:nvPr/>
        </p:nvSpPr>
        <p:spPr>
          <a:xfrm>
            <a:off x="9872889" y="3617341"/>
            <a:ext cx="1362075" cy="180975"/>
          </a:xfrm>
          <a:prstGeom prst="rect">
            <a:avLst/>
          </a:prstGeom>
          <a:noFill/>
          <a:ln w="0">
            <a:noFill/>
            <a:prstDash val="solid"/>
          </a:ln>
        </p:spPr>
        <p:txBody>
          <a:bodyPr lIns="38100" tIns="19050" rIns="38100" bIns="19050">
            <a:noAutofit/>
          </a:bodyPr>
          <a:lstStyle/>
          <a:p>
            <a:pPr algn="l">
              <a:defRPr sz="865" b="1">
                <a:solidFill>
                  <a:srgbClr val="0E2A47"/>
                </a:solidFill>
                <a:latin typeface="Arial" panose="020B0604020202020204"/>
                <a:ea typeface="Arial" panose="020B0604020202020204"/>
                <a:cs typeface="Arial" panose="020B0604020202020204"/>
              </a:defRPr>
            </a:pPr>
            <a:r>
              <a:rPr lang="en-US" sz="1100" b="1" dirty="0">
                <a:solidFill>
                  <a:srgbClr val="0E2A47"/>
                </a:solidFill>
                <a:latin typeface="Arial" panose="020B0604020202020204"/>
                <a:ea typeface="Arial" panose="020B0604020202020204"/>
                <a:cs typeface="Arial" panose="020B0604020202020204"/>
              </a:rPr>
              <a:t>Train/Test Split</a:t>
            </a:r>
          </a:p>
        </p:txBody>
      </p:sp>
      <p:sp>
        <p:nvSpPr>
          <p:cNvPr id="161" name="artifact-cleaned-mini-text"/>
          <p:cNvSpPr>
            <a:spLocks noGrp="1"/>
          </p:cNvSpPr>
          <p:nvPr/>
        </p:nvSpPr>
        <p:spPr>
          <a:xfrm>
            <a:off x="9872889" y="3817365"/>
            <a:ext cx="1457325" cy="649523"/>
          </a:xfrm>
          <a:prstGeom prst="rect">
            <a:avLst/>
          </a:prstGeom>
          <a:noFill/>
          <a:ln w="0">
            <a:noFill/>
            <a:prstDash val="solid"/>
          </a:ln>
        </p:spPr>
        <p:txBody>
          <a:bodyPr lIns="38100" tIns="19050" rIns="38100" bIns="19050">
            <a:noAutofit/>
          </a:bodyPr>
          <a:lstStyle/>
          <a:p>
            <a:pPr algn="l">
              <a:lnSpc>
                <a:spcPct val="104000"/>
              </a:lnSpc>
              <a:buNone/>
              <a:defRPr sz="735">
                <a:solidFill>
                  <a:srgbClr val="536273"/>
                </a:solidFill>
                <a:latin typeface="Arial" panose="020B0604020202020204"/>
                <a:ea typeface="Arial" panose="020B0604020202020204"/>
                <a:cs typeface="Arial" panose="020B0604020202020204"/>
              </a:defRPr>
            </a:pPr>
            <a:r>
              <a:rPr lang="en-US" sz="1100" dirty="0">
                <a:solidFill>
                  <a:srgbClr val="536273"/>
                </a:solidFill>
                <a:latin typeface="Arial" panose="020B0604020202020204"/>
                <a:ea typeface="Arial" panose="020B0604020202020204"/>
                <a:cs typeface="Arial" panose="020B0604020202020204"/>
              </a:rPr>
              <a:t>Reproducible subsets with identical columns.</a:t>
            </a:r>
          </a:p>
        </p:txBody>
      </p:sp>
      <p:sp>
        <p:nvSpPr>
          <p:cNvPr id="162" name="artifact-cleaned-mini-card"/>
          <p:cNvSpPr>
            <a:spLocks noGrp="1"/>
          </p:cNvSpPr>
          <p:nvPr/>
        </p:nvSpPr>
        <p:spPr>
          <a:xfrm>
            <a:off x="8072664" y="4615666"/>
            <a:ext cx="1552575" cy="1029985"/>
          </a:xfrm>
          <a:prstGeom prst="roundRect">
            <a:avLst>
              <a:gd name="adj" fmla="val 14493"/>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a:t>
            </a:r>
          </a:p>
        </p:txBody>
      </p:sp>
      <p:sp>
        <p:nvSpPr>
          <p:cNvPr id="163" name="artifact-cleaned-mini-heading"/>
          <p:cNvSpPr>
            <a:spLocks noGrp="1"/>
          </p:cNvSpPr>
          <p:nvPr/>
        </p:nvSpPr>
        <p:spPr>
          <a:xfrm>
            <a:off x="8167914" y="4691867"/>
            <a:ext cx="1590676" cy="176561"/>
          </a:xfrm>
          <a:prstGeom prst="rect">
            <a:avLst/>
          </a:prstGeom>
          <a:noFill/>
          <a:ln w="0">
            <a:noFill/>
            <a:prstDash val="solid"/>
          </a:ln>
        </p:spPr>
        <p:txBody>
          <a:bodyPr lIns="38100" tIns="19050" rIns="38100" bIns="19050">
            <a:noAutofit/>
          </a:bodyPr>
          <a:lstStyle/>
          <a:p>
            <a:pPr algn="l">
              <a:defRPr sz="865" b="1">
                <a:solidFill>
                  <a:srgbClr val="0E2A47"/>
                </a:solidFill>
                <a:latin typeface="Arial" panose="020B0604020202020204"/>
                <a:ea typeface="Arial" panose="020B0604020202020204"/>
                <a:cs typeface="Arial" panose="020B0604020202020204"/>
              </a:defRPr>
            </a:pPr>
            <a:r>
              <a:rPr lang="en-US" sz="1100" b="1" dirty="0">
                <a:solidFill>
                  <a:srgbClr val="0E2A47"/>
                </a:solidFill>
                <a:latin typeface="Arial" panose="020B0604020202020204"/>
                <a:ea typeface="Arial" panose="020B0604020202020204"/>
                <a:cs typeface="Arial" panose="020B0604020202020204"/>
              </a:rPr>
              <a:t>Field Documentation</a:t>
            </a:r>
          </a:p>
        </p:txBody>
      </p:sp>
      <p:sp>
        <p:nvSpPr>
          <p:cNvPr id="164" name="artifact-cleaned-mini-text"/>
          <p:cNvSpPr>
            <a:spLocks noGrp="1"/>
          </p:cNvSpPr>
          <p:nvPr/>
        </p:nvSpPr>
        <p:spPr>
          <a:xfrm>
            <a:off x="8167914" y="4891891"/>
            <a:ext cx="1452791" cy="620443"/>
          </a:xfrm>
          <a:prstGeom prst="rect">
            <a:avLst/>
          </a:prstGeom>
          <a:noFill/>
          <a:ln w="0">
            <a:noFill/>
            <a:prstDash val="solid"/>
          </a:ln>
        </p:spPr>
        <p:txBody>
          <a:bodyPr lIns="38100" tIns="19050" rIns="38100" bIns="19050">
            <a:noAutofit/>
          </a:bodyPr>
          <a:lstStyle/>
          <a:p>
            <a:pPr algn="l">
              <a:lnSpc>
                <a:spcPct val="104000"/>
              </a:lnSpc>
              <a:buNone/>
              <a:defRPr sz="735">
                <a:solidFill>
                  <a:srgbClr val="536273"/>
                </a:solidFill>
                <a:latin typeface="Arial" panose="020B0604020202020204"/>
                <a:ea typeface="Arial" panose="020B0604020202020204"/>
                <a:cs typeface="Arial" panose="020B0604020202020204"/>
              </a:defRPr>
            </a:pPr>
            <a:r>
              <a:rPr lang="en-US" sz="1100" dirty="0">
                <a:solidFill>
                  <a:srgbClr val="536273"/>
                </a:solidFill>
                <a:latin typeface="Arial" panose="020B0604020202020204"/>
                <a:ea typeface="Arial" panose="020B0604020202020204"/>
                <a:cs typeface="Arial" panose="020B0604020202020204"/>
              </a:rPr>
              <a:t>Column roles, question definitions, and missing-value meanings.</a:t>
            </a:r>
          </a:p>
        </p:txBody>
      </p:sp>
      <p:sp>
        <p:nvSpPr>
          <p:cNvPr id="165" name="artifact-cleaned-mini-card"/>
          <p:cNvSpPr>
            <a:spLocks noGrp="1"/>
          </p:cNvSpPr>
          <p:nvPr/>
        </p:nvSpPr>
        <p:spPr>
          <a:xfrm>
            <a:off x="9777639" y="4611252"/>
            <a:ext cx="1552575" cy="1029985"/>
          </a:xfrm>
          <a:prstGeom prst="roundRect">
            <a:avLst>
              <a:gd name="adj" fmla="val 14493"/>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panose="020B0604020202020204"/>
                <a:ea typeface="Arial" panose="020B0604020202020204"/>
                <a:cs typeface="Arial" panose="020B0604020202020204"/>
              </a:defRPr>
            </a:pPr>
            <a:r>
              <a:rPr sz="100">
                <a:solidFill>
                  <a:srgbClr val="FFFFFF"/>
                </a:solidFill>
                <a:latin typeface="Arial" panose="020B0604020202020204"/>
                <a:ea typeface="Arial" panose="020B0604020202020204"/>
                <a:cs typeface="Arial" panose="020B0604020202020204"/>
              </a:rPr>
              <a:t>​</a:t>
            </a:r>
          </a:p>
        </p:txBody>
      </p:sp>
      <p:sp>
        <p:nvSpPr>
          <p:cNvPr id="166" name="artifact-cleaned-mini-heading"/>
          <p:cNvSpPr>
            <a:spLocks noGrp="1"/>
          </p:cNvSpPr>
          <p:nvPr/>
        </p:nvSpPr>
        <p:spPr>
          <a:xfrm>
            <a:off x="9872889" y="4687453"/>
            <a:ext cx="1362075" cy="180975"/>
          </a:xfrm>
          <a:prstGeom prst="rect">
            <a:avLst/>
          </a:prstGeom>
          <a:noFill/>
          <a:ln w="0">
            <a:noFill/>
            <a:prstDash val="solid"/>
          </a:ln>
        </p:spPr>
        <p:txBody>
          <a:bodyPr lIns="38100" tIns="19050" rIns="38100" bIns="19050">
            <a:noAutofit/>
          </a:bodyPr>
          <a:lstStyle/>
          <a:p>
            <a:pPr algn="l">
              <a:defRPr sz="865" b="1">
                <a:solidFill>
                  <a:srgbClr val="0E2A47"/>
                </a:solidFill>
                <a:latin typeface="Arial" panose="020B0604020202020204"/>
                <a:ea typeface="Arial" panose="020B0604020202020204"/>
                <a:cs typeface="Arial" panose="020B0604020202020204"/>
              </a:defRPr>
            </a:pPr>
            <a:r>
              <a:rPr lang="en-US" sz="1100" b="1" dirty="0">
                <a:solidFill>
                  <a:srgbClr val="0E2A47"/>
                </a:solidFill>
                <a:latin typeface="Arial" panose="020B0604020202020204"/>
                <a:ea typeface="Arial" panose="020B0604020202020204"/>
                <a:cs typeface="Arial" panose="020B0604020202020204"/>
              </a:rPr>
              <a:t>Audit Evidence</a:t>
            </a:r>
          </a:p>
        </p:txBody>
      </p:sp>
      <p:sp>
        <p:nvSpPr>
          <p:cNvPr id="167" name="artifact-cleaned-mini-text"/>
          <p:cNvSpPr>
            <a:spLocks noGrp="1"/>
          </p:cNvSpPr>
          <p:nvPr/>
        </p:nvSpPr>
        <p:spPr>
          <a:xfrm>
            <a:off x="9872889" y="4887477"/>
            <a:ext cx="1452791" cy="620443"/>
          </a:xfrm>
          <a:prstGeom prst="rect">
            <a:avLst/>
          </a:prstGeom>
          <a:noFill/>
          <a:ln w="0">
            <a:noFill/>
            <a:prstDash val="solid"/>
          </a:ln>
        </p:spPr>
        <p:txBody>
          <a:bodyPr lIns="38100" tIns="19050" rIns="38100" bIns="19050">
            <a:noAutofit/>
          </a:bodyPr>
          <a:lstStyle/>
          <a:p>
            <a:pPr algn="l">
              <a:lnSpc>
                <a:spcPct val="104000"/>
              </a:lnSpc>
              <a:buNone/>
              <a:defRPr sz="735">
                <a:solidFill>
                  <a:srgbClr val="536273"/>
                </a:solidFill>
                <a:latin typeface="Arial" panose="020B0604020202020204"/>
                <a:ea typeface="Arial" panose="020B0604020202020204"/>
                <a:cs typeface="Arial" panose="020B0604020202020204"/>
              </a:defRPr>
            </a:pPr>
            <a:r>
              <a:rPr lang="en-US" sz="1100" dirty="0">
                <a:solidFill>
                  <a:srgbClr val="536273"/>
                </a:solidFill>
                <a:latin typeface="Arial" panose="020B0604020202020204"/>
                <a:ea typeface="Arial" panose="020B0604020202020204"/>
                <a:cs typeface="Arial" panose="020B0604020202020204"/>
              </a:rPr>
              <a:t>Excluded records, split distributions, source hashes, and cleaning reports.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任意多边形 3"/>
          <p:cNvSpPr/>
          <p:nvPr/>
        </p:nvSpPr>
        <p:spPr>
          <a:xfrm rot="16872204">
            <a:off x="1095680" y="2934035"/>
            <a:ext cx="2679375" cy="1489619"/>
          </a:xfrm>
          <a:custGeom>
            <a:avLst/>
            <a:gdLst>
              <a:gd name="connsiteX0" fmla="*/ 0 w 1010195"/>
              <a:gd name="connsiteY0" fmla="*/ 0 h 217714"/>
              <a:gd name="connsiteX1" fmla="*/ 8709 w 1010195"/>
              <a:gd name="connsiteY1" fmla="*/ 217714 h 217714"/>
              <a:gd name="connsiteX2" fmla="*/ 1010195 w 1010195"/>
              <a:gd name="connsiteY2" fmla="*/ 87086 h 217714"/>
              <a:gd name="connsiteX3" fmla="*/ 0 w 1010195"/>
              <a:gd name="connsiteY3" fmla="*/ 0 h 217714"/>
              <a:gd name="connsiteX0-1" fmla="*/ 0 w 1017338"/>
              <a:gd name="connsiteY0-2" fmla="*/ 0 h 217714"/>
              <a:gd name="connsiteX1-3" fmla="*/ 8709 w 1017338"/>
              <a:gd name="connsiteY1-4" fmla="*/ 217714 h 217714"/>
              <a:gd name="connsiteX2-5" fmla="*/ 1017338 w 1017338"/>
              <a:gd name="connsiteY2-6" fmla="*/ 87086 h 217714"/>
              <a:gd name="connsiteX3-7" fmla="*/ 0 w 1017338"/>
              <a:gd name="connsiteY3-8" fmla="*/ 0 h 217714"/>
              <a:gd name="connsiteX0-1-1" fmla="*/ 0 w 1017338"/>
              <a:gd name="connsiteY0-2-2" fmla="*/ 0 h 248457"/>
              <a:gd name="connsiteX1-3-3" fmla="*/ 98341 w 1017338"/>
              <a:gd name="connsiteY1-4-4" fmla="*/ 248457 h 248457"/>
              <a:gd name="connsiteX2-5-5" fmla="*/ 1017338 w 1017338"/>
              <a:gd name="connsiteY2-6-6" fmla="*/ 87086 h 248457"/>
              <a:gd name="connsiteX3-7-7" fmla="*/ 0 w 1017338"/>
              <a:gd name="connsiteY3-8-8" fmla="*/ 0 h 248457"/>
              <a:gd name="connsiteX0-9" fmla="*/ 0 w 1041847"/>
              <a:gd name="connsiteY0-10" fmla="*/ 0 h 264949"/>
              <a:gd name="connsiteX1-11" fmla="*/ 122850 w 1041847"/>
              <a:gd name="connsiteY1-12" fmla="*/ 264949 h 264949"/>
              <a:gd name="connsiteX2-13" fmla="*/ 1041847 w 1041847"/>
              <a:gd name="connsiteY2-14" fmla="*/ 103578 h 264949"/>
              <a:gd name="connsiteX3-15" fmla="*/ 0 w 1041847"/>
              <a:gd name="connsiteY3-16" fmla="*/ 0 h 264949"/>
              <a:gd name="connsiteX0-17" fmla="*/ 0 w 1041847"/>
              <a:gd name="connsiteY0-18" fmla="*/ 0 h 252106"/>
              <a:gd name="connsiteX1-19" fmla="*/ 188050 w 1041847"/>
              <a:gd name="connsiteY1-20" fmla="*/ 252106 h 252106"/>
              <a:gd name="connsiteX2-21" fmla="*/ 1041847 w 1041847"/>
              <a:gd name="connsiteY2-22" fmla="*/ 103578 h 252106"/>
              <a:gd name="connsiteX3-23" fmla="*/ 0 w 1041847"/>
              <a:gd name="connsiteY3-24" fmla="*/ 0 h 252106"/>
              <a:gd name="connsiteX0-25" fmla="*/ 0 w 1041847"/>
              <a:gd name="connsiteY0-26" fmla="*/ 0 h 269441"/>
              <a:gd name="connsiteX1-27" fmla="*/ 182425 w 1041847"/>
              <a:gd name="connsiteY1-28" fmla="*/ 269441 h 269441"/>
              <a:gd name="connsiteX2-29" fmla="*/ 1041847 w 1041847"/>
              <a:gd name="connsiteY2-30" fmla="*/ 103578 h 269441"/>
              <a:gd name="connsiteX3-31" fmla="*/ 0 w 1041847"/>
              <a:gd name="connsiteY3-32" fmla="*/ 0 h 269441"/>
            </a:gdLst>
            <a:ahLst/>
            <a:cxnLst>
              <a:cxn ang="0">
                <a:pos x="connsiteX0-1-1" y="connsiteY0-2-2"/>
              </a:cxn>
              <a:cxn ang="0">
                <a:pos x="connsiteX1-3-3" y="connsiteY1-4-4"/>
              </a:cxn>
              <a:cxn ang="0">
                <a:pos x="connsiteX2-5-5" y="connsiteY2-6-6"/>
              </a:cxn>
              <a:cxn ang="0">
                <a:pos x="connsiteX3-7-7" y="connsiteY3-8-8"/>
              </a:cxn>
            </a:cxnLst>
            <a:rect l="l" t="t" r="r" b="b"/>
            <a:pathLst>
              <a:path w="1041847" h="269441">
                <a:moveTo>
                  <a:pt x="0" y="0"/>
                </a:moveTo>
                <a:lnTo>
                  <a:pt x="182425" y="269441"/>
                </a:lnTo>
                <a:lnTo>
                  <a:pt x="1041847" y="103578"/>
                </a:lnTo>
                <a:lnTo>
                  <a:pt x="0" y="0"/>
                </a:lnTo>
                <a:close/>
              </a:path>
            </a:pathLst>
          </a:custGeom>
          <a:gradFill>
            <a:gsLst>
              <a:gs pos="0">
                <a:schemeClr val="accent3">
                  <a:lumMod val="89000"/>
                </a:schemeClr>
              </a:gs>
              <a:gs pos="22000">
                <a:schemeClr val="accent3">
                  <a:lumMod val="75000"/>
                </a:schemeClr>
              </a:gs>
              <a:gs pos="63000">
                <a:schemeClr val="bg2">
                  <a:lumMod val="2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8" name="任意多边形 5"/>
          <p:cNvSpPr/>
          <p:nvPr/>
        </p:nvSpPr>
        <p:spPr>
          <a:xfrm>
            <a:off x="9101921" y="4739894"/>
            <a:ext cx="1762818" cy="825844"/>
          </a:xfrm>
          <a:custGeom>
            <a:avLst/>
            <a:gdLst>
              <a:gd name="connsiteX0" fmla="*/ 0 w 1670050"/>
              <a:gd name="connsiteY0" fmla="*/ 666750 h 666750"/>
              <a:gd name="connsiteX1" fmla="*/ 139700 w 1670050"/>
              <a:gd name="connsiteY1" fmla="*/ 0 h 666750"/>
              <a:gd name="connsiteX2" fmla="*/ 1670050 w 1670050"/>
              <a:gd name="connsiteY2" fmla="*/ 12700 h 666750"/>
              <a:gd name="connsiteX3" fmla="*/ 0 w 1670050"/>
              <a:gd name="connsiteY3" fmla="*/ 666750 h 666750"/>
              <a:gd name="connsiteX0-1" fmla="*/ 0 w 1676400"/>
              <a:gd name="connsiteY0-2" fmla="*/ 666750 h 666750"/>
              <a:gd name="connsiteX1-3" fmla="*/ 139700 w 1676400"/>
              <a:gd name="connsiteY1-4" fmla="*/ 0 h 666750"/>
              <a:gd name="connsiteX2-5" fmla="*/ 1676400 w 1676400"/>
              <a:gd name="connsiteY2-6" fmla="*/ 38100 h 666750"/>
              <a:gd name="connsiteX3-7" fmla="*/ 0 w 1676400"/>
              <a:gd name="connsiteY3-8" fmla="*/ 666750 h 666750"/>
              <a:gd name="connsiteX0-9" fmla="*/ 0 w 1668780"/>
              <a:gd name="connsiteY0-10" fmla="*/ 666750 h 666750"/>
              <a:gd name="connsiteX1-11" fmla="*/ 139700 w 1668780"/>
              <a:gd name="connsiteY1-12" fmla="*/ 0 h 666750"/>
              <a:gd name="connsiteX2-13" fmla="*/ 1668780 w 1668780"/>
              <a:gd name="connsiteY2-14" fmla="*/ 22860 h 666750"/>
              <a:gd name="connsiteX3-15" fmla="*/ 0 w 1668780"/>
              <a:gd name="connsiteY3-16" fmla="*/ 666750 h 666750"/>
              <a:gd name="connsiteX0-1-1" fmla="*/ 0 w 1668780"/>
              <a:gd name="connsiteY0-2-2" fmla="*/ 666750 h 666750"/>
              <a:gd name="connsiteX1-3-3" fmla="*/ 139700 w 1668780"/>
              <a:gd name="connsiteY1-4-4" fmla="*/ 0 h 666750"/>
              <a:gd name="connsiteX2-5-5" fmla="*/ 1668780 w 1668780"/>
              <a:gd name="connsiteY2-6-6" fmla="*/ 83463 h 666750"/>
              <a:gd name="connsiteX3-7-7" fmla="*/ 0 w 1668780"/>
              <a:gd name="connsiteY3-8-8" fmla="*/ 666750 h 666750"/>
              <a:gd name="connsiteX0-9-9" fmla="*/ 0 w 1722808"/>
              <a:gd name="connsiteY0-10-10" fmla="*/ 681901 h 681901"/>
              <a:gd name="connsiteX1-11-11" fmla="*/ 193728 w 1722808"/>
              <a:gd name="connsiteY1-12-12" fmla="*/ 0 h 681901"/>
              <a:gd name="connsiteX2-13-13" fmla="*/ 1722808 w 1722808"/>
              <a:gd name="connsiteY2-14-14" fmla="*/ 83463 h 681901"/>
              <a:gd name="connsiteX3-15-15" fmla="*/ 0 w 1722808"/>
              <a:gd name="connsiteY3-16-16" fmla="*/ 681901 h 681901"/>
            </a:gdLst>
            <a:ahLst/>
            <a:cxnLst>
              <a:cxn ang="0">
                <a:pos x="connsiteX0-1-1" y="connsiteY0-2-2"/>
              </a:cxn>
              <a:cxn ang="0">
                <a:pos x="connsiteX1-3-3" y="connsiteY1-4-4"/>
              </a:cxn>
              <a:cxn ang="0">
                <a:pos x="connsiteX2-5-5" y="connsiteY2-6-6"/>
              </a:cxn>
              <a:cxn ang="0">
                <a:pos x="connsiteX3-7-7" y="connsiteY3-8-8"/>
              </a:cxn>
            </a:cxnLst>
            <a:rect l="l" t="t" r="r" b="b"/>
            <a:pathLst>
              <a:path w="1722808" h="681901">
                <a:moveTo>
                  <a:pt x="0" y="681901"/>
                </a:moveTo>
                <a:lnTo>
                  <a:pt x="193728" y="0"/>
                </a:lnTo>
                <a:lnTo>
                  <a:pt x="1722808" y="83463"/>
                </a:lnTo>
                <a:lnTo>
                  <a:pt x="0" y="681901"/>
                </a:lnTo>
                <a:close/>
              </a:path>
            </a:pathLst>
          </a:custGeom>
          <a:gradFill>
            <a:gsLst>
              <a:gs pos="23000">
                <a:schemeClr val="bg2">
                  <a:lumMod val="25000"/>
                </a:schemeClr>
              </a:gs>
              <a:gs pos="62000">
                <a:schemeClr val="accent3">
                  <a:lumMod val="43000"/>
                </a:schemeClr>
              </a:gs>
              <a:gs pos="100000">
                <a:schemeClr val="accent3">
                  <a:lumMod val="70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9" name="任意多边形 4"/>
          <p:cNvSpPr/>
          <p:nvPr/>
        </p:nvSpPr>
        <p:spPr>
          <a:xfrm>
            <a:off x="1411354"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1048610" name="任意多边形 2"/>
          <p:cNvSpPr/>
          <p:nvPr/>
        </p:nvSpPr>
        <p:spPr>
          <a:xfrm>
            <a:off x="184"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1048611" name="任意多边形 6"/>
          <p:cNvSpPr/>
          <p:nvPr/>
        </p:nvSpPr>
        <p:spPr>
          <a:xfrm>
            <a:off x="9073112"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pic>
        <p:nvPicPr>
          <p:cNvPr id="2097162" name="图片 7"/>
          <p:cNvPicPr>
            <a:picLocks noChangeAspect="1"/>
          </p:cNvPicPr>
          <p:nvPr/>
        </p:nvPicPr>
        <p:blipFill rotWithShape="1">
          <a:blip r:embed="rId3"/>
          <a:srcRect l="15806" t="13440" r="18511" b="11972"/>
          <a:stretch>
            <a:fillRect/>
          </a:stretch>
        </p:blipFill>
        <p:spPr>
          <a:xfrm>
            <a:off x="251950" y="2096308"/>
            <a:ext cx="2385019" cy="2154768"/>
          </a:xfrm>
          <a:prstGeom prst="rect">
            <a:avLst/>
          </a:prstGeom>
        </p:spPr>
      </p:pic>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3" name="文本框 2"/>
          <p:cNvSpPr txBox="1"/>
          <p:nvPr/>
        </p:nvSpPr>
        <p:spPr>
          <a:xfrm>
            <a:off x="2893060" y="2978785"/>
            <a:ext cx="9371330" cy="1108075"/>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4: </a:t>
            </a: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Machine Learning Model Training &amp; Evaluation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Algorithm Benchmarking: </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From High-Dimensional Sparse Features to Age Rating Prediction</a:t>
            </a:r>
          </a:p>
        </p:txBody>
      </p:sp>
      <p:sp>
        <p:nvSpPr>
          <p:cNvPr id="4" name="任意多边形 4"/>
          <p:cNvSpPr/>
          <p:nvPr/>
        </p:nvSpPr>
        <p:spPr>
          <a:xfrm>
            <a:off x="1411989"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5" name="任意多边形 2"/>
          <p:cNvSpPr/>
          <p:nvPr/>
        </p:nvSpPr>
        <p:spPr>
          <a:xfrm>
            <a:off x="819"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6" name="任意多边形 6"/>
          <p:cNvSpPr/>
          <p:nvPr/>
        </p:nvSpPr>
        <p:spPr>
          <a:xfrm>
            <a:off x="9073747"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7" name="文本框 6"/>
          <p:cNvSpPr txBox="1"/>
          <p:nvPr/>
        </p:nvSpPr>
        <p:spPr>
          <a:xfrm>
            <a:off x="3145790" y="2926080"/>
            <a:ext cx="7802880" cy="1108075"/>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3: </a:t>
            </a: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Feature Engineering and Model Input Preparation</a:t>
            </a:r>
          </a:p>
          <a:p>
            <a:endPar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a:p>
            <a:r>
              <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Presenter:Bofan Chen</a:t>
            </a:r>
          </a:p>
        </p:txBody>
      </p:sp>
      <p:pic>
        <p:nvPicPr>
          <p:cNvPr id="8" name="图片 7"/>
          <p:cNvPicPr>
            <a:picLocks noChangeAspect="1"/>
          </p:cNvPicPr>
          <p:nvPr/>
        </p:nvPicPr>
        <p:blipFill rotWithShape="1">
          <a:blip r:embed="rId3"/>
          <a:srcRect l="15806" t="13440" r="18511" b="11972"/>
          <a:stretch>
            <a:fillRect/>
          </a:stretch>
        </p:blipFill>
        <p:spPr>
          <a:xfrm>
            <a:off x="184005" y="2037253"/>
            <a:ext cx="2385019" cy="21547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8611"/>
                                        </p:tgtEl>
                                        <p:attrNameLst>
                                          <p:attrName>style.visibility</p:attrName>
                                        </p:attrNameLst>
                                      </p:cBhvr>
                                      <p:to>
                                        <p:strVal val="visible"/>
                                      </p:to>
                                    </p:set>
                                    <p:animEffect transition="in" filter="wipe(down)">
                                      <p:cBhvr>
                                        <p:cTn id="7" dur="500"/>
                                        <p:tgtEl>
                                          <p:spTgt spid="104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Goal: </a:t>
            </a:r>
            <a:r>
              <a:rPr lang="en-US" altLang="zh-CN" sz="20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Convert cleaned questionnaire data into model-ready inputs</a:t>
            </a: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a:t>
            </a:r>
          </a:p>
        </p:txBody>
      </p:sp>
      <p:cxnSp>
        <p:nvCxnSpPr>
          <p:cNvPr id="3"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746490" y="220980"/>
            <a:ext cx="3689985" cy="1301750"/>
          </a:xfrm>
          <a:prstGeom prst="rect">
            <a:avLst/>
          </a:prstGeom>
        </p:spPr>
      </p:pic>
      <p:sp>
        <p:nvSpPr>
          <p:cNvPr id="20" name="AutoShape 4"/>
          <p:cNvSpPr/>
          <p:nvPr/>
        </p:nvSpPr>
        <p:spPr>
          <a:xfrm>
            <a:off x="498475" y="1627505"/>
            <a:ext cx="4826000" cy="4064000"/>
          </a:xfrm>
          <a:prstGeom prst="roundRect">
            <a:avLst>
              <a:gd name="adj" fmla="val 0"/>
            </a:avLst>
          </a:prstGeom>
          <a:solidFill>
            <a:srgbClr val="FFFFFF">
              <a:alpha val="100000"/>
            </a:srgbClr>
          </a:solidFill>
          <a:ln w="38100" cap="flat" cmpd="sng">
            <a:solidFill>
              <a:srgbClr val="3B82F6">
                <a:alpha val="100000"/>
              </a:srgbClr>
            </a:solidFill>
            <a:prstDash val="solid"/>
            <a:round/>
          </a:ln>
        </p:spPr>
        <p:txBody>
          <a:bodyPr vert="horz" wrap="square" lIns="63500" tIns="63500" rIns="63500" bIns="63500" rtlCol="0" anchor="ctr"/>
          <a:lstStyle/>
          <a:p>
            <a:pPr algn="ctr">
              <a:defRPr/>
            </a:pPr>
            <a:endParaRPr/>
          </a:p>
        </p:txBody>
      </p:sp>
      <p:sp>
        <p:nvSpPr>
          <p:cNvPr id="21" name="AutoShape 5"/>
          <p:cNvSpPr/>
          <p:nvPr/>
        </p:nvSpPr>
        <p:spPr>
          <a:xfrm>
            <a:off x="581025" y="1754505"/>
            <a:ext cx="4666615" cy="34671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800" b="1">
                <a:solidFill>
                  <a:srgbClr val="3B82F6"/>
                </a:solidFill>
                <a:latin typeface="Arial" panose="020B0604020202020204" pitchFamily="34" charset="0"/>
                <a:ea typeface="Noto Sans SC" panose="020B0200000000000000" charset="-122"/>
                <a:cs typeface="Arial" panose="020B0604020202020204" pitchFamily="34" charset="0"/>
              </a:rPr>
              <a:t>Main responsibilities:</a:t>
            </a:r>
          </a:p>
        </p:txBody>
      </p:sp>
      <p:cxnSp>
        <p:nvCxnSpPr>
          <p:cNvPr id="22" name="Connector 6"/>
          <p:cNvCxnSpPr/>
          <p:nvPr/>
        </p:nvCxnSpPr>
        <p:spPr>
          <a:xfrm rot="-9878">
            <a:off x="701684" y="223075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3" name="AutoShape 7"/>
          <p:cNvSpPr/>
          <p:nvPr/>
        </p:nvSpPr>
        <p:spPr>
          <a:xfrm>
            <a:off x="742950" y="2273935"/>
            <a:ext cx="4504690" cy="5289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Convert raw answers into numerical features</a:t>
            </a:r>
          </a:p>
        </p:txBody>
      </p:sp>
      <p:cxnSp>
        <p:nvCxnSpPr>
          <p:cNvPr id="24" name="Connector 8"/>
          <p:cNvCxnSpPr/>
          <p:nvPr>
            <p:custDataLst>
              <p:tags r:id="rId1"/>
            </p:custDataLst>
          </p:nvPr>
        </p:nvCxnSpPr>
        <p:spPr>
          <a:xfrm rot="-9878">
            <a:off x="701684" y="2882900"/>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6" name="AutoShape 7"/>
          <p:cNvSpPr/>
          <p:nvPr>
            <p:custDataLst>
              <p:tags r:id="rId2"/>
            </p:custDataLst>
          </p:nvPr>
        </p:nvSpPr>
        <p:spPr>
          <a:xfrm>
            <a:off x="742950" y="2975610"/>
            <a:ext cx="3862705" cy="5289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400" b="1">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a:t>
            </a: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Prepare train / validation / test datasets</a:t>
            </a:r>
          </a:p>
        </p:txBody>
      </p:sp>
      <p:cxnSp>
        <p:nvCxnSpPr>
          <p:cNvPr id="27" name="Connector 8"/>
          <p:cNvCxnSpPr/>
          <p:nvPr>
            <p:custDataLst>
              <p:tags r:id="rId3"/>
            </p:custDataLst>
          </p:nvPr>
        </p:nvCxnSpPr>
        <p:spPr>
          <a:xfrm rot="-9878">
            <a:off x="701684" y="358457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8" name="AutoShape 7"/>
          <p:cNvSpPr/>
          <p:nvPr>
            <p:custDataLst>
              <p:tags r:id="rId4"/>
            </p:custDataLst>
          </p:nvPr>
        </p:nvSpPr>
        <p:spPr>
          <a:xfrm>
            <a:off x="742950" y="3677285"/>
            <a:ext cx="4060190" cy="5289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Encode North America age rating labels</a:t>
            </a:r>
          </a:p>
        </p:txBody>
      </p:sp>
      <p:cxnSp>
        <p:nvCxnSpPr>
          <p:cNvPr id="29" name="Connector 8"/>
          <p:cNvCxnSpPr/>
          <p:nvPr>
            <p:custDataLst>
              <p:tags r:id="rId5"/>
            </p:custDataLst>
          </p:nvPr>
        </p:nvCxnSpPr>
        <p:spPr>
          <a:xfrm rot="-9878">
            <a:off x="701684" y="4286250"/>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0" name="AutoShape 7"/>
          <p:cNvSpPr/>
          <p:nvPr>
            <p:custDataLst>
              <p:tags r:id="rId6"/>
            </p:custDataLst>
          </p:nvPr>
        </p:nvSpPr>
        <p:spPr>
          <a:xfrm>
            <a:off x="742950" y="4352290"/>
            <a:ext cx="3808730" cy="5289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Prevent target leakage from rating outputs</a:t>
            </a:r>
          </a:p>
        </p:txBody>
      </p:sp>
      <p:cxnSp>
        <p:nvCxnSpPr>
          <p:cNvPr id="31" name="Connector 8"/>
          <p:cNvCxnSpPr/>
          <p:nvPr>
            <p:custDataLst>
              <p:tags r:id="rId7"/>
            </p:custDataLst>
          </p:nvPr>
        </p:nvCxnSpPr>
        <p:spPr>
          <a:xfrm rot="-9878">
            <a:off x="701684" y="494220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2" name="AutoShape 7"/>
          <p:cNvSpPr/>
          <p:nvPr>
            <p:custDataLst>
              <p:tags r:id="rId8"/>
            </p:custDataLst>
          </p:nvPr>
        </p:nvSpPr>
        <p:spPr>
          <a:xfrm>
            <a:off x="742950" y="5008245"/>
            <a:ext cx="4297045" cy="5289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Generate reusable metadata for model training</a:t>
            </a:r>
          </a:p>
        </p:txBody>
      </p:sp>
      <p:pic>
        <p:nvPicPr>
          <p:cNvPr id="35" name="图片 34"/>
          <p:cNvPicPr/>
          <p:nvPr/>
        </p:nvPicPr>
        <p:blipFill>
          <a:blip r:embed="rId12"/>
          <a:stretch>
            <a:fillRect/>
          </a:stretch>
        </p:blipFill>
        <p:spPr>
          <a:xfrm>
            <a:off x="5721350" y="2508885"/>
            <a:ext cx="6363970" cy="2243455"/>
          </a:xfrm>
          <a:prstGeom prst="rect">
            <a:avLst/>
          </a:prstGeom>
        </p:spPr>
      </p:pic>
      <p:sp>
        <p:nvSpPr>
          <p:cNvPr id="1048643" name="矩形 15"/>
          <p:cNvSpPr/>
          <p:nvPr/>
        </p:nvSpPr>
        <p:spPr>
          <a:xfrm>
            <a:off x="5721350" y="2508250"/>
            <a:ext cx="6363970" cy="2244725"/>
          </a:xfrm>
          <a:prstGeom prst="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lstStyle/>
          <a:p>
            <a:pPr algn="ctr"/>
            <a:endParaRPr lang="zh-CN" altLang="en-US" sz="1245"/>
          </a:p>
        </p:txBody>
      </p:sp>
      <p:grpSp>
        <p:nvGrpSpPr>
          <p:cNvPr id="57" name="组合 21"/>
          <p:cNvGrpSpPr/>
          <p:nvPr/>
        </p:nvGrpSpPr>
        <p:grpSpPr>
          <a:xfrm>
            <a:off x="6710045" y="2299335"/>
            <a:ext cx="4386580" cy="577328"/>
            <a:chOff x="11273425" y="5331881"/>
            <a:chExt cx="4684734" cy="804684"/>
          </a:xfrm>
        </p:grpSpPr>
        <p:sp>
          <p:nvSpPr>
            <p:cNvPr id="1048644" name="矩形 19"/>
            <p:cNvSpPr/>
            <p:nvPr/>
          </p:nvSpPr>
          <p:spPr>
            <a:xfrm>
              <a:off x="11273425" y="5331881"/>
              <a:ext cx="4684734" cy="666084"/>
            </a:xfrm>
            <a:prstGeom prst="rect">
              <a:avLst/>
            </a:prstGeom>
            <a:solidFill>
              <a:srgbClr val="0B4189"/>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lstStyle/>
            <a:p>
              <a:pPr algn="ctr"/>
              <a:endParaRPr lang="zh-CN" altLang="en-US" sz="1245" dirty="0">
                <a:latin typeface="HYXuanSong 75J" panose="00020600040101010101" charset="-122"/>
                <a:ea typeface="HYXuanSong 75J" panose="00020600040101010101" charset="-122"/>
              </a:endParaRPr>
            </a:p>
          </p:txBody>
        </p:sp>
        <p:sp>
          <p:nvSpPr>
            <p:cNvPr id="1048645" name="文本框 20"/>
            <p:cNvSpPr txBox="1"/>
            <p:nvPr/>
          </p:nvSpPr>
          <p:spPr>
            <a:xfrm>
              <a:off x="11492630" y="5409040"/>
              <a:ext cx="4246323" cy="727525"/>
            </a:xfrm>
            <a:prstGeom prst="rect">
              <a:avLst/>
            </a:prstGeom>
            <a:noFill/>
          </p:spPr>
          <p:txBody>
            <a:bodyPr wrap="square" rtlCol="0">
              <a:spAutoFit/>
            </a:bodyPr>
            <a:lstStyle/>
            <a:p>
              <a:pPr algn="ctr"/>
              <a:r>
                <a:rPr lang="en-US" altLang="zh-CN" sz="1400" b="1" dirty="0">
                  <a:solidFill>
                    <a:schemeClr val="bg2"/>
                  </a:solidFill>
                  <a:latin typeface="HYXuanSong 75J" panose="00020600040101010101" charset="-122"/>
                  <a:ea typeface="HYXuanSong 75J" panose="00020600040101010101" charset="-122"/>
                </a:rPr>
                <a:t>Connects the cleaned dataset with training</a:t>
              </a:r>
            </a:p>
            <a:p>
              <a:pPr algn="ctr"/>
              <a:endParaRPr lang="en-US" altLang="zh-CN" sz="1400" b="1" dirty="0">
                <a:solidFill>
                  <a:schemeClr val="bg2"/>
                </a:solidFill>
                <a:latin typeface="HYXuanSong 75J" panose="00020600040101010101" charset="-122"/>
                <a:ea typeface="HYXuanSong 75J" panose="00020600040101010101"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6"/>
          <a:stretch>
            <a:fillRect/>
          </a:stretch>
        </p:blipFill>
        <p:spPr>
          <a:xfrm>
            <a:off x="6710045" y="2101215"/>
            <a:ext cx="4542155" cy="3103245"/>
          </a:xfrm>
          <a:prstGeom prst="rect">
            <a:avLst/>
          </a:prstGeom>
        </p:spPr>
      </p:pic>
      <p:sp>
        <p:nvSpPr>
          <p:cNvPr id="2" name="AutoShape 2"/>
          <p:cNvSpPr/>
          <p:nvPr/>
        </p:nvSpPr>
        <p:spPr>
          <a:xfrm>
            <a:off x="647065" y="381000"/>
            <a:ext cx="444055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Input and Output</a:t>
            </a:r>
          </a:p>
        </p:txBody>
      </p:sp>
      <p:cxnSp>
        <p:nvCxnSpPr>
          <p:cNvPr id="3"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46490" y="220980"/>
            <a:ext cx="3689985" cy="1301750"/>
          </a:xfrm>
          <a:prstGeom prst="rect">
            <a:avLst/>
          </a:prstGeom>
        </p:spPr>
      </p:pic>
      <p:sp>
        <p:nvSpPr>
          <p:cNvPr id="20" name="AutoShape 4"/>
          <p:cNvSpPr/>
          <p:nvPr/>
        </p:nvSpPr>
        <p:spPr>
          <a:xfrm>
            <a:off x="749300" y="1627505"/>
            <a:ext cx="4913630" cy="4361815"/>
          </a:xfrm>
          <a:prstGeom prst="roundRect">
            <a:avLst>
              <a:gd name="adj" fmla="val 0"/>
            </a:avLst>
          </a:prstGeom>
          <a:solidFill>
            <a:srgbClr val="FFFFFF">
              <a:alpha val="100000"/>
            </a:srgbClr>
          </a:solidFill>
          <a:ln w="38100" cap="flat" cmpd="sng">
            <a:solidFill>
              <a:schemeClr val="tx1">
                <a:lumMod val="50000"/>
                <a:lumOff val="50000"/>
                <a:alpha val="100000"/>
              </a:schemeClr>
            </a:solidFill>
            <a:prstDash val="solid"/>
            <a:round/>
          </a:ln>
        </p:spPr>
        <p:txBody>
          <a:bodyPr vert="horz" wrap="square" lIns="63500" tIns="63500" rIns="63500" bIns="63500" rtlCol="0" anchor="ctr"/>
          <a:lstStyle/>
          <a:p>
            <a:pPr algn="ctr">
              <a:defRPr/>
            </a:pPr>
            <a:endParaRPr/>
          </a:p>
        </p:txBody>
      </p:sp>
      <p:sp>
        <p:nvSpPr>
          <p:cNvPr id="21" name="AutoShape 5"/>
          <p:cNvSpPr/>
          <p:nvPr/>
        </p:nvSpPr>
        <p:spPr>
          <a:xfrm>
            <a:off x="831850" y="1754505"/>
            <a:ext cx="4666615" cy="34671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lumMod val="65000"/>
                    <a:lumOff val="35000"/>
                  </a:schemeClr>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800" b="1">
                <a:solidFill>
                  <a:schemeClr val="tx1">
                    <a:lumMod val="65000"/>
                    <a:lumOff val="35000"/>
                  </a:schemeClr>
                </a:solidFill>
                <a:latin typeface="Arial" panose="020B0604020202020204" pitchFamily="34" charset="0"/>
                <a:ea typeface="Noto Sans SC" panose="020B0200000000000000" charset="-122"/>
                <a:cs typeface="Arial" panose="020B0604020202020204" pitchFamily="34" charset="0"/>
              </a:rPr>
              <a:t>Input from Task 3:</a:t>
            </a:r>
          </a:p>
        </p:txBody>
      </p:sp>
      <p:sp>
        <p:nvSpPr>
          <p:cNvPr id="23" name="AutoShape 7"/>
          <p:cNvSpPr/>
          <p:nvPr>
            <p:custDataLst>
              <p:tags r:id="rId1"/>
            </p:custDataLst>
          </p:nvPr>
        </p:nvSpPr>
        <p:spPr>
          <a:xfrm>
            <a:off x="1135380" y="2101215"/>
            <a:ext cx="2295525" cy="107188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rPr>
              <a:t>• train.csv</a:t>
            </a:r>
          </a:p>
          <a:p>
            <a:pPr marL="0" indent="0" algn="l">
              <a:lnSpc>
                <a:spcPct val="108000"/>
              </a:lnSpc>
              <a:defRPr/>
            </a:pPr>
            <a:r>
              <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rPr>
              <a:t>• test.csv</a:t>
            </a:r>
          </a:p>
          <a:p>
            <a:pPr marL="0" indent="0" algn="l">
              <a:lnSpc>
                <a:spcPct val="108000"/>
              </a:lnSpc>
              <a:defRPr/>
            </a:pPr>
            <a:r>
              <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rPr>
              <a:t>• column_groups.json</a:t>
            </a:r>
          </a:p>
          <a:p>
            <a:pPr marL="0" indent="0" algn="l">
              <a:lnSpc>
                <a:spcPct val="108000"/>
              </a:lnSpc>
              <a:defRPr/>
            </a:pPr>
            <a:r>
              <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rPr>
              <a:t>• data_dictionary.csv</a:t>
            </a:r>
          </a:p>
        </p:txBody>
      </p:sp>
      <p:cxnSp>
        <p:nvCxnSpPr>
          <p:cNvPr id="24" name="Connector 8"/>
          <p:cNvCxnSpPr/>
          <p:nvPr>
            <p:custDataLst>
              <p:tags r:id="rId2"/>
            </p:custDataLst>
          </p:nvPr>
        </p:nvCxnSpPr>
        <p:spPr>
          <a:xfrm rot="-9878">
            <a:off x="1000134" y="353504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6" name="AutoShape 7"/>
          <p:cNvSpPr/>
          <p:nvPr>
            <p:custDataLst>
              <p:tags r:id="rId3"/>
            </p:custDataLst>
          </p:nvPr>
        </p:nvSpPr>
        <p:spPr>
          <a:xfrm>
            <a:off x="1135380" y="4069715"/>
            <a:ext cx="2389505" cy="173863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CSV feature matrices</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Sparse NPZ matrices</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Encoded labels</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Feature dictionary</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Label mapping</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Class weights</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Engineering report</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p:txBody>
      </p:sp>
      <p:sp>
        <p:nvSpPr>
          <p:cNvPr id="1048643" name="矩形 15"/>
          <p:cNvSpPr/>
          <p:nvPr/>
        </p:nvSpPr>
        <p:spPr>
          <a:xfrm>
            <a:off x="6710045" y="2100580"/>
            <a:ext cx="4543425" cy="3104515"/>
          </a:xfrm>
          <a:prstGeom prst="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lstStyle/>
          <a:p>
            <a:pPr algn="ctr"/>
            <a:endParaRPr lang="zh-CN" altLang="en-US" sz="1245"/>
          </a:p>
        </p:txBody>
      </p:sp>
      <p:sp>
        <p:nvSpPr>
          <p:cNvPr id="5" name="AutoShape 5"/>
          <p:cNvSpPr/>
          <p:nvPr/>
        </p:nvSpPr>
        <p:spPr>
          <a:xfrm>
            <a:off x="831850" y="3638550"/>
            <a:ext cx="4666615" cy="34671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B05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800" b="1">
                <a:solidFill>
                  <a:srgbClr val="00B050"/>
                </a:solidFill>
                <a:latin typeface="Arial" panose="020B0604020202020204" pitchFamily="34" charset="0"/>
                <a:ea typeface="Noto Sans SC" panose="020B0200000000000000" charset="-122"/>
                <a:cs typeface="Arial" panose="020B0604020202020204" pitchFamily="34" charset="0"/>
              </a:rPr>
              <a:t>Output for Task 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065" y="381000"/>
            <a:ext cx="444055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Target and Leakage Control</a:t>
            </a:r>
          </a:p>
        </p:txBody>
      </p:sp>
      <p:pic>
        <p:nvPicPr>
          <p:cNvPr id="19" name="Picture 1"/>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8746490" y="220980"/>
            <a:ext cx="3689985" cy="1301750"/>
          </a:xfrm>
          <a:prstGeom prst="rect">
            <a:avLst/>
          </a:prstGeom>
        </p:spPr>
      </p:pic>
      <p:cxnSp>
        <p:nvCxnSpPr>
          <p:cNvPr id="3145740" name="直接连接符 35"/>
          <p:cNvCxnSpPr/>
          <p:nvPr>
            <p:custDataLst>
              <p:tags r:id="rId1"/>
            </p:custDataLst>
          </p:nvPr>
        </p:nvCxnSpPr>
        <p:spPr>
          <a:xfrm flipV="1">
            <a:off x="2474993" y="3603209"/>
            <a:ext cx="2537529" cy="176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45741" name="直接连接符 40"/>
          <p:cNvCxnSpPr/>
          <p:nvPr>
            <p:custDataLst>
              <p:tags r:id="rId2"/>
            </p:custDataLst>
          </p:nvPr>
        </p:nvCxnSpPr>
        <p:spPr>
          <a:xfrm flipV="1">
            <a:off x="6809957" y="3620899"/>
            <a:ext cx="3075929" cy="11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45742" name="直接连接符 42"/>
          <p:cNvCxnSpPr/>
          <p:nvPr>
            <p:custDataLst>
              <p:tags r:id="rId3"/>
            </p:custDataLst>
          </p:nvPr>
        </p:nvCxnSpPr>
        <p:spPr>
          <a:xfrm>
            <a:off x="5946183" y="908182"/>
            <a:ext cx="1" cy="2138531"/>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45743" name="直接连接符 44"/>
          <p:cNvCxnSpPr/>
          <p:nvPr>
            <p:custDataLst>
              <p:tags r:id="rId4"/>
            </p:custDataLst>
          </p:nvPr>
        </p:nvCxnSpPr>
        <p:spPr>
          <a:xfrm>
            <a:off x="5953894" y="4248226"/>
            <a:ext cx="1" cy="1946611"/>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48670" name="矩形 55"/>
          <p:cNvSpPr/>
          <p:nvPr/>
        </p:nvSpPr>
        <p:spPr>
          <a:xfrm>
            <a:off x="8507186" y="1409936"/>
            <a:ext cx="3539699" cy="1645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45"/>
          </a:p>
        </p:txBody>
      </p:sp>
      <p:sp>
        <p:nvSpPr>
          <p:cNvPr id="1048671" name="文本框 56"/>
          <p:cNvSpPr txBox="1"/>
          <p:nvPr>
            <p:custDataLst>
              <p:tags r:id="rId5"/>
            </p:custDataLst>
          </p:nvPr>
        </p:nvSpPr>
        <p:spPr>
          <a:xfrm>
            <a:off x="8676005" y="2048510"/>
            <a:ext cx="3518535" cy="1447165"/>
          </a:xfrm>
          <a:prstGeom prst="rect">
            <a:avLst/>
          </a:prstGeom>
          <a:noFill/>
        </p:spPr>
        <p:txBody>
          <a:bodyPr wrap="square" rtlCol="0">
            <a:spAutoFit/>
          </a:bodyPr>
          <a:lstStyle/>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category</a:t>
            </a:r>
          </a:p>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answer__* </a:t>
            </a:r>
          </a:p>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questionnaire fields</a:t>
            </a:r>
          </a:p>
          <a:p>
            <a:endParaRPr lang="zh-CN" altLang="en-US" sz="1245" b="1" dirty="0">
              <a:solidFill>
                <a:schemeClr val="tx1">
                  <a:lumMod val="65000"/>
                  <a:lumOff val="35000"/>
                </a:schemeClr>
              </a:solidFill>
              <a:latin typeface="宋体" panose="02010600030101010101" pitchFamily="2" charset="-122"/>
              <a:ea typeface="宋体" panose="02010600030101010101" pitchFamily="2" charset="-122"/>
            </a:endParaRPr>
          </a:p>
        </p:txBody>
      </p:sp>
      <p:sp>
        <p:nvSpPr>
          <p:cNvPr id="1048672" name="文本框 57"/>
          <p:cNvSpPr txBox="1"/>
          <p:nvPr>
            <p:custDataLst>
              <p:tags r:id="rId6"/>
            </p:custDataLst>
          </p:nvPr>
        </p:nvSpPr>
        <p:spPr>
          <a:xfrm>
            <a:off x="8340725" y="4147820"/>
            <a:ext cx="3612515" cy="1691005"/>
          </a:xfrm>
          <a:prstGeom prst="rect">
            <a:avLst/>
          </a:prstGeom>
          <a:noFill/>
        </p:spPr>
        <p:txBody>
          <a:bodyPr wrap="square" rtlCol="0">
            <a:spAutoFit/>
          </a:bodyPr>
          <a:lstStyle/>
          <a:p>
            <a:pPr lvl="0" algn="l">
              <a:lnSpc>
                <a:spcPct val="130000"/>
              </a:lnSpc>
              <a:buClrTx/>
              <a:buSzTx/>
              <a:buFontTx/>
            </a:pPr>
            <a:r>
              <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All regional rating fields are outputs of the same questionnaire. </a:t>
            </a:r>
          </a:p>
          <a:p>
            <a:pPr lvl="0" algn="l">
              <a:lnSpc>
                <a:spcPct val="130000"/>
              </a:lnSpc>
              <a:buClrTx/>
              <a:buSzTx/>
              <a:buFontTx/>
            </a:pPr>
            <a:r>
              <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Using them as input features would leak the answer into the model.</a:t>
            </a:r>
          </a:p>
        </p:txBody>
      </p:sp>
      <p:sp>
        <p:nvSpPr>
          <p:cNvPr id="1048673" name="文本框 58"/>
          <p:cNvSpPr txBox="1"/>
          <p:nvPr>
            <p:custDataLst>
              <p:tags r:id="rId7"/>
            </p:custDataLst>
          </p:nvPr>
        </p:nvSpPr>
        <p:spPr>
          <a:xfrm>
            <a:off x="66991" y="2054443"/>
            <a:ext cx="3318202" cy="478790"/>
          </a:xfrm>
          <a:prstGeom prst="rect">
            <a:avLst/>
          </a:prstGeom>
          <a:noFill/>
        </p:spPr>
        <p:txBody>
          <a:bodyPr wrap="square" rtlCol="0">
            <a:spAutoFit/>
          </a:bodyPr>
          <a:lstStyle/>
          <a:p>
            <a:pPr lvl="0" algn="r">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rating__north_america</a:t>
            </a:r>
          </a:p>
        </p:txBody>
      </p:sp>
      <p:sp>
        <p:nvSpPr>
          <p:cNvPr id="1048674" name="文本框 59"/>
          <p:cNvSpPr txBox="1"/>
          <p:nvPr>
            <p:custDataLst>
              <p:tags r:id="rId8"/>
            </p:custDataLst>
          </p:nvPr>
        </p:nvSpPr>
        <p:spPr>
          <a:xfrm>
            <a:off x="435793" y="4500470"/>
            <a:ext cx="3130729" cy="1254760"/>
          </a:xfrm>
          <a:prstGeom prst="rect">
            <a:avLst/>
          </a:prstGeom>
          <a:noFill/>
        </p:spPr>
        <p:txBody>
          <a:bodyPr wrap="square" rtlCol="0">
            <a:spAutoFit/>
          </a:bodyPr>
          <a:lstStyle/>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sample_id</a:t>
            </a:r>
          </a:p>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split</a:t>
            </a:r>
          </a:p>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all rating__* columns</a:t>
            </a:r>
          </a:p>
        </p:txBody>
      </p:sp>
      <p:grpSp>
        <p:nvGrpSpPr>
          <p:cNvPr id="68" name="组合 7"/>
          <p:cNvGrpSpPr/>
          <p:nvPr>
            <p:custDataLst>
              <p:tags r:id="rId9"/>
            </p:custDataLst>
          </p:nvPr>
        </p:nvGrpSpPr>
        <p:grpSpPr>
          <a:xfrm>
            <a:off x="3572630" y="1383310"/>
            <a:ext cx="2097381" cy="2097381"/>
            <a:chOff x="5160201" y="1998115"/>
            <a:chExt cx="3024742" cy="3024742"/>
          </a:xfrm>
        </p:grpSpPr>
        <p:grpSp>
          <p:nvGrpSpPr>
            <p:cNvPr id="69" name="Group 11"/>
            <p:cNvGrpSpPr/>
            <p:nvPr/>
          </p:nvGrpSpPr>
          <p:grpSpPr bwMode="auto">
            <a:xfrm>
              <a:off x="5160201" y="1998115"/>
              <a:ext cx="3024742" cy="3024742"/>
              <a:chOff x="0" y="0"/>
              <a:chExt cx="1232" cy="1232"/>
            </a:xfrm>
          </p:grpSpPr>
          <p:sp>
            <p:nvSpPr>
              <p:cNvPr id="1048675" name="Freeform 4"/>
              <p:cNvSpPr>
                <a:spLocks noEditPoints="1" noChangeArrowheads="1"/>
              </p:cNvSpPr>
              <p:nvPr>
                <p:custDataLst>
                  <p:tags r:id="rId27"/>
                </p:custDataLst>
              </p:nvPr>
            </p:nvSpPr>
            <p:spPr bwMode="auto">
              <a:xfrm>
                <a:off x="288" y="288"/>
                <a:ext cx="656" cy="656"/>
              </a:xfrm>
              <a:custGeom>
                <a:avLst/>
                <a:gdLst>
                  <a:gd name="T0" fmla="*/ 2 w 656"/>
                  <a:gd name="T1" fmla="*/ 362 h 656"/>
                  <a:gd name="T2" fmla="*/ 26 w 656"/>
                  <a:gd name="T3" fmla="*/ 456 h 656"/>
                  <a:gd name="T4" fmla="*/ 74 w 656"/>
                  <a:gd name="T5" fmla="*/ 536 h 656"/>
                  <a:gd name="T6" fmla="*/ 144 w 656"/>
                  <a:gd name="T7" fmla="*/ 600 h 656"/>
                  <a:gd name="T8" fmla="*/ 230 w 656"/>
                  <a:gd name="T9" fmla="*/ 642 h 656"/>
                  <a:gd name="T10" fmla="*/ 328 w 656"/>
                  <a:gd name="T11" fmla="*/ 656 h 656"/>
                  <a:gd name="T12" fmla="*/ 426 w 656"/>
                  <a:gd name="T13" fmla="*/ 642 h 656"/>
                  <a:gd name="T14" fmla="*/ 512 w 656"/>
                  <a:gd name="T15" fmla="*/ 600 h 656"/>
                  <a:gd name="T16" fmla="*/ 582 w 656"/>
                  <a:gd name="T17" fmla="*/ 536 h 656"/>
                  <a:gd name="T18" fmla="*/ 630 w 656"/>
                  <a:gd name="T19" fmla="*/ 456 h 656"/>
                  <a:gd name="T20" fmla="*/ 654 w 656"/>
                  <a:gd name="T21" fmla="*/ 362 h 656"/>
                  <a:gd name="T22" fmla="*/ 650 w 656"/>
                  <a:gd name="T23" fmla="*/ 262 h 656"/>
                  <a:gd name="T24" fmla="*/ 616 w 656"/>
                  <a:gd name="T25" fmla="*/ 172 h 656"/>
                  <a:gd name="T26" fmla="*/ 560 w 656"/>
                  <a:gd name="T27" fmla="*/ 96 h 656"/>
                  <a:gd name="T28" fmla="*/ 484 w 656"/>
                  <a:gd name="T29" fmla="*/ 40 h 656"/>
                  <a:gd name="T30" fmla="*/ 394 w 656"/>
                  <a:gd name="T31" fmla="*/ 6 h 656"/>
                  <a:gd name="T32" fmla="*/ 294 w 656"/>
                  <a:gd name="T33" fmla="*/ 2 h 656"/>
                  <a:gd name="T34" fmla="*/ 200 w 656"/>
                  <a:gd name="T35" fmla="*/ 26 h 656"/>
                  <a:gd name="T36" fmla="*/ 120 w 656"/>
                  <a:gd name="T37" fmla="*/ 74 h 656"/>
                  <a:gd name="T38" fmla="*/ 56 w 656"/>
                  <a:gd name="T39" fmla="*/ 144 h 656"/>
                  <a:gd name="T40" fmla="*/ 14 w 656"/>
                  <a:gd name="T41" fmla="*/ 230 h 656"/>
                  <a:gd name="T42" fmla="*/ 0 w 656"/>
                  <a:gd name="T43" fmla="*/ 328 h 656"/>
                  <a:gd name="T44" fmla="*/ 82 w 656"/>
                  <a:gd name="T45" fmla="*/ 302 h 656"/>
                  <a:gd name="T46" fmla="*/ 100 w 656"/>
                  <a:gd name="T47" fmla="*/ 232 h 656"/>
                  <a:gd name="T48" fmla="*/ 136 w 656"/>
                  <a:gd name="T49" fmla="*/ 170 h 656"/>
                  <a:gd name="T50" fmla="*/ 190 w 656"/>
                  <a:gd name="T51" fmla="*/ 122 h 656"/>
                  <a:gd name="T52" fmla="*/ 254 w 656"/>
                  <a:gd name="T53" fmla="*/ 92 h 656"/>
                  <a:gd name="T54" fmla="*/ 328 w 656"/>
                  <a:gd name="T55" fmla="*/ 80 h 656"/>
                  <a:gd name="T56" fmla="*/ 402 w 656"/>
                  <a:gd name="T57" fmla="*/ 92 h 656"/>
                  <a:gd name="T58" fmla="*/ 466 w 656"/>
                  <a:gd name="T59" fmla="*/ 122 h 656"/>
                  <a:gd name="T60" fmla="*/ 520 w 656"/>
                  <a:gd name="T61" fmla="*/ 170 h 656"/>
                  <a:gd name="T62" fmla="*/ 556 w 656"/>
                  <a:gd name="T63" fmla="*/ 232 h 656"/>
                  <a:gd name="T64" fmla="*/ 574 w 656"/>
                  <a:gd name="T65" fmla="*/ 302 h 656"/>
                  <a:gd name="T66" fmla="*/ 570 w 656"/>
                  <a:gd name="T67" fmla="*/ 378 h 656"/>
                  <a:gd name="T68" fmla="*/ 546 w 656"/>
                  <a:gd name="T69" fmla="*/ 446 h 656"/>
                  <a:gd name="T70" fmla="*/ 504 w 656"/>
                  <a:gd name="T71" fmla="*/ 504 h 656"/>
                  <a:gd name="T72" fmla="*/ 446 w 656"/>
                  <a:gd name="T73" fmla="*/ 546 h 656"/>
                  <a:gd name="T74" fmla="*/ 378 w 656"/>
                  <a:gd name="T75" fmla="*/ 570 h 656"/>
                  <a:gd name="T76" fmla="*/ 302 w 656"/>
                  <a:gd name="T77" fmla="*/ 574 h 656"/>
                  <a:gd name="T78" fmla="*/ 232 w 656"/>
                  <a:gd name="T79" fmla="*/ 556 h 656"/>
                  <a:gd name="T80" fmla="*/ 170 w 656"/>
                  <a:gd name="T81" fmla="*/ 520 h 656"/>
                  <a:gd name="T82" fmla="*/ 122 w 656"/>
                  <a:gd name="T83" fmla="*/ 466 h 656"/>
                  <a:gd name="T84" fmla="*/ 92 w 656"/>
                  <a:gd name="T85" fmla="*/ 402 h 656"/>
                  <a:gd name="T86" fmla="*/ 80 w 656"/>
                  <a:gd name="T87" fmla="*/ 328 h 6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6"/>
                  <a:gd name="T133" fmla="*/ 0 h 656"/>
                  <a:gd name="T134" fmla="*/ 656 w 656"/>
                  <a:gd name="T135" fmla="*/ 656 h 6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6" h="656">
                    <a:moveTo>
                      <a:pt x="0" y="328"/>
                    </a:moveTo>
                    <a:lnTo>
                      <a:pt x="0" y="328"/>
                    </a:lnTo>
                    <a:lnTo>
                      <a:pt x="2" y="362"/>
                    </a:lnTo>
                    <a:lnTo>
                      <a:pt x="6" y="394"/>
                    </a:lnTo>
                    <a:lnTo>
                      <a:pt x="14" y="426"/>
                    </a:lnTo>
                    <a:lnTo>
                      <a:pt x="26" y="456"/>
                    </a:lnTo>
                    <a:lnTo>
                      <a:pt x="40" y="484"/>
                    </a:lnTo>
                    <a:lnTo>
                      <a:pt x="56" y="512"/>
                    </a:lnTo>
                    <a:lnTo>
                      <a:pt x="74" y="536"/>
                    </a:lnTo>
                    <a:lnTo>
                      <a:pt x="96" y="560"/>
                    </a:lnTo>
                    <a:lnTo>
                      <a:pt x="120" y="582"/>
                    </a:lnTo>
                    <a:lnTo>
                      <a:pt x="144" y="600"/>
                    </a:lnTo>
                    <a:lnTo>
                      <a:pt x="172" y="616"/>
                    </a:lnTo>
                    <a:lnTo>
                      <a:pt x="200" y="630"/>
                    </a:lnTo>
                    <a:lnTo>
                      <a:pt x="230" y="642"/>
                    </a:lnTo>
                    <a:lnTo>
                      <a:pt x="262" y="650"/>
                    </a:lnTo>
                    <a:lnTo>
                      <a:pt x="294" y="654"/>
                    </a:lnTo>
                    <a:lnTo>
                      <a:pt x="328" y="656"/>
                    </a:lnTo>
                    <a:lnTo>
                      <a:pt x="362" y="654"/>
                    </a:lnTo>
                    <a:lnTo>
                      <a:pt x="394" y="650"/>
                    </a:lnTo>
                    <a:lnTo>
                      <a:pt x="426" y="642"/>
                    </a:lnTo>
                    <a:lnTo>
                      <a:pt x="456" y="630"/>
                    </a:lnTo>
                    <a:lnTo>
                      <a:pt x="484" y="616"/>
                    </a:lnTo>
                    <a:lnTo>
                      <a:pt x="512" y="600"/>
                    </a:lnTo>
                    <a:lnTo>
                      <a:pt x="536" y="582"/>
                    </a:lnTo>
                    <a:lnTo>
                      <a:pt x="560" y="560"/>
                    </a:lnTo>
                    <a:lnTo>
                      <a:pt x="582" y="536"/>
                    </a:lnTo>
                    <a:lnTo>
                      <a:pt x="600" y="512"/>
                    </a:lnTo>
                    <a:lnTo>
                      <a:pt x="616" y="484"/>
                    </a:lnTo>
                    <a:lnTo>
                      <a:pt x="630" y="456"/>
                    </a:lnTo>
                    <a:lnTo>
                      <a:pt x="642" y="426"/>
                    </a:lnTo>
                    <a:lnTo>
                      <a:pt x="650" y="394"/>
                    </a:lnTo>
                    <a:lnTo>
                      <a:pt x="654" y="362"/>
                    </a:lnTo>
                    <a:lnTo>
                      <a:pt x="656" y="328"/>
                    </a:lnTo>
                    <a:lnTo>
                      <a:pt x="654" y="294"/>
                    </a:lnTo>
                    <a:lnTo>
                      <a:pt x="650" y="262"/>
                    </a:lnTo>
                    <a:lnTo>
                      <a:pt x="642" y="230"/>
                    </a:lnTo>
                    <a:lnTo>
                      <a:pt x="630" y="200"/>
                    </a:lnTo>
                    <a:lnTo>
                      <a:pt x="616" y="172"/>
                    </a:lnTo>
                    <a:lnTo>
                      <a:pt x="600" y="144"/>
                    </a:lnTo>
                    <a:lnTo>
                      <a:pt x="582" y="120"/>
                    </a:lnTo>
                    <a:lnTo>
                      <a:pt x="560" y="96"/>
                    </a:lnTo>
                    <a:lnTo>
                      <a:pt x="536" y="74"/>
                    </a:lnTo>
                    <a:lnTo>
                      <a:pt x="512" y="56"/>
                    </a:lnTo>
                    <a:lnTo>
                      <a:pt x="484" y="40"/>
                    </a:lnTo>
                    <a:lnTo>
                      <a:pt x="456" y="26"/>
                    </a:lnTo>
                    <a:lnTo>
                      <a:pt x="426" y="14"/>
                    </a:lnTo>
                    <a:lnTo>
                      <a:pt x="394" y="6"/>
                    </a:lnTo>
                    <a:lnTo>
                      <a:pt x="362" y="2"/>
                    </a:lnTo>
                    <a:lnTo>
                      <a:pt x="328" y="0"/>
                    </a:lnTo>
                    <a:lnTo>
                      <a:pt x="294" y="2"/>
                    </a:lnTo>
                    <a:lnTo>
                      <a:pt x="262" y="6"/>
                    </a:lnTo>
                    <a:lnTo>
                      <a:pt x="230" y="14"/>
                    </a:lnTo>
                    <a:lnTo>
                      <a:pt x="200" y="26"/>
                    </a:lnTo>
                    <a:lnTo>
                      <a:pt x="172" y="40"/>
                    </a:lnTo>
                    <a:lnTo>
                      <a:pt x="144" y="56"/>
                    </a:lnTo>
                    <a:lnTo>
                      <a:pt x="120" y="74"/>
                    </a:lnTo>
                    <a:lnTo>
                      <a:pt x="96" y="96"/>
                    </a:lnTo>
                    <a:lnTo>
                      <a:pt x="74" y="120"/>
                    </a:lnTo>
                    <a:lnTo>
                      <a:pt x="56" y="144"/>
                    </a:lnTo>
                    <a:lnTo>
                      <a:pt x="40" y="172"/>
                    </a:lnTo>
                    <a:lnTo>
                      <a:pt x="26" y="200"/>
                    </a:lnTo>
                    <a:lnTo>
                      <a:pt x="14" y="230"/>
                    </a:lnTo>
                    <a:lnTo>
                      <a:pt x="6" y="262"/>
                    </a:lnTo>
                    <a:lnTo>
                      <a:pt x="2" y="294"/>
                    </a:lnTo>
                    <a:lnTo>
                      <a:pt x="0" y="328"/>
                    </a:lnTo>
                    <a:close/>
                    <a:moveTo>
                      <a:pt x="80" y="328"/>
                    </a:moveTo>
                    <a:lnTo>
                      <a:pt x="80" y="328"/>
                    </a:lnTo>
                    <a:lnTo>
                      <a:pt x="82" y="302"/>
                    </a:lnTo>
                    <a:lnTo>
                      <a:pt x="86" y="278"/>
                    </a:lnTo>
                    <a:lnTo>
                      <a:pt x="92" y="254"/>
                    </a:lnTo>
                    <a:lnTo>
                      <a:pt x="100" y="232"/>
                    </a:lnTo>
                    <a:lnTo>
                      <a:pt x="110" y="210"/>
                    </a:lnTo>
                    <a:lnTo>
                      <a:pt x="122" y="190"/>
                    </a:lnTo>
                    <a:lnTo>
                      <a:pt x="136" y="170"/>
                    </a:lnTo>
                    <a:lnTo>
                      <a:pt x="152" y="152"/>
                    </a:lnTo>
                    <a:lnTo>
                      <a:pt x="170" y="136"/>
                    </a:lnTo>
                    <a:lnTo>
                      <a:pt x="190" y="122"/>
                    </a:lnTo>
                    <a:lnTo>
                      <a:pt x="210" y="110"/>
                    </a:lnTo>
                    <a:lnTo>
                      <a:pt x="232" y="100"/>
                    </a:lnTo>
                    <a:lnTo>
                      <a:pt x="254" y="92"/>
                    </a:lnTo>
                    <a:lnTo>
                      <a:pt x="278" y="86"/>
                    </a:lnTo>
                    <a:lnTo>
                      <a:pt x="302" y="82"/>
                    </a:lnTo>
                    <a:lnTo>
                      <a:pt x="328" y="80"/>
                    </a:lnTo>
                    <a:lnTo>
                      <a:pt x="354" y="82"/>
                    </a:lnTo>
                    <a:lnTo>
                      <a:pt x="378" y="86"/>
                    </a:lnTo>
                    <a:lnTo>
                      <a:pt x="402" y="92"/>
                    </a:lnTo>
                    <a:lnTo>
                      <a:pt x="424" y="100"/>
                    </a:lnTo>
                    <a:lnTo>
                      <a:pt x="446" y="110"/>
                    </a:lnTo>
                    <a:lnTo>
                      <a:pt x="466" y="122"/>
                    </a:lnTo>
                    <a:lnTo>
                      <a:pt x="486" y="136"/>
                    </a:lnTo>
                    <a:lnTo>
                      <a:pt x="504" y="152"/>
                    </a:lnTo>
                    <a:lnTo>
                      <a:pt x="520" y="170"/>
                    </a:lnTo>
                    <a:lnTo>
                      <a:pt x="534" y="190"/>
                    </a:lnTo>
                    <a:lnTo>
                      <a:pt x="546" y="210"/>
                    </a:lnTo>
                    <a:lnTo>
                      <a:pt x="556" y="232"/>
                    </a:lnTo>
                    <a:lnTo>
                      <a:pt x="564" y="254"/>
                    </a:lnTo>
                    <a:lnTo>
                      <a:pt x="570" y="278"/>
                    </a:lnTo>
                    <a:lnTo>
                      <a:pt x="574" y="302"/>
                    </a:lnTo>
                    <a:lnTo>
                      <a:pt x="576" y="328"/>
                    </a:lnTo>
                    <a:lnTo>
                      <a:pt x="574" y="354"/>
                    </a:lnTo>
                    <a:lnTo>
                      <a:pt x="570" y="378"/>
                    </a:lnTo>
                    <a:lnTo>
                      <a:pt x="564" y="402"/>
                    </a:lnTo>
                    <a:lnTo>
                      <a:pt x="556" y="424"/>
                    </a:lnTo>
                    <a:lnTo>
                      <a:pt x="546" y="446"/>
                    </a:lnTo>
                    <a:lnTo>
                      <a:pt x="534" y="466"/>
                    </a:lnTo>
                    <a:lnTo>
                      <a:pt x="520" y="486"/>
                    </a:lnTo>
                    <a:lnTo>
                      <a:pt x="504" y="504"/>
                    </a:lnTo>
                    <a:lnTo>
                      <a:pt x="486" y="520"/>
                    </a:lnTo>
                    <a:lnTo>
                      <a:pt x="466" y="534"/>
                    </a:lnTo>
                    <a:lnTo>
                      <a:pt x="446" y="546"/>
                    </a:lnTo>
                    <a:lnTo>
                      <a:pt x="424" y="556"/>
                    </a:lnTo>
                    <a:lnTo>
                      <a:pt x="402" y="564"/>
                    </a:lnTo>
                    <a:lnTo>
                      <a:pt x="378" y="570"/>
                    </a:lnTo>
                    <a:lnTo>
                      <a:pt x="354" y="574"/>
                    </a:lnTo>
                    <a:lnTo>
                      <a:pt x="328" y="576"/>
                    </a:lnTo>
                    <a:lnTo>
                      <a:pt x="302" y="574"/>
                    </a:lnTo>
                    <a:lnTo>
                      <a:pt x="278" y="570"/>
                    </a:lnTo>
                    <a:lnTo>
                      <a:pt x="254" y="564"/>
                    </a:lnTo>
                    <a:lnTo>
                      <a:pt x="232" y="556"/>
                    </a:lnTo>
                    <a:lnTo>
                      <a:pt x="210" y="546"/>
                    </a:lnTo>
                    <a:lnTo>
                      <a:pt x="190" y="534"/>
                    </a:lnTo>
                    <a:lnTo>
                      <a:pt x="170" y="520"/>
                    </a:lnTo>
                    <a:lnTo>
                      <a:pt x="152" y="504"/>
                    </a:lnTo>
                    <a:lnTo>
                      <a:pt x="136" y="486"/>
                    </a:lnTo>
                    <a:lnTo>
                      <a:pt x="122" y="466"/>
                    </a:lnTo>
                    <a:lnTo>
                      <a:pt x="110" y="446"/>
                    </a:lnTo>
                    <a:lnTo>
                      <a:pt x="100" y="424"/>
                    </a:lnTo>
                    <a:lnTo>
                      <a:pt x="92" y="402"/>
                    </a:lnTo>
                    <a:lnTo>
                      <a:pt x="86" y="378"/>
                    </a:lnTo>
                    <a:lnTo>
                      <a:pt x="82" y="354"/>
                    </a:lnTo>
                    <a:lnTo>
                      <a:pt x="80" y="328"/>
                    </a:lnTo>
                    <a:close/>
                  </a:path>
                </a:pathLst>
              </a:custGeom>
              <a:solidFill>
                <a:srgbClr val="404040">
                  <a:alpha val="31000"/>
                </a:srgb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76" name="Freeform 5"/>
              <p:cNvSpPr>
                <a:spLocks noEditPoints="1" noChangeArrowheads="1"/>
              </p:cNvSpPr>
              <p:nvPr>
                <p:custDataLst>
                  <p:tags r:id="rId28"/>
                </p:custDataLst>
              </p:nvPr>
            </p:nvSpPr>
            <p:spPr bwMode="auto">
              <a:xfrm>
                <a:off x="144" y="144"/>
                <a:ext cx="944" cy="944"/>
              </a:xfrm>
              <a:custGeom>
                <a:avLst/>
                <a:gdLst>
                  <a:gd name="T0" fmla="*/ 0 w 944"/>
                  <a:gd name="T1" fmla="*/ 496 h 944"/>
                  <a:gd name="T2" fmla="*/ 10 w 944"/>
                  <a:gd name="T3" fmla="*/ 568 h 944"/>
                  <a:gd name="T4" fmla="*/ 58 w 944"/>
                  <a:gd name="T5" fmla="*/ 696 h 944"/>
                  <a:gd name="T6" fmla="*/ 138 w 944"/>
                  <a:gd name="T7" fmla="*/ 806 h 944"/>
                  <a:gd name="T8" fmla="*/ 248 w 944"/>
                  <a:gd name="T9" fmla="*/ 886 h 944"/>
                  <a:gd name="T10" fmla="*/ 376 w 944"/>
                  <a:gd name="T11" fmla="*/ 934 h 944"/>
                  <a:gd name="T12" fmla="*/ 448 w 944"/>
                  <a:gd name="T13" fmla="*/ 944 h 944"/>
                  <a:gd name="T14" fmla="*/ 520 w 944"/>
                  <a:gd name="T15" fmla="*/ 942 h 944"/>
                  <a:gd name="T16" fmla="*/ 612 w 944"/>
                  <a:gd name="T17" fmla="*/ 922 h 944"/>
                  <a:gd name="T18" fmla="*/ 736 w 944"/>
                  <a:gd name="T19" fmla="*/ 864 h 944"/>
                  <a:gd name="T20" fmla="*/ 836 w 944"/>
                  <a:gd name="T21" fmla="*/ 772 h 944"/>
                  <a:gd name="T22" fmla="*/ 906 w 944"/>
                  <a:gd name="T23" fmla="*/ 656 h 944"/>
                  <a:gd name="T24" fmla="*/ 938 w 944"/>
                  <a:gd name="T25" fmla="*/ 544 h 944"/>
                  <a:gd name="T26" fmla="*/ 944 w 944"/>
                  <a:gd name="T27" fmla="*/ 472 h 944"/>
                  <a:gd name="T28" fmla="*/ 938 w 944"/>
                  <a:gd name="T29" fmla="*/ 400 h 944"/>
                  <a:gd name="T30" fmla="*/ 906 w 944"/>
                  <a:gd name="T31" fmla="*/ 288 h 944"/>
                  <a:gd name="T32" fmla="*/ 836 w 944"/>
                  <a:gd name="T33" fmla="*/ 172 h 944"/>
                  <a:gd name="T34" fmla="*/ 736 w 944"/>
                  <a:gd name="T35" fmla="*/ 80 h 944"/>
                  <a:gd name="T36" fmla="*/ 612 w 944"/>
                  <a:gd name="T37" fmla="*/ 22 h 944"/>
                  <a:gd name="T38" fmla="*/ 520 w 944"/>
                  <a:gd name="T39" fmla="*/ 2 h 944"/>
                  <a:gd name="T40" fmla="*/ 448 w 944"/>
                  <a:gd name="T41" fmla="*/ 0 h 944"/>
                  <a:gd name="T42" fmla="*/ 376 w 944"/>
                  <a:gd name="T43" fmla="*/ 10 h 944"/>
                  <a:gd name="T44" fmla="*/ 248 w 944"/>
                  <a:gd name="T45" fmla="*/ 58 h 944"/>
                  <a:gd name="T46" fmla="*/ 138 w 944"/>
                  <a:gd name="T47" fmla="*/ 138 h 944"/>
                  <a:gd name="T48" fmla="*/ 58 w 944"/>
                  <a:gd name="T49" fmla="*/ 248 h 944"/>
                  <a:gd name="T50" fmla="*/ 10 w 944"/>
                  <a:gd name="T51" fmla="*/ 376 h 944"/>
                  <a:gd name="T52" fmla="*/ 0 w 944"/>
                  <a:gd name="T53" fmla="*/ 448 h 944"/>
                  <a:gd name="T54" fmla="*/ 80 w 944"/>
                  <a:gd name="T55" fmla="*/ 472 h 944"/>
                  <a:gd name="T56" fmla="*/ 98 w 944"/>
                  <a:gd name="T57" fmla="*/ 356 h 944"/>
                  <a:gd name="T58" fmla="*/ 148 w 944"/>
                  <a:gd name="T59" fmla="*/ 252 h 944"/>
                  <a:gd name="T60" fmla="*/ 222 w 944"/>
                  <a:gd name="T61" fmla="*/ 170 h 944"/>
                  <a:gd name="T62" fmla="*/ 320 w 944"/>
                  <a:gd name="T63" fmla="*/ 110 h 944"/>
                  <a:gd name="T64" fmla="*/ 432 w 944"/>
                  <a:gd name="T65" fmla="*/ 82 h 944"/>
                  <a:gd name="T66" fmla="*/ 550 w 944"/>
                  <a:gd name="T67" fmla="*/ 88 h 944"/>
                  <a:gd name="T68" fmla="*/ 658 w 944"/>
                  <a:gd name="T69" fmla="*/ 128 h 944"/>
                  <a:gd name="T70" fmla="*/ 750 w 944"/>
                  <a:gd name="T71" fmla="*/ 194 h 944"/>
                  <a:gd name="T72" fmla="*/ 816 w 944"/>
                  <a:gd name="T73" fmla="*/ 286 h 944"/>
                  <a:gd name="T74" fmla="*/ 856 w 944"/>
                  <a:gd name="T75" fmla="*/ 394 h 944"/>
                  <a:gd name="T76" fmla="*/ 862 w 944"/>
                  <a:gd name="T77" fmla="*/ 512 h 944"/>
                  <a:gd name="T78" fmla="*/ 834 w 944"/>
                  <a:gd name="T79" fmla="*/ 624 h 944"/>
                  <a:gd name="T80" fmla="*/ 774 w 944"/>
                  <a:gd name="T81" fmla="*/ 722 h 944"/>
                  <a:gd name="T82" fmla="*/ 692 w 944"/>
                  <a:gd name="T83" fmla="*/ 796 h 944"/>
                  <a:gd name="T84" fmla="*/ 588 w 944"/>
                  <a:gd name="T85" fmla="*/ 846 h 944"/>
                  <a:gd name="T86" fmla="*/ 472 w 944"/>
                  <a:gd name="T87" fmla="*/ 864 h 944"/>
                  <a:gd name="T88" fmla="*/ 356 w 944"/>
                  <a:gd name="T89" fmla="*/ 846 h 944"/>
                  <a:gd name="T90" fmla="*/ 252 w 944"/>
                  <a:gd name="T91" fmla="*/ 796 h 944"/>
                  <a:gd name="T92" fmla="*/ 170 w 944"/>
                  <a:gd name="T93" fmla="*/ 722 h 944"/>
                  <a:gd name="T94" fmla="*/ 110 w 944"/>
                  <a:gd name="T95" fmla="*/ 624 h 944"/>
                  <a:gd name="T96" fmla="*/ 82 w 944"/>
                  <a:gd name="T97" fmla="*/ 512 h 9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4"/>
                  <a:gd name="T148" fmla="*/ 0 h 944"/>
                  <a:gd name="T149" fmla="*/ 944 w 944"/>
                  <a:gd name="T150" fmla="*/ 944 h 9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4" h="944">
                    <a:moveTo>
                      <a:pt x="0" y="472"/>
                    </a:moveTo>
                    <a:lnTo>
                      <a:pt x="0" y="472"/>
                    </a:lnTo>
                    <a:lnTo>
                      <a:pt x="0" y="496"/>
                    </a:lnTo>
                    <a:lnTo>
                      <a:pt x="2" y="520"/>
                    </a:lnTo>
                    <a:lnTo>
                      <a:pt x="6" y="544"/>
                    </a:lnTo>
                    <a:lnTo>
                      <a:pt x="10" y="568"/>
                    </a:lnTo>
                    <a:lnTo>
                      <a:pt x="22" y="612"/>
                    </a:lnTo>
                    <a:lnTo>
                      <a:pt x="38" y="656"/>
                    </a:lnTo>
                    <a:lnTo>
                      <a:pt x="58" y="696"/>
                    </a:lnTo>
                    <a:lnTo>
                      <a:pt x="80" y="736"/>
                    </a:lnTo>
                    <a:lnTo>
                      <a:pt x="108" y="772"/>
                    </a:lnTo>
                    <a:lnTo>
                      <a:pt x="138" y="806"/>
                    </a:lnTo>
                    <a:lnTo>
                      <a:pt x="172" y="836"/>
                    </a:lnTo>
                    <a:lnTo>
                      <a:pt x="208" y="864"/>
                    </a:lnTo>
                    <a:lnTo>
                      <a:pt x="248" y="886"/>
                    </a:lnTo>
                    <a:lnTo>
                      <a:pt x="288" y="906"/>
                    </a:lnTo>
                    <a:lnTo>
                      <a:pt x="332" y="922"/>
                    </a:lnTo>
                    <a:lnTo>
                      <a:pt x="376" y="934"/>
                    </a:lnTo>
                    <a:lnTo>
                      <a:pt x="400" y="938"/>
                    </a:lnTo>
                    <a:lnTo>
                      <a:pt x="424" y="942"/>
                    </a:lnTo>
                    <a:lnTo>
                      <a:pt x="448" y="944"/>
                    </a:lnTo>
                    <a:lnTo>
                      <a:pt x="472" y="944"/>
                    </a:lnTo>
                    <a:lnTo>
                      <a:pt x="496" y="944"/>
                    </a:lnTo>
                    <a:lnTo>
                      <a:pt x="520" y="942"/>
                    </a:lnTo>
                    <a:lnTo>
                      <a:pt x="544" y="938"/>
                    </a:lnTo>
                    <a:lnTo>
                      <a:pt x="568" y="934"/>
                    </a:lnTo>
                    <a:lnTo>
                      <a:pt x="612" y="922"/>
                    </a:lnTo>
                    <a:lnTo>
                      <a:pt x="656" y="906"/>
                    </a:lnTo>
                    <a:lnTo>
                      <a:pt x="696" y="886"/>
                    </a:lnTo>
                    <a:lnTo>
                      <a:pt x="736" y="864"/>
                    </a:lnTo>
                    <a:lnTo>
                      <a:pt x="772" y="836"/>
                    </a:lnTo>
                    <a:lnTo>
                      <a:pt x="806" y="806"/>
                    </a:lnTo>
                    <a:lnTo>
                      <a:pt x="836" y="772"/>
                    </a:lnTo>
                    <a:lnTo>
                      <a:pt x="864" y="736"/>
                    </a:lnTo>
                    <a:lnTo>
                      <a:pt x="886" y="696"/>
                    </a:lnTo>
                    <a:lnTo>
                      <a:pt x="906" y="656"/>
                    </a:lnTo>
                    <a:lnTo>
                      <a:pt x="922" y="612"/>
                    </a:lnTo>
                    <a:lnTo>
                      <a:pt x="934" y="568"/>
                    </a:lnTo>
                    <a:lnTo>
                      <a:pt x="938" y="544"/>
                    </a:lnTo>
                    <a:lnTo>
                      <a:pt x="942" y="520"/>
                    </a:lnTo>
                    <a:lnTo>
                      <a:pt x="944" y="496"/>
                    </a:lnTo>
                    <a:lnTo>
                      <a:pt x="944" y="472"/>
                    </a:lnTo>
                    <a:lnTo>
                      <a:pt x="944" y="448"/>
                    </a:lnTo>
                    <a:lnTo>
                      <a:pt x="942" y="424"/>
                    </a:lnTo>
                    <a:lnTo>
                      <a:pt x="938" y="400"/>
                    </a:lnTo>
                    <a:lnTo>
                      <a:pt x="934" y="376"/>
                    </a:lnTo>
                    <a:lnTo>
                      <a:pt x="922" y="332"/>
                    </a:lnTo>
                    <a:lnTo>
                      <a:pt x="906" y="288"/>
                    </a:lnTo>
                    <a:lnTo>
                      <a:pt x="886" y="248"/>
                    </a:lnTo>
                    <a:lnTo>
                      <a:pt x="864" y="208"/>
                    </a:lnTo>
                    <a:lnTo>
                      <a:pt x="836" y="172"/>
                    </a:lnTo>
                    <a:lnTo>
                      <a:pt x="806" y="138"/>
                    </a:lnTo>
                    <a:lnTo>
                      <a:pt x="772" y="108"/>
                    </a:lnTo>
                    <a:lnTo>
                      <a:pt x="736" y="80"/>
                    </a:lnTo>
                    <a:lnTo>
                      <a:pt x="696" y="58"/>
                    </a:lnTo>
                    <a:lnTo>
                      <a:pt x="656" y="38"/>
                    </a:lnTo>
                    <a:lnTo>
                      <a:pt x="612" y="22"/>
                    </a:lnTo>
                    <a:lnTo>
                      <a:pt x="568" y="10"/>
                    </a:lnTo>
                    <a:lnTo>
                      <a:pt x="544" y="6"/>
                    </a:lnTo>
                    <a:lnTo>
                      <a:pt x="520" y="2"/>
                    </a:lnTo>
                    <a:lnTo>
                      <a:pt x="496" y="0"/>
                    </a:lnTo>
                    <a:lnTo>
                      <a:pt x="472" y="0"/>
                    </a:lnTo>
                    <a:lnTo>
                      <a:pt x="448" y="0"/>
                    </a:lnTo>
                    <a:lnTo>
                      <a:pt x="424" y="2"/>
                    </a:lnTo>
                    <a:lnTo>
                      <a:pt x="400" y="6"/>
                    </a:lnTo>
                    <a:lnTo>
                      <a:pt x="376" y="10"/>
                    </a:lnTo>
                    <a:lnTo>
                      <a:pt x="332" y="22"/>
                    </a:lnTo>
                    <a:lnTo>
                      <a:pt x="288" y="38"/>
                    </a:lnTo>
                    <a:lnTo>
                      <a:pt x="248" y="58"/>
                    </a:lnTo>
                    <a:lnTo>
                      <a:pt x="208" y="80"/>
                    </a:lnTo>
                    <a:lnTo>
                      <a:pt x="172" y="108"/>
                    </a:lnTo>
                    <a:lnTo>
                      <a:pt x="138" y="138"/>
                    </a:lnTo>
                    <a:lnTo>
                      <a:pt x="108" y="172"/>
                    </a:lnTo>
                    <a:lnTo>
                      <a:pt x="80" y="208"/>
                    </a:lnTo>
                    <a:lnTo>
                      <a:pt x="58" y="248"/>
                    </a:lnTo>
                    <a:lnTo>
                      <a:pt x="38" y="288"/>
                    </a:lnTo>
                    <a:lnTo>
                      <a:pt x="22" y="332"/>
                    </a:lnTo>
                    <a:lnTo>
                      <a:pt x="10" y="376"/>
                    </a:lnTo>
                    <a:lnTo>
                      <a:pt x="6" y="400"/>
                    </a:lnTo>
                    <a:lnTo>
                      <a:pt x="2" y="424"/>
                    </a:lnTo>
                    <a:lnTo>
                      <a:pt x="0" y="448"/>
                    </a:lnTo>
                    <a:lnTo>
                      <a:pt x="0" y="472"/>
                    </a:lnTo>
                    <a:close/>
                    <a:moveTo>
                      <a:pt x="80" y="472"/>
                    </a:moveTo>
                    <a:lnTo>
                      <a:pt x="80" y="472"/>
                    </a:lnTo>
                    <a:lnTo>
                      <a:pt x="82" y="432"/>
                    </a:lnTo>
                    <a:lnTo>
                      <a:pt x="88" y="394"/>
                    </a:lnTo>
                    <a:lnTo>
                      <a:pt x="98" y="356"/>
                    </a:lnTo>
                    <a:lnTo>
                      <a:pt x="110" y="320"/>
                    </a:lnTo>
                    <a:lnTo>
                      <a:pt x="128" y="286"/>
                    </a:lnTo>
                    <a:lnTo>
                      <a:pt x="148" y="252"/>
                    </a:lnTo>
                    <a:lnTo>
                      <a:pt x="170" y="222"/>
                    </a:lnTo>
                    <a:lnTo>
                      <a:pt x="194" y="194"/>
                    </a:lnTo>
                    <a:lnTo>
                      <a:pt x="222" y="170"/>
                    </a:lnTo>
                    <a:lnTo>
                      <a:pt x="252" y="148"/>
                    </a:lnTo>
                    <a:lnTo>
                      <a:pt x="286" y="128"/>
                    </a:lnTo>
                    <a:lnTo>
                      <a:pt x="320" y="110"/>
                    </a:lnTo>
                    <a:lnTo>
                      <a:pt x="356" y="98"/>
                    </a:lnTo>
                    <a:lnTo>
                      <a:pt x="394" y="88"/>
                    </a:lnTo>
                    <a:lnTo>
                      <a:pt x="432" y="82"/>
                    </a:lnTo>
                    <a:lnTo>
                      <a:pt x="472" y="80"/>
                    </a:lnTo>
                    <a:lnTo>
                      <a:pt x="512" y="82"/>
                    </a:lnTo>
                    <a:lnTo>
                      <a:pt x="550" y="88"/>
                    </a:lnTo>
                    <a:lnTo>
                      <a:pt x="588" y="98"/>
                    </a:lnTo>
                    <a:lnTo>
                      <a:pt x="624" y="110"/>
                    </a:lnTo>
                    <a:lnTo>
                      <a:pt x="658" y="128"/>
                    </a:lnTo>
                    <a:lnTo>
                      <a:pt x="692" y="148"/>
                    </a:lnTo>
                    <a:lnTo>
                      <a:pt x="722" y="170"/>
                    </a:lnTo>
                    <a:lnTo>
                      <a:pt x="750" y="194"/>
                    </a:lnTo>
                    <a:lnTo>
                      <a:pt x="774" y="222"/>
                    </a:lnTo>
                    <a:lnTo>
                      <a:pt x="796" y="252"/>
                    </a:lnTo>
                    <a:lnTo>
                      <a:pt x="816" y="286"/>
                    </a:lnTo>
                    <a:lnTo>
                      <a:pt x="834" y="320"/>
                    </a:lnTo>
                    <a:lnTo>
                      <a:pt x="846" y="356"/>
                    </a:lnTo>
                    <a:lnTo>
                      <a:pt x="856" y="394"/>
                    </a:lnTo>
                    <a:lnTo>
                      <a:pt x="862" y="432"/>
                    </a:lnTo>
                    <a:lnTo>
                      <a:pt x="864" y="472"/>
                    </a:lnTo>
                    <a:lnTo>
                      <a:pt x="862" y="512"/>
                    </a:lnTo>
                    <a:lnTo>
                      <a:pt x="856" y="550"/>
                    </a:lnTo>
                    <a:lnTo>
                      <a:pt x="846" y="588"/>
                    </a:lnTo>
                    <a:lnTo>
                      <a:pt x="834" y="624"/>
                    </a:lnTo>
                    <a:lnTo>
                      <a:pt x="816" y="658"/>
                    </a:lnTo>
                    <a:lnTo>
                      <a:pt x="796" y="692"/>
                    </a:lnTo>
                    <a:lnTo>
                      <a:pt x="774" y="722"/>
                    </a:lnTo>
                    <a:lnTo>
                      <a:pt x="750" y="750"/>
                    </a:lnTo>
                    <a:lnTo>
                      <a:pt x="722" y="774"/>
                    </a:lnTo>
                    <a:lnTo>
                      <a:pt x="692" y="796"/>
                    </a:lnTo>
                    <a:lnTo>
                      <a:pt x="658" y="816"/>
                    </a:lnTo>
                    <a:lnTo>
                      <a:pt x="624" y="834"/>
                    </a:lnTo>
                    <a:lnTo>
                      <a:pt x="588" y="846"/>
                    </a:lnTo>
                    <a:lnTo>
                      <a:pt x="550" y="856"/>
                    </a:lnTo>
                    <a:lnTo>
                      <a:pt x="512" y="862"/>
                    </a:lnTo>
                    <a:lnTo>
                      <a:pt x="472" y="864"/>
                    </a:lnTo>
                    <a:lnTo>
                      <a:pt x="432" y="862"/>
                    </a:lnTo>
                    <a:lnTo>
                      <a:pt x="394" y="856"/>
                    </a:lnTo>
                    <a:lnTo>
                      <a:pt x="356" y="846"/>
                    </a:lnTo>
                    <a:lnTo>
                      <a:pt x="320" y="834"/>
                    </a:lnTo>
                    <a:lnTo>
                      <a:pt x="286" y="816"/>
                    </a:lnTo>
                    <a:lnTo>
                      <a:pt x="252" y="796"/>
                    </a:lnTo>
                    <a:lnTo>
                      <a:pt x="222" y="774"/>
                    </a:lnTo>
                    <a:lnTo>
                      <a:pt x="194" y="750"/>
                    </a:lnTo>
                    <a:lnTo>
                      <a:pt x="170" y="722"/>
                    </a:lnTo>
                    <a:lnTo>
                      <a:pt x="148" y="692"/>
                    </a:lnTo>
                    <a:lnTo>
                      <a:pt x="128" y="658"/>
                    </a:lnTo>
                    <a:lnTo>
                      <a:pt x="110" y="624"/>
                    </a:lnTo>
                    <a:lnTo>
                      <a:pt x="98" y="588"/>
                    </a:lnTo>
                    <a:lnTo>
                      <a:pt x="88" y="550"/>
                    </a:lnTo>
                    <a:lnTo>
                      <a:pt x="82" y="512"/>
                    </a:lnTo>
                    <a:lnTo>
                      <a:pt x="80" y="472"/>
                    </a:lnTo>
                    <a:close/>
                  </a:path>
                </a:pathLst>
              </a:custGeom>
              <a:solidFill>
                <a:srgbClr val="404040">
                  <a:alpha val="20000"/>
                </a:srgb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77" name="Freeform 6"/>
              <p:cNvSpPr>
                <a:spLocks noEditPoints="1" noChangeArrowheads="1"/>
              </p:cNvSpPr>
              <p:nvPr>
                <p:custDataLst>
                  <p:tags r:id="rId29"/>
                </p:custDataLst>
              </p:nvPr>
            </p:nvSpPr>
            <p:spPr bwMode="auto">
              <a:xfrm>
                <a:off x="0" y="0"/>
                <a:ext cx="1232" cy="1232"/>
              </a:xfrm>
              <a:custGeom>
                <a:avLst/>
                <a:gdLst>
                  <a:gd name="T0" fmla="*/ 8 w 1232"/>
                  <a:gd name="T1" fmla="*/ 710 h 1232"/>
                  <a:gd name="T2" fmla="*/ 48 w 1232"/>
                  <a:gd name="T3" fmla="*/ 856 h 1232"/>
                  <a:gd name="T4" fmla="*/ 122 w 1232"/>
                  <a:gd name="T5" fmla="*/ 984 h 1232"/>
                  <a:gd name="T6" fmla="*/ 224 w 1232"/>
                  <a:gd name="T7" fmla="*/ 1092 h 1232"/>
                  <a:gd name="T8" fmla="*/ 350 w 1232"/>
                  <a:gd name="T9" fmla="*/ 1172 h 1232"/>
                  <a:gd name="T10" fmla="*/ 492 w 1232"/>
                  <a:gd name="T11" fmla="*/ 1220 h 1232"/>
                  <a:gd name="T12" fmla="*/ 648 w 1232"/>
                  <a:gd name="T13" fmla="*/ 1232 h 1232"/>
                  <a:gd name="T14" fmla="*/ 798 w 1232"/>
                  <a:gd name="T15" fmla="*/ 1204 h 1232"/>
                  <a:gd name="T16" fmla="*/ 936 w 1232"/>
                  <a:gd name="T17" fmla="*/ 1142 h 1232"/>
                  <a:gd name="T18" fmla="*/ 1052 w 1232"/>
                  <a:gd name="T19" fmla="*/ 1052 h 1232"/>
                  <a:gd name="T20" fmla="*/ 1142 w 1232"/>
                  <a:gd name="T21" fmla="*/ 936 h 1232"/>
                  <a:gd name="T22" fmla="*/ 1204 w 1232"/>
                  <a:gd name="T23" fmla="*/ 798 h 1232"/>
                  <a:gd name="T24" fmla="*/ 1232 w 1232"/>
                  <a:gd name="T25" fmla="*/ 648 h 1232"/>
                  <a:gd name="T26" fmla="*/ 1220 w 1232"/>
                  <a:gd name="T27" fmla="*/ 492 h 1232"/>
                  <a:gd name="T28" fmla="*/ 1172 w 1232"/>
                  <a:gd name="T29" fmla="*/ 350 h 1232"/>
                  <a:gd name="T30" fmla="*/ 1092 w 1232"/>
                  <a:gd name="T31" fmla="*/ 224 h 1232"/>
                  <a:gd name="T32" fmla="*/ 984 w 1232"/>
                  <a:gd name="T33" fmla="*/ 122 h 1232"/>
                  <a:gd name="T34" fmla="*/ 856 w 1232"/>
                  <a:gd name="T35" fmla="*/ 48 h 1232"/>
                  <a:gd name="T36" fmla="*/ 710 w 1232"/>
                  <a:gd name="T37" fmla="*/ 8 h 1232"/>
                  <a:gd name="T38" fmla="*/ 554 w 1232"/>
                  <a:gd name="T39" fmla="*/ 4 h 1232"/>
                  <a:gd name="T40" fmla="*/ 404 w 1232"/>
                  <a:gd name="T41" fmla="*/ 38 h 1232"/>
                  <a:gd name="T42" fmla="*/ 272 w 1232"/>
                  <a:gd name="T43" fmla="*/ 106 h 1232"/>
                  <a:gd name="T44" fmla="*/ 160 w 1232"/>
                  <a:gd name="T45" fmla="*/ 202 h 1232"/>
                  <a:gd name="T46" fmla="*/ 74 w 1232"/>
                  <a:gd name="T47" fmla="*/ 322 h 1232"/>
                  <a:gd name="T48" fmla="*/ 20 w 1232"/>
                  <a:gd name="T49" fmla="*/ 462 h 1232"/>
                  <a:gd name="T50" fmla="*/ 0 w 1232"/>
                  <a:gd name="T51" fmla="*/ 616 h 1232"/>
                  <a:gd name="T52" fmla="*/ 86 w 1232"/>
                  <a:gd name="T53" fmla="*/ 534 h 1232"/>
                  <a:gd name="T54" fmla="*/ 122 w 1232"/>
                  <a:gd name="T55" fmla="*/ 408 h 1232"/>
                  <a:gd name="T56" fmla="*/ 186 w 1232"/>
                  <a:gd name="T57" fmla="*/ 296 h 1232"/>
                  <a:gd name="T58" fmla="*/ 276 w 1232"/>
                  <a:gd name="T59" fmla="*/ 202 h 1232"/>
                  <a:gd name="T60" fmla="*/ 384 w 1232"/>
                  <a:gd name="T61" fmla="*/ 132 h 1232"/>
                  <a:gd name="T62" fmla="*/ 508 w 1232"/>
                  <a:gd name="T63" fmla="*/ 90 h 1232"/>
                  <a:gd name="T64" fmla="*/ 644 w 1232"/>
                  <a:gd name="T65" fmla="*/ 80 h 1232"/>
                  <a:gd name="T66" fmla="*/ 776 w 1232"/>
                  <a:gd name="T67" fmla="*/ 104 h 1232"/>
                  <a:gd name="T68" fmla="*/ 894 w 1232"/>
                  <a:gd name="T69" fmla="*/ 158 h 1232"/>
                  <a:gd name="T70" fmla="*/ 994 w 1232"/>
                  <a:gd name="T71" fmla="*/ 238 h 1232"/>
                  <a:gd name="T72" fmla="*/ 1074 w 1232"/>
                  <a:gd name="T73" fmla="*/ 338 h 1232"/>
                  <a:gd name="T74" fmla="*/ 1128 w 1232"/>
                  <a:gd name="T75" fmla="*/ 456 h 1232"/>
                  <a:gd name="T76" fmla="*/ 1152 w 1232"/>
                  <a:gd name="T77" fmla="*/ 588 h 1232"/>
                  <a:gd name="T78" fmla="*/ 1142 w 1232"/>
                  <a:gd name="T79" fmla="*/ 724 h 1232"/>
                  <a:gd name="T80" fmla="*/ 1100 w 1232"/>
                  <a:gd name="T81" fmla="*/ 848 h 1232"/>
                  <a:gd name="T82" fmla="*/ 1030 w 1232"/>
                  <a:gd name="T83" fmla="*/ 956 h 1232"/>
                  <a:gd name="T84" fmla="*/ 936 w 1232"/>
                  <a:gd name="T85" fmla="*/ 1046 h 1232"/>
                  <a:gd name="T86" fmla="*/ 824 w 1232"/>
                  <a:gd name="T87" fmla="*/ 1110 h 1232"/>
                  <a:gd name="T88" fmla="*/ 698 w 1232"/>
                  <a:gd name="T89" fmla="*/ 1146 h 1232"/>
                  <a:gd name="T90" fmla="*/ 562 w 1232"/>
                  <a:gd name="T91" fmla="*/ 1150 h 1232"/>
                  <a:gd name="T92" fmla="*/ 432 w 1232"/>
                  <a:gd name="T93" fmla="*/ 1120 h 1232"/>
                  <a:gd name="T94" fmla="*/ 316 w 1232"/>
                  <a:gd name="T95" fmla="*/ 1060 h 1232"/>
                  <a:gd name="T96" fmla="*/ 220 w 1232"/>
                  <a:gd name="T97" fmla="*/ 976 h 1232"/>
                  <a:gd name="T98" fmla="*/ 144 w 1232"/>
                  <a:gd name="T99" fmla="*/ 872 h 1232"/>
                  <a:gd name="T100" fmla="*/ 96 w 1232"/>
                  <a:gd name="T101" fmla="*/ 750 h 1232"/>
                  <a:gd name="T102" fmla="*/ 80 w 1232"/>
                  <a:gd name="T103" fmla="*/ 616 h 12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32"/>
                  <a:gd name="T157" fmla="*/ 0 h 1232"/>
                  <a:gd name="T158" fmla="*/ 1232 w 1232"/>
                  <a:gd name="T159" fmla="*/ 1232 h 12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32" h="1232">
                    <a:moveTo>
                      <a:pt x="0" y="616"/>
                    </a:moveTo>
                    <a:lnTo>
                      <a:pt x="0" y="616"/>
                    </a:lnTo>
                    <a:lnTo>
                      <a:pt x="0" y="648"/>
                    </a:lnTo>
                    <a:lnTo>
                      <a:pt x="4" y="678"/>
                    </a:lnTo>
                    <a:lnTo>
                      <a:pt x="8" y="710"/>
                    </a:lnTo>
                    <a:lnTo>
                      <a:pt x="12" y="740"/>
                    </a:lnTo>
                    <a:lnTo>
                      <a:pt x="20" y="770"/>
                    </a:lnTo>
                    <a:lnTo>
                      <a:pt x="28" y="798"/>
                    </a:lnTo>
                    <a:lnTo>
                      <a:pt x="38" y="828"/>
                    </a:lnTo>
                    <a:lnTo>
                      <a:pt x="48" y="856"/>
                    </a:lnTo>
                    <a:lnTo>
                      <a:pt x="60" y="882"/>
                    </a:lnTo>
                    <a:lnTo>
                      <a:pt x="74" y="910"/>
                    </a:lnTo>
                    <a:lnTo>
                      <a:pt x="90" y="936"/>
                    </a:lnTo>
                    <a:lnTo>
                      <a:pt x="106" y="960"/>
                    </a:lnTo>
                    <a:lnTo>
                      <a:pt x="122" y="984"/>
                    </a:lnTo>
                    <a:lnTo>
                      <a:pt x="140" y="1008"/>
                    </a:lnTo>
                    <a:lnTo>
                      <a:pt x="160" y="1030"/>
                    </a:lnTo>
                    <a:lnTo>
                      <a:pt x="180" y="1052"/>
                    </a:lnTo>
                    <a:lnTo>
                      <a:pt x="202" y="1072"/>
                    </a:lnTo>
                    <a:lnTo>
                      <a:pt x="224" y="1092"/>
                    </a:lnTo>
                    <a:lnTo>
                      <a:pt x="248" y="1110"/>
                    </a:lnTo>
                    <a:lnTo>
                      <a:pt x="272" y="1126"/>
                    </a:lnTo>
                    <a:lnTo>
                      <a:pt x="296" y="1142"/>
                    </a:lnTo>
                    <a:lnTo>
                      <a:pt x="322" y="1158"/>
                    </a:lnTo>
                    <a:lnTo>
                      <a:pt x="350" y="1172"/>
                    </a:lnTo>
                    <a:lnTo>
                      <a:pt x="376" y="1184"/>
                    </a:lnTo>
                    <a:lnTo>
                      <a:pt x="404" y="1194"/>
                    </a:lnTo>
                    <a:lnTo>
                      <a:pt x="434" y="1204"/>
                    </a:lnTo>
                    <a:lnTo>
                      <a:pt x="462" y="1212"/>
                    </a:lnTo>
                    <a:lnTo>
                      <a:pt x="492" y="1220"/>
                    </a:lnTo>
                    <a:lnTo>
                      <a:pt x="522" y="1224"/>
                    </a:lnTo>
                    <a:lnTo>
                      <a:pt x="554" y="1228"/>
                    </a:lnTo>
                    <a:lnTo>
                      <a:pt x="584" y="1232"/>
                    </a:lnTo>
                    <a:lnTo>
                      <a:pt x="616" y="1232"/>
                    </a:lnTo>
                    <a:lnTo>
                      <a:pt x="648" y="1232"/>
                    </a:lnTo>
                    <a:lnTo>
                      <a:pt x="678" y="1228"/>
                    </a:lnTo>
                    <a:lnTo>
                      <a:pt x="710" y="1224"/>
                    </a:lnTo>
                    <a:lnTo>
                      <a:pt x="740" y="1220"/>
                    </a:lnTo>
                    <a:lnTo>
                      <a:pt x="770" y="1212"/>
                    </a:lnTo>
                    <a:lnTo>
                      <a:pt x="798" y="1204"/>
                    </a:lnTo>
                    <a:lnTo>
                      <a:pt x="828" y="1194"/>
                    </a:lnTo>
                    <a:lnTo>
                      <a:pt x="856" y="1184"/>
                    </a:lnTo>
                    <a:lnTo>
                      <a:pt x="882" y="1172"/>
                    </a:lnTo>
                    <a:lnTo>
                      <a:pt x="910" y="1158"/>
                    </a:lnTo>
                    <a:lnTo>
                      <a:pt x="936" y="1142"/>
                    </a:lnTo>
                    <a:lnTo>
                      <a:pt x="960" y="1126"/>
                    </a:lnTo>
                    <a:lnTo>
                      <a:pt x="984" y="1110"/>
                    </a:lnTo>
                    <a:lnTo>
                      <a:pt x="1008" y="1092"/>
                    </a:lnTo>
                    <a:lnTo>
                      <a:pt x="1030" y="1072"/>
                    </a:lnTo>
                    <a:lnTo>
                      <a:pt x="1052" y="1052"/>
                    </a:lnTo>
                    <a:lnTo>
                      <a:pt x="1072" y="1030"/>
                    </a:lnTo>
                    <a:lnTo>
                      <a:pt x="1092" y="1008"/>
                    </a:lnTo>
                    <a:lnTo>
                      <a:pt x="1110" y="984"/>
                    </a:lnTo>
                    <a:lnTo>
                      <a:pt x="1126" y="960"/>
                    </a:lnTo>
                    <a:lnTo>
                      <a:pt x="1142" y="936"/>
                    </a:lnTo>
                    <a:lnTo>
                      <a:pt x="1158" y="910"/>
                    </a:lnTo>
                    <a:lnTo>
                      <a:pt x="1172" y="882"/>
                    </a:lnTo>
                    <a:lnTo>
                      <a:pt x="1184" y="856"/>
                    </a:lnTo>
                    <a:lnTo>
                      <a:pt x="1194" y="828"/>
                    </a:lnTo>
                    <a:lnTo>
                      <a:pt x="1204" y="798"/>
                    </a:lnTo>
                    <a:lnTo>
                      <a:pt x="1212" y="770"/>
                    </a:lnTo>
                    <a:lnTo>
                      <a:pt x="1220" y="740"/>
                    </a:lnTo>
                    <a:lnTo>
                      <a:pt x="1224" y="710"/>
                    </a:lnTo>
                    <a:lnTo>
                      <a:pt x="1228" y="678"/>
                    </a:lnTo>
                    <a:lnTo>
                      <a:pt x="1232" y="648"/>
                    </a:lnTo>
                    <a:lnTo>
                      <a:pt x="1232" y="616"/>
                    </a:lnTo>
                    <a:lnTo>
                      <a:pt x="1232" y="584"/>
                    </a:lnTo>
                    <a:lnTo>
                      <a:pt x="1228" y="554"/>
                    </a:lnTo>
                    <a:lnTo>
                      <a:pt x="1224" y="522"/>
                    </a:lnTo>
                    <a:lnTo>
                      <a:pt x="1220" y="492"/>
                    </a:lnTo>
                    <a:lnTo>
                      <a:pt x="1212" y="462"/>
                    </a:lnTo>
                    <a:lnTo>
                      <a:pt x="1204" y="434"/>
                    </a:lnTo>
                    <a:lnTo>
                      <a:pt x="1194" y="404"/>
                    </a:lnTo>
                    <a:lnTo>
                      <a:pt x="1184" y="376"/>
                    </a:lnTo>
                    <a:lnTo>
                      <a:pt x="1172" y="350"/>
                    </a:lnTo>
                    <a:lnTo>
                      <a:pt x="1158" y="322"/>
                    </a:lnTo>
                    <a:lnTo>
                      <a:pt x="1142" y="296"/>
                    </a:lnTo>
                    <a:lnTo>
                      <a:pt x="1126" y="272"/>
                    </a:lnTo>
                    <a:lnTo>
                      <a:pt x="1110" y="248"/>
                    </a:lnTo>
                    <a:lnTo>
                      <a:pt x="1092" y="224"/>
                    </a:lnTo>
                    <a:lnTo>
                      <a:pt x="1072" y="202"/>
                    </a:lnTo>
                    <a:lnTo>
                      <a:pt x="1052" y="180"/>
                    </a:lnTo>
                    <a:lnTo>
                      <a:pt x="1030" y="160"/>
                    </a:lnTo>
                    <a:lnTo>
                      <a:pt x="1008" y="140"/>
                    </a:lnTo>
                    <a:lnTo>
                      <a:pt x="984" y="122"/>
                    </a:lnTo>
                    <a:lnTo>
                      <a:pt x="960" y="106"/>
                    </a:lnTo>
                    <a:lnTo>
                      <a:pt x="936" y="90"/>
                    </a:lnTo>
                    <a:lnTo>
                      <a:pt x="910" y="74"/>
                    </a:lnTo>
                    <a:lnTo>
                      <a:pt x="882" y="60"/>
                    </a:lnTo>
                    <a:lnTo>
                      <a:pt x="856" y="48"/>
                    </a:lnTo>
                    <a:lnTo>
                      <a:pt x="828" y="38"/>
                    </a:lnTo>
                    <a:lnTo>
                      <a:pt x="798" y="28"/>
                    </a:lnTo>
                    <a:lnTo>
                      <a:pt x="770" y="20"/>
                    </a:lnTo>
                    <a:lnTo>
                      <a:pt x="740" y="12"/>
                    </a:lnTo>
                    <a:lnTo>
                      <a:pt x="710" y="8"/>
                    </a:lnTo>
                    <a:lnTo>
                      <a:pt x="678" y="4"/>
                    </a:lnTo>
                    <a:lnTo>
                      <a:pt x="648" y="0"/>
                    </a:lnTo>
                    <a:lnTo>
                      <a:pt x="616" y="0"/>
                    </a:lnTo>
                    <a:lnTo>
                      <a:pt x="584" y="0"/>
                    </a:lnTo>
                    <a:lnTo>
                      <a:pt x="554" y="4"/>
                    </a:lnTo>
                    <a:lnTo>
                      <a:pt x="522" y="8"/>
                    </a:lnTo>
                    <a:lnTo>
                      <a:pt x="492" y="12"/>
                    </a:lnTo>
                    <a:lnTo>
                      <a:pt x="462" y="20"/>
                    </a:lnTo>
                    <a:lnTo>
                      <a:pt x="434" y="28"/>
                    </a:lnTo>
                    <a:lnTo>
                      <a:pt x="404" y="38"/>
                    </a:lnTo>
                    <a:lnTo>
                      <a:pt x="376" y="48"/>
                    </a:lnTo>
                    <a:lnTo>
                      <a:pt x="350" y="60"/>
                    </a:lnTo>
                    <a:lnTo>
                      <a:pt x="322" y="74"/>
                    </a:lnTo>
                    <a:lnTo>
                      <a:pt x="296" y="90"/>
                    </a:lnTo>
                    <a:lnTo>
                      <a:pt x="272" y="106"/>
                    </a:lnTo>
                    <a:lnTo>
                      <a:pt x="248" y="122"/>
                    </a:lnTo>
                    <a:lnTo>
                      <a:pt x="224" y="140"/>
                    </a:lnTo>
                    <a:lnTo>
                      <a:pt x="202" y="160"/>
                    </a:lnTo>
                    <a:lnTo>
                      <a:pt x="180" y="180"/>
                    </a:lnTo>
                    <a:lnTo>
                      <a:pt x="160" y="202"/>
                    </a:lnTo>
                    <a:lnTo>
                      <a:pt x="140" y="224"/>
                    </a:lnTo>
                    <a:lnTo>
                      <a:pt x="122" y="248"/>
                    </a:lnTo>
                    <a:lnTo>
                      <a:pt x="106" y="272"/>
                    </a:lnTo>
                    <a:lnTo>
                      <a:pt x="90" y="296"/>
                    </a:lnTo>
                    <a:lnTo>
                      <a:pt x="74" y="322"/>
                    </a:lnTo>
                    <a:lnTo>
                      <a:pt x="60" y="350"/>
                    </a:lnTo>
                    <a:lnTo>
                      <a:pt x="48" y="376"/>
                    </a:lnTo>
                    <a:lnTo>
                      <a:pt x="38" y="404"/>
                    </a:lnTo>
                    <a:lnTo>
                      <a:pt x="28" y="434"/>
                    </a:lnTo>
                    <a:lnTo>
                      <a:pt x="20" y="462"/>
                    </a:lnTo>
                    <a:lnTo>
                      <a:pt x="12" y="492"/>
                    </a:lnTo>
                    <a:lnTo>
                      <a:pt x="8" y="522"/>
                    </a:lnTo>
                    <a:lnTo>
                      <a:pt x="4" y="554"/>
                    </a:lnTo>
                    <a:lnTo>
                      <a:pt x="0" y="584"/>
                    </a:lnTo>
                    <a:lnTo>
                      <a:pt x="0" y="616"/>
                    </a:lnTo>
                    <a:close/>
                    <a:moveTo>
                      <a:pt x="80" y="616"/>
                    </a:moveTo>
                    <a:lnTo>
                      <a:pt x="80" y="616"/>
                    </a:lnTo>
                    <a:lnTo>
                      <a:pt x="80" y="588"/>
                    </a:lnTo>
                    <a:lnTo>
                      <a:pt x="82" y="562"/>
                    </a:lnTo>
                    <a:lnTo>
                      <a:pt x="86" y="534"/>
                    </a:lnTo>
                    <a:lnTo>
                      <a:pt x="90" y="508"/>
                    </a:lnTo>
                    <a:lnTo>
                      <a:pt x="96" y="482"/>
                    </a:lnTo>
                    <a:lnTo>
                      <a:pt x="104" y="456"/>
                    </a:lnTo>
                    <a:lnTo>
                      <a:pt x="112" y="432"/>
                    </a:lnTo>
                    <a:lnTo>
                      <a:pt x="122" y="408"/>
                    </a:lnTo>
                    <a:lnTo>
                      <a:pt x="132" y="384"/>
                    </a:lnTo>
                    <a:lnTo>
                      <a:pt x="144" y="360"/>
                    </a:lnTo>
                    <a:lnTo>
                      <a:pt x="158" y="338"/>
                    </a:lnTo>
                    <a:lnTo>
                      <a:pt x="172" y="316"/>
                    </a:lnTo>
                    <a:lnTo>
                      <a:pt x="186" y="296"/>
                    </a:lnTo>
                    <a:lnTo>
                      <a:pt x="202" y="276"/>
                    </a:lnTo>
                    <a:lnTo>
                      <a:pt x="220" y="256"/>
                    </a:lnTo>
                    <a:lnTo>
                      <a:pt x="238" y="238"/>
                    </a:lnTo>
                    <a:lnTo>
                      <a:pt x="256" y="220"/>
                    </a:lnTo>
                    <a:lnTo>
                      <a:pt x="276" y="202"/>
                    </a:lnTo>
                    <a:lnTo>
                      <a:pt x="296" y="186"/>
                    </a:lnTo>
                    <a:lnTo>
                      <a:pt x="316" y="172"/>
                    </a:lnTo>
                    <a:lnTo>
                      <a:pt x="338" y="158"/>
                    </a:lnTo>
                    <a:lnTo>
                      <a:pt x="360" y="144"/>
                    </a:lnTo>
                    <a:lnTo>
                      <a:pt x="384" y="132"/>
                    </a:lnTo>
                    <a:lnTo>
                      <a:pt x="408" y="122"/>
                    </a:lnTo>
                    <a:lnTo>
                      <a:pt x="432" y="112"/>
                    </a:lnTo>
                    <a:lnTo>
                      <a:pt x="456" y="104"/>
                    </a:lnTo>
                    <a:lnTo>
                      <a:pt x="482" y="96"/>
                    </a:lnTo>
                    <a:lnTo>
                      <a:pt x="508" y="90"/>
                    </a:lnTo>
                    <a:lnTo>
                      <a:pt x="534" y="86"/>
                    </a:lnTo>
                    <a:lnTo>
                      <a:pt x="562" y="82"/>
                    </a:lnTo>
                    <a:lnTo>
                      <a:pt x="588" y="80"/>
                    </a:lnTo>
                    <a:lnTo>
                      <a:pt x="616" y="80"/>
                    </a:lnTo>
                    <a:lnTo>
                      <a:pt x="644" y="80"/>
                    </a:lnTo>
                    <a:lnTo>
                      <a:pt x="670" y="82"/>
                    </a:lnTo>
                    <a:lnTo>
                      <a:pt x="698" y="86"/>
                    </a:lnTo>
                    <a:lnTo>
                      <a:pt x="724" y="90"/>
                    </a:lnTo>
                    <a:lnTo>
                      <a:pt x="750" y="96"/>
                    </a:lnTo>
                    <a:lnTo>
                      <a:pt x="776" y="104"/>
                    </a:lnTo>
                    <a:lnTo>
                      <a:pt x="800" y="112"/>
                    </a:lnTo>
                    <a:lnTo>
                      <a:pt x="824" y="122"/>
                    </a:lnTo>
                    <a:lnTo>
                      <a:pt x="848" y="132"/>
                    </a:lnTo>
                    <a:lnTo>
                      <a:pt x="872" y="144"/>
                    </a:lnTo>
                    <a:lnTo>
                      <a:pt x="894" y="158"/>
                    </a:lnTo>
                    <a:lnTo>
                      <a:pt x="916" y="172"/>
                    </a:lnTo>
                    <a:lnTo>
                      <a:pt x="936" y="186"/>
                    </a:lnTo>
                    <a:lnTo>
                      <a:pt x="956" y="202"/>
                    </a:lnTo>
                    <a:lnTo>
                      <a:pt x="976" y="220"/>
                    </a:lnTo>
                    <a:lnTo>
                      <a:pt x="994" y="238"/>
                    </a:lnTo>
                    <a:lnTo>
                      <a:pt x="1012" y="256"/>
                    </a:lnTo>
                    <a:lnTo>
                      <a:pt x="1030" y="276"/>
                    </a:lnTo>
                    <a:lnTo>
                      <a:pt x="1046" y="296"/>
                    </a:lnTo>
                    <a:lnTo>
                      <a:pt x="1060" y="316"/>
                    </a:lnTo>
                    <a:lnTo>
                      <a:pt x="1074" y="338"/>
                    </a:lnTo>
                    <a:lnTo>
                      <a:pt x="1088" y="360"/>
                    </a:lnTo>
                    <a:lnTo>
                      <a:pt x="1100" y="384"/>
                    </a:lnTo>
                    <a:lnTo>
                      <a:pt x="1110" y="408"/>
                    </a:lnTo>
                    <a:lnTo>
                      <a:pt x="1120" y="432"/>
                    </a:lnTo>
                    <a:lnTo>
                      <a:pt x="1128" y="456"/>
                    </a:lnTo>
                    <a:lnTo>
                      <a:pt x="1136" y="482"/>
                    </a:lnTo>
                    <a:lnTo>
                      <a:pt x="1142" y="508"/>
                    </a:lnTo>
                    <a:lnTo>
                      <a:pt x="1146" y="534"/>
                    </a:lnTo>
                    <a:lnTo>
                      <a:pt x="1150" y="562"/>
                    </a:lnTo>
                    <a:lnTo>
                      <a:pt x="1152" y="588"/>
                    </a:lnTo>
                    <a:lnTo>
                      <a:pt x="1152" y="616"/>
                    </a:lnTo>
                    <a:lnTo>
                      <a:pt x="1152" y="644"/>
                    </a:lnTo>
                    <a:lnTo>
                      <a:pt x="1150" y="670"/>
                    </a:lnTo>
                    <a:lnTo>
                      <a:pt x="1146" y="698"/>
                    </a:lnTo>
                    <a:lnTo>
                      <a:pt x="1142" y="724"/>
                    </a:lnTo>
                    <a:lnTo>
                      <a:pt x="1136" y="750"/>
                    </a:lnTo>
                    <a:lnTo>
                      <a:pt x="1128" y="776"/>
                    </a:lnTo>
                    <a:lnTo>
                      <a:pt x="1120" y="800"/>
                    </a:lnTo>
                    <a:lnTo>
                      <a:pt x="1110" y="824"/>
                    </a:lnTo>
                    <a:lnTo>
                      <a:pt x="1100" y="848"/>
                    </a:lnTo>
                    <a:lnTo>
                      <a:pt x="1088" y="872"/>
                    </a:lnTo>
                    <a:lnTo>
                      <a:pt x="1074" y="894"/>
                    </a:lnTo>
                    <a:lnTo>
                      <a:pt x="1060" y="916"/>
                    </a:lnTo>
                    <a:lnTo>
                      <a:pt x="1046" y="936"/>
                    </a:lnTo>
                    <a:lnTo>
                      <a:pt x="1030" y="956"/>
                    </a:lnTo>
                    <a:lnTo>
                      <a:pt x="1012" y="976"/>
                    </a:lnTo>
                    <a:lnTo>
                      <a:pt x="994" y="994"/>
                    </a:lnTo>
                    <a:lnTo>
                      <a:pt x="976" y="1012"/>
                    </a:lnTo>
                    <a:lnTo>
                      <a:pt x="956" y="1030"/>
                    </a:lnTo>
                    <a:lnTo>
                      <a:pt x="936" y="1046"/>
                    </a:lnTo>
                    <a:lnTo>
                      <a:pt x="916" y="1060"/>
                    </a:lnTo>
                    <a:lnTo>
                      <a:pt x="894" y="1074"/>
                    </a:lnTo>
                    <a:lnTo>
                      <a:pt x="872" y="1088"/>
                    </a:lnTo>
                    <a:lnTo>
                      <a:pt x="848" y="1100"/>
                    </a:lnTo>
                    <a:lnTo>
                      <a:pt x="824" y="1110"/>
                    </a:lnTo>
                    <a:lnTo>
                      <a:pt x="800" y="1120"/>
                    </a:lnTo>
                    <a:lnTo>
                      <a:pt x="776" y="1128"/>
                    </a:lnTo>
                    <a:lnTo>
                      <a:pt x="750" y="1136"/>
                    </a:lnTo>
                    <a:lnTo>
                      <a:pt x="724" y="1142"/>
                    </a:lnTo>
                    <a:lnTo>
                      <a:pt x="698" y="1146"/>
                    </a:lnTo>
                    <a:lnTo>
                      <a:pt x="670" y="1150"/>
                    </a:lnTo>
                    <a:lnTo>
                      <a:pt x="644" y="1152"/>
                    </a:lnTo>
                    <a:lnTo>
                      <a:pt x="616" y="1152"/>
                    </a:lnTo>
                    <a:lnTo>
                      <a:pt x="588" y="1152"/>
                    </a:lnTo>
                    <a:lnTo>
                      <a:pt x="562" y="1150"/>
                    </a:lnTo>
                    <a:lnTo>
                      <a:pt x="534" y="1146"/>
                    </a:lnTo>
                    <a:lnTo>
                      <a:pt x="508" y="1142"/>
                    </a:lnTo>
                    <a:lnTo>
                      <a:pt x="482" y="1136"/>
                    </a:lnTo>
                    <a:lnTo>
                      <a:pt x="456" y="1128"/>
                    </a:lnTo>
                    <a:lnTo>
                      <a:pt x="432" y="1120"/>
                    </a:lnTo>
                    <a:lnTo>
                      <a:pt x="408" y="1110"/>
                    </a:lnTo>
                    <a:lnTo>
                      <a:pt x="384" y="1100"/>
                    </a:lnTo>
                    <a:lnTo>
                      <a:pt x="360" y="1088"/>
                    </a:lnTo>
                    <a:lnTo>
                      <a:pt x="338" y="1074"/>
                    </a:lnTo>
                    <a:lnTo>
                      <a:pt x="316" y="1060"/>
                    </a:lnTo>
                    <a:lnTo>
                      <a:pt x="296" y="1046"/>
                    </a:lnTo>
                    <a:lnTo>
                      <a:pt x="276" y="1030"/>
                    </a:lnTo>
                    <a:lnTo>
                      <a:pt x="256" y="1012"/>
                    </a:lnTo>
                    <a:lnTo>
                      <a:pt x="238" y="994"/>
                    </a:lnTo>
                    <a:lnTo>
                      <a:pt x="220" y="976"/>
                    </a:lnTo>
                    <a:lnTo>
                      <a:pt x="202" y="956"/>
                    </a:lnTo>
                    <a:lnTo>
                      <a:pt x="186" y="936"/>
                    </a:lnTo>
                    <a:lnTo>
                      <a:pt x="172" y="916"/>
                    </a:lnTo>
                    <a:lnTo>
                      <a:pt x="158" y="894"/>
                    </a:lnTo>
                    <a:lnTo>
                      <a:pt x="144" y="872"/>
                    </a:lnTo>
                    <a:lnTo>
                      <a:pt x="132" y="848"/>
                    </a:lnTo>
                    <a:lnTo>
                      <a:pt x="122" y="824"/>
                    </a:lnTo>
                    <a:lnTo>
                      <a:pt x="112" y="800"/>
                    </a:lnTo>
                    <a:lnTo>
                      <a:pt x="104" y="776"/>
                    </a:lnTo>
                    <a:lnTo>
                      <a:pt x="96" y="750"/>
                    </a:lnTo>
                    <a:lnTo>
                      <a:pt x="90" y="724"/>
                    </a:lnTo>
                    <a:lnTo>
                      <a:pt x="86" y="698"/>
                    </a:lnTo>
                    <a:lnTo>
                      <a:pt x="82" y="670"/>
                    </a:lnTo>
                    <a:lnTo>
                      <a:pt x="80" y="644"/>
                    </a:lnTo>
                    <a:lnTo>
                      <a:pt x="80" y="616"/>
                    </a:lnTo>
                    <a:close/>
                  </a:path>
                </a:pathLst>
              </a:custGeom>
              <a:solidFill>
                <a:srgbClr val="404040">
                  <a:alpha val="9000"/>
                </a:srgb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dirty="0">
                  <a:solidFill>
                    <a:srgbClr val="000000"/>
                  </a:solidFill>
                  <a:latin typeface="HYXuanSong 75J" panose="00020600040101010101" charset="-122"/>
                  <a:ea typeface="HYXuanSong 75J" panose="00020600040101010101" charset="-122"/>
                  <a:sym typeface="宋体" panose="02010600030101010101" pitchFamily="2" charset="-122"/>
                </a:endParaRPr>
              </a:p>
            </p:txBody>
          </p:sp>
        </p:grpSp>
        <p:sp>
          <p:nvSpPr>
            <p:cNvPr id="1048678" name="矩形 2"/>
            <p:cNvSpPr/>
            <p:nvPr>
              <p:custDataLst>
                <p:tags r:id="rId26"/>
              </p:custDataLst>
            </p:nvPr>
          </p:nvSpPr>
          <p:spPr>
            <a:xfrm>
              <a:off x="5260292" y="2908926"/>
              <a:ext cx="2792172" cy="1235369"/>
            </a:xfrm>
            <a:prstGeom prst="rect">
              <a:avLst/>
            </a:prstGeom>
          </p:spPr>
          <p:txBody>
            <a:bodyPr wrap="none">
              <a:spAutoFit/>
            </a:bodyPr>
            <a:lstStyle/>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Prediction </a:t>
              </a:r>
            </a:p>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target</a:t>
              </a:r>
            </a:p>
          </p:txBody>
        </p:sp>
      </p:grpSp>
      <p:grpSp>
        <p:nvGrpSpPr>
          <p:cNvPr id="70" name="组合 18"/>
          <p:cNvGrpSpPr/>
          <p:nvPr>
            <p:custDataLst>
              <p:tags r:id="rId10"/>
            </p:custDataLst>
          </p:nvPr>
        </p:nvGrpSpPr>
        <p:grpSpPr>
          <a:xfrm>
            <a:off x="3563352" y="3862188"/>
            <a:ext cx="2097381" cy="2097381"/>
            <a:chOff x="5146800" y="5578716"/>
            <a:chExt cx="3024742" cy="3024742"/>
          </a:xfrm>
        </p:grpSpPr>
        <p:sp>
          <p:nvSpPr>
            <p:cNvPr id="1048679" name="矩形 4"/>
            <p:cNvSpPr/>
            <p:nvPr>
              <p:custDataLst>
                <p:tags r:id="rId22"/>
              </p:custDataLst>
            </p:nvPr>
          </p:nvSpPr>
          <p:spPr>
            <a:xfrm>
              <a:off x="5573044" y="6500715"/>
              <a:ext cx="2135429" cy="1235369"/>
            </a:xfrm>
            <a:prstGeom prst="rect">
              <a:avLst/>
            </a:prstGeom>
          </p:spPr>
          <p:txBody>
            <a:bodyPr wrap="square">
              <a:spAutoFit/>
            </a:bodyPr>
            <a:lstStyle/>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Excluded columns</a:t>
              </a:r>
            </a:p>
          </p:txBody>
        </p:sp>
        <p:sp>
          <p:nvSpPr>
            <p:cNvPr id="1048680" name="Freeform 4"/>
            <p:cNvSpPr>
              <a:spLocks noEditPoints="1" noChangeArrowheads="1"/>
            </p:cNvSpPr>
            <p:nvPr>
              <p:custDataLst>
                <p:tags r:id="rId23"/>
              </p:custDataLst>
            </p:nvPr>
          </p:nvSpPr>
          <p:spPr bwMode="auto">
            <a:xfrm>
              <a:off x="5853883" y="6285799"/>
              <a:ext cx="1610576" cy="1610576"/>
            </a:xfrm>
            <a:custGeom>
              <a:avLst/>
              <a:gdLst>
                <a:gd name="T0" fmla="*/ 2 w 656"/>
                <a:gd name="T1" fmla="*/ 362 h 656"/>
                <a:gd name="T2" fmla="*/ 26 w 656"/>
                <a:gd name="T3" fmla="*/ 456 h 656"/>
                <a:gd name="T4" fmla="*/ 74 w 656"/>
                <a:gd name="T5" fmla="*/ 536 h 656"/>
                <a:gd name="T6" fmla="*/ 144 w 656"/>
                <a:gd name="T7" fmla="*/ 600 h 656"/>
                <a:gd name="T8" fmla="*/ 230 w 656"/>
                <a:gd name="T9" fmla="*/ 642 h 656"/>
                <a:gd name="T10" fmla="*/ 328 w 656"/>
                <a:gd name="T11" fmla="*/ 656 h 656"/>
                <a:gd name="T12" fmla="*/ 426 w 656"/>
                <a:gd name="T13" fmla="*/ 642 h 656"/>
                <a:gd name="T14" fmla="*/ 512 w 656"/>
                <a:gd name="T15" fmla="*/ 600 h 656"/>
                <a:gd name="T16" fmla="*/ 582 w 656"/>
                <a:gd name="T17" fmla="*/ 536 h 656"/>
                <a:gd name="T18" fmla="*/ 630 w 656"/>
                <a:gd name="T19" fmla="*/ 456 h 656"/>
                <a:gd name="T20" fmla="*/ 654 w 656"/>
                <a:gd name="T21" fmla="*/ 362 h 656"/>
                <a:gd name="T22" fmla="*/ 650 w 656"/>
                <a:gd name="T23" fmla="*/ 262 h 656"/>
                <a:gd name="T24" fmla="*/ 616 w 656"/>
                <a:gd name="T25" fmla="*/ 172 h 656"/>
                <a:gd name="T26" fmla="*/ 560 w 656"/>
                <a:gd name="T27" fmla="*/ 96 h 656"/>
                <a:gd name="T28" fmla="*/ 484 w 656"/>
                <a:gd name="T29" fmla="*/ 40 h 656"/>
                <a:gd name="T30" fmla="*/ 394 w 656"/>
                <a:gd name="T31" fmla="*/ 6 h 656"/>
                <a:gd name="T32" fmla="*/ 294 w 656"/>
                <a:gd name="T33" fmla="*/ 2 h 656"/>
                <a:gd name="T34" fmla="*/ 200 w 656"/>
                <a:gd name="T35" fmla="*/ 26 h 656"/>
                <a:gd name="T36" fmla="*/ 120 w 656"/>
                <a:gd name="T37" fmla="*/ 74 h 656"/>
                <a:gd name="T38" fmla="*/ 56 w 656"/>
                <a:gd name="T39" fmla="*/ 144 h 656"/>
                <a:gd name="T40" fmla="*/ 14 w 656"/>
                <a:gd name="T41" fmla="*/ 230 h 656"/>
                <a:gd name="T42" fmla="*/ 0 w 656"/>
                <a:gd name="T43" fmla="*/ 328 h 656"/>
                <a:gd name="T44" fmla="*/ 82 w 656"/>
                <a:gd name="T45" fmla="*/ 302 h 656"/>
                <a:gd name="T46" fmla="*/ 100 w 656"/>
                <a:gd name="T47" fmla="*/ 232 h 656"/>
                <a:gd name="T48" fmla="*/ 136 w 656"/>
                <a:gd name="T49" fmla="*/ 170 h 656"/>
                <a:gd name="T50" fmla="*/ 190 w 656"/>
                <a:gd name="T51" fmla="*/ 122 h 656"/>
                <a:gd name="T52" fmla="*/ 254 w 656"/>
                <a:gd name="T53" fmla="*/ 92 h 656"/>
                <a:gd name="T54" fmla="*/ 328 w 656"/>
                <a:gd name="T55" fmla="*/ 80 h 656"/>
                <a:gd name="T56" fmla="*/ 402 w 656"/>
                <a:gd name="T57" fmla="*/ 92 h 656"/>
                <a:gd name="T58" fmla="*/ 466 w 656"/>
                <a:gd name="T59" fmla="*/ 122 h 656"/>
                <a:gd name="T60" fmla="*/ 520 w 656"/>
                <a:gd name="T61" fmla="*/ 170 h 656"/>
                <a:gd name="T62" fmla="*/ 556 w 656"/>
                <a:gd name="T63" fmla="*/ 232 h 656"/>
                <a:gd name="T64" fmla="*/ 574 w 656"/>
                <a:gd name="T65" fmla="*/ 302 h 656"/>
                <a:gd name="T66" fmla="*/ 570 w 656"/>
                <a:gd name="T67" fmla="*/ 378 h 656"/>
                <a:gd name="T68" fmla="*/ 546 w 656"/>
                <a:gd name="T69" fmla="*/ 446 h 656"/>
                <a:gd name="T70" fmla="*/ 504 w 656"/>
                <a:gd name="T71" fmla="*/ 504 h 656"/>
                <a:gd name="T72" fmla="*/ 446 w 656"/>
                <a:gd name="T73" fmla="*/ 546 h 656"/>
                <a:gd name="T74" fmla="*/ 378 w 656"/>
                <a:gd name="T75" fmla="*/ 570 h 656"/>
                <a:gd name="T76" fmla="*/ 302 w 656"/>
                <a:gd name="T77" fmla="*/ 574 h 656"/>
                <a:gd name="T78" fmla="*/ 232 w 656"/>
                <a:gd name="T79" fmla="*/ 556 h 656"/>
                <a:gd name="T80" fmla="*/ 170 w 656"/>
                <a:gd name="T81" fmla="*/ 520 h 656"/>
                <a:gd name="T82" fmla="*/ 122 w 656"/>
                <a:gd name="T83" fmla="*/ 466 h 656"/>
                <a:gd name="T84" fmla="*/ 92 w 656"/>
                <a:gd name="T85" fmla="*/ 402 h 656"/>
                <a:gd name="T86" fmla="*/ 80 w 656"/>
                <a:gd name="T87" fmla="*/ 328 h 6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6"/>
                <a:gd name="T133" fmla="*/ 0 h 656"/>
                <a:gd name="T134" fmla="*/ 656 w 656"/>
                <a:gd name="T135" fmla="*/ 656 h 6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6" h="656">
                  <a:moveTo>
                    <a:pt x="0" y="328"/>
                  </a:moveTo>
                  <a:lnTo>
                    <a:pt x="0" y="328"/>
                  </a:lnTo>
                  <a:lnTo>
                    <a:pt x="2" y="362"/>
                  </a:lnTo>
                  <a:lnTo>
                    <a:pt x="6" y="394"/>
                  </a:lnTo>
                  <a:lnTo>
                    <a:pt x="14" y="426"/>
                  </a:lnTo>
                  <a:lnTo>
                    <a:pt x="26" y="456"/>
                  </a:lnTo>
                  <a:lnTo>
                    <a:pt x="40" y="484"/>
                  </a:lnTo>
                  <a:lnTo>
                    <a:pt x="56" y="512"/>
                  </a:lnTo>
                  <a:lnTo>
                    <a:pt x="74" y="536"/>
                  </a:lnTo>
                  <a:lnTo>
                    <a:pt x="96" y="560"/>
                  </a:lnTo>
                  <a:lnTo>
                    <a:pt x="120" y="582"/>
                  </a:lnTo>
                  <a:lnTo>
                    <a:pt x="144" y="600"/>
                  </a:lnTo>
                  <a:lnTo>
                    <a:pt x="172" y="616"/>
                  </a:lnTo>
                  <a:lnTo>
                    <a:pt x="200" y="630"/>
                  </a:lnTo>
                  <a:lnTo>
                    <a:pt x="230" y="642"/>
                  </a:lnTo>
                  <a:lnTo>
                    <a:pt x="262" y="650"/>
                  </a:lnTo>
                  <a:lnTo>
                    <a:pt x="294" y="654"/>
                  </a:lnTo>
                  <a:lnTo>
                    <a:pt x="328" y="656"/>
                  </a:lnTo>
                  <a:lnTo>
                    <a:pt x="362" y="654"/>
                  </a:lnTo>
                  <a:lnTo>
                    <a:pt x="394" y="650"/>
                  </a:lnTo>
                  <a:lnTo>
                    <a:pt x="426" y="642"/>
                  </a:lnTo>
                  <a:lnTo>
                    <a:pt x="456" y="630"/>
                  </a:lnTo>
                  <a:lnTo>
                    <a:pt x="484" y="616"/>
                  </a:lnTo>
                  <a:lnTo>
                    <a:pt x="512" y="600"/>
                  </a:lnTo>
                  <a:lnTo>
                    <a:pt x="536" y="582"/>
                  </a:lnTo>
                  <a:lnTo>
                    <a:pt x="560" y="560"/>
                  </a:lnTo>
                  <a:lnTo>
                    <a:pt x="582" y="536"/>
                  </a:lnTo>
                  <a:lnTo>
                    <a:pt x="600" y="512"/>
                  </a:lnTo>
                  <a:lnTo>
                    <a:pt x="616" y="484"/>
                  </a:lnTo>
                  <a:lnTo>
                    <a:pt x="630" y="456"/>
                  </a:lnTo>
                  <a:lnTo>
                    <a:pt x="642" y="426"/>
                  </a:lnTo>
                  <a:lnTo>
                    <a:pt x="650" y="394"/>
                  </a:lnTo>
                  <a:lnTo>
                    <a:pt x="654" y="362"/>
                  </a:lnTo>
                  <a:lnTo>
                    <a:pt x="656" y="328"/>
                  </a:lnTo>
                  <a:lnTo>
                    <a:pt x="654" y="294"/>
                  </a:lnTo>
                  <a:lnTo>
                    <a:pt x="650" y="262"/>
                  </a:lnTo>
                  <a:lnTo>
                    <a:pt x="642" y="230"/>
                  </a:lnTo>
                  <a:lnTo>
                    <a:pt x="630" y="200"/>
                  </a:lnTo>
                  <a:lnTo>
                    <a:pt x="616" y="172"/>
                  </a:lnTo>
                  <a:lnTo>
                    <a:pt x="600" y="144"/>
                  </a:lnTo>
                  <a:lnTo>
                    <a:pt x="582" y="120"/>
                  </a:lnTo>
                  <a:lnTo>
                    <a:pt x="560" y="96"/>
                  </a:lnTo>
                  <a:lnTo>
                    <a:pt x="536" y="74"/>
                  </a:lnTo>
                  <a:lnTo>
                    <a:pt x="512" y="56"/>
                  </a:lnTo>
                  <a:lnTo>
                    <a:pt x="484" y="40"/>
                  </a:lnTo>
                  <a:lnTo>
                    <a:pt x="456" y="26"/>
                  </a:lnTo>
                  <a:lnTo>
                    <a:pt x="426" y="14"/>
                  </a:lnTo>
                  <a:lnTo>
                    <a:pt x="394" y="6"/>
                  </a:lnTo>
                  <a:lnTo>
                    <a:pt x="362" y="2"/>
                  </a:lnTo>
                  <a:lnTo>
                    <a:pt x="328" y="0"/>
                  </a:lnTo>
                  <a:lnTo>
                    <a:pt x="294" y="2"/>
                  </a:lnTo>
                  <a:lnTo>
                    <a:pt x="262" y="6"/>
                  </a:lnTo>
                  <a:lnTo>
                    <a:pt x="230" y="14"/>
                  </a:lnTo>
                  <a:lnTo>
                    <a:pt x="200" y="26"/>
                  </a:lnTo>
                  <a:lnTo>
                    <a:pt x="172" y="40"/>
                  </a:lnTo>
                  <a:lnTo>
                    <a:pt x="144" y="56"/>
                  </a:lnTo>
                  <a:lnTo>
                    <a:pt x="120" y="74"/>
                  </a:lnTo>
                  <a:lnTo>
                    <a:pt x="96" y="96"/>
                  </a:lnTo>
                  <a:lnTo>
                    <a:pt x="74" y="120"/>
                  </a:lnTo>
                  <a:lnTo>
                    <a:pt x="56" y="144"/>
                  </a:lnTo>
                  <a:lnTo>
                    <a:pt x="40" y="172"/>
                  </a:lnTo>
                  <a:lnTo>
                    <a:pt x="26" y="200"/>
                  </a:lnTo>
                  <a:lnTo>
                    <a:pt x="14" y="230"/>
                  </a:lnTo>
                  <a:lnTo>
                    <a:pt x="6" y="262"/>
                  </a:lnTo>
                  <a:lnTo>
                    <a:pt x="2" y="294"/>
                  </a:lnTo>
                  <a:lnTo>
                    <a:pt x="0" y="328"/>
                  </a:lnTo>
                  <a:close/>
                  <a:moveTo>
                    <a:pt x="80" y="328"/>
                  </a:moveTo>
                  <a:lnTo>
                    <a:pt x="80" y="328"/>
                  </a:lnTo>
                  <a:lnTo>
                    <a:pt x="82" y="302"/>
                  </a:lnTo>
                  <a:lnTo>
                    <a:pt x="86" y="278"/>
                  </a:lnTo>
                  <a:lnTo>
                    <a:pt x="92" y="254"/>
                  </a:lnTo>
                  <a:lnTo>
                    <a:pt x="100" y="232"/>
                  </a:lnTo>
                  <a:lnTo>
                    <a:pt x="110" y="210"/>
                  </a:lnTo>
                  <a:lnTo>
                    <a:pt x="122" y="190"/>
                  </a:lnTo>
                  <a:lnTo>
                    <a:pt x="136" y="170"/>
                  </a:lnTo>
                  <a:lnTo>
                    <a:pt x="152" y="152"/>
                  </a:lnTo>
                  <a:lnTo>
                    <a:pt x="170" y="136"/>
                  </a:lnTo>
                  <a:lnTo>
                    <a:pt x="190" y="122"/>
                  </a:lnTo>
                  <a:lnTo>
                    <a:pt x="210" y="110"/>
                  </a:lnTo>
                  <a:lnTo>
                    <a:pt x="232" y="100"/>
                  </a:lnTo>
                  <a:lnTo>
                    <a:pt x="254" y="92"/>
                  </a:lnTo>
                  <a:lnTo>
                    <a:pt x="278" y="86"/>
                  </a:lnTo>
                  <a:lnTo>
                    <a:pt x="302" y="82"/>
                  </a:lnTo>
                  <a:lnTo>
                    <a:pt x="328" y="80"/>
                  </a:lnTo>
                  <a:lnTo>
                    <a:pt x="354" y="82"/>
                  </a:lnTo>
                  <a:lnTo>
                    <a:pt x="378" y="86"/>
                  </a:lnTo>
                  <a:lnTo>
                    <a:pt x="402" y="92"/>
                  </a:lnTo>
                  <a:lnTo>
                    <a:pt x="424" y="100"/>
                  </a:lnTo>
                  <a:lnTo>
                    <a:pt x="446" y="110"/>
                  </a:lnTo>
                  <a:lnTo>
                    <a:pt x="466" y="122"/>
                  </a:lnTo>
                  <a:lnTo>
                    <a:pt x="486" y="136"/>
                  </a:lnTo>
                  <a:lnTo>
                    <a:pt x="504" y="152"/>
                  </a:lnTo>
                  <a:lnTo>
                    <a:pt x="520" y="170"/>
                  </a:lnTo>
                  <a:lnTo>
                    <a:pt x="534" y="190"/>
                  </a:lnTo>
                  <a:lnTo>
                    <a:pt x="546" y="210"/>
                  </a:lnTo>
                  <a:lnTo>
                    <a:pt x="556" y="232"/>
                  </a:lnTo>
                  <a:lnTo>
                    <a:pt x="564" y="254"/>
                  </a:lnTo>
                  <a:lnTo>
                    <a:pt x="570" y="278"/>
                  </a:lnTo>
                  <a:lnTo>
                    <a:pt x="574" y="302"/>
                  </a:lnTo>
                  <a:lnTo>
                    <a:pt x="576" y="328"/>
                  </a:lnTo>
                  <a:lnTo>
                    <a:pt x="574" y="354"/>
                  </a:lnTo>
                  <a:lnTo>
                    <a:pt x="570" y="378"/>
                  </a:lnTo>
                  <a:lnTo>
                    <a:pt x="564" y="402"/>
                  </a:lnTo>
                  <a:lnTo>
                    <a:pt x="556" y="424"/>
                  </a:lnTo>
                  <a:lnTo>
                    <a:pt x="546" y="446"/>
                  </a:lnTo>
                  <a:lnTo>
                    <a:pt x="534" y="466"/>
                  </a:lnTo>
                  <a:lnTo>
                    <a:pt x="520" y="486"/>
                  </a:lnTo>
                  <a:lnTo>
                    <a:pt x="504" y="504"/>
                  </a:lnTo>
                  <a:lnTo>
                    <a:pt x="486" y="520"/>
                  </a:lnTo>
                  <a:lnTo>
                    <a:pt x="466" y="534"/>
                  </a:lnTo>
                  <a:lnTo>
                    <a:pt x="446" y="546"/>
                  </a:lnTo>
                  <a:lnTo>
                    <a:pt x="424" y="556"/>
                  </a:lnTo>
                  <a:lnTo>
                    <a:pt x="402" y="564"/>
                  </a:lnTo>
                  <a:lnTo>
                    <a:pt x="378" y="570"/>
                  </a:lnTo>
                  <a:lnTo>
                    <a:pt x="354" y="574"/>
                  </a:lnTo>
                  <a:lnTo>
                    <a:pt x="328" y="576"/>
                  </a:lnTo>
                  <a:lnTo>
                    <a:pt x="302" y="574"/>
                  </a:lnTo>
                  <a:lnTo>
                    <a:pt x="278" y="570"/>
                  </a:lnTo>
                  <a:lnTo>
                    <a:pt x="254" y="564"/>
                  </a:lnTo>
                  <a:lnTo>
                    <a:pt x="232" y="556"/>
                  </a:lnTo>
                  <a:lnTo>
                    <a:pt x="210" y="546"/>
                  </a:lnTo>
                  <a:lnTo>
                    <a:pt x="190" y="534"/>
                  </a:lnTo>
                  <a:lnTo>
                    <a:pt x="170" y="520"/>
                  </a:lnTo>
                  <a:lnTo>
                    <a:pt x="152" y="504"/>
                  </a:lnTo>
                  <a:lnTo>
                    <a:pt x="136" y="486"/>
                  </a:lnTo>
                  <a:lnTo>
                    <a:pt x="122" y="466"/>
                  </a:lnTo>
                  <a:lnTo>
                    <a:pt x="110" y="446"/>
                  </a:lnTo>
                  <a:lnTo>
                    <a:pt x="100" y="424"/>
                  </a:lnTo>
                  <a:lnTo>
                    <a:pt x="92" y="402"/>
                  </a:lnTo>
                  <a:lnTo>
                    <a:pt x="86" y="378"/>
                  </a:lnTo>
                  <a:lnTo>
                    <a:pt x="82" y="354"/>
                  </a:lnTo>
                  <a:lnTo>
                    <a:pt x="80" y="328"/>
                  </a:lnTo>
                  <a:close/>
                </a:path>
              </a:pathLst>
            </a:custGeom>
            <a:solidFill>
              <a:schemeClr val="accent1">
                <a:lumMod val="75000"/>
                <a:alpha val="28999"/>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1" name="Freeform 5"/>
            <p:cNvSpPr>
              <a:spLocks noEditPoints="1" noChangeArrowheads="1"/>
            </p:cNvSpPr>
            <p:nvPr>
              <p:custDataLst>
                <p:tags r:id="rId24"/>
              </p:custDataLst>
            </p:nvPr>
          </p:nvSpPr>
          <p:spPr bwMode="auto">
            <a:xfrm>
              <a:off x="5500341" y="5932257"/>
              <a:ext cx="2317659" cy="2317659"/>
            </a:xfrm>
            <a:custGeom>
              <a:avLst/>
              <a:gdLst>
                <a:gd name="T0" fmla="*/ 0 w 944"/>
                <a:gd name="T1" fmla="*/ 496 h 944"/>
                <a:gd name="T2" fmla="*/ 10 w 944"/>
                <a:gd name="T3" fmla="*/ 568 h 944"/>
                <a:gd name="T4" fmla="*/ 58 w 944"/>
                <a:gd name="T5" fmla="*/ 696 h 944"/>
                <a:gd name="T6" fmla="*/ 138 w 944"/>
                <a:gd name="T7" fmla="*/ 806 h 944"/>
                <a:gd name="T8" fmla="*/ 248 w 944"/>
                <a:gd name="T9" fmla="*/ 886 h 944"/>
                <a:gd name="T10" fmla="*/ 376 w 944"/>
                <a:gd name="T11" fmla="*/ 934 h 944"/>
                <a:gd name="T12" fmla="*/ 448 w 944"/>
                <a:gd name="T13" fmla="*/ 944 h 944"/>
                <a:gd name="T14" fmla="*/ 520 w 944"/>
                <a:gd name="T15" fmla="*/ 942 h 944"/>
                <a:gd name="T16" fmla="*/ 612 w 944"/>
                <a:gd name="T17" fmla="*/ 922 h 944"/>
                <a:gd name="T18" fmla="*/ 736 w 944"/>
                <a:gd name="T19" fmla="*/ 864 h 944"/>
                <a:gd name="T20" fmla="*/ 836 w 944"/>
                <a:gd name="T21" fmla="*/ 772 h 944"/>
                <a:gd name="T22" fmla="*/ 906 w 944"/>
                <a:gd name="T23" fmla="*/ 656 h 944"/>
                <a:gd name="T24" fmla="*/ 938 w 944"/>
                <a:gd name="T25" fmla="*/ 544 h 944"/>
                <a:gd name="T26" fmla="*/ 944 w 944"/>
                <a:gd name="T27" fmla="*/ 472 h 944"/>
                <a:gd name="T28" fmla="*/ 938 w 944"/>
                <a:gd name="T29" fmla="*/ 400 h 944"/>
                <a:gd name="T30" fmla="*/ 906 w 944"/>
                <a:gd name="T31" fmla="*/ 288 h 944"/>
                <a:gd name="T32" fmla="*/ 836 w 944"/>
                <a:gd name="T33" fmla="*/ 172 h 944"/>
                <a:gd name="T34" fmla="*/ 736 w 944"/>
                <a:gd name="T35" fmla="*/ 80 h 944"/>
                <a:gd name="T36" fmla="*/ 612 w 944"/>
                <a:gd name="T37" fmla="*/ 22 h 944"/>
                <a:gd name="T38" fmla="*/ 520 w 944"/>
                <a:gd name="T39" fmla="*/ 2 h 944"/>
                <a:gd name="T40" fmla="*/ 448 w 944"/>
                <a:gd name="T41" fmla="*/ 0 h 944"/>
                <a:gd name="T42" fmla="*/ 376 w 944"/>
                <a:gd name="T43" fmla="*/ 10 h 944"/>
                <a:gd name="T44" fmla="*/ 248 w 944"/>
                <a:gd name="T45" fmla="*/ 58 h 944"/>
                <a:gd name="T46" fmla="*/ 138 w 944"/>
                <a:gd name="T47" fmla="*/ 138 h 944"/>
                <a:gd name="T48" fmla="*/ 58 w 944"/>
                <a:gd name="T49" fmla="*/ 248 h 944"/>
                <a:gd name="T50" fmla="*/ 10 w 944"/>
                <a:gd name="T51" fmla="*/ 376 h 944"/>
                <a:gd name="T52" fmla="*/ 0 w 944"/>
                <a:gd name="T53" fmla="*/ 448 h 944"/>
                <a:gd name="T54" fmla="*/ 80 w 944"/>
                <a:gd name="T55" fmla="*/ 472 h 944"/>
                <a:gd name="T56" fmla="*/ 98 w 944"/>
                <a:gd name="T57" fmla="*/ 356 h 944"/>
                <a:gd name="T58" fmla="*/ 148 w 944"/>
                <a:gd name="T59" fmla="*/ 252 h 944"/>
                <a:gd name="T60" fmla="*/ 222 w 944"/>
                <a:gd name="T61" fmla="*/ 170 h 944"/>
                <a:gd name="T62" fmla="*/ 320 w 944"/>
                <a:gd name="T63" fmla="*/ 110 h 944"/>
                <a:gd name="T64" fmla="*/ 432 w 944"/>
                <a:gd name="T65" fmla="*/ 82 h 944"/>
                <a:gd name="T66" fmla="*/ 550 w 944"/>
                <a:gd name="T67" fmla="*/ 88 h 944"/>
                <a:gd name="T68" fmla="*/ 658 w 944"/>
                <a:gd name="T69" fmla="*/ 128 h 944"/>
                <a:gd name="T70" fmla="*/ 750 w 944"/>
                <a:gd name="T71" fmla="*/ 194 h 944"/>
                <a:gd name="T72" fmla="*/ 816 w 944"/>
                <a:gd name="T73" fmla="*/ 286 h 944"/>
                <a:gd name="T74" fmla="*/ 856 w 944"/>
                <a:gd name="T75" fmla="*/ 394 h 944"/>
                <a:gd name="T76" fmla="*/ 862 w 944"/>
                <a:gd name="T77" fmla="*/ 512 h 944"/>
                <a:gd name="T78" fmla="*/ 834 w 944"/>
                <a:gd name="T79" fmla="*/ 624 h 944"/>
                <a:gd name="T80" fmla="*/ 774 w 944"/>
                <a:gd name="T81" fmla="*/ 722 h 944"/>
                <a:gd name="T82" fmla="*/ 692 w 944"/>
                <a:gd name="T83" fmla="*/ 796 h 944"/>
                <a:gd name="T84" fmla="*/ 588 w 944"/>
                <a:gd name="T85" fmla="*/ 846 h 944"/>
                <a:gd name="T86" fmla="*/ 472 w 944"/>
                <a:gd name="T87" fmla="*/ 864 h 944"/>
                <a:gd name="T88" fmla="*/ 356 w 944"/>
                <a:gd name="T89" fmla="*/ 846 h 944"/>
                <a:gd name="T90" fmla="*/ 252 w 944"/>
                <a:gd name="T91" fmla="*/ 796 h 944"/>
                <a:gd name="T92" fmla="*/ 170 w 944"/>
                <a:gd name="T93" fmla="*/ 722 h 944"/>
                <a:gd name="T94" fmla="*/ 110 w 944"/>
                <a:gd name="T95" fmla="*/ 624 h 944"/>
                <a:gd name="T96" fmla="*/ 82 w 944"/>
                <a:gd name="T97" fmla="*/ 512 h 9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4"/>
                <a:gd name="T148" fmla="*/ 0 h 944"/>
                <a:gd name="T149" fmla="*/ 944 w 944"/>
                <a:gd name="T150" fmla="*/ 944 h 9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4" h="944">
                  <a:moveTo>
                    <a:pt x="0" y="472"/>
                  </a:moveTo>
                  <a:lnTo>
                    <a:pt x="0" y="472"/>
                  </a:lnTo>
                  <a:lnTo>
                    <a:pt x="0" y="496"/>
                  </a:lnTo>
                  <a:lnTo>
                    <a:pt x="2" y="520"/>
                  </a:lnTo>
                  <a:lnTo>
                    <a:pt x="6" y="544"/>
                  </a:lnTo>
                  <a:lnTo>
                    <a:pt x="10" y="568"/>
                  </a:lnTo>
                  <a:lnTo>
                    <a:pt x="22" y="612"/>
                  </a:lnTo>
                  <a:lnTo>
                    <a:pt x="38" y="656"/>
                  </a:lnTo>
                  <a:lnTo>
                    <a:pt x="58" y="696"/>
                  </a:lnTo>
                  <a:lnTo>
                    <a:pt x="80" y="736"/>
                  </a:lnTo>
                  <a:lnTo>
                    <a:pt x="108" y="772"/>
                  </a:lnTo>
                  <a:lnTo>
                    <a:pt x="138" y="806"/>
                  </a:lnTo>
                  <a:lnTo>
                    <a:pt x="172" y="836"/>
                  </a:lnTo>
                  <a:lnTo>
                    <a:pt x="208" y="864"/>
                  </a:lnTo>
                  <a:lnTo>
                    <a:pt x="248" y="886"/>
                  </a:lnTo>
                  <a:lnTo>
                    <a:pt x="288" y="906"/>
                  </a:lnTo>
                  <a:lnTo>
                    <a:pt x="332" y="922"/>
                  </a:lnTo>
                  <a:lnTo>
                    <a:pt x="376" y="934"/>
                  </a:lnTo>
                  <a:lnTo>
                    <a:pt x="400" y="938"/>
                  </a:lnTo>
                  <a:lnTo>
                    <a:pt x="424" y="942"/>
                  </a:lnTo>
                  <a:lnTo>
                    <a:pt x="448" y="944"/>
                  </a:lnTo>
                  <a:lnTo>
                    <a:pt x="472" y="944"/>
                  </a:lnTo>
                  <a:lnTo>
                    <a:pt x="496" y="944"/>
                  </a:lnTo>
                  <a:lnTo>
                    <a:pt x="520" y="942"/>
                  </a:lnTo>
                  <a:lnTo>
                    <a:pt x="544" y="938"/>
                  </a:lnTo>
                  <a:lnTo>
                    <a:pt x="568" y="934"/>
                  </a:lnTo>
                  <a:lnTo>
                    <a:pt x="612" y="922"/>
                  </a:lnTo>
                  <a:lnTo>
                    <a:pt x="656" y="906"/>
                  </a:lnTo>
                  <a:lnTo>
                    <a:pt x="696" y="886"/>
                  </a:lnTo>
                  <a:lnTo>
                    <a:pt x="736" y="864"/>
                  </a:lnTo>
                  <a:lnTo>
                    <a:pt x="772" y="836"/>
                  </a:lnTo>
                  <a:lnTo>
                    <a:pt x="806" y="806"/>
                  </a:lnTo>
                  <a:lnTo>
                    <a:pt x="836" y="772"/>
                  </a:lnTo>
                  <a:lnTo>
                    <a:pt x="864" y="736"/>
                  </a:lnTo>
                  <a:lnTo>
                    <a:pt x="886" y="696"/>
                  </a:lnTo>
                  <a:lnTo>
                    <a:pt x="906" y="656"/>
                  </a:lnTo>
                  <a:lnTo>
                    <a:pt x="922" y="612"/>
                  </a:lnTo>
                  <a:lnTo>
                    <a:pt x="934" y="568"/>
                  </a:lnTo>
                  <a:lnTo>
                    <a:pt x="938" y="544"/>
                  </a:lnTo>
                  <a:lnTo>
                    <a:pt x="942" y="520"/>
                  </a:lnTo>
                  <a:lnTo>
                    <a:pt x="944" y="496"/>
                  </a:lnTo>
                  <a:lnTo>
                    <a:pt x="944" y="472"/>
                  </a:lnTo>
                  <a:lnTo>
                    <a:pt x="944" y="448"/>
                  </a:lnTo>
                  <a:lnTo>
                    <a:pt x="942" y="424"/>
                  </a:lnTo>
                  <a:lnTo>
                    <a:pt x="938" y="400"/>
                  </a:lnTo>
                  <a:lnTo>
                    <a:pt x="934" y="376"/>
                  </a:lnTo>
                  <a:lnTo>
                    <a:pt x="922" y="332"/>
                  </a:lnTo>
                  <a:lnTo>
                    <a:pt x="906" y="288"/>
                  </a:lnTo>
                  <a:lnTo>
                    <a:pt x="886" y="248"/>
                  </a:lnTo>
                  <a:lnTo>
                    <a:pt x="864" y="208"/>
                  </a:lnTo>
                  <a:lnTo>
                    <a:pt x="836" y="172"/>
                  </a:lnTo>
                  <a:lnTo>
                    <a:pt x="806" y="138"/>
                  </a:lnTo>
                  <a:lnTo>
                    <a:pt x="772" y="108"/>
                  </a:lnTo>
                  <a:lnTo>
                    <a:pt x="736" y="80"/>
                  </a:lnTo>
                  <a:lnTo>
                    <a:pt x="696" y="58"/>
                  </a:lnTo>
                  <a:lnTo>
                    <a:pt x="656" y="38"/>
                  </a:lnTo>
                  <a:lnTo>
                    <a:pt x="612" y="22"/>
                  </a:lnTo>
                  <a:lnTo>
                    <a:pt x="568" y="10"/>
                  </a:lnTo>
                  <a:lnTo>
                    <a:pt x="544" y="6"/>
                  </a:lnTo>
                  <a:lnTo>
                    <a:pt x="520" y="2"/>
                  </a:lnTo>
                  <a:lnTo>
                    <a:pt x="496" y="0"/>
                  </a:lnTo>
                  <a:lnTo>
                    <a:pt x="472" y="0"/>
                  </a:lnTo>
                  <a:lnTo>
                    <a:pt x="448" y="0"/>
                  </a:lnTo>
                  <a:lnTo>
                    <a:pt x="424" y="2"/>
                  </a:lnTo>
                  <a:lnTo>
                    <a:pt x="400" y="6"/>
                  </a:lnTo>
                  <a:lnTo>
                    <a:pt x="376" y="10"/>
                  </a:lnTo>
                  <a:lnTo>
                    <a:pt x="332" y="22"/>
                  </a:lnTo>
                  <a:lnTo>
                    <a:pt x="288" y="38"/>
                  </a:lnTo>
                  <a:lnTo>
                    <a:pt x="248" y="58"/>
                  </a:lnTo>
                  <a:lnTo>
                    <a:pt x="208" y="80"/>
                  </a:lnTo>
                  <a:lnTo>
                    <a:pt x="172" y="108"/>
                  </a:lnTo>
                  <a:lnTo>
                    <a:pt x="138" y="138"/>
                  </a:lnTo>
                  <a:lnTo>
                    <a:pt x="108" y="172"/>
                  </a:lnTo>
                  <a:lnTo>
                    <a:pt x="80" y="208"/>
                  </a:lnTo>
                  <a:lnTo>
                    <a:pt x="58" y="248"/>
                  </a:lnTo>
                  <a:lnTo>
                    <a:pt x="38" y="288"/>
                  </a:lnTo>
                  <a:lnTo>
                    <a:pt x="22" y="332"/>
                  </a:lnTo>
                  <a:lnTo>
                    <a:pt x="10" y="376"/>
                  </a:lnTo>
                  <a:lnTo>
                    <a:pt x="6" y="400"/>
                  </a:lnTo>
                  <a:lnTo>
                    <a:pt x="2" y="424"/>
                  </a:lnTo>
                  <a:lnTo>
                    <a:pt x="0" y="448"/>
                  </a:lnTo>
                  <a:lnTo>
                    <a:pt x="0" y="472"/>
                  </a:lnTo>
                  <a:close/>
                  <a:moveTo>
                    <a:pt x="80" y="472"/>
                  </a:moveTo>
                  <a:lnTo>
                    <a:pt x="80" y="472"/>
                  </a:lnTo>
                  <a:lnTo>
                    <a:pt x="82" y="432"/>
                  </a:lnTo>
                  <a:lnTo>
                    <a:pt x="88" y="394"/>
                  </a:lnTo>
                  <a:lnTo>
                    <a:pt x="98" y="356"/>
                  </a:lnTo>
                  <a:lnTo>
                    <a:pt x="110" y="320"/>
                  </a:lnTo>
                  <a:lnTo>
                    <a:pt x="128" y="286"/>
                  </a:lnTo>
                  <a:lnTo>
                    <a:pt x="148" y="252"/>
                  </a:lnTo>
                  <a:lnTo>
                    <a:pt x="170" y="222"/>
                  </a:lnTo>
                  <a:lnTo>
                    <a:pt x="194" y="194"/>
                  </a:lnTo>
                  <a:lnTo>
                    <a:pt x="222" y="170"/>
                  </a:lnTo>
                  <a:lnTo>
                    <a:pt x="252" y="148"/>
                  </a:lnTo>
                  <a:lnTo>
                    <a:pt x="286" y="128"/>
                  </a:lnTo>
                  <a:lnTo>
                    <a:pt x="320" y="110"/>
                  </a:lnTo>
                  <a:lnTo>
                    <a:pt x="356" y="98"/>
                  </a:lnTo>
                  <a:lnTo>
                    <a:pt x="394" y="88"/>
                  </a:lnTo>
                  <a:lnTo>
                    <a:pt x="432" y="82"/>
                  </a:lnTo>
                  <a:lnTo>
                    <a:pt x="472" y="80"/>
                  </a:lnTo>
                  <a:lnTo>
                    <a:pt x="512" y="82"/>
                  </a:lnTo>
                  <a:lnTo>
                    <a:pt x="550" y="88"/>
                  </a:lnTo>
                  <a:lnTo>
                    <a:pt x="588" y="98"/>
                  </a:lnTo>
                  <a:lnTo>
                    <a:pt x="624" y="110"/>
                  </a:lnTo>
                  <a:lnTo>
                    <a:pt x="658" y="128"/>
                  </a:lnTo>
                  <a:lnTo>
                    <a:pt x="692" y="148"/>
                  </a:lnTo>
                  <a:lnTo>
                    <a:pt x="722" y="170"/>
                  </a:lnTo>
                  <a:lnTo>
                    <a:pt x="750" y="194"/>
                  </a:lnTo>
                  <a:lnTo>
                    <a:pt x="774" y="222"/>
                  </a:lnTo>
                  <a:lnTo>
                    <a:pt x="796" y="252"/>
                  </a:lnTo>
                  <a:lnTo>
                    <a:pt x="816" y="286"/>
                  </a:lnTo>
                  <a:lnTo>
                    <a:pt x="834" y="320"/>
                  </a:lnTo>
                  <a:lnTo>
                    <a:pt x="846" y="356"/>
                  </a:lnTo>
                  <a:lnTo>
                    <a:pt x="856" y="394"/>
                  </a:lnTo>
                  <a:lnTo>
                    <a:pt x="862" y="432"/>
                  </a:lnTo>
                  <a:lnTo>
                    <a:pt x="864" y="472"/>
                  </a:lnTo>
                  <a:lnTo>
                    <a:pt x="862" y="512"/>
                  </a:lnTo>
                  <a:lnTo>
                    <a:pt x="856" y="550"/>
                  </a:lnTo>
                  <a:lnTo>
                    <a:pt x="846" y="588"/>
                  </a:lnTo>
                  <a:lnTo>
                    <a:pt x="834" y="624"/>
                  </a:lnTo>
                  <a:lnTo>
                    <a:pt x="816" y="658"/>
                  </a:lnTo>
                  <a:lnTo>
                    <a:pt x="796" y="692"/>
                  </a:lnTo>
                  <a:lnTo>
                    <a:pt x="774" y="722"/>
                  </a:lnTo>
                  <a:lnTo>
                    <a:pt x="750" y="750"/>
                  </a:lnTo>
                  <a:lnTo>
                    <a:pt x="722" y="774"/>
                  </a:lnTo>
                  <a:lnTo>
                    <a:pt x="692" y="796"/>
                  </a:lnTo>
                  <a:lnTo>
                    <a:pt x="658" y="816"/>
                  </a:lnTo>
                  <a:lnTo>
                    <a:pt x="624" y="834"/>
                  </a:lnTo>
                  <a:lnTo>
                    <a:pt x="588" y="846"/>
                  </a:lnTo>
                  <a:lnTo>
                    <a:pt x="550" y="856"/>
                  </a:lnTo>
                  <a:lnTo>
                    <a:pt x="512" y="862"/>
                  </a:lnTo>
                  <a:lnTo>
                    <a:pt x="472" y="864"/>
                  </a:lnTo>
                  <a:lnTo>
                    <a:pt x="432" y="862"/>
                  </a:lnTo>
                  <a:lnTo>
                    <a:pt x="394" y="856"/>
                  </a:lnTo>
                  <a:lnTo>
                    <a:pt x="356" y="846"/>
                  </a:lnTo>
                  <a:lnTo>
                    <a:pt x="320" y="834"/>
                  </a:lnTo>
                  <a:lnTo>
                    <a:pt x="286" y="816"/>
                  </a:lnTo>
                  <a:lnTo>
                    <a:pt x="252" y="796"/>
                  </a:lnTo>
                  <a:lnTo>
                    <a:pt x="222" y="774"/>
                  </a:lnTo>
                  <a:lnTo>
                    <a:pt x="194" y="750"/>
                  </a:lnTo>
                  <a:lnTo>
                    <a:pt x="170" y="722"/>
                  </a:lnTo>
                  <a:lnTo>
                    <a:pt x="148" y="692"/>
                  </a:lnTo>
                  <a:lnTo>
                    <a:pt x="128" y="658"/>
                  </a:lnTo>
                  <a:lnTo>
                    <a:pt x="110" y="624"/>
                  </a:lnTo>
                  <a:lnTo>
                    <a:pt x="98" y="588"/>
                  </a:lnTo>
                  <a:lnTo>
                    <a:pt x="88" y="550"/>
                  </a:lnTo>
                  <a:lnTo>
                    <a:pt x="82" y="512"/>
                  </a:lnTo>
                  <a:lnTo>
                    <a:pt x="80" y="472"/>
                  </a:lnTo>
                  <a:close/>
                </a:path>
              </a:pathLst>
            </a:custGeom>
            <a:solidFill>
              <a:schemeClr val="accent1">
                <a:lumMod val="75000"/>
                <a:alpha val="20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2" name="Freeform 6"/>
            <p:cNvSpPr>
              <a:spLocks noEditPoints="1" noChangeArrowheads="1"/>
            </p:cNvSpPr>
            <p:nvPr>
              <p:custDataLst>
                <p:tags r:id="rId25"/>
              </p:custDataLst>
            </p:nvPr>
          </p:nvSpPr>
          <p:spPr bwMode="auto">
            <a:xfrm>
              <a:off x="5146800" y="5578716"/>
              <a:ext cx="3024742" cy="3024742"/>
            </a:xfrm>
            <a:custGeom>
              <a:avLst/>
              <a:gdLst>
                <a:gd name="T0" fmla="*/ 8 w 1232"/>
                <a:gd name="T1" fmla="*/ 710 h 1232"/>
                <a:gd name="T2" fmla="*/ 48 w 1232"/>
                <a:gd name="T3" fmla="*/ 856 h 1232"/>
                <a:gd name="T4" fmla="*/ 122 w 1232"/>
                <a:gd name="T5" fmla="*/ 984 h 1232"/>
                <a:gd name="T6" fmla="*/ 224 w 1232"/>
                <a:gd name="T7" fmla="*/ 1092 h 1232"/>
                <a:gd name="T8" fmla="*/ 350 w 1232"/>
                <a:gd name="T9" fmla="*/ 1172 h 1232"/>
                <a:gd name="T10" fmla="*/ 492 w 1232"/>
                <a:gd name="T11" fmla="*/ 1220 h 1232"/>
                <a:gd name="T12" fmla="*/ 648 w 1232"/>
                <a:gd name="T13" fmla="*/ 1232 h 1232"/>
                <a:gd name="T14" fmla="*/ 798 w 1232"/>
                <a:gd name="T15" fmla="*/ 1204 h 1232"/>
                <a:gd name="T16" fmla="*/ 936 w 1232"/>
                <a:gd name="T17" fmla="*/ 1142 h 1232"/>
                <a:gd name="T18" fmla="*/ 1052 w 1232"/>
                <a:gd name="T19" fmla="*/ 1052 h 1232"/>
                <a:gd name="T20" fmla="*/ 1142 w 1232"/>
                <a:gd name="T21" fmla="*/ 936 h 1232"/>
                <a:gd name="T22" fmla="*/ 1204 w 1232"/>
                <a:gd name="T23" fmla="*/ 798 h 1232"/>
                <a:gd name="T24" fmla="*/ 1232 w 1232"/>
                <a:gd name="T25" fmla="*/ 648 h 1232"/>
                <a:gd name="T26" fmla="*/ 1220 w 1232"/>
                <a:gd name="T27" fmla="*/ 492 h 1232"/>
                <a:gd name="T28" fmla="*/ 1172 w 1232"/>
                <a:gd name="T29" fmla="*/ 350 h 1232"/>
                <a:gd name="T30" fmla="*/ 1092 w 1232"/>
                <a:gd name="T31" fmla="*/ 224 h 1232"/>
                <a:gd name="T32" fmla="*/ 984 w 1232"/>
                <a:gd name="T33" fmla="*/ 122 h 1232"/>
                <a:gd name="T34" fmla="*/ 856 w 1232"/>
                <a:gd name="T35" fmla="*/ 48 h 1232"/>
                <a:gd name="T36" fmla="*/ 710 w 1232"/>
                <a:gd name="T37" fmla="*/ 8 h 1232"/>
                <a:gd name="T38" fmla="*/ 554 w 1232"/>
                <a:gd name="T39" fmla="*/ 4 h 1232"/>
                <a:gd name="T40" fmla="*/ 404 w 1232"/>
                <a:gd name="T41" fmla="*/ 38 h 1232"/>
                <a:gd name="T42" fmla="*/ 272 w 1232"/>
                <a:gd name="T43" fmla="*/ 106 h 1232"/>
                <a:gd name="T44" fmla="*/ 160 w 1232"/>
                <a:gd name="T45" fmla="*/ 202 h 1232"/>
                <a:gd name="T46" fmla="*/ 74 w 1232"/>
                <a:gd name="T47" fmla="*/ 322 h 1232"/>
                <a:gd name="T48" fmla="*/ 20 w 1232"/>
                <a:gd name="T49" fmla="*/ 462 h 1232"/>
                <a:gd name="T50" fmla="*/ 0 w 1232"/>
                <a:gd name="T51" fmla="*/ 616 h 1232"/>
                <a:gd name="T52" fmla="*/ 86 w 1232"/>
                <a:gd name="T53" fmla="*/ 534 h 1232"/>
                <a:gd name="T54" fmla="*/ 122 w 1232"/>
                <a:gd name="T55" fmla="*/ 408 h 1232"/>
                <a:gd name="T56" fmla="*/ 186 w 1232"/>
                <a:gd name="T57" fmla="*/ 296 h 1232"/>
                <a:gd name="T58" fmla="*/ 276 w 1232"/>
                <a:gd name="T59" fmla="*/ 202 h 1232"/>
                <a:gd name="T60" fmla="*/ 384 w 1232"/>
                <a:gd name="T61" fmla="*/ 132 h 1232"/>
                <a:gd name="T62" fmla="*/ 508 w 1232"/>
                <a:gd name="T63" fmla="*/ 90 h 1232"/>
                <a:gd name="T64" fmla="*/ 644 w 1232"/>
                <a:gd name="T65" fmla="*/ 80 h 1232"/>
                <a:gd name="T66" fmla="*/ 776 w 1232"/>
                <a:gd name="T67" fmla="*/ 104 h 1232"/>
                <a:gd name="T68" fmla="*/ 894 w 1232"/>
                <a:gd name="T69" fmla="*/ 158 h 1232"/>
                <a:gd name="T70" fmla="*/ 994 w 1232"/>
                <a:gd name="T71" fmla="*/ 238 h 1232"/>
                <a:gd name="T72" fmla="*/ 1074 w 1232"/>
                <a:gd name="T73" fmla="*/ 338 h 1232"/>
                <a:gd name="T74" fmla="*/ 1128 w 1232"/>
                <a:gd name="T75" fmla="*/ 456 h 1232"/>
                <a:gd name="T76" fmla="*/ 1152 w 1232"/>
                <a:gd name="T77" fmla="*/ 588 h 1232"/>
                <a:gd name="T78" fmla="*/ 1142 w 1232"/>
                <a:gd name="T79" fmla="*/ 724 h 1232"/>
                <a:gd name="T80" fmla="*/ 1100 w 1232"/>
                <a:gd name="T81" fmla="*/ 848 h 1232"/>
                <a:gd name="T82" fmla="*/ 1030 w 1232"/>
                <a:gd name="T83" fmla="*/ 956 h 1232"/>
                <a:gd name="T84" fmla="*/ 936 w 1232"/>
                <a:gd name="T85" fmla="*/ 1046 h 1232"/>
                <a:gd name="T86" fmla="*/ 824 w 1232"/>
                <a:gd name="T87" fmla="*/ 1110 h 1232"/>
                <a:gd name="T88" fmla="*/ 698 w 1232"/>
                <a:gd name="T89" fmla="*/ 1146 h 1232"/>
                <a:gd name="T90" fmla="*/ 562 w 1232"/>
                <a:gd name="T91" fmla="*/ 1150 h 1232"/>
                <a:gd name="T92" fmla="*/ 432 w 1232"/>
                <a:gd name="T93" fmla="*/ 1120 h 1232"/>
                <a:gd name="T94" fmla="*/ 316 w 1232"/>
                <a:gd name="T95" fmla="*/ 1060 h 1232"/>
                <a:gd name="T96" fmla="*/ 220 w 1232"/>
                <a:gd name="T97" fmla="*/ 976 h 1232"/>
                <a:gd name="T98" fmla="*/ 144 w 1232"/>
                <a:gd name="T99" fmla="*/ 872 h 1232"/>
                <a:gd name="T100" fmla="*/ 96 w 1232"/>
                <a:gd name="T101" fmla="*/ 750 h 1232"/>
                <a:gd name="T102" fmla="*/ 80 w 1232"/>
                <a:gd name="T103" fmla="*/ 616 h 12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32"/>
                <a:gd name="T157" fmla="*/ 0 h 1232"/>
                <a:gd name="T158" fmla="*/ 1232 w 1232"/>
                <a:gd name="T159" fmla="*/ 1232 h 12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32" h="1232">
                  <a:moveTo>
                    <a:pt x="0" y="616"/>
                  </a:moveTo>
                  <a:lnTo>
                    <a:pt x="0" y="616"/>
                  </a:lnTo>
                  <a:lnTo>
                    <a:pt x="0" y="648"/>
                  </a:lnTo>
                  <a:lnTo>
                    <a:pt x="4" y="678"/>
                  </a:lnTo>
                  <a:lnTo>
                    <a:pt x="8" y="710"/>
                  </a:lnTo>
                  <a:lnTo>
                    <a:pt x="12" y="740"/>
                  </a:lnTo>
                  <a:lnTo>
                    <a:pt x="20" y="770"/>
                  </a:lnTo>
                  <a:lnTo>
                    <a:pt x="28" y="798"/>
                  </a:lnTo>
                  <a:lnTo>
                    <a:pt x="38" y="828"/>
                  </a:lnTo>
                  <a:lnTo>
                    <a:pt x="48" y="856"/>
                  </a:lnTo>
                  <a:lnTo>
                    <a:pt x="60" y="882"/>
                  </a:lnTo>
                  <a:lnTo>
                    <a:pt x="74" y="910"/>
                  </a:lnTo>
                  <a:lnTo>
                    <a:pt x="90" y="936"/>
                  </a:lnTo>
                  <a:lnTo>
                    <a:pt x="106" y="960"/>
                  </a:lnTo>
                  <a:lnTo>
                    <a:pt x="122" y="984"/>
                  </a:lnTo>
                  <a:lnTo>
                    <a:pt x="140" y="1008"/>
                  </a:lnTo>
                  <a:lnTo>
                    <a:pt x="160" y="1030"/>
                  </a:lnTo>
                  <a:lnTo>
                    <a:pt x="180" y="1052"/>
                  </a:lnTo>
                  <a:lnTo>
                    <a:pt x="202" y="1072"/>
                  </a:lnTo>
                  <a:lnTo>
                    <a:pt x="224" y="1092"/>
                  </a:lnTo>
                  <a:lnTo>
                    <a:pt x="248" y="1110"/>
                  </a:lnTo>
                  <a:lnTo>
                    <a:pt x="272" y="1126"/>
                  </a:lnTo>
                  <a:lnTo>
                    <a:pt x="296" y="1142"/>
                  </a:lnTo>
                  <a:lnTo>
                    <a:pt x="322" y="1158"/>
                  </a:lnTo>
                  <a:lnTo>
                    <a:pt x="350" y="1172"/>
                  </a:lnTo>
                  <a:lnTo>
                    <a:pt x="376" y="1184"/>
                  </a:lnTo>
                  <a:lnTo>
                    <a:pt x="404" y="1194"/>
                  </a:lnTo>
                  <a:lnTo>
                    <a:pt x="434" y="1204"/>
                  </a:lnTo>
                  <a:lnTo>
                    <a:pt x="462" y="1212"/>
                  </a:lnTo>
                  <a:lnTo>
                    <a:pt x="492" y="1220"/>
                  </a:lnTo>
                  <a:lnTo>
                    <a:pt x="522" y="1224"/>
                  </a:lnTo>
                  <a:lnTo>
                    <a:pt x="554" y="1228"/>
                  </a:lnTo>
                  <a:lnTo>
                    <a:pt x="584" y="1232"/>
                  </a:lnTo>
                  <a:lnTo>
                    <a:pt x="616" y="1232"/>
                  </a:lnTo>
                  <a:lnTo>
                    <a:pt x="648" y="1232"/>
                  </a:lnTo>
                  <a:lnTo>
                    <a:pt x="678" y="1228"/>
                  </a:lnTo>
                  <a:lnTo>
                    <a:pt x="710" y="1224"/>
                  </a:lnTo>
                  <a:lnTo>
                    <a:pt x="740" y="1220"/>
                  </a:lnTo>
                  <a:lnTo>
                    <a:pt x="770" y="1212"/>
                  </a:lnTo>
                  <a:lnTo>
                    <a:pt x="798" y="1204"/>
                  </a:lnTo>
                  <a:lnTo>
                    <a:pt x="828" y="1194"/>
                  </a:lnTo>
                  <a:lnTo>
                    <a:pt x="856" y="1184"/>
                  </a:lnTo>
                  <a:lnTo>
                    <a:pt x="882" y="1172"/>
                  </a:lnTo>
                  <a:lnTo>
                    <a:pt x="910" y="1158"/>
                  </a:lnTo>
                  <a:lnTo>
                    <a:pt x="936" y="1142"/>
                  </a:lnTo>
                  <a:lnTo>
                    <a:pt x="960" y="1126"/>
                  </a:lnTo>
                  <a:lnTo>
                    <a:pt x="984" y="1110"/>
                  </a:lnTo>
                  <a:lnTo>
                    <a:pt x="1008" y="1092"/>
                  </a:lnTo>
                  <a:lnTo>
                    <a:pt x="1030" y="1072"/>
                  </a:lnTo>
                  <a:lnTo>
                    <a:pt x="1052" y="1052"/>
                  </a:lnTo>
                  <a:lnTo>
                    <a:pt x="1072" y="1030"/>
                  </a:lnTo>
                  <a:lnTo>
                    <a:pt x="1092" y="1008"/>
                  </a:lnTo>
                  <a:lnTo>
                    <a:pt x="1110" y="984"/>
                  </a:lnTo>
                  <a:lnTo>
                    <a:pt x="1126" y="960"/>
                  </a:lnTo>
                  <a:lnTo>
                    <a:pt x="1142" y="936"/>
                  </a:lnTo>
                  <a:lnTo>
                    <a:pt x="1158" y="910"/>
                  </a:lnTo>
                  <a:lnTo>
                    <a:pt x="1172" y="882"/>
                  </a:lnTo>
                  <a:lnTo>
                    <a:pt x="1184" y="856"/>
                  </a:lnTo>
                  <a:lnTo>
                    <a:pt x="1194" y="828"/>
                  </a:lnTo>
                  <a:lnTo>
                    <a:pt x="1204" y="798"/>
                  </a:lnTo>
                  <a:lnTo>
                    <a:pt x="1212" y="770"/>
                  </a:lnTo>
                  <a:lnTo>
                    <a:pt x="1220" y="740"/>
                  </a:lnTo>
                  <a:lnTo>
                    <a:pt x="1224" y="710"/>
                  </a:lnTo>
                  <a:lnTo>
                    <a:pt x="1228" y="678"/>
                  </a:lnTo>
                  <a:lnTo>
                    <a:pt x="1232" y="648"/>
                  </a:lnTo>
                  <a:lnTo>
                    <a:pt x="1232" y="616"/>
                  </a:lnTo>
                  <a:lnTo>
                    <a:pt x="1232" y="584"/>
                  </a:lnTo>
                  <a:lnTo>
                    <a:pt x="1228" y="554"/>
                  </a:lnTo>
                  <a:lnTo>
                    <a:pt x="1224" y="522"/>
                  </a:lnTo>
                  <a:lnTo>
                    <a:pt x="1220" y="492"/>
                  </a:lnTo>
                  <a:lnTo>
                    <a:pt x="1212" y="462"/>
                  </a:lnTo>
                  <a:lnTo>
                    <a:pt x="1204" y="434"/>
                  </a:lnTo>
                  <a:lnTo>
                    <a:pt x="1194" y="404"/>
                  </a:lnTo>
                  <a:lnTo>
                    <a:pt x="1184" y="376"/>
                  </a:lnTo>
                  <a:lnTo>
                    <a:pt x="1172" y="350"/>
                  </a:lnTo>
                  <a:lnTo>
                    <a:pt x="1158" y="322"/>
                  </a:lnTo>
                  <a:lnTo>
                    <a:pt x="1142" y="296"/>
                  </a:lnTo>
                  <a:lnTo>
                    <a:pt x="1126" y="272"/>
                  </a:lnTo>
                  <a:lnTo>
                    <a:pt x="1110" y="248"/>
                  </a:lnTo>
                  <a:lnTo>
                    <a:pt x="1092" y="224"/>
                  </a:lnTo>
                  <a:lnTo>
                    <a:pt x="1072" y="202"/>
                  </a:lnTo>
                  <a:lnTo>
                    <a:pt x="1052" y="180"/>
                  </a:lnTo>
                  <a:lnTo>
                    <a:pt x="1030" y="160"/>
                  </a:lnTo>
                  <a:lnTo>
                    <a:pt x="1008" y="140"/>
                  </a:lnTo>
                  <a:lnTo>
                    <a:pt x="984" y="122"/>
                  </a:lnTo>
                  <a:lnTo>
                    <a:pt x="960" y="106"/>
                  </a:lnTo>
                  <a:lnTo>
                    <a:pt x="936" y="90"/>
                  </a:lnTo>
                  <a:lnTo>
                    <a:pt x="910" y="74"/>
                  </a:lnTo>
                  <a:lnTo>
                    <a:pt x="882" y="60"/>
                  </a:lnTo>
                  <a:lnTo>
                    <a:pt x="856" y="48"/>
                  </a:lnTo>
                  <a:lnTo>
                    <a:pt x="828" y="38"/>
                  </a:lnTo>
                  <a:lnTo>
                    <a:pt x="798" y="28"/>
                  </a:lnTo>
                  <a:lnTo>
                    <a:pt x="770" y="20"/>
                  </a:lnTo>
                  <a:lnTo>
                    <a:pt x="740" y="12"/>
                  </a:lnTo>
                  <a:lnTo>
                    <a:pt x="710" y="8"/>
                  </a:lnTo>
                  <a:lnTo>
                    <a:pt x="678" y="4"/>
                  </a:lnTo>
                  <a:lnTo>
                    <a:pt x="648" y="0"/>
                  </a:lnTo>
                  <a:lnTo>
                    <a:pt x="616" y="0"/>
                  </a:lnTo>
                  <a:lnTo>
                    <a:pt x="584" y="0"/>
                  </a:lnTo>
                  <a:lnTo>
                    <a:pt x="554" y="4"/>
                  </a:lnTo>
                  <a:lnTo>
                    <a:pt x="522" y="8"/>
                  </a:lnTo>
                  <a:lnTo>
                    <a:pt x="492" y="12"/>
                  </a:lnTo>
                  <a:lnTo>
                    <a:pt x="462" y="20"/>
                  </a:lnTo>
                  <a:lnTo>
                    <a:pt x="434" y="28"/>
                  </a:lnTo>
                  <a:lnTo>
                    <a:pt x="404" y="38"/>
                  </a:lnTo>
                  <a:lnTo>
                    <a:pt x="376" y="48"/>
                  </a:lnTo>
                  <a:lnTo>
                    <a:pt x="350" y="60"/>
                  </a:lnTo>
                  <a:lnTo>
                    <a:pt x="322" y="74"/>
                  </a:lnTo>
                  <a:lnTo>
                    <a:pt x="296" y="90"/>
                  </a:lnTo>
                  <a:lnTo>
                    <a:pt x="272" y="106"/>
                  </a:lnTo>
                  <a:lnTo>
                    <a:pt x="248" y="122"/>
                  </a:lnTo>
                  <a:lnTo>
                    <a:pt x="224" y="140"/>
                  </a:lnTo>
                  <a:lnTo>
                    <a:pt x="202" y="160"/>
                  </a:lnTo>
                  <a:lnTo>
                    <a:pt x="180" y="180"/>
                  </a:lnTo>
                  <a:lnTo>
                    <a:pt x="160" y="202"/>
                  </a:lnTo>
                  <a:lnTo>
                    <a:pt x="140" y="224"/>
                  </a:lnTo>
                  <a:lnTo>
                    <a:pt x="122" y="248"/>
                  </a:lnTo>
                  <a:lnTo>
                    <a:pt x="106" y="272"/>
                  </a:lnTo>
                  <a:lnTo>
                    <a:pt x="90" y="296"/>
                  </a:lnTo>
                  <a:lnTo>
                    <a:pt x="74" y="322"/>
                  </a:lnTo>
                  <a:lnTo>
                    <a:pt x="60" y="350"/>
                  </a:lnTo>
                  <a:lnTo>
                    <a:pt x="48" y="376"/>
                  </a:lnTo>
                  <a:lnTo>
                    <a:pt x="38" y="404"/>
                  </a:lnTo>
                  <a:lnTo>
                    <a:pt x="28" y="434"/>
                  </a:lnTo>
                  <a:lnTo>
                    <a:pt x="20" y="462"/>
                  </a:lnTo>
                  <a:lnTo>
                    <a:pt x="12" y="492"/>
                  </a:lnTo>
                  <a:lnTo>
                    <a:pt x="8" y="522"/>
                  </a:lnTo>
                  <a:lnTo>
                    <a:pt x="4" y="554"/>
                  </a:lnTo>
                  <a:lnTo>
                    <a:pt x="0" y="584"/>
                  </a:lnTo>
                  <a:lnTo>
                    <a:pt x="0" y="616"/>
                  </a:lnTo>
                  <a:close/>
                  <a:moveTo>
                    <a:pt x="80" y="616"/>
                  </a:moveTo>
                  <a:lnTo>
                    <a:pt x="80" y="616"/>
                  </a:lnTo>
                  <a:lnTo>
                    <a:pt x="80" y="588"/>
                  </a:lnTo>
                  <a:lnTo>
                    <a:pt x="82" y="562"/>
                  </a:lnTo>
                  <a:lnTo>
                    <a:pt x="86" y="534"/>
                  </a:lnTo>
                  <a:lnTo>
                    <a:pt x="90" y="508"/>
                  </a:lnTo>
                  <a:lnTo>
                    <a:pt x="96" y="482"/>
                  </a:lnTo>
                  <a:lnTo>
                    <a:pt x="104" y="456"/>
                  </a:lnTo>
                  <a:lnTo>
                    <a:pt x="112" y="432"/>
                  </a:lnTo>
                  <a:lnTo>
                    <a:pt x="122" y="408"/>
                  </a:lnTo>
                  <a:lnTo>
                    <a:pt x="132" y="384"/>
                  </a:lnTo>
                  <a:lnTo>
                    <a:pt x="144" y="360"/>
                  </a:lnTo>
                  <a:lnTo>
                    <a:pt x="158" y="338"/>
                  </a:lnTo>
                  <a:lnTo>
                    <a:pt x="172" y="316"/>
                  </a:lnTo>
                  <a:lnTo>
                    <a:pt x="186" y="296"/>
                  </a:lnTo>
                  <a:lnTo>
                    <a:pt x="202" y="276"/>
                  </a:lnTo>
                  <a:lnTo>
                    <a:pt x="220" y="256"/>
                  </a:lnTo>
                  <a:lnTo>
                    <a:pt x="238" y="238"/>
                  </a:lnTo>
                  <a:lnTo>
                    <a:pt x="256" y="220"/>
                  </a:lnTo>
                  <a:lnTo>
                    <a:pt x="276" y="202"/>
                  </a:lnTo>
                  <a:lnTo>
                    <a:pt x="296" y="186"/>
                  </a:lnTo>
                  <a:lnTo>
                    <a:pt x="316" y="172"/>
                  </a:lnTo>
                  <a:lnTo>
                    <a:pt x="338" y="158"/>
                  </a:lnTo>
                  <a:lnTo>
                    <a:pt x="360" y="144"/>
                  </a:lnTo>
                  <a:lnTo>
                    <a:pt x="384" y="132"/>
                  </a:lnTo>
                  <a:lnTo>
                    <a:pt x="408" y="122"/>
                  </a:lnTo>
                  <a:lnTo>
                    <a:pt x="432" y="112"/>
                  </a:lnTo>
                  <a:lnTo>
                    <a:pt x="456" y="104"/>
                  </a:lnTo>
                  <a:lnTo>
                    <a:pt x="482" y="96"/>
                  </a:lnTo>
                  <a:lnTo>
                    <a:pt x="508" y="90"/>
                  </a:lnTo>
                  <a:lnTo>
                    <a:pt x="534" y="86"/>
                  </a:lnTo>
                  <a:lnTo>
                    <a:pt x="562" y="82"/>
                  </a:lnTo>
                  <a:lnTo>
                    <a:pt x="588" y="80"/>
                  </a:lnTo>
                  <a:lnTo>
                    <a:pt x="616" y="80"/>
                  </a:lnTo>
                  <a:lnTo>
                    <a:pt x="644" y="80"/>
                  </a:lnTo>
                  <a:lnTo>
                    <a:pt x="670" y="82"/>
                  </a:lnTo>
                  <a:lnTo>
                    <a:pt x="698" y="86"/>
                  </a:lnTo>
                  <a:lnTo>
                    <a:pt x="724" y="90"/>
                  </a:lnTo>
                  <a:lnTo>
                    <a:pt x="750" y="96"/>
                  </a:lnTo>
                  <a:lnTo>
                    <a:pt x="776" y="104"/>
                  </a:lnTo>
                  <a:lnTo>
                    <a:pt x="800" y="112"/>
                  </a:lnTo>
                  <a:lnTo>
                    <a:pt x="824" y="122"/>
                  </a:lnTo>
                  <a:lnTo>
                    <a:pt x="848" y="132"/>
                  </a:lnTo>
                  <a:lnTo>
                    <a:pt x="872" y="144"/>
                  </a:lnTo>
                  <a:lnTo>
                    <a:pt x="894" y="158"/>
                  </a:lnTo>
                  <a:lnTo>
                    <a:pt x="916" y="172"/>
                  </a:lnTo>
                  <a:lnTo>
                    <a:pt x="936" y="186"/>
                  </a:lnTo>
                  <a:lnTo>
                    <a:pt x="956" y="202"/>
                  </a:lnTo>
                  <a:lnTo>
                    <a:pt x="976" y="220"/>
                  </a:lnTo>
                  <a:lnTo>
                    <a:pt x="994" y="238"/>
                  </a:lnTo>
                  <a:lnTo>
                    <a:pt x="1012" y="256"/>
                  </a:lnTo>
                  <a:lnTo>
                    <a:pt x="1030" y="276"/>
                  </a:lnTo>
                  <a:lnTo>
                    <a:pt x="1046" y="296"/>
                  </a:lnTo>
                  <a:lnTo>
                    <a:pt x="1060" y="316"/>
                  </a:lnTo>
                  <a:lnTo>
                    <a:pt x="1074" y="338"/>
                  </a:lnTo>
                  <a:lnTo>
                    <a:pt x="1088" y="360"/>
                  </a:lnTo>
                  <a:lnTo>
                    <a:pt x="1100" y="384"/>
                  </a:lnTo>
                  <a:lnTo>
                    <a:pt x="1110" y="408"/>
                  </a:lnTo>
                  <a:lnTo>
                    <a:pt x="1120" y="432"/>
                  </a:lnTo>
                  <a:lnTo>
                    <a:pt x="1128" y="456"/>
                  </a:lnTo>
                  <a:lnTo>
                    <a:pt x="1136" y="482"/>
                  </a:lnTo>
                  <a:lnTo>
                    <a:pt x="1142" y="508"/>
                  </a:lnTo>
                  <a:lnTo>
                    <a:pt x="1146" y="534"/>
                  </a:lnTo>
                  <a:lnTo>
                    <a:pt x="1150" y="562"/>
                  </a:lnTo>
                  <a:lnTo>
                    <a:pt x="1152" y="588"/>
                  </a:lnTo>
                  <a:lnTo>
                    <a:pt x="1152" y="616"/>
                  </a:lnTo>
                  <a:lnTo>
                    <a:pt x="1152" y="644"/>
                  </a:lnTo>
                  <a:lnTo>
                    <a:pt x="1150" y="670"/>
                  </a:lnTo>
                  <a:lnTo>
                    <a:pt x="1146" y="698"/>
                  </a:lnTo>
                  <a:lnTo>
                    <a:pt x="1142" y="724"/>
                  </a:lnTo>
                  <a:lnTo>
                    <a:pt x="1136" y="750"/>
                  </a:lnTo>
                  <a:lnTo>
                    <a:pt x="1128" y="776"/>
                  </a:lnTo>
                  <a:lnTo>
                    <a:pt x="1120" y="800"/>
                  </a:lnTo>
                  <a:lnTo>
                    <a:pt x="1110" y="824"/>
                  </a:lnTo>
                  <a:lnTo>
                    <a:pt x="1100" y="848"/>
                  </a:lnTo>
                  <a:lnTo>
                    <a:pt x="1088" y="872"/>
                  </a:lnTo>
                  <a:lnTo>
                    <a:pt x="1074" y="894"/>
                  </a:lnTo>
                  <a:lnTo>
                    <a:pt x="1060" y="916"/>
                  </a:lnTo>
                  <a:lnTo>
                    <a:pt x="1046" y="936"/>
                  </a:lnTo>
                  <a:lnTo>
                    <a:pt x="1030" y="956"/>
                  </a:lnTo>
                  <a:lnTo>
                    <a:pt x="1012" y="976"/>
                  </a:lnTo>
                  <a:lnTo>
                    <a:pt x="994" y="994"/>
                  </a:lnTo>
                  <a:lnTo>
                    <a:pt x="976" y="1012"/>
                  </a:lnTo>
                  <a:lnTo>
                    <a:pt x="956" y="1030"/>
                  </a:lnTo>
                  <a:lnTo>
                    <a:pt x="936" y="1046"/>
                  </a:lnTo>
                  <a:lnTo>
                    <a:pt x="916" y="1060"/>
                  </a:lnTo>
                  <a:lnTo>
                    <a:pt x="894" y="1074"/>
                  </a:lnTo>
                  <a:lnTo>
                    <a:pt x="872" y="1088"/>
                  </a:lnTo>
                  <a:lnTo>
                    <a:pt x="848" y="1100"/>
                  </a:lnTo>
                  <a:lnTo>
                    <a:pt x="824" y="1110"/>
                  </a:lnTo>
                  <a:lnTo>
                    <a:pt x="800" y="1120"/>
                  </a:lnTo>
                  <a:lnTo>
                    <a:pt x="776" y="1128"/>
                  </a:lnTo>
                  <a:lnTo>
                    <a:pt x="750" y="1136"/>
                  </a:lnTo>
                  <a:lnTo>
                    <a:pt x="724" y="1142"/>
                  </a:lnTo>
                  <a:lnTo>
                    <a:pt x="698" y="1146"/>
                  </a:lnTo>
                  <a:lnTo>
                    <a:pt x="670" y="1150"/>
                  </a:lnTo>
                  <a:lnTo>
                    <a:pt x="644" y="1152"/>
                  </a:lnTo>
                  <a:lnTo>
                    <a:pt x="616" y="1152"/>
                  </a:lnTo>
                  <a:lnTo>
                    <a:pt x="588" y="1152"/>
                  </a:lnTo>
                  <a:lnTo>
                    <a:pt x="562" y="1150"/>
                  </a:lnTo>
                  <a:lnTo>
                    <a:pt x="534" y="1146"/>
                  </a:lnTo>
                  <a:lnTo>
                    <a:pt x="508" y="1142"/>
                  </a:lnTo>
                  <a:lnTo>
                    <a:pt x="482" y="1136"/>
                  </a:lnTo>
                  <a:lnTo>
                    <a:pt x="456" y="1128"/>
                  </a:lnTo>
                  <a:lnTo>
                    <a:pt x="432" y="1120"/>
                  </a:lnTo>
                  <a:lnTo>
                    <a:pt x="408" y="1110"/>
                  </a:lnTo>
                  <a:lnTo>
                    <a:pt x="384" y="1100"/>
                  </a:lnTo>
                  <a:lnTo>
                    <a:pt x="360" y="1088"/>
                  </a:lnTo>
                  <a:lnTo>
                    <a:pt x="338" y="1074"/>
                  </a:lnTo>
                  <a:lnTo>
                    <a:pt x="316" y="1060"/>
                  </a:lnTo>
                  <a:lnTo>
                    <a:pt x="296" y="1046"/>
                  </a:lnTo>
                  <a:lnTo>
                    <a:pt x="276" y="1030"/>
                  </a:lnTo>
                  <a:lnTo>
                    <a:pt x="256" y="1012"/>
                  </a:lnTo>
                  <a:lnTo>
                    <a:pt x="238" y="994"/>
                  </a:lnTo>
                  <a:lnTo>
                    <a:pt x="220" y="976"/>
                  </a:lnTo>
                  <a:lnTo>
                    <a:pt x="202" y="956"/>
                  </a:lnTo>
                  <a:lnTo>
                    <a:pt x="186" y="936"/>
                  </a:lnTo>
                  <a:lnTo>
                    <a:pt x="172" y="916"/>
                  </a:lnTo>
                  <a:lnTo>
                    <a:pt x="158" y="894"/>
                  </a:lnTo>
                  <a:lnTo>
                    <a:pt x="144" y="872"/>
                  </a:lnTo>
                  <a:lnTo>
                    <a:pt x="132" y="848"/>
                  </a:lnTo>
                  <a:lnTo>
                    <a:pt x="122" y="824"/>
                  </a:lnTo>
                  <a:lnTo>
                    <a:pt x="112" y="800"/>
                  </a:lnTo>
                  <a:lnTo>
                    <a:pt x="104" y="776"/>
                  </a:lnTo>
                  <a:lnTo>
                    <a:pt x="96" y="750"/>
                  </a:lnTo>
                  <a:lnTo>
                    <a:pt x="90" y="724"/>
                  </a:lnTo>
                  <a:lnTo>
                    <a:pt x="86" y="698"/>
                  </a:lnTo>
                  <a:lnTo>
                    <a:pt x="82" y="670"/>
                  </a:lnTo>
                  <a:lnTo>
                    <a:pt x="80" y="644"/>
                  </a:lnTo>
                  <a:lnTo>
                    <a:pt x="80" y="616"/>
                  </a:lnTo>
                  <a:close/>
                </a:path>
              </a:pathLst>
            </a:custGeom>
            <a:solidFill>
              <a:schemeClr val="accent1">
                <a:lumMod val="75000"/>
                <a:alpha val="9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dirty="0">
                <a:solidFill>
                  <a:srgbClr val="000000"/>
                </a:solidFill>
                <a:latin typeface="HYXuanSong 75J" panose="00020600040101010101" charset="-122"/>
                <a:ea typeface="HYXuanSong 75J" panose="00020600040101010101" charset="-122"/>
                <a:sym typeface="宋体" panose="02010600030101010101" pitchFamily="2" charset="-122"/>
              </a:endParaRPr>
            </a:p>
          </p:txBody>
        </p:sp>
      </p:grpSp>
      <p:grpSp>
        <p:nvGrpSpPr>
          <p:cNvPr id="71" name="组合 16"/>
          <p:cNvGrpSpPr/>
          <p:nvPr>
            <p:custDataLst>
              <p:tags r:id="rId11"/>
            </p:custDataLst>
          </p:nvPr>
        </p:nvGrpSpPr>
        <p:grpSpPr>
          <a:xfrm>
            <a:off x="6048123" y="1380342"/>
            <a:ext cx="2597150" cy="2097381"/>
            <a:chOff x="8736433" y="1993827"/>
            <a:chExt cx="3745485" cy="3024742"/>
          </a:xfrm>
        </p:grpSpPr>
        <p:sp>
          <p:nvSpPr>
            <p:cNvPr id="1048683" name="矩形 81"/>
            <p:cNvSpPr/>
            <p:nvPr>
              <p:custDataLst>
                <p:tags r:id="rId18"/>
              </p:custDataLst>
            </p:nvPr>
          </p:nvSpPr>
          <p:spPr>
            <a:xfrm>
              <a:off x="8736433" y="2915088"/>
              <a:ext cx="3745485" cy="1787576"/>
            </a:xfrm>
            <a:prstGeom prst="rect">
              <a:avLst/>
            </a:prstGeom>
          </p:spPr>
          <p:txBody>
            <a:bodyPr wrap="square">
              <a:spAutoFit/>
            </a:bodyPr>
            <a:lstStyle/>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Allowed model inputs</a:t>
              </a:r>
            </a:p>
            <a:p>
              <a:pPr lvl="0" algn="ctr"/>
              <a:endParaRPr lang="en-US" altLang="zh-CN" sz="2490" b="1" dirty="0">
                <a:solidFill>
                  <a:srgbClr val="4472C4">
                    <a:lumMod val="75000"/>
                  </a:srgbClr>
                </a:solidFill>
                <a:latin typeface="宋体" panose="02010600030101010101" pitchFamily="2" charset="-122"/>
                <a:ea typeface="宋体" panose="02010600030101010101" pitchFamily="2" charset="-122"/>
              </a:endParaRPr>
            </a:p>
          </p:txBody>
        </p:sp>
        <p:sp>
          <p:nvSpPr>
            <p:cNvPr id="1048684" name="Freeform 4"/>
            <p:cNvSpPr>
              <a:spLocks noEditPoints="1" noChangeArrowheads="1"/>
            </p:cNvSpPr>
            <p:nvPr>
              <p:custDataLst>
                <p:tags r:id="rId19"/>
              </p:custDataLst>
            </p:nvPr>
          </p:nvSpPr>
          <p:spPr bwMode="auto">
            <a:xfrm>
              <a:off x="9770445" y="2700910"/>
              <a:ext cx="1610577" cy="1610577"/>
            </a:xfrm>
            <a:custGeom>
              <a:avLst/>
              <a:gdLst>
                <a:gd name="T0" fmla="*/ 2 w 656"/>
                <a:gd name="T1" fmla="*/ 362 h 656"/>
                <a:gd name="T2" fmla="*/ 26 w 656"/>
                <a:gd name="T3" fmla="*/ 456 h 656"/>
                <a:gd name="T4" fmla="*/ 74 w 656"/>
                <a:gd name="T5" fmla="*/ 536 h 656"/>
                <a:gd name="T6" fmla="*/ 144 w 656"/>
                <a:gd name="T7" fmla="*/ 600 h 656"/>
                <a:gd name="T8" fmla="*/ 230 w 656"/>
                <a:gd name="T9" fmla="*/ 642 h 656"/>
                <a:gd name="T10" fmla="*/ 328 w 656"/>
                <a:gd name="T11" fmla="*/ 656 h 656"/>
                <a:gd name="T12" fmla="*/ 426 w 656"/>
                <a:gd name="T13" fmla="*/ 642 h 656"/>
                <a:gd name="T14" fmla="*/ 512 w 656"/>
                <a:gd name="T15" fmla="*/ 600 h 656"/>
                <a:gd name="T16" fmla="*/ 582 w 656"/>
                <a:gd name="T17" fmla="*/ 536 h 656"/>
                <a:gd name="T18" fmla="*/ 630 w 656"/>
                <a:gd name="T19" fmla="*/ 456 h 656"/>
                <a:gd name="T20" fmla="*/ 654 w 656"/>
                <a:gd name="T21" fmla="*/ 362 h 656"/>
                <a:gd name="T22" fmla="*/ 650 w 656"/>
                <a:gd name="T23" fmla="*/ 262 h 656"/>
                <a:gd name="T24" fmla="*/ 616 w 656"/>
                <a:gd name="T25" fmla="*/ 172 h 656"/>
                <a:gd name="T26" fmla="*/ 560 w 656"/>
                <a:gd name="T27" fmla="*/ 96 h 656"/>
                <a:gd name="T28" fmla="*/ 484 w 656"/>
                <a:gd name="T29" fmla="*/ 40 h 656"/>
                <a:gd name="T30" fmla="*/ 394 w 656"/>
                <a:gd name="T31" fmla="*/ 6 h 656"/>
                <a:gd name="T32" fmla="*/ 294 w 656"/>
                <a:gd name="T33" fmla="*/ 2 h 656"/>
                <a:gd name="T34" fmla="*/ 200 w 656"/>
                <a:gd name="T35" fmla="*/ 26 h 656"/>
                <a:gd name="T36" fmla="*/ 120 w 656"/>
                <a:gd name="T37" fmla="*/ 74 h 656"/>
                <a:gd name="T38" fmla="*/ 56 w 656"/>
                <a:gd name="T39" fmla="*/ 144 h 656"/>
                <a:gd name="T40" fmla="*/ 14 w 656"/>
                <a:gd name="T41" fmla="*/ 230 h 656"/>
                <a:gd name="T42" fmla="*/ 0 w 656"/>
                <a:gd name="T43" fmla="*/ 328 h 656"/>
                <a:gd name="T44" fmla="*/ 82 w 656"/>
                <a:gd name="T45" fmla="*/ 302 h 656"/>
                <a:gd name="T46" fmla="*/ 100 w 656"/>
                <a:gd name="T47" fmla="*/ 232 h 656"/>
                <a:gd name="T48" fmla="*/ 136 w 656"/>
                <a:gd name="T49" fmla="*/ 170 h 656"/>
                <a:gd name="T50" fmla="*/ 190 w 656"/>
                <a:gd name="T51" fmla="*/ 122 h 656"/>
                <a:gd name="T52" fmla="*/ 254 w 656"/>
                <a:gd name="T53" fmla="*/ 92 h 656"/>
                <a:gd name="T54" fmla="*/ 328 w 656"/>
                <a:gd name="T55" fmla="*/ 80 h 656"/>
                <a:gd name="T56" fmla="*/ 402 w 656"/>
                <a:gd name="T57" fmla="*/ 92 h 656"/>
                <a:gd name="T58" fmla="*/ 466 w 656"/>
                <a:gd name="T59" fmla="*/ 122 h 656"/>
                <a:gd name="T60" fmla="*/ 520 w 656"/>
                <a:gd name="T61" fmla="*/ 170 h 656"/>
                <a:gd name="T62" fmla="*/ 556 w 656"/>
                <a:gd name="T63" fmla="*/ 232 h 656"/>
                <a:gd name="T64" fmla="*/ 574 w 656"/>
                <a:gd name="T65" fmla="*/ 302 h 656"/>
                <a:gd name="T66" fmla="*/ 570 w 656"/>
                <a:gd name="T67" fmla="*/ 378 h 656"/>
                <a:gd name="T68" fmla="*/ 546 w 656"/>
                <a:gd name="T69" fmla="*/ 446 h 656"/>
                <a:gd name="T70" fmla="*/ 504 w 656"/>
                <a:gd name="T71" fmla="*/ 504 h 656"/>
                <a:gd name="T72" fmla="*/ 446 w 656"/>
                <a:gd name="T73" fmla="*/ 546 h 656"/>
                <a:gd name="T74" fmla="*/ 378 w 656"/>
                <a:gd name="T75" fmla="*/ 570 h 656"/>
                <a:gd name="T76" fmla="*/ 302 w 656"/>
                <a:gd name="T77" fmla="*/ 574 h 656"/>
                <a:gd name="T78" fmla="*/ 232 w 656"/>
                <a:gd name="T79" fmla="*/ 556 h 656"/>
                <a:gd name="T80" fmla="*/ 170 w 656"/>
                <a:gd name="T81" fmla="*/ 520 h 656"/>
                <a:gd name="T82" fmla="*/ 122 w 656"/>
                <a:gd name="T83" fmla="*/ 466 h 656"/>
                <a:gd name="T84" fmla="*/ 92 w 656"/>
                <a:gd name="T85" fmla="*/ 402 h 656"/>
                <a:gd name="T86" fmla="*/ 80 w 656"/>
                <a:gd name="T87" fmla="*/ 328 h 6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6"/>
                <a:gd name="T133" fmla="*/ 0 h 656"/>
                <a:gd name="T134" fmla="*/ 656 w 656"/>
                <a:gd name="T135" fmla="*/ 656 h 6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6" h="656">
                  <a:moveTo>
                    <a:pt x="0" y="328"/>
                  </a:moveTo>
                  <a:lnTo>
                    <a:pt x="0" y="328"/>
                  </a:lnTo>
                  <a:lnTo>
                    <a:pt x="2" y="362"/>
                  </a:lnTo>
                  <a:lnTo>
                    <a:pt x="6" y="394"/>
                  </a:lnTo>
                  <a:lnTo>
                    <a:pt x="14" y="426"/>
                  </a:lnTo>
                  <a:lnTo>
                    <a:pt x="26" y="456"/>
                  </a:lnTo>
                  <a:lnTo>
                    <a:pt x="40" y="484"/>
                  </a:lnTo>
                  <a:lnTo>
                    <a:pt x="56" y="512"/>
                  </a:lnTo>
                  <a:lnTo>
                    <a:pt x="74" y="536"/>
                  </a:lnTo>
                  <a:lnTo>
                    <a:pt x="96" y="560"/>
                  </a:lnTo>
                  <a:lnTo>
                    <a:pt x="120" y="582"/>
                  </a:lnTo>
                  <a:lnTo>
                    <a:pt x="144" y="600"/>
                  </a:lnTo>
                  <a:lnTo>
                    <a:pt x="172" y="616"/>
                  </a:lnTo>
                  <a:lnTo>
                    <a:pt x="200" y="630"/>
                  </a:lnTo>
                  <a:lnTo>
                    <a:pt x="230" y="642"/>
                  </a:lnTo>
                  <a:lnTo>
                    <a:pt x="262" y="650"/>
                  </a:lnTo>
                  <a:lnTo>
                    <a:pt x="294" y="654"/>
                  </a:lnTo>
                  <a:lnTo>
                    <a:pt x="328" y="656"/>
                  </a:lnTo>
                  <a:lnTo>
                    <a:pt x="362" y="654"/>
                  </a:lnTo>
                  <a:lnTo>
                    <a:pt x="394" y="650"/>
                  </a:lnTo>
                  <a:lnTo>
                    <a:pt x="426" y="642"/>
                  </a:lnTo>
                  <a:lnTo>
                    <a:pt x="456" y="630"/>
                  </a:lnTo>
                  <a:lnTo>
                    <a:pt x="484" y="616"/>
                  </a:lnTo>
                  <a:lnTo>
                    <a:pt x="512" y="600"/>
                  </a:lnTo>
                  <a:lnTo>
                    <a:pt x="536" y="582"/>
                  </a:lnTo>
                  <a:lnTo>
                    <a:pt x="560" y="560"/>
                  </a:lnTo>
                  <a:lnTo>
                    <a:pt x="582" y="536"/>
                  </a:lnTo>
                  <a:lnTo>
                    <a:pt x="600" y="512"/>
                  </a:lnTo>
                  <a:lnTo>
                    <a:pt x="616" y="484"/>
                  </a:lnTo>
                  <a:lnTo>
                    <a:pt x="630" y="456"/>
                  </a:lnTo>
                  <a:lnTo>
                    <a:pt x="642" y="426"/>
                  </a:lnTo>
                  <a:lnTo>
                    <a:pt x="650" y="394"/>
                  </a:lnTo>
                  <a:lnTo>
                    <a:pt x="654" y="362"/>
                  </a:lnTo>
                  <a:lnTo>
                    <a:pt x="656" y="328"/>
                  </a:lnTo>
                  <a:lnTo>
                    <a:pt x="654" y="294"/>
                  </a:lnTo>
                  <a:lnTo>
                    <a:pt x="650" y="262"/>
                  </a:lnTo>
                  <a:lnTo>
                    <a:pt x="642" y="230"/>
                  </a:lnTo>
                  <a:lnTo>
                    <a:pt x="630" y="200"/>
                  </a:lnTo>
                  <a:lnTo>
                    <a:pt x="616" y="172"/>
                  </a:lnTo>
                  <a:lnTo>
                    <a:pt x="600" y="144"/>
                  </a:lnTo>
                  <a:lnTo>
                    <a:pt x="582" y="120"/>
                  </a:lnTo>
                  <a:lnTo>
                    <a:pt x="560" y="96"/>
                  </a:lnTo>
                  <a:lnTo>
                    <a:pt x="536" y="74"/>
                  </a:lnTo>
                  <a:lnTo>
                    <a:pt x="512" y="56"/>
                  </a:lnTo>
                  <a:lnTo>
                    <a:pt x="484" y="40"/>
                  </a:lnTo>
                  <a:lnTo>
                    <a:pt x="456" y="26"/>
                  </a:lnTo>
                  <a:lnTo>
                    <a:pt x="426" y="14"/>
                  </a:lnTo>
                  <a:lnTo>
                    <a:pt x="394" y="6"/>
                  </a:lnTo>
                  <a:lnTo>
                    <a:pt x="362" y="2"/>
                  </a:lnTo>
                  <a:lnTo>
                    <a:pt x="328" y="0"/>
                  </a:lnTo>
                  <a:lnTo>
                    <a:pt x="294" y="2"/>
                  </a:lnTo>
                  <a:lnTo>
                    <a:pt x="262" y="6"/>
                  </a:lnTo>
                  <a:lnTo>
                    <a:pt x="230" y="14"/>
                  </a:lnTo>
                  <a:lnTo>
                    <a:pt x="200" y="26"/>
                  </a:lnTo>
                  <a:lnTo>
                    <a:pt x="172" y="40"/>
                  </a:lnTo>
                  <a:lnTo>
                    <a:pt x="144" y="56"/>
                  </a:lnTo>
                  <a:lnTo>
                    <a:pt x="120" y="74"/>
                  </a:lnTo>
                  <a:lnTo>
                    <a:pt x="96" y="96"/>
                  </a:lnTo>
                  <a:lnTo>
                    <a:pt x="74" y="120"/>
                  </a:lnTo>
                  <a:lnTo>
                    <a:pt x="56" y="144"/>
                  </a:lnTo>
                  <a:lnTo>
                    <a:pt x="40" y="172"/>
                  </a:lnTo>
                  <a:lnTo>
                    <a:pt x="26" y="200"/>
                  </a:lnTo>
                  <a:lnTo>
                    <a:pt x="14" y="230"/>
                  </a:lnTo>
                  <a:lnTo>
                    <a:pt x="6" y="262"/>
                  </a:lnTo>
                  <a:lnTo>
                    <a:pt x="2" y="294"/>
                  </a:lnTo>
                  <a:lnTo>
                    <a:pt x="0" y="328"/>
                  </a:lnTo>
                  <a:close/>
                  <a:moveTo>
                    <a:pt x="80" y="328"/>
                  </a:moveTo>
                  <a:lnTo>
                    <a:pt x="80" y="328"/>
                  </a:lnTo>
                  <a:lnTo>
                    <a:pt x="82" y="302"/>
                  </a:lnTo>
                  <a:lnTo>
                    <a:pt x="86" y="278"/>
                  </a:lnTo>
                  <a:lnTo>
                    <a:pt x="92" y="254"/>
                  </a:lnTo>
                  <a:lnTo>
                    <a:pt x="100" y="232"/>
                  </a:lnTo>
                  <a:lnTo>
                    <a:pt x="110" y="210"/>
                  </a:lnTo>
                  <a:lnTo>
                    <a:pt x="122" y="190"/>
                  </a:lnTo>
                  <a:lnTo>
                    <a:pt x="136" y="170"/>
                  </a:lnTo>
                  <a:lnTo>
                    <a:pt x="152" y="152"/>
                  </a:lnTo>
                  <a:lnTo>
                    <a:pt x="170" y="136"/>
                  </a:lnTo>
                  <a:lnTo>
                    <a:pt x="190" y="122"/>
                  </a:lnTo>
                  <a:lnTo>
                    <a:pt x="210" y="110"/>
                  </a:lnTo>
                  <a:lnTo>
                    <a:pt x="232" y="100"/>
                  </a:lnTo>
                  <a:lnTo>
                    <a:pt x="254" y="92"/>
                  </a:lnTo>
                  <a:lnTo>
                    <a:pt x="278" y="86"/>
                  </a:lnTo>
                  <a:lnTo>
                    <a:pt x="302" y="82"/>
                  </a:lnTo>
                  <a:lnTo>
                    <a:pt x="328" y="80"/>
                  </a:lnTo>
                  <a:lnTo>
                    <a:pt x="354" y="82"/>
                  </a:lnTo>
                  <a:lnTo>
                    <a:pt x="378" y="86"/>
                  </a:lnTo>
                  <a:lnTo>
                    <a:pt x="402" y="92"/>
                  </a:lnTo>
                  <a:lnTo>
                    <a:pt x="424" y="100"/>
                  </a:lnTo>
                  <a:lnTo>
                    <a:pt x="446" y="110"/>
                  </a:lnTo>
                  <a:lnTo>
                    <a:pt x="466" y="122"/>
                  </a:lnTo>
                  <a:lnTo>
                    <a:pt x="486" y="136"/>
                  </a:lnTo>
                  <a:lnTo>
                    <a:pt x="504" y="152"/>
                  </a:lnTo>
                  <a:lnTo>
                    <a:pt x="520" y="170"/>
                  </a:lnTo>
                  <a:lnTo>
                    <a:pt x="534" y="190"/>
                  </a:lnTo>
                  <a:lnTo>
                    <a:pt x="546" y="210"/>
                  </a:lnTo>
                  <a:lnTo>
                    <a:pt x="556" y="232"/>
                  </a:lnTo>
                  <a:lnTo>
                    <a:pt x="564" y="254"/>
                  </a:lnTo>
                  <a:lnTo>
                    <a:pt x="570" y="278"/>
                  </a:lnTo>
                  <a:lnTo>
                    <a:pt x="574" y="302"/>
                  </a:lnTo>
                  <a:lnTo>
                    <a:pt x="576" y="328"/>
                  </a:lnTo>
                  <a:lnTo>
                    <a:pt x="574" y="354"/>
                  </a:lnTo>
                  <a:lnTo>
                    <a:pt x="570" y="378"/>
                  </a:lnTo>
                  <a:lnTo>
                    <a:pt x="564" y="402"/>
                  </a:lnTo>
                  <a:lnTo>
                    <a:pt x="556" y="424"/>
                  </a:lnTo>
                  <a:lnTo>
                    <a:pt x="546" y="446"/>
                  </a:lnTo>
                  <a:lnTo>
                    <a:pt x="534" y="466"/>
                  </a:lnTo>
                  <a:lnTo>
                    <a:pt x="520" y="486"/>
                  </a:lnTo>
                  <a:lnTo>
                    <a:pt x="504" y="504"/>
                  </a:lnTo>
                  <a:lnTo>
                    <a:pt x="486" y="520"/>
                  </a:lnTo>
                  <a:lnTo>
                    <a:pt x="466" y="534"/>
                  </a:lnTo>
                  <a:lnTo>
                    <a:pt x="446" y="546"/>
                  </a:lnTo>
                  <a:lnTo>
                    <a:pt x="424" y="556"/>
                  </a:lnTo>
                  <a:lnTo>
                    <a:pt x="402" y="564"/>
                  </a:lnTo>
                  <a:lnTo>
                    <a:pt x="378" y="570"/>
                  </a:lnTo>
                  <a:lnTo>
                    <a:pt x="354" y="574"/>
                  </a:lnTo>
                  <a:lnTo>
                    <a:pt x="328" y="576"/>
                  </a:lnTo>
                  <a:lnTo>
                    <a:pt x="302" y="574"/>
                  </a:lnTo>
                  <a:lnTo>
                    <a:pt x="278" y="570"/>
                  </a:lnTo>
                  <a:lnTo>
                    <a:pt x="254" y="564"/>
                  </a:lnTo>
                  <a:lnTo>
                    <a:pt x="232" y="556"/>
                  </a:lnTo>
                  <a:lnTo>
                    <a:pt x="210" y="546"/>
                  </a:lnTo>
                  <a:lnTo>
                    <a:pt x="190" y="534"/>
                  </a:lnTo>
                  <a:lnTo>
                    <a:pt x="170" y="520"/>
                  </a:lnTo>
                  <a:lnTo>
                    <a:pt x="152" y="504"/>
                  </a:lnTo>
                  <a:lnTo>
                    <a:pt x="136" y="486"/>
                  </a:lnTo>
                  <a:lnTo>
                    <a:pt x="122" y="466"/>
                  </a:lnTo>
                  <a:lnTo>
                    <a:pt x="110" y="446"/>
                  </a:lnTo>
                  <a:lnTo>
                    <a:pt x="100" y="424"/>
                  </a:lnTo>
                  <a:lnTo>
                    <a:pt x="92" y="402"/>
                  </a:lnTo>
                  <a:lnTo>
                    <a:pt x="86" y="378"/>
                  </a:lnTo>
                  <a:lnTo>
                    <a:pt x="82" y="354"/>
                  </a:lnTo>
                  <a:lnTo>
                    <a:pt x="80" y="328"/>
                  </a:lnTo>
                  <a:close/>
                </a:path>
              </a:pathLst>
            </a:custGeom>
            <a:solidFill>
              <a:schemeClr val="accent1">
                <a:lumMod val="75000"/>
                <a:alpha val="28999"/>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5" name="Freeform 5"/>
            <p:cNvSpPr>
              <a:spLocks noEditPoints="1" noChangeArrowheads="1"/>
            </p:cNvSpPr>
            <p:nvPr>
              <p:custDataLst>
                <p:tags r:id="rId20"/>
              </p:custDataLst>
            </p:nvPr>
          </p:nvSpPr>
          <p:spPr bwMode="auto">
            <a:xfrm>
              <a:off x="9416903" y="2347368"/>
              <a:ext cx="2317659" cy="2317659"/>
            </a:xfrm>
            <a:custGeom>
              <a:avLst/>
              <a:gdLst>
                <a:gd name="T0" fmla="*/ 0 w 944"/>
                <a:gd name="T1" fmla="*/ 496 h 944"/>
                <a:gd name="T2" fmla="*/ 10 w 944"/>
                <a:gd name="T3" fmla="*/ 568 h 944"/>
                <a:gd name="T4" fmla="*/ 58 w 944"/>
                <a:gd name="T5" fmla="*/ 696 h 944"/>
                <a:gd name="T6" fmla="*/ 138 w 944"/>
                <a:gd name="T7" fmla="*/ 806 h 944"/>
                <a:gd name="T8" fmla="*/ 248 w 944"/>
                <a:gd name="T9" fmla="*/ 886 h 944"/>
                <a:gd name="T10" fmla="*/ 376 w 944"/>
                <a:gd name="T11" fmla="*/ 934 h 944"/>
                <a:gd name="T12" fmla="*/ 448 w 944"/>
                <a:gd name="T13" fmla="*/ 944 h 944"/>
                <a:gd name="T14" fmla="*/ 520 w 944"/>
                <a:gd name="T15" fmla="*/ 942 h 944"/>
                <a:gd name="T16" fmla="*/ 612 w 944"/>
                <a:gd name="T17" fmla="*/ 922 h 944"/>
                <a:gd name="T18" fmla="*/ 736 w 944"/>
                <a:gd name="T19" fmla="*/ 864 h 944"/>
                <a:gd name="T20" fmla="*/ 836 w 944"/>
                <a:gd name="T21" fmla="*/ 772 h 944"/>
                <a:gd name="T22" fmla="*/ 906 w 944"/>
                <a:gd name="T23" fmla="*/ 656 h 944"/>
                <a:gd name="T24" fmla="*/ 938 w 944"/>
                <a:gd name="T25" fmla="*/ 544 h 944"/>
                <a:gd name="T26" fmla="*/ 944 w 944"/>
                <a:gd name="T27" fmla="*/ 472 h 944"/>
                <a:gd name="T28" fmla="*/ 938 w 944"/>
                <a:gd name="T29" fmla="*/ 400 h 944"/>
                <a:gd name="T30" fmla="*/ 906 w 944"/>
                <a:gd name="T31" fmla="*/ 288 h 944"/>
                <a:gd name="T32" fmla="*/ 836 w 944"/>
                <a:gd name="T33" fmla="*/ 172 h 944"/>
                <a:gd name="T34" fmla="*/ 736 w 944"/>
                <a:gd name="T35" fmla="*/ 80 h 944"/>
                <a:gd name="T36" fmla="*/ 612 w 944"/>
                <a:gd name="T37" fmla="*/ 22 h 944"/>
                <a:gd name="T38" fmla="*/ 520 w 944"/>
                <a:gd name="T39" fmla="*/ 2 h 944"/>
                <a:gd name="T40" fmla="*/ 448 w 944"/>
                <a:gd name="T41" fmla="*/ 0 h 944"/>
                <a:gd name="T42" fmla="*/ 376 w 944"/>
                <a:gd name="T43" fmla="*/ 10 h 944"/>
                <a:gd name="T44" fmla="*/ 248 w 944"/>
                <a:gd name="T45" fmla="*/ 58 h 944"/>
                <a:gd name="T46" fmla="*/ 138 w 944"/>
                <a:gd name="T47" fmla="*/ 138 h 944"/>
                <a:gd name="T48" fmla="*/ 58 w 944"/>
                <a:gd name="T49" fmla="*/ 248 h 944"/>
                <a:gd name="T50" fmla="*/ 10 w 944"/>
                <a:gd name="T51" fmla="*/ 376 h 944"/>
                <a:gd name="T52" fmla="*/ 0 w 944"/>
                <a:gd name="T53" fmla="*/ 448 h 944"/>
                <a:gd name="T54" fmla="*/ 80 w 944"/>
                <a:gd name="T55" fmla="*/ 472 h 944"/>
                <a:gd name="T56" fmla="*/ 98 w 944"/>
                <a:gd name="T57" fmla="*/ 356 h 944"/>
                <a:gd name="T58" fmla="*/ 148 w 944"/>
                <a:gd name="T59" fmla="*/ 252 h 944"/>
                <a:gd name="T60" fmla="*/ 222 w 944"/>
                <a:gd name="T61" fmla="*/ 170 h 944"/>
                <a:gd name="T62" fmla="*/ 320 w 944"/>
                <a:gd name="T63" fmla="*/ 110 h 944"/>
                <a:gd name="T64" fmla="*/ 432 w 944"/>
                <a:gd name="T65" fmla="*/ 82 h 944"/>
                <a:gd name="T66" fmla="*/ 550 w 944"/>
                <a:gd name="T67" fmla="*/ 88 h 944"/>
                <a:gd name="T68" fmla="*/ 658 w 944"/>
                <a:gd name="T69" fmla="*/ 128 h 944"/>
                <a:gd name="T70" fmla="*/ 750 w 944"/>
                <a:gd name="T71" fmla="*/ 194 h 944"/>
                <a:gd name="T72" fmla="*/ 816 w 944"/>
                <a:gd name="T73" fmla="*/ 286 h 944"/>
                <a:gd name="T74" fmla="*/ 856 w 944"/>
                <a:gd name="T75" fmla="*/ 394 h 944"/>
                <a:gd name="T76" fmla="*/ 862 w 944"/>
                <a:gd name="T77" fmla="*/ 512 h 944"/>
                <a:gd name="T78" fmla="*/ 834 w 944"/>
                <a:gd name="T79" fmla="*/ 624 h 944"/>
                <a:gd name="T80" fmla="*/ 774 w 944"/>
                <a:gd name="T81" fmla="*/ 722 h 944"/>
                <a:gd name="T82" fmla="*/ 692 w 944"/>
                <a:gd name="T83" fmla="*/ 796 h 944"/>
                <a:gd name="T84" fmla="*/ 588 w 944"/>
                <a:gd name="T85" fmla="*/ 846 h 944"/>
                <a:gd name="T86" fmla="*/ 472 w 944"/>
                <a:gd name="T87" fmla="*/ 864 h 944"/>
                <a:gd name="T88" fmla="*/ 356 w 944"/>
                <a:gd name="T89" fmla="*/ 846 h 944"/>
                <a:gd name="T90" fmla="*/ 252 w 944"/>
                <a:gd name="T91" fmla="*/ 796 h 944"/>
                <a:gd name="T92" fmla="*/ 170 w 944"/>
                <a:gd name="T93" fmla="*/ 722 h 944"/>
                <a:gd name="T94" fmla="*/ 110 w 944"/>
                <a:gd name="T95" fmla="*/ 624 h 944"/>
                <a:gd name="T96" fmla="*/ 82 w 944"/>
                <a:gd name="T97" fmla="*/ 512 h 9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4"/>
                <a:gd name="T148" fmla="*/ 0 h 944"/>
                <a:gd name="T149" fmla="*/ 944 w 944"/>
                <a:gd name="T150" fmla="*/ 944 h 9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4" h="944">
                  <a:moveTo>
                    <a:pt x="0" y="472"/>
                  </a:moveTo>
                  <a:lnTo>
                    <a:pt x="0" y="472"/>
                  </a:lnTo>
                  <a:lnTo>
                    <a:pt x="0" y="496"/>
                  </a:lnTo>
                  <a:lnTo>
                    <a:pt x="2" y="520"/>
                  </a:lnTo>
                  <a:lnTo>
                    <a:pt x="6" y="544"/>
                  </a:lnTo>
                  <a:lnTo>
                    <a:pt x="10" y="568"/>
                  </a:lnTo>
                  <a:lnTo>
                    <a:pt x="22" y="612"/>
                  </a:lnTo>
                  <a:lnTo>
                    <a:pt x="38" y="656"/>
                  </a:lnTo>
                  <a:lnTo>
                    <a:pt x="58" y="696"/>
                  </a:lnTo>
                  <a:lnTo>
                    <a:pt x="80" y="736"/>
                  </a:lnTo>
                  <a:lnTo>
                    <a:pt x="108" y="772"/>
                  </a:lnTo>
                  <a:lnTo>
                    <a:pt x="138" y="806"/>
                  </a:lnTo>
                  <a:lnTo>
                    <a:pt x="172" y="836"/>
                  </a:lnTo>
                  <a:lnTo>
                    <a:pt x="208" y="864"/>
                  </a:lnTo>
                  <a:lnTo>
                    <a:pt x="248" y="886"/>
                  </a:lnTo>
                  <a:lnTo>
                    <a:pt x="288" y="906"/>
                  </a:lnTo>
                  <a:lnTo>
                    <a:pt x="332" y="922"/>
                  </a:lnTo>
                  <a:lnTo>
                    <a:pt x="376" y="934"/>
                  </a:lnTo>
                  <a:lnTo>
                    <a:pt x="400" y="938"/>
                  </a:lnTo>
                  <a:lnTo>
                    <a:pt x="424" y="942"/>
                  </a:lnTo>
                  <a:lnTo>
                    <a:pt x="448" y="944"/>
                  </a:lnTo>
                  <a:lnTo>
                    <a:pt x="472" y="944"/>
                  </a:lnTo>
                  <a:lnTo>
                    <a:pt x="496" y="944"/>
                  </a:lnTo>
                  <a:lnTo>
                    <a:pt x="520" y="942"/>
                  </a:lnTo>
                  <a:lnTo>
                    <a:pt x="544" y="938"/>
                  </a:lnTo>
                  <a:lnTo>
                    <a:pt x="568" y="934"/>
                  </a:lnTo>
                  <a:lnTo>
                    <a:pt x="612" y="922"/>
                  </a:lnTo>
                  <a:lnTo>
                    <a:pt x="656" y="906"/>
                  </a:lnTo>
                  <a:lnTo>
                    <a:pt x="696" y="886"/>
                  </a:lnTo>
                  <a:lnTo>
                    <a:pt x="736" y="864"/>
                  </a:lnTo>
                  <a:lnTo>
                    <a:pt x="772" y="836"/>
                  </a:lnTo>
                  <a:lnTo>
                    <a:pt x="806" y="806"/>
                  </a:lnTo>
                  <a:lnTo>
                    <a:pt x="836" y="772"/>
                  </a:lnTo>
                  <a:lnTo>
                    <a:pt x="864" y="736"/>
                  </a:lnTo>
                  <a:lnTo>
                    <a:pt x="886" y="696"/>
                  </a:lnTo>
                  <a:lnTo>
                    <a:pt x="906" y="656"/>
                  </a:lnTo>
                  <a:lnTo>
                    <a:pt x="922" y="612"/>
                  </a:lnTo>
                  <a:lnTo>
                    <a:pt x="934" y="568"/>
                  </a:lnTo>
                  <a:lnTo>
                    <a:pt x="938" y="544"/>
                  </a:lnTo>
                  <a:lnTo>
                    <a:pt x="942" y="520"/>
                  </a:lnTo>
                  <a:lnTo>
                    <a:pt x="944" y="496"/>
                  </a:lnTo>
                  <a:lnTo>
                    <a:pt x="944" y="472"/>
                  </a:lnTo>
                  <a:lnTo>
                    <a:pt x="944" y="448"/>
                  </a:lnTo>
                  <a:lnTo>
                    <a:pt x="942" y="424"/>
                  </a:lnTo>
                  <a:lnTo>
                    <a:pt x="938" y="400"/>
                  </a:lnTo>
                  <a:lnTo>
                    <a:pt x="934" y="376"/>
                  </a:lnTo>
                  <a:lnTo>
                    <a:pt x="922" y="332"/>
                  </a:lnTo>
                  <a:lnTo>
                    <a:pt x="906" y="288"/>
                  </a:lnTo>
                  <a:lnTo>
                    <a:pt x="886" y="248"/>
                  </a:lnTo>
                  <a:lnTo>
                    <a:pt x="864" y="208"/>
                  </a:lnTo>
                  <a:lnTo>
                    <a:pt x="836" y="172"/>
                  </a:lnTo>
                  <a:lnTo>
                    <a:pt x="806" y="138"/>
                  </a:lnTo>
                  <a:lnTo>
                    <a:pt x="772" y="108"/>
                  </a:lnTo>
                  <a:lnTo>
                    <a:pt x="736" y="80"/>
                  </a:lnTo>
                  <a:lnTo>
                    <a:pt x="696" y="58"/>
                  </a:lnTo>
                  <a:lnTo>
                    <a:pt x="656" y="38"/>
                  </a:lnTo>
                  <a:lnTo>
                    <a:pt x="612" y="22"/>
                  </a:lnTo>
                  <a:lnTo>
                    <a:pt x="568" y="10"/>
                  </a:lnTo>
                  <a:lnTo>
                    <a:pt x="544" y="6"/>
                  </a:lnTo>
                  <a:lnTo>
                    <a:pt x="520" y="2"/>
                  </a:lnTo>
                  <a:lnTo>
                    <a:pt x="496" y="0"/>
                  </a:lnTo>
                  <a:lnTo>
                    <a:pt x="472" y="0"/>
                  </a:lnTo>
                  <a:lnTo>
                    <a:pt x="448" y="0"/>
                  </a:lnTo>
                  <a:lnTo>
                    <a:pt x="424" y="2"/>
                  </a:lnTo>
                  <a:lnTo>
                    <a:pt x="400" y="6"/>
                  </a:lnTo>
                  <a:lnTo>
                    <a:pt x="376" y="10"/>
                  </a:lnTo>
                  <a:lnTo>
                    <a:pt x="332" y="22"/>
                  </a:lnTo>
                  <a:lnTo>
                    <a:pt x="288" y="38"/>
                  </a:lnTo>
                  <a:lnTo>
                    <a:pt x="248" y="58"/>
                  </a:lnTo>
                  <a:lnTo>
                    <a:pt x="208" y="80"/>
                  </a:lnTo>
                  <a:lnTo>
                    <a:pt x="172" y="108"/>
                  </a:lnTo>
                  <a:lnTo>
                    <a:pt x="138" y="138"/>
                  </a:lnTo>
                  <a:lnTo>
                    <a:pt x="108" y="172"/>
                  </a:lnTo>
                  <a:lnTo>
                    <a:pt x="80" y="208"/>
                  </a:lnTo>
                  <a:lnTo>
                    <a:pt x="58" y="248"/>
                  </a:lnTo>
                  <a:lnTo>
                    <a:pt x="38" y="288"/>
                  </a:lnTo>
                  <a:lnTo>
                    <a:pt x="22" y="332"/>
                  </a:lnTo>
                  <a:lnTo>
                    <a:pt x="10" y="376"/>
                  </a:lnTo>
                  <a:lnTo>
                    <a:pt x="6" y="400"/>
                  </a:lnTo>
                  <a:lnTo>
                    <a:pt x="2" y="424"/>
                  </a:lnTo>
                  <a:lnTo>
                    <a:pt x="0" y="448"/>
                  </a:lnTo>
                  <a:lnTo>
                    <a:pt x="0" y="472"/>
                  </a:lnTo>
                  <a:close/>
                  <a:moveTo>
                    <a:pt x="80" y="472"/>
                  </a:moveTo>
                  <a:lnTo>
                    <a:pt x="80" y="472"/>
                  </a:lnTo>
                  <a:lnTo>
                    <a:pt x="82" y="432"/>
                  </a:lnTo>
                  <a:lnTo>
                    <a:pt x="88" y="394"/>
                  </a:lnTo>
                  <a:lnTo>
                    <a:pt x="98" y="356"/>
                  </a:lnTo>
                  <a:lnTo>
                    <a:pt x="110" y="320"/>
                  </a:lnTo>
                  <a:lnTo>
                    <a:pt x="128" y="286"/>
                  </a:lnTo>
                  <a:lnTo>
                    <a:pt x="148" y="252"/>
                  </a:lnTo>
                  <a:lnTo>
                    <a:pt x="170" y="222"/>
                  </a:lnTo>
                  <a:lnTo>
                    <a:pt x="194" y="194"/>
                  </a:lnTo>
                  <a:lnTo>
                    <a:pt x="222" y="170"/>
                  </a:lnTo>
                  <a:lnTo>
                    <a:pt x="252" y="148"/>
                  </a:lnTo>
                  <a:lnTo>
                    <a:pt x="286" y="128"/>
                  </a:lnTo>
                  <a:lnTo>
                    <a:pt x="320" y="110"/>
                  </a:lnTo>
                  <a:lnTo>
                    <a:pt x="356" y="98"/>
                  </a:lnTo>
                  <a:lnTo>
                    <a:pt x="394" y="88"/>
                  </a:lnTo>
                  <a:lnTo>
                    <a:pt x="432" y="82"/>
                  </a:lnTo>
                  <a:lnTo>
                    <a:pt x="472" y="80"/>
                  </a:lnTo>
                  <a:lnTo>
                    <a:pt x="512" y="82"/>
                  </a:lnTo>
                  <a:lnTo>
                    <a:pt x="550" y="88"/>
                  </a:lnTo>
                  <a:lnTo>
                    <a:pt x="588" y="98"/>
                  </a:lnTo>
                  <a:lnTo>
                    <a:pt x="624" y="110"/>
                  </a:lnTo>
                  <a:lnTo>
                    <a:pt x="658" y="128"/>
                  </a:lnTo>
                  <a:lnTo>
                    <a:pt x="692" y="148"/>
                  </a:lnTo>
                  <a:lnTo>
                    <a:pt x="722" y="170"/>
                  </a:lnTo>
                  <a:lnTo>
                    <a:pt x="750" y="194"/>
                  </a:lnTo>
                  <a:lnTo>
                    <a:pt x="774" y="222"/>
                  </a:lnTo>
                  <a:lnTo>
                    <a:pt x="796" y="252"/>
                  </a:lnTo>
                  <a:lnTo>
                    <a:pt x="816" y="286"/>
                  </a:lnTo>
                  <a:lnTo>
                    <a:pt x="834" y="320"/>
                  </a:lnTo>
                  <a:lnTo>
                    <a:pt x="846" y="356"/>
                  </a:lnTo>
                  <a:lnTo>
                    <a:pt x="856" y="394"/>
                  </a:lnTo>
                  <a:lnTo>
                    <a:pt x="862" y="432"/>
                  </a:lnTo>
                  <a:lnTo>
                    <a:pt x="864" y="472"/>
                  </a:lnTo>
                  <a:lnTo>
                    <a:pt x="862" y="512"/>
                  </a:lnTo>
                  <a:lnTo>
                    <a:pt x="856" y="550"/>
                  </a:lnTo>
                  <a:lnTo>
                    <a:pt x="846" y="588"/>
                  </a:lnTo>
                  <a:lnTo>
                    <a:pt x="834" y="624"/>
                  </a:lnTo>
                  <a:lnTo>
                    <a:pt x="816" y="658"/>
                  </a:lnTo>
                  <a:lnTo>
                    <a:pt x="796" y="692"/>
                  </a:lnTo>
                  <a:lnTo>
                    <a:pt x="774" y="722"/>
                  </a:lnTo>
                  <a:lnTo>
                    <a:pt x="750" y="750"/>
                  </a:lnTo>
                  <a:lnTo>
                    <a:pt x="722" y="774"/>
                  </a:lnTo>
                  <a:lnTo>
                    <a:pt x="692" y="796"/>
                  </a:lnTo>
                  <a:lnTo>
                    <a:pt x="658" y="816"/>
                  </a:lnTo>
                  <a:lnTo>
                    <a:pt x="624" y="834"/>
                  </a:lnTo>
                  <a:lnTo>
                    <a:pt x="588" y="846"/>
                  </a:lnTo>
                  <a:lnTo>
                    <a:pt x="550" y="856"/>
                  </a:lnTo>
                  <a:lnTo>
                    <a:pt x="512" y="862"/>
                  </a:lnTo>
                  <a:lnTo>
                    <a:pt x="472" y="864"/>
                  </a:lnTo>
                  <a:lnTo>
                    <a:pt x="432" y="862"/>
                  </a:lnTo>
                  <a:lnTo>
                    <a:pt x="394" y="856"/>
                  </a:lnTo>
                  <a:lnTo>
                    <a:pt x="356" y="846"/>
                  </a:lnTo>
                  <a:lnTo>
                    <a:pt x="320" y="834"/>
                  </a:lnTo>
                  <a:lnTo>
                    <a:pt x="286" y="816"/>
                  </a:lnTo>
                  <a:lnTo>
                    <a:pt x="252" y="796"/>
                  </a:lnTo>
                  <a:lnTo>
                    <a:pt x="222" y="774"/>
                  </a:lnTo>
                  <a:lnTo>
                    <a:pt x="194" y="750"/>
                  </a:lnTo>
                  <a:lnTo>
                    <a:pt x="170" y="722"/>
                  </a:lnTo>
                  <a:lnTo>
                    <a:pt x="148" y="692"/>
                  </a:lnTo>
                  <a:lnTo>
                    <a:pt x="128" y="658"/>
                  </a:lnTo>
                  <a:lnTo>
                    <a:pt x="110" y="624"/>
                  </a:lnTo>
                  <a:lnTo>
                    <a:pt x="98" y="588"/>
                  </a:lnTo>
                  <a:lnTo>
                    <a:pt x="88" y="550"/>
                  </a:lnTo>
                  <a:lnTo>
                    <a:pt x="82" y="512"/>
                  </a:lnTo>
                  <a:lnTo>
                    <a:pt x="80" y="472"/>
                  </a:lnTo>
                  <a:close/>
                </a:path>
              </a:pathLst>
            </a:custGeom>
            <a:solidFill>
              <a:schemeClr val="accent1">
                <a:lumMod val="75000"/>
                <a:alpha val="20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6" name="Freeform 6"/>
            <p:cNvSpPr>
              <a:spLocks noEditPoints="1" noChangeArrowheads="1"/>
            </p:cNvSpPr>
            <p:nvPr>
              <p:custDataLst>
                <p:tags r:id="rId21"/>
              </p:custDataLst>
            </p:nvPr>
          </p:nvSpPr>
          <p:spPr bwMode="auto">
            <a:xfrm>
              <a:off x="9045046" y="1993827"/>
              <a:ext cx="3024742" cy="3024742"/>
            </a:xfrm>
            <a:custGeom>
              <a:avLst/>
              <a:gdLst>
                <a:gd name="T0" fmla="*/ 8 w 1232"/>
                <a:gd name="T1" fmla="*/ 710 h 1232"/>
                <a:gd name="T2" fmla="*/ 48 w 1232"/>
                <a:gd name="T3" fmla="*/ 856 h 1232"/>
                <a:gd name="T4" fmla="*/ 122 w 1232"/>
                <a:gd name="T5" fmla="*/ 984 h 1232"/>
                <a:gd name="T6" fmla="*/ 224 w 1232"/>
                <a:gd name="T7" fmla="*/ 1092 h 1232"/>
                <a:gd name="T8" fmla="*/ 350 w 1232"/>
                <a:gd name="T9" fmla="*/ 1172 h 1232"/>
                <a:gd name="T10" fmla="*/ 492 w 1232"/>
                <a:gd name="T11" fmla="*/ 1220 h 1232"/>
                <a:gd name="T12" fmla="*/ 648 w 1232"/>
                <a:gd name="T13" fmla="*/ 1232 h 1232"/>
                <a:gd name="T14" fmla="*/ 798 w 1232"/>
                <a:gd name="T15" fmla="*/ 1204 h 1232"/>
                <a:gd name="T16" fmla="*/ 936 w 1232"/>
                <a:gd name="T17" fmla="*/ 1142 h 1232"/>
                <a:gd name="T18" fmla="*/ 1052 w 1232"/>
                <a:gd name="T19" fmla="*/ 1052 h 1232"/>
                <a:gd name="T20" fmla="*/ 1142 w 1232"/>
                <a:gd name="T21" fmla="*/ 936 h 1232"/>
                <a:gd name="T22" fmla="*/ 1204 w 1232"/>
                <a:gd name="T23" fmla="*/ 798 h 1232"/>
                <a:gd name="T24" fmla="*/ 1232 w 1232"/>
                <a:gd name="T25" fmla="*/ 648 h 1232"/>
                <a:gd name="T26" fmla="*/ 1220 w 1232"/>
                <a:gd name="T27" fmla="*/ 492 h 1232"/>
                <a:gd name="T28" fmla="*/ 1172 w 1232"/>
                <a:gd name="T29" fmla="*/ 350 h 1232"/>
                <a:gd name="T30" fmla="*/ 1092 w 1232"/>
                <a:gd name="T31" fmla="*/ 224 h 1232"/>
                <a:gd name="T32" fmla="*/ 984 w 1232"/>
                <a:gd name="T33" fmla="*/ 122 h 1232"/>
                <a:gd name="T34" fmla="*/ 856 w 1232"/>
                <a:gd name="T35" fmla="*/ 48 h 1232"/>
                <a:gd name="T36" fmla="*/ 710 w 1232"/>
                <a:gd name="T37" fmla="*/ 8 h 1232"/>
                <a:gd name="T38" fmla="*/ 554 w 1232"/>
                <a:gd name="T39" fmla="*/ 4 h 1232"/>
                <a:gd name="T40" fmla="*/ 404 w 1232"/>
                <a:gd name="T41" fmla="*/ 38 h 1232"/>
                <a:gd name="T42" fmla="*/ 272 w 1232"/>
                <a:gd name="T43" fmla="*/ 106 h 1232"/>
                <a:gd name="T44" fmla="*/ 160 w 1232"/>
                <a:gd name="T45" fmla="*/ 202 h 1232"/>
                <a:gd name="T46" fmla="*/ 74 w 1232"/>
                <a:gd name="T47" fmla="*/ 322 h 1232"/>
                <a:gd name="T48" fmla="*/ 20 w 1232"/>
                <a:gd name="T49" fmla="*/ 462 h 1232"/>
                <a:gd name="T50" fmla="*/ 0 w 1232"/>
                <a:gd name="T51" fmla="*/ 616 h 1232"/>
                <a:gd name="T52" fmla="*/ 86 w 1232"/>
                <a:gd name="T53" fmla="*/ 534 h 1232"/>
                <a:gd name="T54" fmla="*/ 122 w 1232"/>
                <a:gd name="T55" fmla="*/ 408 h 1232"/>
                <a:gd name="T56" fmla="*/ 186 w 1232"/>
                <a:gd name="T57" fmla="*/ 296 h 1232"/>
                <a:gd name="T58" fmla="*/ 276 w 1232"/>
                <a:gd name="T59" fmla="*/ 202 h 1232"/>
                <a:gd name="T60" fmla="*/ 384 w 1232"/>
                <a:gd name="T61" fmla="*/ 132 h 1232"/>
                <a:gd name="T62" fmla="*/ 508 w 1232"/>
                <a:gd name="T63" fmla="*/ 90 h 1232"/>
                <a:gd name="T64" fmla="*/ 644 w 1232"/>
                <a:gd name="T65" fmla="*/ 80 h 1232"/>
                <a:gd name="T66" fmla="*/ 776 w 1232"/>
                <a:gd name="T67" fmla="*/ 104 h 1232"/>
                <a:gd name="T68" fmla="*/ 894 w 1232"/>
                <a:gd name="T69" fmla="*/ 158 h 1232"/>
                <a:gd name="T70" fmla="*/ 994 w 1232"/>
                <a:gd name="T71" fmla="*/ 238 h 1232"/>
                <a:gd name="T72" fmla="*/ 1074 w 1232"/>
                <a:gd name="T73" fmla="*/ 338 h 1232"/>
                <a:gd name="T74" fmla="*/ 1128 w 1232"/>
                <a:gd name="T75" fmla="*/ 456 h 1232"/>
                <a:gd name="T76" fmla="*/ 1152 w 1232"/>
                <a:gd name="T77" fmla="*/ 588 h 1232"/>
                <a:gd name="T78" fmla="*/ 1142 w 1232"/>
                <a:gd name="T79" fmla="*/ 724 h 1232"/>
                <a:gd name="T80" fmla="*/ 1100 w 1232"/>
                <a:gd name="T81" fmla="*/ 848 h 1232"/>
                <a:gd name="T82" fmla="*/ 1030 w 1232"/>
                <a:gd name="T83" fmla="*/ 956 h 1232"/>
                <a:gd name="T84" fmla="*/ 936 w 1232"/>
                <a:gd name="T85" fmla="*/ 1046 h 1232"/>
                <a:gd name="T86" fmla="*/ 824 w 1232"/>
                <a:gd name="T87" fmla="*/ 1110 h 1232"/>
                <a:gd name="T88" fmla="*/ 698 w 1232"/>
                <a:gd name="T89" fmla="*/ 1146 h 1232"/>
                <a:gd name="T90" fmla="*/ 562 w 1232"/>
                <a:gd name="T91" fmla="*/ 1150 h 1232"/>
                <a:gd name="T92" fmla="*/ 432 w 1232"/>
                <a:gd name="T93" fmla="*/ 1120 h 1232"/>
                <a:gd name="T94" fmla="*/ 316 w 1232"/>
                <a:gd name="T95" fmla="*/ 1060 h 1232"/>
                <a:gd name="T96" fmla="*/ 220 w 1232"/>
                <a:gd name="T97" fmla="*/ 976 h 1232"/>
                <a:gd name="T98" fmla="*/ 144 w 1232"/>
                <a:gd name="T99" fmla="*/ 872 h 1232"/>
                <a:gd name="T100" fmla="*/ 96 w 1232"/>
                <a:gd name="T101" fmla="*/ 750 h 1232"/>
                <a:gd name="T102" fmla="*/ 80 w 1232"/>
                <a:gd name="T103" fmla="*/ 616 h 12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32"/>
                <a:gd name="T157" fmla="*/ 0 h 1232"/>
                <a:gd name="T158" fmla="*/ 1232 w 1232"/>
                <a:gd name="T159" fmla="*/ 1232 h 12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32" h="1232">
                  <a:moveTo>
                    <a:pt x="0" y="616"/>
                  </a:moveTo>
                  <a:lnTo>
                    <a:pt x="0" y="616"/>
                  </a:lnTo>
                  <a:lnTo>
                    <a:pt x="0" y="648"/>
                  </a:lnTo>
                  <a:lnTo>
                    <a:pt x="4" y="678"/>
                  </a:lnTo>
                  <a:lnTo>
                    <a:pt x="8" y="710"/>
                  </a:lnTo>
                  <a:lnTo>
                    <a:pt x="12" y="740"/>
                  </a:lnTo>
                  <a:lnTo>
                    <a:pt x="20" y="770"/>
                  </a:lnTo>
                  <a:lnTo>
                    <a:pt x="28" y="798"/>
                  </a:lnTo>
                  <a:lnTo>
                    <a:pt x="38" y="828"/>
                  </a:lnTo>
                  <a:lnTo>
                    <a:pt x="48" y="856"/>
                  </a:lnTo>
                  <a:lnTo>
                    <a:pt x="60" y="882"/>
                  </a:lnTo>
                  <a:lnTo>
                    <a:pt x="74" y="910"/>
                  </a:lnTo>
                  <a:lnTo>
                    <a:pt x="90" y="936"/>
                  </a:lnTo>
                  <a:lnTo>
                    <a:pt x="106" y="960"/>
                  </a:lnTo>
                  <a:lnTo>
                    <a:pt x="122" y="984"/>
                  </a:lnTo>
                  <a:lnTo>
                    <a:pt x="140" y="1008"/>
                  </a:lnTo>
                  <a:lnTo>
                    <a:pt x="160" y="1030"/>
                  </a:lnTo>
                  <a:lnTo>
                    <a:pt x="180" y="1052"/>
                  </a:lnTo>
                  <a:lnTo>
                    <a:pt x="202" y="1072"/>
                  </a:lnTo>
                  <a:lnTo>
                    <a:pt x="224" y="1092"/>
                  </a:lnTo>
                  <a:lnTo>
                    <a:pt x="248" y="1110"/>
                  </a:lnTo>
                  <a:lnTo>
                    <a:pt x="272" y="1126"/>
                  </a:lnTo>
                  <a:lnTo>
                    <a:pt x="296" y="1142"/>
                  </a:lnTo>
                  <a:lnTo>
                    <a:pt x="322" y="1158"/>
                  </a:lnTo>
                  <a:lnTo>
                    <a:pt x="350" y="1172"/>
                  </a:lnTo>
                  <a:lnTo>
                    <a:pt x="376" y="1184"/>
                  </a:lnTo>
                  <a:lnTo>
                    <a:pt x="404" y="1194"/>
                  </a:lnTo>
                  <a:lnTo>
                    <a:pt x="434" y="1204"/>
                  </a:lnTo>
                  <a:lnTo>
                    <a:pt x="462" y="1212"/>
                  </a:lnTo>
                  <a:lnTo>
                    <a:pt x="492" y="1220"/>
                  </a:lnTo>
                  <a:lnTo>
                    <a:pt x="522" y="1224"/>
                  </a:lnTo>
                  <a:lnTo>
                    <a:pt x="554" y="1228"/>
                  </a:lnTo>
                  <a:lnTo>
                    <a:pt x="584" y="1232"/>
                  </a:lnTo>
                  <a:lnTo>
                    <a:pt x="616" y="1232"/>
                  </a:lnTo>
                  <a:lnTo>
                    <a:pt x="648" y="1232"/>
                  </a:lnTo>
                  <a:lnTo>
                    <a:pt x="678" y="1228"/>
                  </a:lnTo>
                  <a:lnTo>
                    <a:pt x="710" y="1224"/>
                  </a:lnTo>
                  <a:lnTo>
                    <a:pt x="740" y="1220"/>
                  </a:lnTo>
                  <a:lnTo>
                    <a:pt x="770" y="1212"/>
                  </a:lnTo>
                  <a:lnTo>
                    <a:pt x="798" y="1204"/>
                  </a:lnTo>
                  <a:lnTo>
                    <a:pt x="828" y="1194"/>
                  </a:lnTo>
                  <a:lnTo>
                    <a:pt x="856" y="1184"/>
                  </a:lnTo>
                  <a:lnTo>
                    <a:pt x="882" y="1172"/>
                  </a:lnTo>
                  <a:lnTo>
                    <a:pt x="910" y="1158"/>
                  </a:lnTo>
                  <a:lnTo>
                    <a:pt x="936" y="1142"/>
                  </a:lnTo>
                  <a:lnTo>
                    <a:pt x="960" y="1126"/>
                  </a:lnTo>
                  <a:lnTo>
                    <a:pt x="984" y="1110"/>
                  </a:lnTo>
                  <a:lnTo>
                    <a:pt x="1008" y="1092"/>
                  </a:lnTo>
                  <a:lnTo>
                    <a:pt x="1030" y="1072"/>
                  </a:lnTo>
                  <a:lnTo>
                    <a:pt x="1052" y="1052"/>
                  </a:lnTo>
                  <a:lnTo>
                    <a:pt x="1072" y="1030"/>
                  </a:lnTo>
                  <a:lnTo>
                    <a:pt x="1092" y="1008"/>
                  </a:lnTo>
                  <a:lnTo>
                    <a:pt x="1110" y="984"/>
                  </a:lnTo>
                  <a:lnTo>
                    <a:pt x="1126" y="960"/>
                  </a:lnTo>
                  <a:lnTo>
                    <a:pt x="1142" y="936"/>
                  </a:lnTo>
                  <a:lnTo>
                    <a:pt x="1158" y="910"/>
                  </a:lnTo>
                  <a:lnTo>
                    <a:pt x="1172" y="882"/>
                  </a:lnTo>
                  <a:lnTo>
                    <a:pt x="1184" y="856"/>
                  </a:lnTo>
                  <a:lnTo>
                    <a:pt x="1194" y="828"/>
                  </a:lnTo>
                  <a:lnTo>
                    <a:pt x="1204" y="798"/>
                  </a:lnTo>
                  <a:lnTo>
                    <a:pt x="1212" y="770"/>
                  </a:lnTo>
                  <a:lnTo>
                    <a:pt x="1220" y="740"/>
                  </a:lnTo>
                  <a:lnTo>
                    <a:pt x="1224" y="710"/>
                  </a:lnTo>
                  <a:lnTo>
                    <a:pt x="1228" y="678"/>
                  </a:lnTo>
                  <a:lnTo>
                    <a:pt x="1232" y="648"/>
                  </a:lnTo>
                  <a:lnTo>
                    <a:pt x="1232" y="616"/>
                  </a:lnTo>
                  <a:lnTo>
                    <a:pt x="1232" y="584"/>
                  </a:lnTo>
                  <a:lnTo>
                    <a:pt x="1228" y="554"/>
                  </a:lnTo>
                  <a:lnTo>
                    <a:pt x="1224" y="522"/>
                  </a:lnTo>
                  <a:lnTo>
                    <a:pt x="1220" y="492"/>
                  </a:lnTo>
                  <a:lnTo>
                    <a:pt x="1212" y="462"/>
                  </a:lnTo>
                  <a:lnTo>
                    <a:pt x="1204" y="434"/>
                  </a:lnTo>
                  <a:lnTo>
                    <a:pt x="1194" y="404"/>
                  </a:lnTo>
                  <a:lnTo>
                    <a:pt x="1184" y="376"/>
                  </a:lnTo>
                  <a:lnTo>
                    <a:pt x="1172" y="350"/>
                  </a:lnTo>
                  <a:lnTo>
                    <a:pt x="1158" y="322"/>
                  </a:lnTo>
                  <a:lnTo>
                    <a:pt x="1142" y="296"/>
                  </a:lnTo>
                  <a:lnTo>
                    <a:pt x="1126" y="272"/>
                  </a:lnTo>
                  <a:lnTo>
                    <a:pt x="1110" y="248"/>
                  </a:lnTo>
                  <a:lnTo>
                    <a:pt x="1092" y="224"/>
                  </a:lnTo>
                  <a:lnTo>
                    <a:pt x="1072" y="202"/>
                  </a:lnTo>
                  <a:lnTo>
                    <a:pt x="1052" y="180"/>
                  </a:lnTo>
                  <a:lnTo>
                    <a:pt x="1030" y="160"/>
                  </a:lnTo>
                  <a:lnTo>
                    <a:pt x="1008" y="140"/>
                  </a:lnTo>
                  <a:lnTo>
                    <a:pt x="984" y="122"/>
                  </a:lnTo>
                  <a:lnTo>
                    <a:pt x="960" y="106"/>
                  </a:lnTo>
                  <a:lnTo>
                    <a:pt x="936" y="90"/>
                  </a:lnTo>
                  <a:lnTo>
                    <a:pt x="910" y="74"/>
                  </a:lnTo>
                  <a:lnTo>
                    <a:pt x="882" y="60"/>
                  </a:lnTo>
                  <a:lnTo>
                    <a:pt x="856" y="48"/>
                  </a:lnTo>
                  <a:lnTo>
                    <a:pt x="828" y="38"/>
                  </a:lnTo>
                  <a:lnTo>
                    <a:pt x="798" y="28"/>
                  </a:lnTo>
                  <a:lnTo>
                    <a:pt x="770" y="20"/>
                  </a:lnTo>
                  <a:lnTo>
                    <a:pt x="740" y="12"/>
                  </a:lnTo>
                  <a:lnTo>
                    <a:pt x="710" y="8"/>
                  </a:lnTo>
                  <a:lnTo>
                    <a:pt x="678" y="4"/>
                  </a:lnTo>
                  <a:lnTo>
                    <a:pt x="648" y="0"/>
                  </a:lnTo>
                  <a:lnTo>
                    <a:pt x="616" y="0"/>
                  </a:lnTo>
                  <a:lnTo>
                    <a:pt x="584" y="0"/>
                  </a:lnTo>
                  <a:lnTo>
                    <a:pt x="554" y="4"/>
                  </a:lnTo>
                  <a:lnTo>
                    <a:pt x="522" y="8"/>
                  </a:lnTo>
                  <a:lnTo>
                    <a:pt x="492" y="12"/>
                  </a:lnTo>
                  <a:lnTo>
                    <a:pt x="462" y="20"/>
                  </a:lnTo>
                  <a:lnTo>
                    <a:pt x="434" y="28"/>
                  </a:lnTo>
                  <a:lnTo>
                    <a:pt x="404" y="38"/>
                  </a:lnTo>
                  <a:lnTo>
                    <a:pt x="376" y="48"/>
                  </a:lnTo>
                  <a:lnTo>
                    <a:pt x="350" y="60"/>
                  </a:lnTo>
                  <a:lnTo>
                    <a:pt x="322" y="74"/>
                  </a:lnTo>
                  <a:lnTo>
                    <a:pt x="296" y="90"/>
                  </a:lnTo>
                  <a:lnTo>
                    <a:pt x="272" y="106"/>
                  </a:lnTo>
                  <a:lnTo>
                    <a:pt x="248" y="122"/>
                  </a:lnTo>
                  <a:lnTo>
                    <a:pt x="224" y="140"/>
                  </a:lnTo>
                  <a:lnTo>
                    <a:pt x="202" y="160"/>
                  </a:lnTo>
                  <a:lnTo>
                    <a:pt x="180" y="180"/>
                  </a:lnTo>
                  <a:lnTo>
                    <a:pt x="160" y="202"/>
                  </a:lnTo>
                  <a:lnTo>
                    <a:pt x="140" y="224"/>
                  </a:lnTo>
                  <a:lnTo>
                    <a:pt x="122" y="248"/>
                  </a:lnTo>
                  <a:lnTo>
                    <a:pt x="106" y="272"/>
                  </a:lnTo>
                  <a:lnTo>
                    <a:pt x="90" y="296"/>
                  </a:lnTo>
                  <a:lnTo>
                    <a:pt x="74" y="322"/>
                  </a:lnTo>
                  <a:lnTo>
                    <a:pt x="60" y="350"/>
                  </a:lnTo>
                  <a:lnTo>
                    <a:pt x="48" y="376"/>
                  </a:lnTo>
                  <a:lnTo>
                    <a:pt x="38" y="404"/>
                  </a:lnTo>
                  <a:lnTo>
                    <a:pt x="28" y="434"/>
                  </a:lnTo>
                  <a:lnTo>
                    <a:pt x="20" y="462"/>
                  </a:lnTo>
                  <a:lnTo>
                    <a:pt x="12" y="492"/>
                  </a:lnTo>
                  <a:lnTo>
                    <a:pt x="8" y="522"/>
                  </a:lnTo>
                  <a:lnTo>
                    <a:pt x="4" y="554"/>
                  </a:lnTo>
                  <a:lnTo>
                    <a:pt x="0" y="584"/>
                  </a:lnTo>
                  <a:lnTo>
                    <a:pt x="0" y="616"/>
                  </a:lnTo>
                  <a:close/>
                  <a:moveTo>
                    <a:pt x="80" y="616"/>
                  </a:moveTo>
                  <a:lnTo>
                    <a:pt x="80" y="616"/>
                  </a:lnTo>
                  <a:lnTo>
                    <a:pt x="80" y="588"/>
                  </a:lnTo>
                  <a:lnTo>
                    <a:pt x="82" y="562"/>
                  </a:lnTo>
                  <a:lnTo>
                    <a:pt x="86" y="534"/>
                  </a:lnTo>
                  <a:lnTo>
                    <a:pt x="90" y="508"/>
                  </a:lnTo>
                  <a:lnTo>
                    <a:pt x="96" y="482"/>
                  </a:lnTo>
                  <a:lnTo>
                    <a:pt x="104" y="456"/>
                  </a:lnTo>
                  <a:lnTo>
                    <a:pt x="112" y="432"/>
                  </a:lnTo>
                  <a:lnTo>
                    <a:pt x="122" y="408"/>
                  </a:lnTo>
                  <a:lnTo>
                    <a:pt x="132" y="384"/>
                  </a:lnTo>
                  <a:lnTo>
                    <a:pt x="144" y="360"/>
                  </a:lnTo>
                  <a:lnTo>
                    <a:pt x="158" y="338"/>
                  </a:lnTo>
                  <a:lnTo>
                    <a:pt x="172" y="316"/>
                  </a:lnTo>
                  <a:lnTo>
                    <a:pt x="186" y="296"/>
                  </a:lnTo>
                  <a:lnTo>
                    <a:pt x="202" y="276"/>
                  </a:lnTo>
                  <a:lnTo>
                    <a:pt x="220" y="256"/>
                  </a:lnTo>
                  <a:lnTo>
                    <a:pt x="238" y="238"/>
                  </a:lnTo>
                  <a:lnTo>
                    <a:pt x="256" y="220"/>
                  </a:lnTo>
                  <a:lnTo>
                    <a:pt x="276" y="202"/>
                  </a:lnTo>
                  <a:lnTo>
                    <a:pt x="296" y="186"/>
                  </a:lnTo>
                  <a:lnTo>
                    <a:pt x="316" y="172"/>
                  </a:lnTo>
                  <a:lnTo>
                    <a:pt x="338" y="158"/>
                  </a:lnTo>
                  <a:lnTo>
                    <a:pt x="360" y="144"/>
                  </a:lnTo>
                  <a:lnTo>
                    <a:pt x="384" y="132"/>
                  </a:lnTo>
                  <a:lnTo>
                    <a:pt x="408" y="122"/>
                  </a:lnTo>
                  <a:lnTo>
                    <a:pt x="432" y="112"/>
                  </a:lnTo>
                  <a:lnTo>
                    <a:pt x="456" y="104"/>
                  </a:lnTo>
                  <a:lnTo>
                    <a:pt x="482" y="96"/>
                  </a:lnTo>
                  <a:lnTo>
                    <a:pt x="508" y="90"/>
                  </a:lnTo>
                  <a:lnTo>
                    <a:pt x="534" y="86"/>
                  </a:lnTo>
                  <a:lnTo>
                    <a:pt x="562" y="82"/>
                  </a:lnTo>
                  <a:lnTo>
                    <a:pt x="588" y="80"/>
                  </a:lnTo>
                  <a:lnTo>
                    <a:pt x="616" y="80"/>
                  </a:lnTo>
                  <a:lnTo>
                    <a:pt x="644" y="80"/>
                  </a:lnTo>
                  <a:lnTo>
                    <a:pt x="670" y="82"/>
                  </a:lnTo>
                  <a:lnTo>
                    <a:pt x="698" y="86"/>
                  </a:lnTo>
                  <a:lnTo>
                    <a:pt x="724" y="90"/>
                  </a:lnTo>
                  <a:lnTo>
                    <a:pt x="750" y="96"/>
                  </a:lnTo>
                  <a:lnTo>
                    <a:pt x="776" y="104"/>
                  </a:lnTo>
                  <a:lnTo>
                    <a:pt x="800" y="112"/>
                  </a:lnTo>
                  <a:lnTo>
                    <a:pt x="824" y="122"/>
                  </a:lnTo>
                  <a:lnTo>
                    <a:pt x="848" y="132"/>
                  </a:lnTo>
                  <a:lnTo>
                    <a:pt x="872" y="144"/>
                  </a:lnTo>
                  <a:lnTo>
                    <a:pt x="894" y="158"/>
                  </a:lnTo>
                  <a:lnTo>
                    <a:pt x="916" y="172"/>
                  </a:lnTo>
                  <a:lnTo>
                    <a:pt x="936" y="186"/>
                  </a:lnTo>
                  <a:lnTo>
                    <a:pt x="956" y="202"/>
                  </a:lnTo>
                  <a:lnTo>
                    <a:pt x="976" y="220"/>
                  </a:lnTo>
                  <a:lnTo>
                    <a:pt x="994" y="238"/>
                  </a:lnTo>
                  <a:lnTo>
                    <a:pt x="1012" y="256"/>
                  </a:lnTo>
                  <a:lnTo>
                    <a:pt x="1030" y="276"/>
                  </a:lnTo>
                  <a:lnTo>
                    <a:pt x="1046" y="296"/>
                  </a:lnTo>
                  <a:lnTo>
                    <a:pt x="1060" y="316"/>
                  </a:lnTo>
                  <a:lnTo>
                    <a:pt x="1074" y="338"/>
                  </a:lnTo>
                  <a:lnTo>
                    <a:pt x="1088" y="360"/>
                  </a:lnTo>
                  <a:lnTo>
                    <a:pt x="1100" y="384"/>
                  </a:lnTo>
                  <a:lnTo>
                    <a:pt x="1110" y="408"/>
                  </a:lnTo>
                  <a:lnTo>
                    <a:pt x="1120" y="432"/>
                  </a:lnTo>
                  <a:lnTo>
                    <a:pt x="1128" y="456"/>
                  </a:lnTo>
                  <a:lnTo>
                    <a:pt x="1136" y="482"/>
                  </a:lnTo>
                  <a:lnTo>
                    <a:pt x="1142" y="508"/>
                  </a:lnTo>
                  <a:lnTo>
                    <a:pt x="1146" y="534"/>
                  </a:lnTo>
                  <a:lnTo>
                    <a:pt x="1150" y="562"/>
                  </a:lnTo>
                  <a:lnTo>
                    <a:pt x="1152" y="588"/>
                  </a:lnTo>
                  <a:lnTo>
                    <a:pt x="1152" y="616"/>
                  </a:lnTo>
                  <a:lnTo>
                    <a:pt x="1152" y="644"/>
                  </a:lnTo>
                  <a:lnTo>
                    <a:pt x="1150" y="670"/>
                  </a:lnTo>
                  <a:lnTo>
                    <a:pt x="1146" y="698"/>
                  </a:lnTo>
                  <a:lnTo>
                    <a:pt x="1142" y="724"/>
                  </a:lnTo>
                  <a:lnTo>
                    <a:pt x="1136" y="750"/>
                  </a:lnTo>
                  <a:lnTo>
                    <a:pt x="1128" y="776"/>
                  </a:lnTo>
                  <a:lnTo>
                    <a:pt x="1120" y="800"/>
                  </a:lnTo>
                  <a:lnTo>
                    <a:pt x="1110" y="824"/>
                  </a:lnTo>
                  <a:lnTo>
                    <a:pt x="1100" y="848"/>
                  </a:lnTo>
                  <a:lnTo>
                    <a:pt x="1088" y="872"/>
                  </a:lnTo>
                  <a:lnTo>
                    <a:pt x="1074" y="894"/>
                  </a:lnTo>
                  <a:lnTo>
                    <a:pt x="1060" y="916"/>
                  </a:lnTo>
                  <a:lnTo>
                    <a:pt x="1046" y="936"/>
                  </a:lnTo>
                  <a:lnTo>
                    <a:pt x="1030" y="956"/>
                  </a:lnTo>
                  <a:lnTo>
                    <a:pt x="1012" y="976"/>
                  </a:lnTo>
                  <a:lnTo>
                    <a:pt x="994" y="994"/>
                  </a:lnTo>
                  <a:lnTo>
                    <a:pt x="976" y="1012"/>
                  </a:lnTo>
                  <a:lnTo>
                    <a:pt x="956" y="1030"/>
                  </a:lnTo>
                  <a:lnTo>
                    <a:pt x="936" y="1046"/>
                  </a:lnTo>
                  <a:lnTo>
                    <a:pt x="916" y="1060"/>
                  </a:lnTo>
                  <a:lnTo>
                    <a:pt x="894" y="1074"/>
                  </a:lnTo>
                  <a:lnTo>
                    <a:pt x="872" y="1088"/>
                  </a:lnTo>
                  <a:lnTo>
                    <a:pt x="848" y="1100"/>
                  </a:lnTo>
                  <a:lnTo>
                    <a:pt x="824" y="1110"/>
                  </a:lnTo>
                  <a:lnTo>
                    <a:pt x="800" y="1120"/>
                  </a:lnTo>
                  <a:lnTo>
                    <a:pt x="776" y="1128"/>
                  </a:lnTo>
                  <a:lnTo>
                    <a:pt x="750" y="1136"/>
                  </a:lnTo>
                  <a:lnTo>
                    <a:pt x="724" y="1142"/>
                  </a:lnTo>
                  <a:lnTo>
                    <a:pt x="698" y="1146"/>
                  </a:lnTo>
                  <a:lnTo>
                    <a:pt x="670" y="1150"/>
                  </a:lnTo>
                  <a:lnTo>
                    <a:pt x="644" y="1152"/>
                  </a:lnTo>
                  <a:lnTo>
                    <a:pt x="616" y="1152"/>
                  </a:lnTo>
                  <a:lnTo>
                    <a:pt x="588" y="1152"/>
                  </a:lnTo>
                  <a:lnTo>
                    <a:pt x="562" y="1150"/>
                  </a:lnTo>
                  <a:lnTo>
                    <a:pt x="534" y="1146"/>
                  </a:lnTo>
                  <a:lnTo>
                    <a:pt x="508" y="1142"/>
                  </a:lnTo>
                  <a:lnTo>
                    <a:pt x="482" y="1136"/>
                  </a:lnTo>
                  <a:lnTo>
                    <a:pt x="456" y="1128"/>
                  </a:lnTo>
                  <a:lnTo>
                    <a:pt x="432" y="1120"/>
                  </a:lnTo>
                  <a:lnTo>
                    <a:pt x="408" y="1110"/>
                  </a:lnTo>
                  <a:lnTo>
                    <a:pt x="384" y="1100"/>
                  </a:lnTo>
                  <a:lnTo>
                    <a:pt x="360" y="1088"/>
                  </a:lnTo>
                  <a:lnTo>
                    <a:pt x="338" y="1074"/>
                  </a:lnTo>
                  <a:lnTo>
                    <a:pt x="316" y="1060"/>
                  </a:lnTo>
                  <a:lnTo>
                    <a:pt x="296" y="1046"/>
                  </a:lnTo>
                  <a:lnTo>
                    <a:pt x="276" y="1030"/>
                  </a:lnTo>
                  <a:lnTo>
                    <a:pt x="256" y="1012"/>
                  </a:lnTo>
                  <a:lnTo>
                    <a:pt x="238" y="994"/>
                  </a:lnTo>
                  <a:lnTo>
                    <a:pt x="220" y="976"/>
                  </a:lnTo>
                  <a:lnTo>
                    <a:pt x="202" y="956"/>
                  </a:lnTo>
                  <a:lnTo>
                    <a:pt x="186" y="936"/>
                  </a:lnTo>
                  <a:lnTo>
                    <a:pt x="172" y="916"/>
                  </a:lnTo>
                  <a:lnTo>
                    <a:pt x="158" y="894"/>
                  </a:lnTo>
                  <a:lnTo>
                    <a:pt x="144" y="872"/>
                  </a:lnTo>
                  <a:lnTo>
                    <a:pt x="132" y="848"/>
                  </a:lnTo>
                  <a:lnTo>
                    <a:pt x="122" y="824"/>
                  </a:lnTo>
                  <a:lnTo>
                    <a:pt x="112" y="800"/>
                  </a:lnTo>
                  <a:lnTo>
                    <a:pt x="104" y="776"/>
                  </a:lnTo>
                  <a:lnTo>
                    <a:pt x="96" y="750"/>
                  </a:lnTo>
                  <a:lnTo>
                    <a:pt x="90" y="724"/>
                  </a:lnTo>
                  <a:lnTo>
                    <a:pt x="86" y="698"/>
                  </a:lnTo>
                  <a:lnTo>
                    <a:pt x="82" y="670"/>
                  </a:lnTo>
                  <a:lnTo>
                    <a:pt x="80" y="644"/>
                  </a:lnTo>
                  <a:lnTo>
                    <a:pt x="80" y="616"/>
                  </a:lnTo>
                  <a:close/>
                </a:path>
              </a:pathLst>
            </a:custGeom>
            <a:solidFill>
              <a:schemeClr val="accent1">
                <a:lumMod val="75000"/>
                <a:alpha val="9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dirty="0">
                <a:solidFill>
                  <a:srgbClr val="000000"/>
                </a:solidFill>
                <a:latin typeface="HYXuanSong 75J" panose="00020600040101010101" charset="-122"/>
                <a:ea typeface="HYXuanSong 75J" panose="00020600040101010101" charset="-122"/>
                <a:sym typeface="宋体" panose="02010600030101010101" pitchFamily="2" charset="-122"/>
              </a:endParaRPr>
            </a:p>
          </p:txBody>
        </p:sp>
      </p:grpSp>
      <p:grpSp>
        <p:nvGrpSpPr>
          <p:cNvPr id="72" name="组合 17"/>
          <p:cNvGrpSpPr/>
          <p:nvPr>
            <p:custDataLst>
              <p:tags r:id="rId12"/>
            </p:custDataLst>
          </p:nvPr>
        </p:nvGrpSpPr>
        <p:grpSpPr>
          <a:xfrm>
            <a:off x="6297545" y="3902680"/>
            <a:ext cx="2097381" cy="2097381"/>
            <a:chOff x="9096190" y="5637205"/>
            <a:chExt cx="3024742" cy="3024742"/>
          </a:xfrm>
        </p:grpSpPr>
        <p:sp>
          <p:nvSpPr>
            <p:cNvPr id="1048687" name="矩形 99"/>
            <p:cNvSpPr/>
            <p:nvPr>
              <p:custDataLst>
                <p:tags r:id="rId14"/>
              </p:custDataLst>
            </p:nvPr>
          </p:nvSpPr>
          <p:spPr>
            <a:xfrm>
              <a:off x="9547251" y="6655220"/>
              <a:ext cx="2122050" cy="683162"/>
            </a:xfrm>
            <a:prstGeom prst="rect">
              <a:avLst/>
            </a:prstGeom>
          </p:spPr>
          <p:txBody>
            <a:bodyPr wrap="square">
              <a:spAutoFit/>
            </a:bodyPr>
            <a:lstStyle/>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Reason</a:t>
              </a:r>
            </a:p>
          </p:txBody>
        </p:sp>
        <p:sp>
          <p:nvSpPr>
            <p:cNvPr id="1048688" name="Freeform 4"/>
            <p:cNvSpPr>
              <a:spLocks noEditPoints="1" noChangeArrowheads="1"/>
            </p:cNvSpPr>
            <p:nvPr>
              <p:custDataLst>
                <p:tags r:id="rId15"/>
              </p:custDataLst>
            </p:nvPr>
          </p:nvSpPr>
          <p:spPr bwMode="auto">
            <a:xfrm>
              <a:off x="9803273" y="6344288"/>
              <a:ext cx="1610577" cy="1610577"/>
            </a:xfrm>
            <a:custGeom>
              <a:avLst/>
              <a:gdLst>
                <a:gd name="T0" fmla="*/ 2 w 656"/>
                <a:gd name="T1" fmla="*/ 362 h 656"/>
                <a:gd name="T2" fmla="*/ 26 w 656"/>
                <a:gd name="T3" fmla="*/ 456 h 656"/>
                <a:gd name="T4" fmla="*/ 74 w 656"/>
                <a:gd name="T5" fmla="*/ 536 h 656"/>
                <a:gd name="T6" fmla="*/ 144 w 656"/>
                <a:gd name="T7" fmla="*/ 600 h 656"/>
                <a:gd name="T8" fmla="*/ 230 w 656"/>
                <a:gd name="T9" fmla="*/ 642 h 656"/>
                <a:gd name="T10" fmla="*/ 328 w 656"/>
                <a:gd name="T11" fmla="*/ 656 h 656"/>
                <a:gd name="T12" fmla="*/ 426 w 656"/>
                <a:gd name="T13" fmla="*/ 642 h 656"/>
                <a:gd name="T14" fmla="*/ 512 w 656"/>
                <a:gd name="T15" fmla="*/ 600 h 656"/>
                <a:gd name="T16" fmla="*/ 582 w 656"/>
                <a:gd name="T17" fmla="*/ 536 h 656"/>
                <a:gd name="T18" fmla="*/ 630 w 656"/>
                <a:gd name="T19" fmla="*/ 456 h 656"/>
                <a:gd name="T20" fmla="*/ 654 w 656"/>
                <a:gd name="T21" fmla="*/ 362 h 656"/>
                <a:gd name="T22" fmla="*/ 650 w 656"/>
                <a:gd name="T23" fmla="*/ 262 h 656"/>
                <a:gd name="T24" fmla="*/ 616 w 656"/>
                <a:gd name="T25" fmla="*/ 172 h 656"/>
                <a:gd name="T26" fmla="*/ 560 w 656"/>
                <a:gd name="T27" fmla="*/ 96 h 656"/>
                <a:gd name="T28" fmla="*/ 484 w 656"/>
                <a:gd name="T29" fmla="*/ 40 h 656"/>
                <a:gd name="T30" fmla="*/ 394 w 656"/>
                <a:gd name="T31" fmla="*/ 6 h 656"/>
                <a:gd name="T32" fmla="*/ 294 w 656"/>
                <a:gd name="T33" fmla="*/ 2 h 656"/>
                <a:gd name="T34" fmla="*/ 200 w 656"/>
                <a:gd name="T35" fmla="*/ 26 h 656"/>
                <a:gd name="T36" fmla="*/ 120 w 656"/>
                <a:gd name="T37" fmla="*/ 74 h 656"/>
                <a:gd name="T38" fmla="*/ 56 w 656"/>
                <a:gd name="T39" fmla="*/ 144 h 656"/>
                <a:gd name="T40" fmla="*/ 14 w 656"/>
                <a:gd name="T41" fmla="*/ 230 h 656"/>
                <a:gd name="T42" fmla="*/ 0 w 656"/>
                <a:gd name="T43" fmla="*/ 328 h 656"/>
                <a:gd name="T44" fmla="*/ 82 w 656"/>
                <a:gd name="T45" fmla="*/ 302 h 656"/>
                <a:gd name="T46" fmla="*/ 100 w 656"/>
                <a:gd name="T47" fmla="*/ 232 h 656"/>
                <a:gd name="T48" fmla="*/ 136 w 656"/>
                <a:gd name="T49" fmla="*/ 170 h 656"/>
                <a:gd name="T50" fmla="*/ 190 w 656"/>
                <a:gd name="T51" fmla="*/ 122 h 656"/>
                <a:gd name="T52" fmla="*/ 254 w 656"/>
                <a:gd name="T53" fmla="*/ 92 h 656"/>
                <a:gd name="T54" fmla="*/ 328 w 656"/>
                <a:gd name="T55" fmla="*/ 80 h 656"/>
                <a:gd name="T56" fmla="*/ 402 w 656"/>
                <a:gd name="T57" fmla="*/ 92 h 656"/>
                <a:gd name="T58" fmla="*/ 466 w 656"/>
                <a:gd name="T59" fmla="*/ 122 h 656"/>
                <a:gd name="T60" fmla="*/ 520 w 656"/>
                <a:gd name="T61" fmla="*/ 170 h 656"/>
                <a:gd name="T62" fmla="*/ 556 w 656"/>
                <a:gd name="T63" fmla="*/ 232 h 656"/>
                <a:gd name="T64" fmla="*/ 574 w 656"/>
                <a:gd name="T65" fmla="*/ 302 h 656"/>
                <a:gd name="T66" fmla="*/ 570 w 656"/>
                <a:gd name="T67" fmla="*/ 378 h 656"/>
                <a:gd name="T68" fmla="*/ 546 w 656"/>
                <a:gd name="T69" fmla="*/ 446 h 656"/>
                <a:gd name="T70" fmla="*/ 504 w 656"/>
                <a:gd name="T71" fmla="*/ 504 h 656"/>
                <a:gd name="T72" fmla="*/ 446 w 656"/>
                <a:gd name="T73" fmla="*/ 546 h 656"/>
                <a:gd name="T74" fmla="*/ 378 w 656"/>
                <a:gd name="T75" fmla="*/ 570 h 656"/>
                <a:gd name="T76" fmla="*/ 302 w 656"/>
                <a:gd name="T77" fmla="*/ 574 h 656"/>
                <a:gd name="T78" fmla="*/ 232 w 656"/>
                <a:gd name="T79" fmla="*/ 556 h 656"/>
                <a:gd name="T80" fmla="*/ 170 w 656"/>
                <a:gd name="T81" fmla="*/ 520 h 656"/>
                <a:gd name="T82" fmla="*/ 122 w 656"/>
                <a:gd name="T83" fmla="*/ 466 h 656"/>
                <a:gd name="T84" fmla="*/ 92 w 656"/>
                <a:gd name="T85" fmla="*/ 402 h 656"/>
                <a:gd name="T86" fmla="*/ 80 w 656"/>
                <a:gd name="T87" fmla="*/ 328 h 6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6"/>
                <a:gd name="T133" fmla="*/ 0 h 656"/>
                <a:gd name="T134" fmla="*/ 656 w 656"/>
                <a:gd name="T135" fmla="*/ 656 h 6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6" h="656">
                  <a:moveTo>
                    <a:pt x="0" y="328"/>
                  </a:moveTo>
                  <a:lnTo>
                    <a:pt x="0" y="328"/>
                  </a:lnTo>
                  <a:lnTo>
                    <a:pt x="2" y="362"/>
                  </a:lnTo>
                  <a:lnTo>
                    <a:pt x="6" y="394"/>
                  </a:lnTo>
                  <a:lnTo>
                    <a:pt x="14" y="426"/>
                  </a:lnTo>
                  <a:lnTo>
                    <a:pt x="26" y="456"/>
                  </a:lnTo>
                  <a:lnTo>
                    <a:pt x="40" y="484"/>
                  </a:lnTo>
                  <a:lnTo>
                    <a:pt x="56" y="512"/>
                  </a:lnTo>
                  <a:lnTo>
                    <a:pt x="74" y="536"/>
                  </a:lnTo>
                  <a:lnTo>
                    <a:pt x="96" y="560"/>
                  </a:lnTo>
                  <a:lnTo>
                    <a:pt x="120" y="582"/>
                  </a:lnTo>
                  <a:lnTo>
                    <a:pt x="144" y="600"/>
                  </a:lnTo>
                  <a:lnTo>
                    <a:pt x="172" y="616"/>
                  </a:lnTo>
                  <a:lnTo>
                    <a:pt x="200" y="630"/>
                  </a:lnTo>
                  <a:lnTo>
                    <a:pt x="230" y="642"/>
                  </a:lnTo>
                  <a:lnTo>
                    <a:pt x="262" y="650"/>
                  </a:lnTo>
                  <a:lnTo>
                    <a:pt x="294" y="654"/>
                  </a:lnTo>
                  <a:lnTo>
                    <a:pt x="328" y="656"/>
                  </a:lnTo>
                  <a:lnTo>
                    <a:pt x="362" y="654"/>
                  </a:lnTo>
                  <a:lnTo>
                    <a:pt x="394" y="650"/>
                  </a:lnTo>
                  <a:lnTo>
                    <a:pt x="426" y="642"/>
                  </a:lnTo>
                  <a:lnTo>
                    <a:pt x="456" y="630"/>
                  </a:lnTo>
                  <a:lnTo>
                    <a:pt x="484" y="616"/>
                  </a:lnTo>
                  <a:lnTo>
                    <a:pt x="512" y="600"/>
                  </a:lnTo>
                  <a:lnTo>
                    <a:pt x="536" y="582"/>
                  </a:lnTo>
                  <a:lnTo>
                    <a:pt x="560" y="560"/>
                  </a:lnTo>
                  <a:lnTo>
                    <a:pt x="582" y="536"/>
                  </a:lnTo>
                  <a:lnTo>
                    <a:pt x="600" y="512"/>
                  </a:lnTo>
                  <a:lnTo>
                    <a:pt x="616" y="484"/>
                  </a:lnTo>
                  <a:lnTo>
                    <a:pt x="630" y="456"/>
                  </a:lnTo>
                  <a:lnTo>
                    <a:pt x="642" y="426"/>
                  </a:lnTo>
                  <a:lnTo>
                    <a:pt x="650" y="394"/>
                  </a:lnTo>
                  <a:lnTo>
                    <a:pt x="654" y="362"/>
                  </a:lnTo>
                  <a:lnTo>
                    <a:pt x="656" y="328"/>
                  </a:lnTo>
                  <a:lnTo>
                    <a:pt x="654" y="294"/>
                  </a:lnTo>
                  <a:lnTo>
                    <a:pt x="650" y="262"/>
                  </a:lnTo>
                  <a:lnTo>
                    <a:pt x="642" y="230"/>
                  </a:lnTo>
                  <a:lnTo>
                    <a:pt x="630" y="200"/>
                  </a:lnTo>
                  <a:lnTo>
                    <a:pt x="616" y="172"/>
                  </a:lnTo>
                  <a:lnTo>
                    <a:pt x="600" y="144"/>
                  </a:lnTo>
                  <a:lnTo>
                    <a:pt x="582" y="120"/>
                  </a:lnTo>
                  <a:lnTo>
                    <a:pt x="560" y="96"/>
                  </a:lnTo>
                  <a:lnTo>
                    <a:pt x="536" y="74"/>
                  </a:lnTo>
                  <a:lnTo>
                    <a:pt x="512" y="56"/>
                  </a:lnTo>
                  <a:lnTo>
                    <a:pt x="484" y="40"/>
                  </a:lnTo>
                  <a:lnTo>
                    <a:pt x="456" y="26"/>
                  </a:lnTo>
                  <a:lnTo>
                    <a:pt x="426" y="14"/>
                  </a:lnTo>
                  <a:lnTo>
                    <a:pt x="394" y="6"/>
                  </a:lnTo>
                  <a:lnTo>
                    <a:pt x="362" y="2"/>
                  </a:lnTo>
                  <a:lnTo>
                    <a:pt x="328" y="0"/>
                  </a:lnTo>
                  <a:lnTo>
                    <a:pt x="294" y="2"/>
                  </a:lnTo>
                  <a:lnTo>
                    <a:pt x="262" y="6"/>
                  </a:lnTo>
                  <a:lnTo>
                    <a:pt x="230" y="14"/>
                  </a:lnTo>
                  <a:lnTo>
                    <a:pt x="200" y="26"/>
                  </a:lnTo>
                  <a:lnTo>
                    <a:pt x="172" y="40"/>
                  </a:lnTo>
                  <a:lnTo>
                    <a:pt x="144" y="56"/>
                  </a:lnTo>
                  <a:lnTo>
                    <a:pt x="120" y="74"/>
                  </a:lnTo>
                  <a:lnTo>
                    <a:pt x="96" y="96"/>
                  </a:lnTo>
                  <a:lnTo>
                    <a:pt x="74" y="120"/>
                  </a:lnTo>
                  <a:lnTo>
                    <a:pt x="56" y="144"/>
                  </a:lnTo>
                  <a:lnTo>
                    <a:pt x="40" y="172"/>
                  </a:lnTo>
                  <a:lnTo>
                    <a:pt x="26" y="200"/>
                  </a:lnTo>
                  <a:lnTo>
                    <a:pt x="14" y="230"/>
                  </a:lnTo>
                  <a:lnTo>
                    <a:pt x="6" y="262"/>
                  </a:lnTo>
                  <a:lnTo>
                    <a:pt x="2" y="294"/>
                  </a:lnTo>
                  <a:lnTo>
                    <a:pt x="0" y="328"/>
                  </a:lnTo>
                  <a:close/>
                  <a:moveTo>
                    <a:pt x="80" y="328"/>
                  </a:moveTo>
                  <a:lnTo>
                    <a:pt x="80" y="328"/>
                  </a:lnTo>
                  <a:lnTo>
                    <a:pt x="82" y="302"/>
                  </a:lnTo>
                  <a:lnTo>
                    <a:pt x="86" y="278"/>
                  </a:lnTo>
                  <a:lnTo>
                    <a:pt x="92" y="254"/>
                  </a:lnTo>
                  <a:lnTo>
                    <a:pt x="100" y="232"/>
                  </a:lnTo>
                  <a:lnTo>
                    <a:pt x="110" y="210"/>
                  </a:lnTo>
                  <a:lnTo>
                    <a:pt x="122" y="190"/>
                  </a:lnTo>
                  <a:lnTo>
                    <a:pt x="136" y="170"/>
                  </a:lnTo>
                  <a:lnTo>
                    <a:pt x="152" y="152"/>
                  </a:lnTo>
                  <a:lnTo>
                    <a:pt x="170" y="136"/>
                  </a:lnTo>
                  <a:lnTo>
                    <a:pt x="190" y="122"/>
                  </a:lnTo>
                  <a:lnTo>
                    <a:pt x="210" y="110"/>
                  </a:lnTo>
                  <a:lnTo>
                    <a:pt x="232" y="100"/>
                  </a:lnTo>
                  <a:lnTo>
                    <a:pt x="254" y="92"/>
                  </a:lnTo>
                  <a:lnTo>
                    <a:pt x="278" y="86"/>
                  </a:lnTo>
                  <a:lnTo>
                    <a:pt x="302" y="82"/>
                  </a:lnTo>
                  <a:lnTo>
                    <a:pt x="328" y="80"/>
                  </a:lnTo>
                  <a:lnTo>
                    <a:pt x="354" y="82"/>
                  </a:lnTo>
                  <a:lnTo>
                    <a:pt x="378" y="86"/>
                  </a:lnTo>
                  <a:lnTo>
                    <a:pt x="402" y="92"/>
                  </a:lnTo>
                  <a:lnTo>
                    <a:pt x="424" y="100"/>
                  </a:lnTo>
                  <a:lnTo>
                    <a:pt x="446" y="110"/>
                  </a:lnTo>
                  <a:lnTo>
                    <a:pt x="466" y="122"/>
                  </a:lnTo>
                  <a:lnTo>
                    <a:pt x="486" y="136"/>
                  </a:lnTo>
                  <a:lnTo>
                    <a:pt x="504" y="152"/>
                  </a:lnTo>
                  <a:lnTo>
                    <a:pt x="520" y="170"/>
                  </a:lnTo>
                  <a:lnTo>
                    <a:pt x="534" y="190"/>
                  </a:lnTo>
                  <a:lnTo>
                    <a:pt x="546" y="210"/>
                  </a:lnTo>
                  <a:lnTo>
                    <a:pt x="556" y="232"/>
                  </a:lnTo>
                  <a:lnTo>
                    <a:pt x="564" y="254"/>
                  </a:lnTo>
                  <a:lnTo>
                    <a:pt x="570" y="278"/>
                  </a:lnTo>
                  <a:lnTo>
                    <a:pt x="574" y="302"/>
                  </a:lnTo>
                  <a:lnTo>
                    <a:pt x="576" y="328"/>
                  </a:lnTo>
                  <a:lnTo>
                    <a:pt x="574" y="354"/>
                  </a:lnTo>
                  <a:lnTo>
                    <a:pt x="570" y="378"/>
                  </a:lnTo>
                  <a:lnTo>
                    <a:pt x="564" y="402"/>
                  </a:lnTo>
                  <a:lnTo>
                    <a:pt x="556" y="424"/>
                  </a:lnTo>
                  <a:lnTo>
                    <a:pt x="546" y="446"/>
                  </a:lnTo>
                  <a:lnTo>
                    <a:pt x="534" y="466"/>
                  </a:lnTo>
                  <a:lnTo>
                    <a:pt x="520" y="486"/>
                  </a:lnTo>
                  <a:lnTo>
                    <a:pt x="504" y="504"/>
                  </a:lnTo>
                  <a:lnTo>
                    <a:pt x="486" y="520"/>
                  </a:lnTo>
                  <a:lnTo>
                    <a:pt x="466" y="534"/>
                  </a:lnTo>
                  <a:lnTo>
                    <a:pt x="446" y="546"/>
                  </a:lnTo>
                  <a:lnTo>
                    <a:pt x="424" y="556"/>
                  </a:lnTo>
                  <a:lnTo>
                    <a:pt x="402" y="564"/>
                  </a:lnTo>
                  <a:lnTo>
                    <a:pt x="378" y="570"/>
                  </a:lnTo>
                  <a:lnTo>
                    <a:pt x="354" y="574"/>
                  </a:lnTo>
                  <a:lnTo>
                    <a:pt x="328" y="576"/>
                  </a:lnTo>
                  <a:lnTo>
                    <a:pt x="302" y="574"/>
                  </a:lnTo>
                  <a:lnTo>
                    <a:pt x="278" y="570"/>
                  </a:lnTo>
                  <a:lnTo>
                    <a:pt x="254" y="564"/>
                  </a:lnTo>
                  <a:lnTo>
                    <a:pt x="232" y="556"/>
                  </a:lnTo>
                  <a:lnTo>
                    <a:pt x="210" y="546"/>
                  </a:lnTo>
                  <a:lnTo>
                    <a:pt x="190" y="534"/>
                  </a:lnTo>
                  <a:lnTo>
                    <a:pt x="170" y="520"/>
                  </a:lnTo>
                  <a:lnTo>
                    <a:pt x="152" y="504"/>
                  </a:lnTo>
                  <a:lnTo>
                    <a:pt x="136" y="486"/>
                  </a:lnTo>
                  <a:lnTo>
                    <a:pt x="122" y="466"/>
                  </a:lnTo>
                  <a:lnTo>
                    <a:pt x="110" y="446"/>
                  </a:lnTo>
                  <a:lnTo>
                    <a:pt x="100" y="424"/>
                  </a:lnTo>
                  <a:lnTo>
                    <a:pt x="92" y="402"/>
                  </a:lnTo>
                  <a:lnTo>
                    <a:pt x="86" y="378"/>
                  </a:lnTo>
                  <a:lnTo>
                    <a:pt x="82" y="354"/>
                  </a:lnTo>
                  <a:lnTo>
                    <a:pt x="80" y="328"/>
                  </a:lnTo>
                  <a:close/>
                </a:path>
              </a:pathLst>
            </a:custGeom>
            <a:solidFill>
              <a:schemeClr val="tx1">
                <a:lumMod val="75000"/>
                <a:lumOff val="25000"/>
                <a:alpha val="28999"/>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9" name="Freeform 5"/>
            <p:cNvSpPr>
              <a:spLocks noEditPoints="1" noChangeArrowheads="1"/>
            </p:cNvSpPr>
            <p:nvPr>
              <p:custDataLst>
                <p:tags r:id="rId16"/>
              </p:custDataLst>
            </p:nvPr>
          </p:nvSpPr>
          <p:spPr bwMode="auto">
            <a:xfrm>
              <a:off x="9449731" y="5990746"/>
              <a:ext cx="2317659" cy="2317659"/>
            </a:xfrm>
            <a:custGeom>
              <a:avLst/>
              <a:gdLst>
                <a:gd name="T0" fmla="*/ 0 w 944"/>
                <a:gd name="T1" fmla="*/ 496 h 944"/>
                <a:gd name="T2" fmla="*/ 10 w 944"/>
                <a:gd name="T3" fmla="*/ 568 h 944"/>
                <a:gd name="T4" fmla="*/ 58 w 944"/>
                <a:gd name="T5" fmla="*/ 696 h 944"/>
                <a:gd name="T6" fmla="*/ 138 w 944"/>
                <a:gd name="T7" fmla="*/ 806 h 944"/>
                <a:gd name="T8" fmla="*/ 248 w 944"/>
                <a:gd name="T9" fmla="*/ 886 h 944"/>
                <a:gd name="T10" fmla="*/ 376 w 944"/>
                <a:gd name="T11" fmla="*/ 934 h 944"/>
                <a:gd name="T12" fmla="*/ 448 w 944"/>
                <a:gd name="T13" fmla="*/ 944 h 944"/>
                <a:gd name="T14" fmla="*/ 520 w 944"/>
                <a:gd name="T15" fmla="*/ 942 h 944"/>
                <a:gd name="T16" fmla="*/ 612 w 944"/>
                <a:gd name="T17" fmla="*/ 922 h 944"/>
                <a:gd name="T18" fmla="*/ 736 w 944"/>
                <a:gd name="T19" fmla="*/ 864 h 944"/>
                <a:gd name="T20" fmla="*/ 836 w 944"/>
                <a:gd name="T21" fmla="*/ 772 h 944"/>
                <a:gd name="T22" fmla="*/ 906 w 944"/>
                <a:gd name="T23" fmla="*/ 656 h 944"/>
                <a:gd name="T24" fmla="*/ 938 w 944"/>
                <a:gd name="T25" fmla="*/ 544 h 944"/>
                <a:gd name="T26" fmla="*/ 944 w 944"/>
                <a:gd name="T27" fmla="*/ 472 h 944"/>
                <a:gd name="T28" fmla="*/ 938 w 944"/>
                <a:gd name="T29" fmla="*/ 400 h 944"/>
                <a:gd name="T30" fmla="*/ 906 w 944"/>
                <a:gd name="T31" fmla="*/ 288 h 944"/>
                <a:gd name="T32" fmla="*/ 836 w 944"/>
                <a:gd name="T33" fmla="*/ 172 h 944"/>
                <a:gd name="T34" fmla="*/ 736 w 944"/>
                <a:gd name="T35" fmla="*/ 80 h 944"/>
                <a:gd name="T36" fmla="*/ 612 w 944"/>
                <a:gd name="T37" fmla="*/ 22 h 944"/>
                <a:gd name="T38" fmla="*/ 520 w 944"/>
                <a:gd name="T39" fmla="*/ 2 h 944"/>
                <a:gd name="T40" fmla="*/ 448 w 944"/>
                <a:gd name="T41" fmla="*/ 0 h 944"/>
                <a:gd name="T42" fmla="*/ 376 w 944"/>
                <a:gd name="T43" fmla="*/ 10 h 944"/>
                <a:gd name="T44" fmla="*/ 248 w 944"/>
                <a:gd name="T45" fmla="*/ 58 h 944"/>
                <a:gd name="T46" fmla="*/ 138 w 944"/>
                <a:gd name="T47" fmla="*/ 138 h 944"/>
                <a:gd name="T48" fmla="*/ 58 w 944"/>
                <a:gd name="T49" fmla="*/ 248 h 944"/>
                <a:gd name="T50" fmla="*/ 10 w 944"/>
                <a:gd name="T51" fmla="*/ 376 h 944"/>
                <a:gd name="T52" fmla="*/ 0 w 944"/>
                <a:gd name="T53" fmla="*/ 448 h 944"/>
                <a:gd name="T54" fmla="*/ 80 w 944"/>
                <a:gd name="T55" fmla="*/ 472 h 944"/>
                <a:gd name="T56" fmla="*/ 98 w 944"/>
                <a:gd name="T57" fmla="*/ 356 h 944"/>
                <a:gd name="T58" fmla="*/ 148 w 944"/>
                <a:gd name="T59" fmla="*/ 252 h 944"/>
                <a:gd name="T60" fmla="*/ 222 w 944"/>
                <a:gd name="T61" fmla="*/ 170 h 944"/>
                <a:gd name="T62" fmla="*/ 320 w 944"/>
                <a:gd name="T63" fmla="*/ 110 h 944"/>
                <a:gd name="T64" fmla="*/ 432 w 944"/>
                <a:gd name="T65" fmla="*/ 82 h 944"/>
                <a:gd name="T66" fmla="*/ 550 w 944"/>
                <a:gd name="T67" fmla="*/ 88 h 944"/>
                <a:gd name="T68" fmla="*/ 658 w 944"/>
                <a:gd name="T69" fmla="*/ 128 h 944"/>
                <a:gd name="T70" fmla="*/ 750 w 944"/>
                <a:gd name="T71" fmla="*/ 194 h 944"/>
                <a:gd name="T72" fmla="*/ 816 w 944"/>
                <a:gd name="T73" fmla="*/ 286 h 944"/>
                <a:gd name="T74" fmla="*/ 856 w 944"/>
                <a:gd name="T75" fmla="*/ 394 h 944"/>
                <a:gd name="T76" fmla="*/ 862 w 944"/>
                <a:gd name="T77" fmla="*/ 512 h 944"/>
                <a:gd name="T78" fmla="*/ 834 w 944"/>
                <a:gd name="T79" fmla="*/ 624 h 944"/>
                <a:gd name="T80" fmla="*/ 774 w 944"/>
                <a:gd name="T81" fmla="*/ 722 h 944"/>
                <a:gd name="T82" fmla="*/ 692 w 944"/>
                <a:gd name="T83" fmla="*/ 796 h 944"/>
                <a:gd name="T84" fmla="*/ 588 w 944"/>
                <a:gd name="T85" fmla="*/ 846 h 944"/>
                <a:gd name="T86" fmla="*/ 472 w 944"/>
                <a:gd name="T87" fmla="*/ 864 h 944"/>
                <a:gd name="T88" fmla="*/ 356 w 944"/>
                <a:gd name="T89" fmla="*/ 846 h 944"/>
                <a:gd name="T90" fmla="*/ 252 w 944"/>
                <a:gd name="T91" fmla="*/ 796 h 944"/>
                <a:gd name="T92" fmla="*/ 170 w 944"/>
                <a:gd name="T93" fmla="*/ 722 h 944"/>
                <a:gd name="T94" fmla="*/ 110 w 944"/>
                <a:gd name="T95" fmla="*/ 624 h 944"/>
                <a:gd name="T96" fmla="*/ 82 w 944"/>
                <a:gd name="T97" fmla="*/ 512 h 9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4"/>
                <a:gd name="T148" fmla="*/ 0 h 944"/>
                <a:gd name="T149" fmla="*/ 944 w 944"/>
                <a:gd name="T150" fmla="*/ 944 h 9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4" h="944">
                  <a:moveTo>
                    <a:pt x="0" y="472"/>
                  </a:moveTo>
                  <a:lnTo>
                    <a:pt x="0" y="472"/>
                  </a:lnTo>
                  <a:lnTo>
                    <a:pt x="0" y="496"/>
                  </a:lnTo>
                  <a:lnTo>
                    <a:pt x="2" y="520"/>
                  </a:lnTo>
                  <a:lnTo>
                    <a:pt x="6" y="544"/>
                  </a:lnTo>
                  <a:lnTo>
                    <a:pt x="10" y="568"/>
                  </a:lnTo>
                  <a:lnTo>
                    <a:pt x="22" y="612"/>
                  </a:lnTo>
                  <a:lnTo>
                    <a:pt x="38" y="656"/>
                  </a:lnTo>
                  <a:lnTo>
                    <a:pt x="58" y="696"/>
                  </a:lnTo>
                  <a:lnTo>
                    <a:pt x="80" y="736"/>
                  </a:lnTo>
                  <a:lnTo>
                    <a:pt x="108" y="772"/>
                  </a:lnTo>
                  <a:lnTo>
                    <a:pt x="138" y="806"/>
                  </a:lnTo>
                  <a:lnTo>
                    <a:pt x="172" y="836"/>
                  </a:lnTo>
                  <a:lnTo>
                    <a:pt x="208" y="864"/>
                  </a:lnTo>
                  <a:lnTo>
                    <a:pt x="248" y="886"/>
                  </a:lnTo>
                  <a:lnTo>
                    <a:pt x="288" y="906"/>
                  </a:lnTo>
                  <a:lnTo>
                    <a:pt x="332" y="922"/>
                  </a:lnTo>
                  <a:lnTo>
                    <a:pt x="376" y="934"/>
                  </a:lnTo>
                  <a:lnTo>
                    <a:pt x="400" y="938"/>
                  </a:lnTo>
                  <a:lnTo>
                    <a:pt x="424" y="942"/>
                  </a:lnTo>
                  <a:lnTo>
                    <a:pt x="448" y="944"/>
                  </a:lnTo>
                  <a:lnTo>
                    <a:pt x="472" y="944"/>
                  </a:lnTo>
                  <a:lnTo>
                    <a:pt x="496" y="944"/>
                  </a:lnTo>
                  <a:lnTo>
                    <a:pt x="520" y="942"/>
                  </a:lnTo>
                  <a:lnTo>
                    <a:pt x="544" y="938"/>
                  </a:lnTo>
                  <a:lnTo>
                    <a:pt x="568" y="934"/>
                  </a:lnTo>
                  <a:lnTo>
                    <a:pt x="612" y="922"/>
                  </a:lnTo>
                  <a:lnTo>
                    <a:pt x="656" y="906"/>
                  </a:lnTo>
                  <a:lnTo>
                    <a:pt x="696" y="886"/>
                  </a:lnTo>
                  <a:lnTo>
                    <a:pt x="736" y="864"/>
                  </a:lnTo>
                  <a:lnTo>
                    <a:pt x="772" y="836"/>
                  </a:lnTo>
                  <a:lnTo>
                    <a:pt x="806" y="806"/>
                  </a:lnTo>
                  <a:lnTo>
                    <a:pt x="836" y="772"/>
                  </a:lnTo>
                  <a:lnTo>
                    <a:pt x="864" y="736"/>
                  </a:lnTo>
                  <a:lnTo>
                    <a:pt x="886" y="696"/>
                  </a:lnTo>
                  <a:lnTo>
                    <a:pt x="906" y="656"/>
                  </a:lnTo>
                  <a:lnTo>
                    <a:pt x="922" y="612"/>
                  </a:lnTo>
                  <a:lnTo>
                    <a:pt x="934" y="568"/>
                  </a:lnTo>
                  <a:lnTo>
                    <a:pt x="938" y="544"/>
                  </a:lnTo>
                  <a:lnTo>
                    <a:pt x="942" y="520"/>
                  </a:lnTo>
                  <a:lnTo>
                    <a:pt x="944" y="496"/>
                  </a:lnTo>
                  <a:lnTo>
                    <a:pt x="944" y="472"/>
                  </a:lnTo>
                  <a:lnTo>
                    <a:pt x="944" y="448"/>
                  </a:lnTo>
                  <a:lnTo>
                    <a:pt x="942" y="424"/>
                  </a:lnTo>
                  <a:lnTo>
                    <a:pt x="938" y="400"/>
                  </a:lnTo>
                  <a:lnTo>
                    <a:pt x="934" y="376"/>
                  </a:lnTo>
                  <a:lnTo>
                    <a:pt x="922" y="332"/>
                  </a:lnTo>
                  <a:lnTo>
                    <a:pt x="906" y="288"/>
                  </a:lnTo>
                  <a:lnTo>
                    <a:pt x="886" y="248"/>
                  </a:lnTo>
                  <a:lnTo>
                    <a:pt x="864" y="208"/>
                  </a:lnTo>
                  <a:lnTo>
                    <a:pt x="836" y="172"/>
                  </a:lnTo>
                  <a:lnTo>
                    <a:pt x="806" y="138"/>
                  </a:lnTo>
                  <a:lnTo>
                    <a:pt x="772" y="108"/>
                  </a:lnTo>
                  <a:lnTo>
                    <a:pt x="736" y="80"/>
                  </a:lnTo>
                  <a:lnTo>
                    <a:pt x="696" y="58"/>
                  </a:lnTo>
                  <a:lnTo>
                    <a:pt x="656" y="38"/>
                  </a:lnTo>
                  <a:lnTo>
                    <a:pt x="612" y="22"/>
                  </a:lnTo>
                  <a:lnTo>
                    <a:pt x="568" y="10"/>
                  </a:lnTo>
                  <a:lnTo>
                    <a:pt x="544" y="6"/>
                  </a:lnTo>
                  <a:lnTo>
                    <a:pt x="520" y="2"/>
                  </a:lnTo>
                  <a:lnTo>
                    <a:pt x="496" y="0"/>
                  </a:lnTo>
                  <a:lnTo>
                    <a:pt x="472" y="0"/>
                  </a:lnTo>
                  <a:lnTo>
                    <a:pt x="448" y="0"/>
                  </a:lnTo>
                  <a:lnTo>
                    <a:pt x="424" y="2"/>
                  </a:lnTo>
                  <a:lnTo>
                    <a:pt x="400" y="6"/>
                  </a:lnTo>
                  <a:lnTo>
                    <a:pt x="376" y="10"/>
                  </a:lnTo>
                  <a:lnTo>
                    <a:pt x="332" y="22"/>
                  </a:lnTo>
                  <a:lnTo>
                    <a:pt x="288" y="38"/>
                  </a:lnTo>
                  <a:lnTo>
                    <a:pt x="248" y="58"/>
                  </a:lnTo>
                  <a:lnTo>
                    <a:pt x="208" y="80"/>
                  </a:lnTo>
                  <a:lnTo>
                    <a:pt x="172" y="108"/>
                  </a:lnTo>
                  <a:lnTo>
                    <a:pt x="138" y="138"/>
                  </a:lnTo>
                  <a:lnTo>
                    <a:pt x="108" y="172"/>
                  </a:lnTo>
                  <a:lnTo>
                    <a:pt x="80" y="208"/>
                  </a:lnTo>
                  <a:lnTo>
                    <a:pt x="58" y="248"/>
                  </a:lnTo>
                  <a:lnTo>
                    <a:pt x="38" y="288"/>
                  </a:lnTo>
                  <a:lnTo>
                    <a:pt x="22" y="332"/>
                  </a:lnTo>
                  <a:lnTo>
                    <a:pt x="10" y="376"/>
                  </a:lnTo>
                  <a:lnTo>
                    <a:pt x="6" y="400"/>
                  </a:lnTo>
                  <a:lnTo>
                    <a:pt x="2" y="424"/>
                  </a:lnTo>
                  <a:lnTo>
                    <a:pt x="0" y="448"/>
                  </a:lnTo>
                  <a:lnTo>
                    <a:pt x="0" y="472"/>
                  </a:lnTo>
                  <a:close/>
                  <a:moveTo>
                    <a:pt x="80" y="472"/>
                  </a:moveTo>
                  <a:lnTo>
                    <a:pt x="80" y="472"/>
                  </a:lnTo>
                  <a:lnTo>
                    <a:pt x="82" y="432"/>
                  </a:lnTo>
                  <a:lnTo>
                    <a:pt x="88" y="394"/>
                  </a:lnTo>
                  <a:lnTo>
                    <a:pt x="98" y="356"/>
                  </a:lnTo>
                  <a:lnTo>
                    <a:pt x="110" y="320"/>
                  </a:lnTo>
                  <a:lnTo>
                    <a:pt x="128" y="286"/>
                  </a:lnTo>
                  <a:lnTo>
                    <a:pt x="148" y="252"/>
                  </a:lnTo>
                  <a:lnTo>
                    <a:pt x="170" y="222"/>
                  </a:lnTo>
                  <a:lnTo>
                    <a:pt x="194" y="194"/>
                  </a:lnTo>
                  <a:lnTo>
                    <a:pt x="222" y="170"/>
                  </a:lnTo>
                  <a:lnTo>
                    <a:pt x="252" y="148"/>
                  </a:lnTo>
                  <a:lnTo>
                    <a:pt x="286" y="128"/>
                  </a:lnTo>
                  <a:lnTo>
                    <a:pt x="320" y="110"/>
                  </a:lnTo>
                  <a:lnTo>
                    <a:pt x="356" y="98"/>
                  </a:lnTo>
                  <a:lnTo>
                    <a:pt x="394" y="88"/>
                  </a:lnTo>
                  <a:lnTo>
                    <a:pt x="432" y="82"/>
                  </a:lnTo>
                  <a:lnTo>
                    <a:pt x="472" y="80"/>
                  </a:lnTo>
                  <a:lnTo>
                    <a:pt x="512" y="82"/>
                  </a:lnTo>
                  <a:lnTo>
                    <a:pt x="550" y="88"/>
                  </a:lnTo>
                  <a:lnTo>
                    <a:pt x="588" y="98"/>
                  </a:lnTo>
                  <a:lnTo>
                    <a:pt x="624" y="110"/>
                  </a:lnTo>
                  <a:lnTo>
                    <a:pt x="658" y="128"/>
                  </a:lnTo>
                  <a:lnTo>
                    <a:pt x="692" y="148"/>
                  </a:lnTo>
                  <a:lnTo>
                    <a:pt x="722" y="170"/>
                  </a:lnTo>
                  <a:lnTo>
                    <a:pt x="750" y="194"/>
                  </a:lnTo>
                  <a:lnTo>
                    <a:pt x="774" y="222"/>
                  </a:lnTo>
                  <a:lnTo>
                    <a:pt x="796" y="252"/>
                  </a:lnTo>
                  <a:lnTo>
                    <a:pt x="816" y="286"/>
                  </a:lnTo>
                  <a:lnTo>
                    <a:pt x="834" y="320"/>
                  </a:lnTo>
                  <a:lnTo>
                    <a:pt x="846" y="356"/>
                  </a:lnTo>
                  <a:lnTo>
                    <a:pt x="856" y="394"/>
                  </a:lnTo>
                  <a:lnTo>
                    <a:pt x="862" y="432"/>
                  </a:lnTo>
                  <a:lnTo>
                    <a:pt x="864" y="472"/>
                  </a:lnTo>
                  <a:lnTo>
                    <a:pt x="862" y="512"/>
                  </a:lnTo>
                  <a:lnTo>
                    <a:pt x="856" y="550"/>
                  </a:lnTo>
                  <a:lnTo>
                    <a:pt x="846" y="588"/>
                  </a:lnTo>
                  <a:lnTo>
                    <a:pt x="834" y="624"/>
                  </a:lnTo>
                  <a:lnTo>
                    <a:pt x="816" y="658"/>
                  </a:lnTo>
                  <a:lnTo>
                    <a:pt x="796" y="692"/>
                  </a:lnTo>
                  <a:lnTo>
                    <a:pt x="774" y="722"/>
                  </a:lnTo>
                  <a:lnTo>
                    <a:pt x="750" y="750"/>
                  </a:lnTo>
                  <a:lnTo>
                    <a:pt x="722" y="774"/>
                  </a:lnTo>
                  <a:lnTo>
                    <a:pt x="692" y="796"/>
                  </a:lnTo>
                  <a:lnTo>
                    <a:pt x="658" y="816"/>
                  </a:lnTo>
                  <a:lnTo>
                    <a:pt x="624" y="834"/>
                  </a:lnTo>
                  <a:lnTo>
                    <a:pt x="588" y="846"/>
                  </a:lnTo>
                  <a:lnTo>
                    <a:pt x="550" y="856"/>
                  </a:lnTo>
                  <a:lnTo>
                    <a:pt x="512" y="862"/>
                  </a:lnTo>
                  <a:lnTo>
                    <a:pt x="472" y="864"/>
                  </a:lnTo>
                  <a:lnTo>
                    <a:pt x="432" y="862"/>
                  </a:lnTo>
                  <a:lnTo>
                    <a:pt x="394" y="856"/>
                  </a:lnTo>
                  <a:lnTo>
                    <a:pt x="356" y="846"/>
                  </a:lnTo>
                  <a:lnTo>
                    <a:pt x="320" y="834"/>
                  </a:lnTo>
                  <a:lnTo>
                    <a:pt x="286" y="816"/>
                  </a:lnTo>
                  <a:lnTo>
                    <a:pt x="252" y="796"/>
                  </a:lnTo>
                  <a:lnTo>
                    <a:pt x="222" y="774"/>
                  </a:lnTo>
                  <a:lnTo>
                    <a:pt x="194" y="750"/>
                  </a:lnTo>
                  <a:lnTo>
                    <a:pt x="170" y="722"/>
                  </a:lnTo>
                  <a:lnTo>
                    <a:pt x="148" y="692"/>
                  </a:lnTo>
                  <a:lnTo>
                    <a:pt x="128" y="658"/>
                  </a:lnTo>
                  <a:lnTo>
                    <a:pt x="110" y="624"/>
                  </a:lnTo>
                  <a:lnTo>
                    <a:pt x="98" y="588"/>
                  </a:lnTo>
                  <a:lnTo>
                    <a:pt x="88" y="550"/>
                  </a:lnTo>
                  <a:lnTo>
                    <a:pt x="82" y="512"/>
                  </a:lnTo>
                  <a:lnTo>
                    <a:pt x="80" y="472"/>
                  </a:lnTo>
                  <a:close/>
                </a:path>
              </a:pathLst>
            </a:custGeom>
            <a:solidFill>
              <a:schemeClr val="tx1">
                <a:lumMod val="75000"/>
                <a:lumOff val="25000"/>
                <a:alpha val="20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90" name="Freeform 6"/>
            <p:cNvSpPr>
              <a:spLocks noEditPoints="1" noChangeArrowheads="1"/>
            </p:cNvSpPr>
            <p:nvPr>
              <p:custDataLst>
                <p:tags r:id="rId17"/>
              </p:custDataLst>
            </p:nvPr>
          </p:nvSpPr>
          <p:spPr bwMode="auto">
            <a:xfrm>
              <a:off x="9096190" y="5637205"/>
              <a:ext cx="3024742" cy="3024742"/>
            </a:xfrm>
            <a:custGeom>
              <a:avLst/>
              <a:gdLst>
                <a:gd name="T0" fmla="*/ 8 w 1232"/>
                <a:gd name="T1" fmla="*/ 710 h 1232"/>
                <a:gd name="T2" fmla="*/ 48 w 1232"/>
                <a:gd name="T3" fmla="*/ 856 h 1232"/>
                <a:gd name="T4" fmla="*/ 122 w 1232"/>
                <a:gd name="T5" fmla="*/ 984 h 1232"/>
                <a:gd name="T6" fmla="*/ 224 w 1232"/>
                <a:gd name="T7" fmla="*/ 1092 h 1232"/>
                <a:gd name="T8" fmla="*/ 350 w 1232"/>
                <a:gd name="T9" fmla="*/ 1172 h 1232"/>
                <a:gd name="T10" fmla="*/ 492 w 1232"/>
                <a:gd name="T11" fmla="*/ 1220 h 1232"/>
                <a:gd name="T12" fmla="*/ 648 w 1232"/>
                <a:gd name="T13" fmla="*/ 1232 h 1232"/>
                <a:gd name="T14" fmla="*/ 798 w 1232"/>
                <a:gd name="T15" fmla="*/ 1204 h 1232"/>
                <a:gd name="T16" fmla="*/ 936 w 1232"/>
                <a:gd name="T17" fmla="*/ 1142 h 1232"/>
                <a:gd name="T18" fmla="*/ 1052 w 1232"/>
                <a:gd name="T19" fmla="*/ 1052 h 1232"/>
                <a:gd name="T20" fmla="*/ 1142 w 1232"/>
                <a:gd name="T21" fmla="*/ 936 h 1232"/>
                <a:gd name="T22" fmla="*/ 1204 w 1232"/>
                <a:gd name="T23" fmla="*/ 798 h 1232"/>
                <a:gd name="T24" fmla="*/ 1232 w 1232"/>
                <a:gd name="T25" fmla="*/ 648 h 1232"/>
                <a:gd name="T26" fmla="*/ 1220 w 1232"/>
                <a:gd name="T27" fmla="*/ 492 h 1232"/>
                <a:gd name="T28" fmla="*/ 1172 w 1232"/>
                <a:gd name="T29" fmla="*/ 350 h 1232"/>
                <a:gd name="T30" fmla="*/ 1092 w 1232"/>
                <a:gd name="T31" fmla="*/ 224 h 1232"/>
                <a:gd name="T32" fmla="*/ 984 w 1232"/>
                <a:gd name="T33" fmla="*/ 122 h 1232"/>
                <a:gd name="T34" fmla="*/ 856 w 1232"/>
                <a:gd name="T35" fmla="*/ 48 h 1232"/>
                <a:gd name="T36" fmla="*/ 710 w 1232"/>
                <a:gd name="T37" fmla="*/ 8 h 1232"/>
                <a:gd name="T38" fmla="*/ 554 w 1232"/>
                <a:gd name="T39" fmla="*/ 4 h 1232"/>
                <a:gd name="T40" fmla="*/ 404 w 1232"/>
                <a:gd name="T41" fmla="*/ 38 h 1232"/>
                <a:gd name="T42" fmla="*/ 272 w 1232"/>
                <a:gd name="T43" fmla="*/ 106 h 1232"/>
                <a:gd name="T44" fmla="*/ 160 w 1232"/>
                <a:gd name="T45" fmla="*/ 202 h 1232"/>
                <a:gd name="T46" fmla="*/ 74 w 1232"/>
                <a:gd name="T47" fmla="*/ 322 h 1232"/>
                <a:gd name="T48" fmla="*/ 20 w 1232"/>
                <a:gd name="T49" fmla="*/ 462 h 1232"/>
                <a:gd name="T50" fmla="*/ 0 w 1232"/>
                <a:gd name="T51" fmla="*/ 616 h 1232"/>
                <a:gd name="T52" fmla="*/ 86 w 1232"/>
                <a:gd name="T53" fmla="*/ 534 h 1232"/>
                <a:gd name="T54" fmla="*/ 122 w 1232"/>
                <a:gd name="T55" fmla="*/ 408 h 1232"/>
                <a:gd name="T56" fmla="*/ 186 w 1232"/>
                <a:gd name="T57" fmla="*/ 296 h 1232"/>
                <a:gd name="T58" fmla="*/ 276 w 1232"/>
                <a:gd name="T59" fmla="*/ 202 h 1232"/>
                <a:gd name="T60" fmla="*/ 384 w 1232"/>
                <a:gd name="T61" fmla="*/ 132 h 1232"/>
                <a:gd name="T62" fmla="*/ 508 w 1232"/>
                <a:gd name="T63" fmla="*/ 90 h 1232"/>
                <a:gd name="T64" fmla="*/ 644 w 1232"/>
                <a:gd name="T65" fmla="*/ 80 h 1232"/>
                <a:gd name="T66" fmla="*/ 776 w 1232"/>
                <a:gd name="T67" fmla="*/ 104 h 1232"/>
                <a:gd name="T68" fmla="*/ 894 w 1232"/>
                <a:gd name="T69" fmla="*/ 158 h 1232"/>
                <a:gd name="T70" fmla="*/ 994 w 1232"/>
                <a:gd name="T71" fmla="*/ 238 h 1232"/>
                <a:gd name="T72" fmla="*/ 1074 w 1232"/>
                <a:gd name="T73" fmla="*/ 338 h 1232"/>
                <a:gd name="T74" fmla="*/ 1128 w 1232"/>
                <a:gd name="T75" fmla="*/ 456 h 1232"/>
                <a:gd name="T76" fmla="*/ 1152 w 1232"/>
                <a:gd name="T77" fmla="*/ 588 h 1232"/>
                <a:gd name="T78" fmla="*/ 1142 w 1232"/>
                <a:gd name="T79" fmla="*/ 724 h 1232"/>
                <a:gd name="T80" fmla="*/ 1100 w 1232"/>
                <a:gd name="T81" fmla="*/ 848 h 1232"/>
                <a:gd name="T82" fmla="*/ 1030 w 1232"/>
                <a:gd name="T83" fmla="*/ 956 h 1232"/>
                <a:gd name="T84" fmla="*/ 936 w 1232"/>
                <a:gd name="T85" fmla="*/ 1046 h 1232"/>
                <a:gd name="T86" fmla="*/ 824 w 1232"/>
                <a:gd name="T87" fmla="*/ 1110 h 1232"/>
                <a:gd name="T88" fmla="*/ 698 w 1232"/>
                <a:gd name="T89" fmla="*/ 1146 h 1232"/>
                <a:gd name="T90" fmla="*/ 562 w 1232"/>
                <a:gd name="T91" fmla="*/ 1150 h 1232"/>
                <a:gd name="T92" fmla="*/ 432 w 1232"/>
                <a:gd name="T93" fmla="*/ 1120 h 1232"/>
                <a:gd name="T94" fmla="*/ 316 w 1232"/>
                <a:gd name="T95" fmla="*/ 1060 h 1232"/>
                <a:gd name="T96" fmla="*/ 220 w 1232"/>
                <a:gd name="T97" fmla="*/ 976 h 1232"/>
                <a:gd name="T98" fmla="*/ 144 w 1232"/>
                <a:gd name="T99" fmla="*/ 872 h 1232"/>
                <a:gd name="T100" fmla="*/ 96 w 1232"/>
                <a:gd name="T101" fmla="*/ 750 h 1232"/>
                <a:gd name="T102" fmla="*/ 80 w 1232"/>
                <a:gd name="T103" fmla="*/ 616 h 12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32"/>
                <a:gd name="T157" fmla="*/ 0 h 1232"/>
                <a:gd name="T158" fmla="*/ 1232 w 1232"/>
                <a:gd name="T159" fmla="*/ 1232 h 12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32" h="1232">
                  <a:moveTo>
                    <a:pt x="0" y="616"/>
                  </a:moveTo>
                  <a:lnTo>
                    <a:pt x="0" y="616"/>
                  </a:lnTo>
                  <a:lnTo>
                    <a:pt x="0" y="648"/>
                  </a:lnTo>
                  <a:lnTo>
                    <a:pt x="4" y="678"/>
                  </a:lnTo>
                  <a:lnTo>
                    <a:pt x="8" y="710"/>
                  </a:lnTo>
                  <a:lnTo>
                    <a:pt x="12" y="740"/>
                  </a:lnTo>
                  <a:lnTo>
                    <a:pt x="20" y="770"/>
                  </a:lnTo>
                  <a:lnTo>
                    <a:pt x="28" y="798"/>
                  </a:lnTo>
                  <a:lnTo>
                    <a:pt x="38" y="828"/>
                  </a:lnTo>
                  <a:lnTo>
                    <a:pt x="48" y="856"/>
                  </a:lnTo>
                  <a:lnTo>
                    <a:pt x="60" y="882"/>
                  </a:lnTo>
                  <a:lnTo>
                    <a:pt x="74" y="910"/>
                  </a:lnTo>
                  <a:lnTo>
                    <a:pt x="90" y="936"/>
                  </a:lnTo>
                  <a:lnTo>
                    <a:pt x="106" y="960"/>
                  </a:lnTo>
                  <a:lnTo>
                    <a:pt x="122" y="984"/>
                  </a:lnTo>
                  <a:lnTo>
                    <a:pt x="140" y="1008"/>
                  </a:lnTo>
                  <a:lnTo>
                    <a:pt x="160" y="1030"/>
                  </a:lnTo>
                  <a:lnTo>
                    <a:pt x="180" y="1052"/>
                  </a:lnTo>
                  <a:lnTo>
                    <a:pt x="202" y="1072"/>
                  </a:lnTo>
                  <a:lnTo>
                    <a:pt x="224" y="1092"/>
                  </a:lnTo>
                  <a:lnTo>
                    <a:pt x="248" y="1110"/>
                  </a:lnTo>
                  <a:lnTo>
                    <a:pt x="272" y="1126"/>
                  </a:lnTo>
                  <a:lnTo>
                    <a:pt x="296" y="1142"/>
                  </a:lnTo>
                  <a:lnTo>
                    <a:pt x="322" y="1158"/>
                  </a:lnTo>
                  <a:lnTo>
                    <a:pt x="350" y="1172"/>
                  </a:lnTo>
                  <a:lnTo>
                    <a:pt x="376" y="1184"/>
                  </a:lnTo>
                  <a:lnTo>
                    <a:pt x="404" y="1194"/>
                  </a:lnTo>
                  <a:lnTo>
                    <a:pt x="434" y="1204"/>
                  </a:lnTo>
                  <a:lnTo>
                    <a:pt x="462" y="1212"/>
                  </a:lnTo>
                  <a:lnTo>
                    <a:pt x="492" y="1220"/>
                  </a:lnTo>
                  <a:lnTo>
                    <a:pt x="522" y="1224"/>
                  </a:lnTo>
                  <a:lnTo>
                    <a:pt x="554" y="1228"/>
                  </a:lnTo>
                  <a:lnTo>
                    <a:pt x="584" y="1232"/>
                  </a:lnTo>
                  <a:lnTo>
                    <a:pt x="616" y="1232"/>
                  </a:lnTo>
                  <a:lnTo>
                    <a:pt x="648" y="1232"/>
                  </a:lnTo>
                  <a:lnTo>
                    <a:pt x="678" y="1228"/>
                  </a:lnTo>
                  <a:lnTo>
                    <a:pt x="710" y="1224"/>
                  </a:lnTo>
                  <a:lnTo>
                    <a:pt x="740" y="1220"/>
                  </a:lnTo>
                  <a:lnTo>
                    <a:pt x="770" y="1212"/>
                  </a:lnTo>
                  <a:lnTo>
                    <a:pt x="798" y="1204"/>
                  </a:lnTo>
                  <a:lnTo>
                    <a:pt x="828" y="1194"/>
                  </a:lnTo>
                  <a:lnTo>
                    <a:pt x="856" y="1184"/>
                  </a:lnTo>
                  <a:lnTo>
                    <a:pt x="882" y="1172"/>
                  </a:lnTo>
                  <a:lnTo>
                    <a:pt x="910" y="1158"/>
                  </a:lnTo>
                  <a:lnTo>
                    <a:pt x="936" y="1142"/>
                  </a:lnTo>
                  <a:lnTo>
                    <a:pt x="960" y="1126"/>
                  </a:lnTo>
                  <a:lnTo>
                    <a:pt x="984" y="1110"/>
                  </a:lnTo>
                  <a:lnTo>
                    <a:pt x="1008" y="1092"/>
                  </a:lnTo>
                  <a:lnTo>
                    <a:pt x="1030" y="1072"/>
                  </a:lnTo>
                  <a:lnTo>
                    <a:pt x="1052" y="1052"/>
                  </a:lnTo>
                  <a:lnTo>
                    <a:pt x="1072" y="1030"/>
                  </a:lnTo>
                  <a:lnTo>
                    <a:pt x="1092" y="1008"/>
                  </a:lnTo>
                  <a:lnTo>
                    <a:pt x="1110" y="984"/>
                  </a:lnTo>
                  <a:lnTo>
                    <a:pt x="1126" y="960"/>
                  </a:lnTo>
                  <a:lnTo>
                    <a:pt x="1142" y="936"/>
                  </a:lnTo>
                  <a:lnTo>
                    <a:pt x="1158" y="910"/>
                  </a:lnTo>
                  <a:lnTo>
                    <a:pt x="1172" y="882"/>
                  </a:lnTo>
                  <a:lnTo>
                    <a:pt x="1184" y="856"/>
                  </a:lnTo>
                  <a:lnTo>
                    <a:pt x="1194" y="828"/>
                  </a:lnTo>
                  <a:lnTo>
                    <a:pt x="1204" y="798"/>
                  </a:lnTo>
                  <a:lnTo>
                    <a:pt x="1212" y="770"/>
                  </a:lnTo>
                  <a:lnTo>
                    <a:pt x="1220" y="740"/>
                  </a:lnTo>
                  <a:lnTo>
                    <a:pt x="1224" y="710"/>
                  </a:lnTo>
                  <a:lnTo>
                    <a:pt x="1228" y="678"/>
                  </a:lnTo>
                  <a:lnTo>
                    <a:pt x="1232" y="648"/>
                  </a:lnTo>
                  <a:lnTo>
                    <a:pt x="1232" y="616"/>
                  </a:lnTo>
                  <a:lnTo>
                    <a:pt x="1232" y="584"/>
                  </a:lnTo>
                  <a:lnTo>
                    <a:pt x="1228" y="554"/>
                  </a:lnTo>
                  <a:lnTo>
                    <a:pt x="1224" y="522"/>
                  </a:lnTo>
                  <a:lnTo>
                    <a:pt x="1220" y="492"/>
                  </a:lnTo>
                  <a:lnTo>
                    <a:pt x="1212" y="462"/>
                  </a:lnTo>
                  <a:lnTo>
                    <a:pt x="1204" y="434"/>
                  </a:lnTo>
                  <a:lnTo>
                    <a:pt x="1194" y="404"/>
                  </a:lnTo>
                  <a:lnTo>
                    <a:pt x="1184" y="376"/>
                  </a:lnTo>
                  <a:lnTo>
                    <a:pt x="1172" y="350"/>
                  </a:lnTo>
                  <a:lnTo>
                    <a:pt x="1158" y="322"/>
                  </a:lnTo>
                  <a:lnTo>
                    <a:pt x="1142" y="296"/>
                  </a:lnTo>
                  <a:lnTo>
                    <a:pt x="1126" y="272"/>
                  </a:lnTo>
                  <a:lnTo>
                    <a:pt x="1110" y="248"/>
                  </a:lnTo>
                  <a:lnTo>
                    <a:pt x="1092" y="224"/>
                  </a:lnTo>
                  <a:lnTo>
                    <a:pt x="1072" y="202"/>
                  </a:lnTo>
                  <a:lnTo>
                    <a:pt x="1052" y="180"/>
                  </a:lnTo>
                  <a:lnTo>
                    <a:pt x="1030" y="160"/>
                  </a:lnTo>
                  <a:lnTo>
                    <a:pt x="1008" y="140"/>
                  </a:lnTo>
                  <a:lnTo>
                    <a:pt x="984" y="122"/>
                  </a:lnTo>
                  <a:lnTo>
                    <a:pt x="960" y="106"/>
                  </a:lnTo>
                  <a:lnTo>
                    <a:pt x="936" y="90"/>
                  </a:lnTo>
                  <a:lnTo>
                    <a:pt x="910" y="74"/>
                  </a:lnTo>
                  <a:lnTo>
                    <a:pt x="882" y="60"/>
                  </a:lnTo>
                  <a:lnTo>
                    <a:pt x="856" y="48"/>
                  </a:lnTo>
                  <a:lnTo>
                    <a:pt x="828" y="38"/>
                  </a:lnTo>
                  <a:lnTo>
                    <a:pt x="798" y="28"/>
                  </a:lnTo>
                  <a:lnTo>
                    <a:pt x="770" y="20"/>
                  </a:lnTo>
                  <a:lnTo>
                    <a:pt x="740" y="12"/>
                  </a:lnTo>
                  <a:lnTo>
                    <a:pt x="710" y="8"/>
                  </a:lnTo>
                  <a:lnTo>
                    <a:pt x="678" y="4"/>
                  </a:lnTo>
                  <a:lnTo>
                    <a:pt x="648" y="0"/>
                  </a:lnTo>
                  <a:lnTo>
                    <a:pt x="616" y="0"/>
                  </a:lnTo>
                  <a:lnTo>
                    <a:pt x="584" y="0"/>
                  </a:lnTo>
                  <a:lnTo>
                    <a:pt x="554" y="4"/>
                  </a:lnTo>
                  <a:lnTo>
                    <a:pt x="522" y="8"/>
                  </a:lnTo>
                  <a:lnTo>
                    <a:pt x="492" y="12"/>
                  </a:lnTo>
                  <a:lnTo>
                    <a:pt x="462" y="20"/>
                  </a:lnTo>
                  <a:lnTo>
                    <a:pt x="434" y="28"/>
                  </a:lnTo>
                  <a:lnTo>
                    <a:pt x="404" y="38"/>
                  </a:lnTo>
                  <a:lnTo>
                    <a:pt x="376" y="48"/>
                  </a:lnTo>
                  <a:lnTo>
                    <a:pt x="350" y="60"/>
                  </a:lnTo>
                  <a:lnTo>
                    <a:pt x="322" y="74"/>
                  </a:lnTo>
                  <a:lnTo>
                    <a:pt x="296" y="90"/>
                  </a:lnTo>
                  <a:lnTo>
                    <a:pt x="272" y="106"/>
                  </a:lnTo>
                  <a:lnTo>
                    <a:pt x="248" y="122"/>
                  </a:lnTo>
                  <a:lnTo>
                    <a:pt x="224" y="140"/>
                  </a:lnTo>
                  <a:lnTo>
                    <a:pt x="202" y="160"/>
                  </a:lnTo>
                  <a:lnTo>
                    <a:pt x="180" y="180"/>
                  </a:lnTo>
                  <a:lnTo>
                    <a:pt x="160" y="202"/>
                  </a:lnTo>
                  <a:lnTo>
                    <a:pt x="140" y="224"/>
                  </a:lnTo>
                  <a:lnTo>
                    <a:pt x="122" y="248"/>
                  </a:lnTo>
                  <a:lnTo>
                    <a:pt x="106" y="272"/>
                  </a:lnTo>
                  <a:lnTo>
                    <a:pt x="90" y="296"/>
                  </a:lnTo>
                  <a:lnTo>
                    <a:pt x="74" y="322"/>
                  </a:lnTo>
                  <a:lnTo>
                    <a:pt x="60" y="350"/>
                  </a:lnTo>
                  <a:lnTo>
                    <a:pt x="48" y="376"/>
                  </a:lnTo>
                  <a:lnTo>
                    <a:pt x="38" y="404"/>
                  </a:lnTo>
                  <a:lnTo>
                    <a:pt x="28" y="434"/>
                  </a:lnTo>
                  <a:lnTo>
                    <a:pt x="20" y="462"/>
                  </a:lnTo>
                  <a:lnTo>
                    <a:pt x="12" y="492"/>
                  </a:lnTo>
                  <a:lnTo>
                    <a:pt x="8" y="522"/>
                  </a:lnTo>
                  <a:lnTo>
                    <a:pt x="4" y="554"/>
                  </a:lnTo>
                  <a:lnTo>
                    <a:pt x="0" y="584"/>
                  </a:lnTo>
                  <a:lnTo>
                    <a:pt x="0" y="616"/>
                  </a:lnTo>
                  <a:close/>
                  <a:moveTo>
                    <a:pt x="80" y="616"/>
                  </a:moveTo>
                  <a:lnTo>
                    <a:pt x="80" y="616"/>
                  </a:lnTo>
                  <a:lnTo>
                    <a:pt x="80" y="588"/>
                  </a:lnTo>
                  <a:lnTo>
                    <a:pt x="82" y="562"/>
                  </a:lnTo>
                  <a:lnTo>
                    <a:pt x="86" y="534"/>
                  </a:lnTo>
                  <a:lnTo>
                    <a:pt x="90" y="508"/>
                  </a:lnTo>
                  <a:lnTo>
                    <a:pt x="96" y="482"/>
                  </a:lnTo>
                  <a:lnTo>
                    <a:pt x="104" y="456"/>
                  </a:lnTo>
                  <a:lnTo>
                    <a:pt x="112" y="432"/>
                  </a:lnTo>
                  <a:lnTo>
                    <a:pt x="122" y="408"/>
                  </a:lnTo>
                  <a:lnTo>
                    <a:pt x="132" y="384"/>
                  </a:lnTo>
                  <a:lnTo>
                    <a:pt x="144" y="360"/>
                  </a:lnTo>
                  <a:lnTo>
                    <a:pt x="158" y="338"/>
                  </a:lnTo>
                  <a:lnTo>
                    <a:pt x="172" y="316"/>
                  </a:lnTo>
                  <a:lnTo>
                    <a:pt x="186" y="296"/>
                  </a:lnTo>
                  <a:lnTo>
                    <a:pt x="202" y="276"/>
                  </a:lnTo>
                  <a:lnTo>
                    <a:pt x="220" y="256"/>
                  </a:lnTo>
                  <a:lnTo>
                    <a:pt x="238" y="238"/>
                  </a:lnTo>
                  <a:lnTo>
                    <a:pt x="256" y="220"/>
                  </a:lnTo>
                  <a:lnTo>
                    <a:pt x="276" y="202"/>
                  </a:lnTo>
                  <a:lnTo>
                    <a:pt x="296" y="186"/>
                  </a:lnTo>
                  <a:lnTo>
                    <a:pt x="316" y="172"/>
                  </a:lnTo>
                  <a:lnTo>
                    <a:pt x="338" y="158"/>
                  </a:lnTo>
                  <a:lnTo>
                    <a:pt x="360" y="144"/>
                  </a:lnTo>
                  <a:lnTo>
                    <a:pt x="384" y="132"/>
                  </a:lnTo>
                  <a:lnTo>
                    <a:pt x="408" y="122"/>
                  </a:lnTo>
                  <a:lnTo>
                    <a:pt x="432" y="112"/>
                  </a:lnTo>
                  <a:lnTo>
                    <a:pt x="456" y="104"/>
                  </a:lnTo>
                  <a:lnTo>
                    <a:pt x="482" y="96"/>
                  </a:lnTo>
                  <a:lnTo>
                    <a:pt x="508" y="90"/>
                  </a:lnTo>
                  <a:lnTo>
                    <a:pt x="534" y="86"/>
                  </a:lnTo>
                  <a:lnTo>
                    <a:pt x="562" y="82"/>
                  </a:lnTo>
                  <a:lnTo>
                    <a:pt x="588" y="80"/>
                  </a:lnTo>
                  <a:lnTo>
                    <a:pt x="616" y="80"/>
                  </a:lnTo>
                  <a:lnTo>
                    <a:pt x="644" y="80"/>
                  </a:lnTo>
                  <a:lnTo>
                    <a:pt x="670" y="82"/>
                  </a:lnTo>
                  <a:lnTo>
                    <a:pt x="698" y="86"/>
                  </a:lnTo>
                  <a:lnTo>
                    <a:pt x="724" y="90"/>
                  </a:lnTo>
                  <a:lnTo>
                    <a:pt x="750" y="96"/>
                  </a:lnTo>
                  <a:lnTo>
                    <a:pt x="776" y="104"/>
                  </a:lnTo>
                  <a:lnTo>
                    <a:pt x="800" y="112"/>
                  </a:lnTo>
                  <a:lnTo>
                    <a:pt x="824" y="122"/>
                  </a:lnTo>
                  <a:lnTo>
                    <a:pt x="848" y="132"/>
                  </a:lnTo>
                  <a:lnTo>
                    <a:pt x="872" y="144"/>
                  </a:lnTo>
                  <a:lnTo>
                    <a:pt x="894" y="158"/>
                  </a:lnTo>
                  <a:lnTo>
                    <a:pt x="916" y="172"/>
                  </a:lnTo>
                  <a:lnTo>
                    <a:pt x="936" y="186"/>
                  </a:lnTo>
                  <a:lnTo>
                    <a:pt x="956" y="202"/>
                  </a:lnTo>
                  <a:lnTo>
                    <a:pt x="976" y="220"/>
                  </a:lnTo>
                  <a:lnTo>
                    <a:pt x="994" y="238"/>
                  </a:lnTo>
                  <a:lnTo>
                    <a:pt x="1012" y="256"/>
                  </a:lnTo>
                  <a:lnTo>
                    <a:pt x="1030" y="276"/>
                  </a:lnTo>
                  <a:lnTo>
                    <a:pt x="1046" y="296"/>
                  </a:lnTo>
                  <a:lnTo>
                    <a:pt x="1060" y="316"/>
                  </a:lnTo>
                  <a:lnTo>
                    <a:pt x="1074" y="338"/>
                  </a:lnTo>
                  <a:lnTo>
                    <a:pt x="1088" y="360"/>
                  </a:lnTo>
                  <a:lnTo>
                    <a:pt x="1100" y="384"/>
                  </a:lnTo>
                  <a:lnTo>
                    <a:pt x="1110" y="408"/>
                  </a:lnTo>
                  <a:lnTo>
                    <a:pt x="1120" y="432"/>
                  </a:lnTo>
                  <a:lnTo>
                    <a:pt x="1128" y="456"/>
                  </a:lnTo>
                  <a:lnTo>
                    <a:pt x="1136" y="482"/>
                  </a:lnTo>
                  <a:lnTo>
                    <a:pt x="1142" y="508"/>
                  </a:lnTo>
                  <a:lnTo>
                    <a:pt x="1146" y="534"/>
                  </a:lnTo>
                  <a:lnTo>
                    <a:pt x="1150" y="562"/>
                  </a:lnTo>
                  <a:lnTo>
                    <a:pt x="1152" y="588"/>
                  </a:lnTo>
                  <a:lnTo>
                    <a:pt x="1152" y="616"/>
                  </a:lnTo>
                  <a:lnTo>
                    <a:pt x="1152" y="644"/>
                  </a:lnTo>
                  <a:lnTo>
                    <a:pt x="1150" y="670"/>
                  </a:lnTo>
                  <a:lnTo>
                    <a:pt x="1146" y="698"/>
                  </a:lnTo>
                  <a:lnTo>
                    <a:pt x="1142" y="724"/>
                  </a:lnTo>
                  <a:lnTo>
                    <a:pt x="1136" y="750"/>
                  </a:lnTo>
                  <a:lnTo>
                    <a:pt x="1128" y="776"/>
                  </a:lnTo>
                  <a:lnTo>
                    <a:pt x="1120" y="800"/>
                  </a:lnTo>
                  <a:lnTo>
                    <a:pt x="1110" y="824"/>
                  </a:lnTo>
                  <a:lnTo>
                    <a:pt x="1100" y="848"/>
                  </a:lnTo>
                  <a:lnTo>
                    <a:pt x="1088" y="872"/>
                  </a:lnTo>
                  <a:lnTo>
                    <a:pt x="1074" y="894"/>
                  </a:lnTo>
                  <a:lnTo>
                    <a:pt x="1060" y="916"/>
                  </a:lnTo>
                  <a:lnTo>
                    <a:pt x="1046" y="936"/>
                  </a:lnTo>
                  <a:lnTo>
                    <a:pt x="1030" y="956"/>
                  </a:lnTo>
                  <a:lnTo>
                    <a:pt x="1012" y="976"/>
                  </a:lnTo>
                  <a:lnTo>
                    <a:pt x="994" y="994"/>
                  </a:lnTo>
                  <a:lnTo>
                    <a:pt x="976" y="1012"/>
                  </a:lnTo>
                  <a:lnTo>
                    <a:pt x="956" y="1030"/>
                  </a:lnTo>
                  <a:lnTo>
                    <a:pt x="936" y="1046"/>
                  </a:lnTo>
                  <a:lnTo>
                    <a:pt x="916" y="1060"/>
                  </a:lnTo>
                  <a:lnTo>
                    <a:pt x="894" y="1074"/>
                  </a:lnTo>
                  <a:lnTo>
                    <a:pt x="872" y="1088"/>
                  </a:lnTo>
                  <a:lnTo>
                    <a:pt x="848" y="1100"/>
                  </a:lnTo>
                  <a:lnTo>
                    <a:pt x="824" y="1110"/>
                  </a:lnTo>
                  <a:lnTo>
                    <a:pt x="800" y="1120"/>
                  </a:lnTo>
                  <a:lnTo>
                    <a:pt x="776" y="1128"/>
                  </a:lnTo>
                  <a:lnTo>
                    <a:pt x="750" y="1136"/>
                  </a:lnTo>
                  <a:lnTo>
                    <a:pt x="724" y="1142"/>
                  </a:lnTo>
                  <a:lnTo>
                    <a:pt x="698" y="1146"/>
                  </a:lnTo>
                  <a:lnTo>
                    <a:pt x="670" y="1150"/>
                  </a:lnTo>
                  <a:lnTo>
                    <a:pt x="644" y="1152"/>
                  </a:lnTo>
                  <a:lnTo>
                    <a:pt x="616" y="1152"/>
                  </a:lnTo>
                  <a:lnTo>
                    <a:pt x="588" y="1152"/>
                  </a:lnTo>
                  <a:lnTo>
                    <a:pt x="562" y="1150"/>
                  </a:lnTo>
                  <a:lnTo>
                    <a:pt x="534" y="1146"/>
                  </a:lnTo>
                  <a:lnTo>
                    <a:pt x="508" y="1142"/>
                  </a:lnTo>
                  <a:lnTo>
                    <a:pt x="482" y="1136"/>
                  </a:lnTo>
                  <a:lnTo>
                    <a:pt x="456" y="1128"/>
                  </a:lnTo>
                  <a:lnTo>
                    <a:pt x="432" y="1120"/>
                  </a:lnTo>
                  <a:lnTo>
                    <a:pt x="408" y="1110"/>
                  </a:lnTo>
                  <a:lnTo>
                    <a:pt x="384" y="1100"/>
                  </a:lnTo>
                  <a:lnTo>
                    <a:pt x="360" y="1088"/>
                  </a:lnTo>
                  <a:lnTo>
                    <a:pt x="338" y="1074"/>
                  </a:lnTo>
                  <a:lnTo>
                    <a:pt x="316" y="1060"/>
                  </a:lnTo>
                  <a:lnTo>
                    <a:pt x="296" y="1046"/>
                  </a:lnTo>
                  <a:lnTo>
                    <a:pt x="276" y="1030"/>
                  </a:lnTo>
                  <a:lnTo>
                    <a:pt x="256" y="1012"/>
                  </a:lnTo>
                  <a:lnTo>
                    <a:pt x="238" y="994"/>
                  </a:lnTo>
                  <a:lnTo>
                    <a:pt x="220" y="976"/>
                  </a:lnTo>
                  <a:lnTo>
                    <a:pt x="202" y="956"/>
                  </a:lnTo>
                  <a:lnTo>
                    <a:pt x="186" y="936"/>
                  </a:lnTo>
                  <a:lnTo>
                    <a:pt x="172" y="916"/>
                  </a:lnTo>
                  <a:lnTo>
                    <a:pt x="158" y="894"/>
                  </a:lnTo>
                  <a:lnTo>
                    <a:pt x="144" y="872"/>
                  </a:lnTo>
                  <a:lnTo>
                    <a:pt x="132" y="848"/>
                  </a:lnTo>
                  <a:lnTo>
                    <a:pt x="122" y="824"/>
                  </a:lnTo>
                  <a:lnTo>
                    <a:pt x="112" y="800"/>
                  </a:lnTo>
                  <a:lnTo>
                    <a:pt x="104" y="776"/>
                  </a:lnTo>
                  <a:lnTo>
                    <a:pt x="96" y="750"/>
                  </a:lnTo>
                  <a:lnTo>
                    <a:pt x="90" y="724"/>
                  </a:lnTo>
                  <a:lnTo>
                    <a:pt x="86" y="698"/>
                  </a:lnTo>
                  <a:lnTo>
                    <a:pt x="82" y="670"/>
                  </a:lnTo>
                  <a:lnTo>
                    <a:pt x="80" y="644"/>
                  </a:lnTo>
                  <a:lnTo>
                    <a:pt x="80" y="616"/>
                  </a:lnTo>
                  <a:close/>
                </a:path>
              </a:pathLst>
            </a:custGeom>
            <a:solidFill>
              <a:schemeClr val="tx1">
                <a:lumMod val="75000"/>
                <a:lumOff val="25000"/>
                <a:alpha val="9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dirty="0">
                <a:solidFill>
                  <a:srgbClr val="000000"/>
                </a:solidFill>
                <a:latin typeface="HYXuanSong 75J" panose="00020600040101010101" charset="-122"/>
                <a:ea typeface="HYXuanSong 75J" panose="00020600040101010101" charset="-122"/>
                <a:sym typeface="宋体" panose="02010600030101010101" pitchFamily="2" charset="-122"/>
              </a:endParaRPr>
            </a:p>
          </p:txBody>
        </p:sp>
      </p:grpSp>
      <p:pic>
        <p:nvPicPr>
          <p:cNvPr id="2097176" name="图片 33" descr="C:/Users/hugq/Desktop/图片2.png图片2"/>
          <p:cNvPicPr>
            <a:picLocks noChangeAspect="1"/>
          </p:cNvPicPr>
          <p:nvPr>
            <p:custDataLst>
              <p:tags r:id="rId13"/>
            </p:custDataLst>
          </p:nvPr>
        </p:nvPicPr>
        <p:blipFill>
          <a:blip r:embed="rId33"/>
          <a:srcRect l="4730" r="4730"/>
          <a:stretch>
            <a:fillRect/>
          </a:stretch>
        </p:blipFill>
        <p:spPr>
          <a:xfrm>
            <a:off x="5074878" y="2549531"/>
            <a:ext cx="2092677" cy="2147525"/>
          </a:xfrm>
          <a:prstGeom prst="rect">
            <a:avLst/>
          </a:prstGeom>
          <a:effectLst>
            <a:outerShdw blurRad="50800" dist="127000" dir="21540000" sx="98000" sy="98000" algn="ctr" rotWithShape="0">
              <a:schemeClr val="tx2">
                <a:lumMod val="75000"/>
                <a:alpha val="10000"/>
              </a:scheme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065" y="381000"/>
            <a:ext cx="566610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Encoding Strategy &amp; Dataset Split</a:t>
            </a:r>
          </a:p>
        </p:txBody>
      </p:sp>
      <p:pic>
        <p:nvPicPr>
          <p:cNvPr id="19" name="Picture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46490" y="220980"/>
            <a:ext cx="3689985" cy="1301750"/>
          </a:xfrm>
          <a:prstGeom prst="rect">
            <a:avLst/>
          </a:prstGeom>
        </p:spPr>
      </p:pic>
      <p:sp>
        <p:nvSpPr>
          <p:cNvPr id="1048670" name="矩形 55"/>
          <p:cNvSpPr/>
          <p:nvPr/>
        </p:nvSpPr>
        <p:spPr>
          <a:xfrm>
            <a:off x="8507186" y="1409936"/>
            <a:ext cx="3539699" cy="1645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45"/>
          </a:p>
        </p:txBody>
      </p:sp>
      <p:sp>
        <p:nvSpPr>
          <p:cNvPr id="1048645" name="文本框 20"/>
          <p:cNvSpPr txBox="1"/>
          <p:nvPr/>
        </p:nvSpPr>
        <p:spPr>
          <a:xfrm>
            <a:off x="7730490" y="3693160"/>
            <a:ext cx="2785110" cy="390525"/>
          </a:xfrm>
          <a:prstGeom prst="rect">
            <a:avLst/>
          </a:prstGeom>
          <a:noFill/>
        </p:spPr>
        <p:txBody>
          <a:bodyPr wrap="square" rtlCol="0">
            <a:spAutoFit/>
          </a:bodyPr>
          <a:lstStyle/>
          <a:p>
            <a:pPr algn="ctr"/>
            <a:r>
              <a:rPr lang="zh-CN" altLang="en-US" sz="1940" b="1" dirty="0">
                <a:solidFill>
                  <a:schemeClr val="bg2"/>
                </a:solidFill>
                <a:latin typeface="HYXuanSong 75J" panose="00020600040101010101" charset="-122"/>
                <a:ea typeface="HYXuanSong 75J" panose="00020600040101010101" charset="-122"/>
              </a:rPr>
              <a:t>单击此处添加图表标题</a:t>
            </a:r>
          </a:p>
        </p:txBody>
      </p:sp>
      <p:cxnSp>
        <p:nvCxnSpPr>
          <p:cNvPr id="3145737" name="直接连接符 26"/>
          <p:cNvCxnSpPr/>
          <p:nvPr/>
        </p:nvCxnSpPr>
        <p:spPr>
          <a:xfrm>
            <a:off x="5349001" y="1160409"/>
            <a:ext cx="0" cy="3024000"/>
          </a:xfrm>
          <a:prstGeom prst="line">
            <a:avLst/>
          </a:prstGeom>
          <a:ln w="317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48648" name="文本框 28"/>
          <p:cNvSpPr txBox="1"/>
          <p:nvPr/>
        </p:nvSpPr>
        <p:spPr>
          <a:xfrm>
            <a:off x="6198235" y="1284605"/>
            <a:ext cx="5715635" cy="2745740"/>
          </a:xfrm>
          <a:prstGeom prst="rect">
            <a:avLst/>
          </a:prstGeom>
          <a:noFill/>
        </p:spPr>
        <p:txBody>
          <a:bodyPr wrap="square" rtlCol="0">
            <a:spAutoFit/>
          </a:bodyPr>
          <a:lstStyle/>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The original Task 3 test set is kept unchanged.</a:t>
            </a:r>
          </a:p>
          <a:p>
            <a:pPr lvl="0">
              <a:lnSpc>
                <a:spcPct val="120000"/>
              </a:lnSpc>
              <a:spcBef>
                <a:spcPct val="0"/>
              </a:spcBef>
            </a:pPr>
            <a:r>
              <a:rPr lang="en-US" altLang="zh-CN" sz="1600" b="1"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Task 4 split:</a:t>
            </a: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 Train: 810 samples</a:t>
            </a: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 Validation: 202 samples</a:t>
            </a: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 Test: 253 samples</a:t>
            </a: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The validation set is split from Task 3 train.csv using </a:t>
            </a:r>
            <a:r>
              <a:rPr lang="en-US" altLang="zh-CN" sz="1600" b="1"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a fixed seed.</a:t>
            </a:r>
            <a:endPar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The split is stratified by category and North America rating.</a:t>
            </a:r>
          </a:p>
        </p:txBody>
      </p:sp>
      <p:grpSp>
        <p:nvGrpSpPr>
          <p:cNvPr id="59" name="Group 4"/>
          <p:cNvGrpSpPr/>
          <p:nvPr/>
        </p:nvGrpSpPr>
        <p:grpSpPr bwMode="auto">
          <a:xfrm>
            <a:off x="5296589" y="1865364"/>
            <a:ext cx="116498" cy="116498"/>
            <a:chOff x="2928" y="2208"/>
            <a:chExt cx="262" cy="262"/>
          </a:xfrm>
        </p:grpSpPr>
        <p:sp>
          <p:nvSpPr>
            <p:cNvPr id="1048649" name="Oval 5"/>
            <p:cNvSpPr>
              <a:spLocks noChangeArrowheads="1"/>
            </p:cNvSpPr>
            <p:nvPr/>
          </p:nvSpPr>
          <p:spPr bwMode="gray">
            <a:xfrm>
              <a:off x="2928" y="2208"/>
              <a:ext cx="262" cy="262"/>
            </a:xfrm>
            <a:prstGeom prst="ellipse">
              <a:avLst/>
            </a:prstGeom>
            <a:gradFill rotWithShape="1">
              <a:gsLst>
                <a:gs pos="0">
                  <a:schemeClr val="accent2">
                    <a:gamma/>
                    <a:tint val="28627"/>
                    <a:invGamma/>
                  </a:schemeClr>
                </a:gs>
                <a:gs pos="100000">
                  <a:schemeClr val="accent2"/>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pPr defTabSz="316230"/>
              <a:endParaRPr lang="zh-CN" altLang="en-US" sz="1245">
                <a:solidFill>
                  <a:srgbClr val="3D3F41"/>
                </a:solidFill>
                <a:latin typeface="Arial" panose="020B0604020202020204"/>
                <a:ea typeface="微软雅黑" panose="020B0503020204020204" pitchFamily="34" charset="-122"/>
              </a:endParaRPr>
            </a:p>
          </p:txBody>
        </p:sp>
        <p:sp>
          <p:nvSpPr>
            <p:cNvPr id="1048650" name="Oval 6"/>
            <p:cNvSpPr>
              <a:spLocks noChangeArrowheads="1"/>
            </p:cNvSpPr>
            <p:nvPr/>
          </p:nvSpPr>
          <p:spPr bwMode="gray">
            <a:xfrm>
              <a:off x="2949" y="2230"/>
              <a:ext cx="218" cy="218"/>
            </a:xfrm>
            <a:prstGeom prst="ellipse">
              <a:avLst/>
            </a:prstGeom>
            <a:solidFill>
              <a:srgbClr val="071F65"/>
            </a:solidFill>
            <a:ln>
              <a:solidFill>
                <a:srgbClr val="071F65"/>
              </a:solidFill>
            </a:ln>
          </p:spPr>
          <p:style>
            <a:lnRef idx="1">
              <a:schemeClr val="accent6"/>
            </a:lnRef>
            <a:fillRef idx="3">
              <a:schemeClr val="accent6"/>
            </a:fillRef>
            <a:effectRef idx="2">
              <a:schemeClr val="accent6"/>
            </a:effectRef>
            <a:fontRef idx="minor">
              <a:schemeClr val="lt1"/>
            </a:fontRef>
          </p:style>
          <p:txBody>
            <a:bodyPr wrap="none" anchor="ctr"/>
            <a:lstStyle/>
            <a:p>
              <a:pPr defTabSz="316230"/>
              <a:endParaRPr lang="zh-CN" altLang="en-US" sz="1245">
                <a:solidFill>
                  <a:srgbClr val="FFFFFF"/>
                </a:solidFill>
                <a:latin typeface="Arial" panose="020B0604020202020204"/>
                <a:ea typeface="微软雅黑" panose="020B0503020204020204" pitchFamily="34" charset="-122"/>
              </a:endParaRPr>
            </a:p>
          </p:txBody>
        </p:sp>
      </p:grpSp>
      <p:grpSp>
        <p:nvGrpSpPr>
          <p:cNvPr id="60" name="Group 4"/>
          <p:cNvGrpSpPr/>
          <p:nvPr/>
        </p:nvGrpSpPr>
        <p:grpSpPr bwMode="auto">
          <a:xfrm>
            <a:off x="5298131" y="3063527"/>
            <a:ext cx="116498" cy="116498"/>
            <a:chOff x="2928" y="2208"/>
            <a:chExt cx="262" cy="262"/>
          </a:xfrm>
        </p:grpSpPr>
        <p:sp>
          <p:nvSpPr>
            <p:cNvPr id="1048651" name="Oval 5"/>
            <p:cNvSpPr>
              <a:spLocks noChangeArrowheads="1"/>
            </p:cNvSpPr>
            <p:nvPr/>
          </p:nvSpPr>
          <p:spPr bwMode="gray">
            <a:xfrm>
              <a:off x="2928" y="2208"/>
              <a:ext cx="262" cy="262"/>
            </a:xfrm>
            <a:prstGeom prst="ellipse">
              <a:avLst/>
            </a:prstGeom>
            <a:gradFill rotWithShape="1">
              <a:gsLst>
                <a:gs pos="0">
                  <a:schemeClr val="accent2">
                    <a:gamma/>
                    <a:tint val="28627"/>
                    <a:invGamma/>
                  </a:schemeClr>
                </a:gs>
                <a:gs pos="100000">
                  <a:schemeClr val="accent2"/>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pPr defTabSz="316230"/>
              <a:endParaRPr lang="zh-CN" altLang="en-US" sz="1245">
                <a:solidFill>
                  <a:srgbClr val="3D3F41"/>
                </a:solidFill>
                <a:latin typeface="Arial" panose="020B0604020202020204"/>
                <a:ea typeface="微软雅黑" panose="020B0503020204020204" pitchFamily="34" charset="-122"/>
              </a:endParaRPr>
            </a:p>
          </p:txBody>
        </p:sp>
        <p:sp>
          <p:nvSpPr>
            <p:cNvPr id="1048652" name="Oval 6"/>
            <p:cNvSpPr>
              <a:spLocks noChangeArrowheads="1"/>
            </p:cNvSpPr>
            <p:nvPr/>
          </p:nvSpPr>
          <p:spPr bwMode="gray">
            <a:xfrm>
              <a:off x="2949" y="2230"/>
              <a:ext cx="218" cy="218"/>
            </a:xfrm>
            <a:prstGeom prst="ellipse">
              <a:avLst/>
            </a:prstGeom>
            <a:solidFill>
              <a:srgbClr val="071F65"/>
            </a:solidFill>
            <a:ln>
              <a:solidFill>
                <a:srgbClr val="071F65"/>
              </a:solidFill>
            </a:ln>
          </p:spPr>
          <p:style>
            <a:lnRef idx="1">
              <a:schemeClr val="accent6"/>
            </a:lnRef>
            <a:fillRef idx="3">
              <a:schemeClr val="accent6"/>
            </a:fillRef>
            <a:effectRef idx="2">
              <a:schemeClr val="accent6"/>
            </a:effectRef>
            <a:fontRef idx="minor">
              <a:schemeClr val="lt1"/>
            </a:fontRef>
          </p:style>
          <p:txBody>
            <a:bodyPr wrap="none" anchor="ctr"/>
            <a:lstStyle/>
            <a:p>
              <a:pPr defTabSz="316230"/>
              <a:endParaRPr lang="zh-CN" altLang="en-US" sz="1245">
                <a:solidFill>
                  <a:srgbClr val="FFFFFF"/>
                </a:solidFill>
                <a:latin typeface="Arial" panose="020B0604020202020204"/>
                <a:ea typeface="微软雅黑" panose="020B0503020204020204" pitchFamily="34" charset="-122"/>
              </a:endParaRPr>
            </a:p>
          </p:txBody>
        </p:sp>
      </p:grpSp>
      <p:cxnSp>
        <p:nvCxnSpPr>
          <p:cNvPr id="3145738" name="直接连接符 38"/>
          <p:cNvCxnSpPr/>
          <p:nvPr/>
        </p:nvCxnSpPr>
        <p:spPr>
          <a:xfrm flipH="1">
            <a:off x="6312352" y="4169745"/>
            <a:ext cx="9117" cy="2481576"/>
          </a:xfrm>
          <a:prstGeom prst="line">
            <a:avLst/>
          </a:prstGeom>
          <a:ln w="317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61" name="Group 4"/>
          <p:cNvGrpSpPr/>
          <p:nvPr/>
        </p:nvGrpSpPr>
        <p:grpSpPr bwMode="auto">
          <a:xfrm>
            <a:off x="6254548" y="4926296"/>
            <a:ext cx="116498" cy="116498"/>
            <a:chOff x="2928" y="2208"/>
            <a:chExt cx="262" cy="262"/>
          </a:xfrm>
        </p:grpSpPr>
        <p:sp>
          <p:nvSpPr>
            <p:cNvPr id="1048654" name="Oval 5"/>
            <p:cNvSpPr>
              <a:spLocks noChangeArrowheads="1"/>
            </p:cNvSpPr>
            <p:nvPr/>
          </p:nvSpPr>
          <p:spPr bwMode="gray">
            <a:xfrm>
              <a:off x="2928" y="2208"/>
              <a:ext cx="262" cy="262"/>
            </a:xfrm>
            <a:prstGeom prst="ellipse">
              <a:avLst/>
            </a:prstGeom>
            <a:gradFill rotWithShape="1">
              <a:gsLst>
                <a:gs pos="0">
                  <a:schemeClr val="accent2">
                    <a:gamma/>
                    <a:tint val="28627"/>
                    <a:invGamma/>
                  </a:schemeClr>
                </a:gs>
                <a:gs pos="100000">
                  <a:schemeClr val="accent2"/>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pPr defTabSz="316230"/>
              <a:endParaRPr lang="zh-CN" altLang="en-US" sz="1245">
                <a:solidFill>
                  <a:srgbClr val="3D3F41"/>
                </a:solidFill>
                <a:latin typeface="Arial" panose="020B0604020202020204"/>
                <a:ea typeface="微软雅黑" panose="020B0503020204020204" pitchFamily="34" charset="-122"/>
              </a:endParaRPr>
            </a:p>
          </p:txBody>
        </p:sp>
        <p:sp>
          <p:nvSpPr>
            <p:cNvPr id="1048655" name="Oval 6"/>
            <p:cNvSpPr>
              <a:spLocks noChangeArrowheads="1"/>
            </p:cNvSpPr>
            <p:nvPr/>
          </p:nvSpPr>
          <p:spPr bwMode="gray">
            <a:xfrm>
              <a:off x="2949" y="2230"/>
              <a:ext cx="218" cy="218"/>
            </a:xfrm>
            <a:prstGeom prst="ellipse">
              <a:avLst/>
            </a:prstGeom>
            <a:solidFill>
              <a:srgbClr val="071F65"/>
            </a:solidFill>
            <a:ln>
              <a:solidFill>
                <a:srgbClr val="071F65"/>
              </a:solidFill>
            </a:ln>
          </p:spPr>
          <p:style>
            <a:lnRef idx="1">
              <a:schemeClr val="accent6"/>
            </a:lnRef>
            <a:fillRef idx="3">
              <a:schemeClr val="accent6"/>
            </a:fillRef>
            <a:effectRef idx="2">
              <a:schemeClr val="accent6"/>
            </a:effectRef>
            <a:fontRef idx="minor">
              <a:schemeClr val="lt1"/>
            </a:fontRef>
          </p:style>
          <p:txBody>
            <a:bodyPr wrap="none" anchor="ctr"/>
            <a:lstStyle/>
            <a:p>
              <a:pPr defTabSz="316230"/>
              <a:endParaRPr lang="zh-CN" altLang="en-US" sz="1245">
                <a:solidFill>
                  <a:srgbClr val="FFFFFF"/>
                </a:solidFill>
                <a:latin typeface="Arial" panose="020B0604020202020204"/>
                <a:ea typeface="微软雅黑" panose="020B0503020204020204" pitchFamily="34" charset="-122"/>
              </a:endParaRPr>
            </a:p>
          </p:txBody>
        </p:sp>
      </p:grpSp>
      <p:grpSp>
        <p:nvGrpSpPr>
          <p:cNvPr id="62" name="Group 4"/>
          <p:cNvGrpSpPr/>
          <p:nvPr/>
        </p:nvGrpSpPr>
        <p:grpSpPr bwMode="auto">
          <a:xfrm>
            <a:off x="6254548" y="6010279"/>
            <a:ext cx="116498" cy="116498"/>
            <a:chOff x="2928" y="2208"/>
            <a:chExt cx="262" cy="262"/>
          </a:xfrm>
        </p:grpSpPr>
        <p:sp>
          <p:nvSpPr>
            <p:cNvPr id="1048656" name="Oval 5"/>
            <p:cNvSpPr>
              <a:spLocks noChangeArrowheads="1"/>
            </p:cNvSpPr>
            <p:nvPr/>
          </p:nvSpPr>
          <p:spPr bwMode="gray">
            <a:xfrm>
              <a:off x="2928" y="2208"/>
              <a:ext cx="262" cy="262"/>
            </a:xfrm>
            <a:prstGeom prst="ellipse">
              <a:avLst/>
            </a:prstGeom>
            <a:gradFill rotWithShape="1">
              <a:gsLst>
                <a:gs pos="0">
                  <a:schemeClr val="accent2">
                    <a:gamma/>
                    <a:tint val="28627"/>
                    <a:invGamma/>
                  </a:schemeClr>
                </a:gs>
                <a:gs pos="100000">
                  <a:schemeClr val="accent2"/>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pPr defTabSz="316230"/>
              <a:endParaRPr lang="zh-CN" altLang="en-US" sz="1245">
                <a:solidFill>
                  <a:srgbClr val="3D3F41"/>
                </a:solidFill>
                <a:latin typeface="Arial" panose="020B0604020202020204"/>
                <a:ea typeface="微软雅黑" panose="020B0503020204020204" pitchFamily="34" charset="-122"/>
              </a:endParaRPr>
            </a:p>
          </p:txBody>
        </p:sp>
        <p:sp>
          <p:nvSpPr>
            <p:cNvPr id="1048657" name="Oval 6"/>
            <p:cNvSpPr>
              <a:spLocks noChangeArrowheads="1"/>
            </p:cNvSpPr>
            <p:nvPr/>
          </p:nvSpPr>
          <p:spPr bwMode="gray">
            <a:xfrm>
              <a:off x="2949" y="2230"/>
              <a:ext cx="218" cy="218"/>
            </a:xfrm>
            <a:prstGeom prst="ellipse">
              <a:avLst/>
            </a:prstGeom>
            <a:solidFill>
              <a:srgbClr val="071F65"/>
            </a:solidFill>
            <a:ln>
              <a:solidFill>
                <a:srgbClr val="071F65"/>
              </a:solidFill>
            </a:ln>
          </p:spPr>
          <p:style>
            <a:lnRef idx="1">
              <a:schemeClr val="accent6"/>
            </a:lnRef>
            <a:fillRef idx="3">
              <a:schemeClr val="accent6"/>
            </a:fillRef>
            <a:effectRef idx="2">
              <a:schemeClr val="accent6"/>
            </a:effectRef>
            <a:fontRef idx="minor">
              <a:schemeClr val="lt1"/>
            </a:fontRef>
          </p:style>
          <p:txBody>
            <a:bodyPr wrap="none" anchor="ctr"/>
            <a:lstStyle/>
            <a:p>
              <a:pPr defTabSz="316230"/>
              <a:endParaRPr lang="zh-CN" altLang="en-US" sz="1245">
                <a:solidFill>
                  <a:srgbClr val="FFFFFF"/>
                </a:solidFill>
                <a:latin typeface="Arial" panose="020B0604020202020204"/>
                <a:ea typeface="微软雅黑" panose="020B0503020204020204" pitchFamily="34" charset="-122"/>
              </a:endParaRPr>
            </a:p>
          </p:txBody>
        </p:sp>
      </p:grpSp>
      <p:cxnSp>
        <p:nvCxnSpPr>
          <p:cNvPr id="3145739" name="直接连接符 49"/>
          <p:cNvCxnSpPr/>
          <p:nvPr/>
        </p:nvCxnSpPr>
        <p:spPr>
          <a:xfrm>
            <a:off x="4802343" y="4178416"/>
            <a:ext cx="2030262"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48658" name="文本框 54"/>
          <p:cNvSpPr txBox="1"/>
          <p:nvPr/>
        </p:nvSpPr>
        <p:spPr>
          <a:xfrm>
            <a:off x="234950" y="4869815"/>
            <a:ext cx="5801360" cy="1383030"/>
          </a:xfrm>
          <a:prstGeom prst="rect">
            <a:avLst/>
          </a:prstGeom>
          <a:noFill/>
        </p:spPr>
        <p:txBody>
          <a:bodyPr wrap="square" rtlCol="0">
            <a:spAutoFit/>
          </a:bodyPr>
          <a:lstStyle/>
          <a:p>
            <a:pPr>
              <a:lnSpc>
                <a:spcPct val="120000"/>
              </a:lnSpc>
              <a:spcBef>
                <a:spcPct val="0"/>
              </a:spcBef>
            </a:pPr>
            <a:r>
              <a:rPr lang="en-US" altLang="zh-CN" sz="1400" b="1"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Encoding rules:</a:t>
            </a:r>
          </a:p>
          <a:p>
            <a:pPr algn="l">
              <a:lnSpc>
                <a:spcPct val="120000"/>
              </a:lnSpc>
              <a:buClrTx/>
              <a:buSzTx/>
              <a:buFontTx/>
            </a:pPr>
            <a:r>
              <a:rPr lang="zh-CN" altLang="en-US" sz="1400" dirty="0">
                <a:solidFill>
                  <a:schemeClr val="tx1">
                    <a:lumMod val="65000"/>
                    <a:lumOff val="35000"/>
                  </a:schemeClr>
                </a:solidFill>
                <a:latin typeface="宋体" panose="02010600030101010101" pitchFamily="2" charset="-122"/>
                <a:ea typeface="宋体" panose="02010600030101010101" pitchFamily="2" charset="-122"/>
              </a:rPr>
              <a:t>• Category fields are one-hot encoded</a:t>
            </a:r>
          </a:p>
          <a:p>
            <a:pPr algn="l">
              <a:lnSpc>
                <a:spcPct val="120000"/>
              </a:lnSpc>
              <a:buClrTx/>
              <a:buSzTx/>
              <a:buFontTx/>
            </a:pPr>
            <a:r>
              <a:rPr lang="zh-CN" altLang="en-US" sz="1400" dirty="0">
                <a:solidFill>
                  <a:schemeClr val="tx1">
                    <a:lumMod val="65000"/>
                    <a:lumOff val="35000"/>
                  </a:schemeClr>
                </a:solidFill>
                <a:latin typeface="宋体" panose="02010600030101010101" pitchFamily="2" charset="-122"/>
                <a:ea typeface="宋体" panose="02010600030101010101" pitchFamily="2" charset="-122"/>
              </a:rPr>
              <a:t>• Radio questions are one-hot encoded</a:t>
            </a:r>
          </a:p>
          <a:p>
            <a:pPr algn="l">
              <a:lnSpc>
                <a:spcPct val="120000"/>
              </a:lnSpc>
              <a:buClrTx/>
              <a:buSzTx/>
              <a:buFontTx/>
            </a:pPr>
            <a:r>
              <a:rPr lang="zh-CN" altLang="en-US" sz="1400" dirty="0">
                <a:solidFill>
                  <a:schemeClr val="tx1">
                    <a:lumMod val="65000"/>
                    <a:lumOff val="35000"/>
                  </a:schemeClr>
                </a:solidFill>
                <a:latin typeface="宋体" panose="02010600030101010101" pitchFamily="2" charset="-122"/>
                <a:ea typeface="宋体" panose="02010600030101010101" pitchFamily="2" charset="-122"/>
              </a:rPr>
              <a:t>• Checkbox questions are expanded into multi-hot features</a:t>
            </a:r>
          </a:p>
          <a:p>
            <a:pPr algn="l">
              <a:lnSpc>
                <a:spcPct val="120000"/>
              </a:lnSpc>
              <a:buClrTx/>
              <a:buSzTx/>
              <a:buFontTx/>
            </a:pPr>
            <a:r>
              <a:rPr lang="zh-CN" altLang="en-US" sz="1400" dirty="0">
                <a:solidFill>
                  <a:schemeClr val="tx1">
                    <a:lumMod val="65000"/>
                    <a:lumOff val="35000"/>
                  </a:schemeClr>
                </a:solidFill>
                <a:latin typeface="宋体" panose="02010600030101010101" pitchFamily="2" charset="-122"/>
                <a:ea typeface="宋体" panose="02010600030101010101" pitchFamily="2" charset="-122"/>
              </a:rPr>
              <a:t>• Structural missing markers are preserved as explicit values</a:t>
            </a:r>
          </a:p>
        </p:txBody>
      </p:sp>
      <p:pic>
        <p:nvPicPr>
          <p:cNvPr id="2097157" name="图片 102" descr="C:/Users/hugq/Desktop/微信图片_20240302080713.png微信图片_20240302080713"/>
          <p:cNvPicPr>
            <a:picLocks noChangeAspect="1"/>
          </p:cNvPicPr>
          <p:nvPr>
            <p:custDataLst>
              <p:tags r:id="rId1"/>
            </p:custDataLst>
          </p:nvPr>
        </p:nvPicPr>
        <p:blipFill>
          <a:blip r:embed="rId8"/>
          <a:srcRect t="10177" b="10177"/>
          <a:stretch>
            <a:fillRect/>
          </a:stretch>
        </p:blipFill>
        <p:spPr>
          <a:xfrm>
            <a:off x="4901832" y="1436370"/>
            <a:ext cx="876300" cy="900430"/>
          </a:xfrm>
          <a:prstGeom prst="rect">
            <a:avLst/>
          </a:prstGeom>
          <a:effectLst>
            <a:outerShdw blurRad="50800" dist="127000" dir="21540000" sx="98000" sy="98000" algn="ctr" rotWithShape="0">
              <a:schemeClr val="tx2">
                <a:lumMod val="75000"/>
                <a:alpha val="10000"/>
              </a:schemeClr>
            </a:outerShdw>
          </a:effectLst>
        </p:spPr>
      </p:pic>
      <p:pic>
        <p:nvPicPr>
          <p:cNvPr id="4" name="图片 102" descr="C:/Users/hugq/Desktop/微信图片_20240302080713.png微信图片_20240302080713"/>
          <p:cNvPicPr>
            <a:picLocks noChangeAspect="1"/>
          </p:cNvPicPr>
          <p:nvPr>
            <p:custDataLst>
              <p:tags r:id="rId2"/>
            </p:custDataLst>
          </p:nvPr>
        </p:nvPicPr>
        <p:blipFill>
          <a:blip r:embed="rId8"/>
          <a:srcRect t="10177" b="10177"/>
          <a:stretch>
            <a:fillRect/>
          </a:stretch>
        </p:blipFill>
        <p:spPr>
          <a:xfrm>
            <a:off x="4901832" y="2670810"/>
            <a:ext cx="876300" cy="900430"/>
          </a:xfrm>
          <a:prstGeom prst="rect">
            <a:avLst/>
          </a:prstGeom>
          <a:effectLst>
            <a:outerShdw blurRad="50800" dist="127000" dir="21540000" sx="98000" sy="98000" algn="ctr" rotWithShape="0">
              <a:schemeClr val="tx2">
                <a:lumMod val="75000"/>
                <a:alpha val="10000"/>
              </a:schemeClr>
            </a:outerShdw>
          </a:effectLst>
        </p:spPr>
      </p:pic>
      <p:pic>
        <p:nvPicPr>
          <p:cNvPr id="5" name="图片 102" descr="C:/Users/hugq/Desktop/微信图片_20240302080713.png微信图片_20240302080713"/>
          <p:cNvPicPr>
            <a:picLocks noChangeAspect="1"/>
          </p:cNvPicPr>
          <p:nvPr>
            <p:custDataLst>
              <p:tags r:id="rId3"/>
            </p:custDataLst>
          </p:nvPr>
        </p:nvPicPr>
        <p:blipFill>
          <a:blip r:embed="rId8"/>
          <a:srcRect t="10177" b="10177"/>
          <a:stretch>
            <a:fillRect/>
          </a:stretch>
        </p:blipFill>
        <p:spPr>
          <a:xfrm>
            <a:off x="5874017" y="4547870"/>
            <a:ext cx="876300" cy="900430"/>
          </a:xfrm>
          <a:prstGeom prst="rect">
            <a:avLst/>
          </a:prstGeom>
          <a:effectLst>
            <a:outerShdw blurRad="50800" dist="127000" dir="21540000" sx="98000" sy="98000" algn="ctr" rotWithShape="0">
              <a:schemeClr val="tx2">
                <a:lumMod val="75000"/>
                <a:alpha val="10000"/>
              </a:schemeClr>
            </a:outerShdw>
          </a:effectLst>
        </p:spPr>
      </p:pic>
      <p:pic>
        <p:nvPicPr>
          <p:cNvPr id="6" name="图片 102" descr="C:/Users/hugq/Desktop/微信图片_20240302080713.png微信图片_20240302080713"/>
          <p:cNvPicPr>
            <a:picLocks noChangeAspect="1"/>
          </p:cNvPicPr>
          <p:nvPr>
            <p:custDataLst>
              <p:tags r:id="rId4"/>
            </p:custDataLst>
          </p:nvPr>
        </p:nvPicPr>
        <p:blipFill>
          <a:blip r:embed="rId8"/>
          <a:srcRect t="10177" b="10177"/>
          <a:stretch>
            <a:fillRect/>
          </a:stretch>
        </p:blipFill>
        <p:spPr>
          <a:xfrm>
            <a:off x="5874017" y="5670550"/>
            <a:ext cx="876300" cy="900430"/>
          </a:xfrm>
          <a:prstGeom prst="rect">
            <a:avLst/>
          </a:prstGeom>
          <a:effectLst>
            <a:outerShdw blurRad="50800" dist="127000" dir="21540000" sx="98000" sy="98000" algn="ctr" rotWithShape="0">
              <a:schemeClr val="tx2">
                <a:lumMod val="75000"/>
                <a:alpha val="10000"/>
              </a:schemeClr>
            </a:outerShdw>
          </a:effectLst>
        </p:spPr>
      </p:pic>
      <p:pic>
        <p:nvPicPr>
          <p:cNvPr id="7" name="图片 6"/>
          <p:cNvPicPr/>
          <p:nvPr/>
        </p:nvPicPr>
        <p:blipFill>
          <a:blip r:embed="rId9"/>
          <a:srcRect t="9965"/>
          <a:stretch>
            <a:fillRect/>
          </a:stretch>
        </p:blipFill>
        <p:spPr>
          <a:xfrm>
            <a:off x="1106170" y="1807845"/>
            <a:ext cx="3028315" cy="2739390"/>
          </a:xfrm>
          <a:prstGeom prst="rect">
            <a:avLst/>
          </a:prstGeom>
        </p:spPr>
      </p:pic>
      <p:sp>
        <p:nvSpPr>
          <p:cNvPr id="1048642" name="矩形 13"/>
          <p:cNvSpPr/>
          <p:nvPr/>
        </p:nvSpPr>
        <p:spPr>
          <a:xfrm>
            <a:off x="1079500" y="1795780"/>
            <a:ext cx="3054985" cy="2752090"/>
          </a:xfrm>
          <a:prstGeom prst="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lstStyle/>
          <a:p>
            <a:pPr algn="ctr"/>
            <a:endParaRPr lang="zh-CN" altLang="en-US" sz="1245"/>
          </a:p>
        </p:txBody>
      </p:sp>
      <p:grpSp>
        <p:nvGrpSpPr>
          <p:cNvPr id="58" name="组合 22"/>
          <p:cNvGrpSpPr/>
          <p:nvPr/>
        </p:nvGrpSpPr>
        <p:grpSpPr>
          <a:xfrm>
            <a:off x="1331595" y="1350010"/>
            <a:ext cx="2658745" cy="487045"/>
            <a:chOff x="11273425" y="5331881"/>
            <a:chExt cx="4684734" cy="666084"/>
          </a:xfrm>
        </p:grpSpPr>
        <p:sp>
          <p:nvSpPr>
            <p:cNvPr id="1048646" name="矩形 23"/>
            <p:cNvSpPr/>
            <p:nvPr/>
          </p:nvSpPr>
          <p:spPr>
            <a:xfrm>
              <a:off x="11273425" y="5331881"/>
              <a:ext cx="4684734" cy="666084"/>
            </a:xfrm>
            <a:prstGeom prst="rect">
              <a:avLst/>
            </a:prstGeom>
            <a:solidFill>
              <a:srgbClr val="0B4189"/>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lstStyle/>
            <a:p>
              <a:pPr algn="ctr"/>
              <a:endParaRPr lang="zh-CN" altLang="en-US" sz="1245" dirty="0"/>
            </a:p>
          </p:txBody>
        </p:sp>
        <p:sp>
          <p:nvSpPr>
            <p:cNvPr id="1048647" name="文本框 24"/>
            <p:cNvSpPr txBox="1"/>
            <p:nvPr/>
          </p:nvSpPr>
          <p:spPr>
            <a:xfrm>
              <a:off x="11492630" y="5409039"/>
              <a:ext cx="4246323" cy="532346"/>
            </a:xfrm>
            <a:prstGeom prst="rect">
              <a:avLst/>
            </a:prstGeom>
            <a:noFill/>
          </p:spPr>
          <p:txBody>
            <a:bodyPr wrap="square" rtlCol="0">
              <a:spAutoFit/>
            </a:bodyPr>
            <a:lstStyle/>
            <a:p>
              <a:pPr algn="ctr"/>
              <a:r>
                <a:rPr lang="en-US" altLang="zh-CN" sz="1940" b="1" dirty="0">
                  <a:solidFill>
                    <a:schemeClr val="bg2"/>
                  </a:solidFill>
                  <a:latin typeface="HYXuanSong 75J" panose="00020600040101010101" charset="-122"/>
                  <a:ea typeface="HYXuanSong 75J" panose="00020600040101010101" charset="-122"/>
                </a:rPr>
                <a:t>Raw feature types</a:t>
              </a:r>
            </a:p>
          </p:txBody>
        </p:sp>
      </p:grpSp>
      <p:pic>
        <p:nvPicPr>
          <p:cNvPr id="9" name="图片 8"/>
          <p:cNvPicPr/>
          <p:nvPr/>
        </p:nvPicPr>
        <p:blipFill>
          <a:blip r:embed="rId10"/>
          <a:stretch>
            <a:fillRect/>
          </a:stretch>
        </p:blipFill>
        <p:spPr>
          <a:xfrm>
            <a:off x="6915150" y="4083685"/>
            <a:ext cx="4326255" cy="2486660"/>
          </a:xfrm>
          <a:prstGeom prst="rect">
            <a:avLst/>
          </a:prstGeom>
        </p:spPr>
      </p:pic>
      <p:sp>
        <p:nvSpPr>
          <p:cNvPr id="1048643" name="矩形 15"/>
          <p:cNvSpPr/>
          <p:nvPr/>
        </p:nvSpPr>
        <p:spPr>
          <a:xfrm>
            <a:off x="6915785" y="4058285"/>
            <a:ext cx="4325620" cy="2512695"/>
          </a:xfrm>
          <a:prstGeom prst="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lstStyle/>
          <a:p>
            <a:pPr algn="ctr"/>
            <a:endParaRPr lang="zh-CN" altLang="en-US" sz="1245"/>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60855"/>
            <a:ext cx="5842000" cy="145605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1600835"/>
            <a:ext cx="5427980" cy="1990090"/>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Classes:</a:t>
            </a:r>
          </a:p>
          <a:p>
            <a:pPr marL="0" indent="0" algn="l">
              <a:lnSpc>
                <a:spcPct val="117000"/>
              </a:lnSpc>
            </a:pPr>
            <a:r>
              <a:rPr lang="en-US" altLang="zh-CN" b="0" i="0" u="none" strike="noStrike" dirty="0">
                <a:solidFill>
                  <a:srgbClr val="595959"/>
                </a:solidFill>
                <a:latin typeface="Segoe UI" panose="020B0502040204020203" charset="0"/>
                <a:ea typeface="Songti SC"/>
                <a:cs typeface="Segoe UI" panose="020B0502040204020203" charset="0"/>
                <a:sym typeface="Songti SC"/>
              </a:rPr>
              <a:t>• Everyone                </a:t>
            </a:r>
            <a:r>
              <a:rPr lang="en-US" altLang="zh-CN" dirty="0">
                <a:solidFill>
                  <a:srgbClr val="595959"/>
                </a:solidFill>
                <a:latin typeface="Segoe UI" panose="020B0502040204020203" charset="0"/>
                <a:ea typeface="Songti SC"/>
                <a:cs typeface="Segoe UI" panose="020B0502040204020203" charset="0"/>
                <a:sym typeface="Songti SC"/>
              </a:rPr>
              <a:t>• Teen                </a:t>
            </a:r>
            <a:r>
              <a:rPr lang="en-US" altLang="zh-CN" b="0" i="0" u="none" strike="noStrike" dirty="0">
                <a:solidFill>
                  <a:srgbClr val="595959"/>
                </a:solidFill>
                <a:latin typeface="Segoe UI" panose="020B0502040204020203" charset="0"/>
                <a:ea typeface="Songti SC"/>
                <a:cs typeface="Segoe UI" panose="020B0502040204020203" charset="0"/>
                <a:sym typeface="Songti SC"/>
              </a:rPr>
              <a:t>• Everyone 10+         </a:t>
            </a:r>
            <a:r>
              <a:rPr lang="en-US" altLang="zh-CN" dirty="0">
                <a:solidFill>
                  <a:srgbClr val="595959"/>
                </a:solidFill>
                <a:latin typeface="Segoe UI" panose="020B0502040204020203" charset="0"/>
                <a:ea typeface="Songti SC"/>
                <a:cs typeface="Segoe UI" panose="020B0502040204020203" charset="0"/>
                <a:sym typeface="Songti SC"/>
              </a:rPr>
              <a:t>• Mature 17+            </a:t>
            </a:r>
            <a:r>
              <a:rPr lang="en-US" altLang="zh-CN" b="0" i="0" u="none" strike="noStrike" dirty="0">
                <a:solidFill>
                  <a:srgbClr val="595959"/>
                </a:solidFill>
                <a:latin typeface="Segoe UI" panose="020B0502040204020203" charset="0"/>
                <a:ea typeface="Songti SC"/>
                <a:cs typeface="Segoe UI" panose="020B0502040204020203" charset="0"/>
                <a:sym typeface="Songti SC"/>
              </a:rPr>
              <a:t>• Adults only 18+</a:t>
            </a:r>
          </a:p>
          <a:p>
            <a:pPr marL="0" indent="0" algn="l">
              <a:lnSpc>
                <a:spcPct val="117000"/>
              </a:lnSpc>
            </a:pPr>
            <a:endParaRPr lang="en-US" altLang="zh-CN" b="0" i="0" u="none" strike="noStrike" dirty="0">
              <a:solidFill>
                <a:srgbClr val="595959"/>
              </a:solidFill>
              <a:latin typeface="Segoe UI" panose="020B0502040204020203" charset="0"/>
              <a:ea typeface="Songti SC"/>
              <a:cs typeface="Segoe UI" panose="020B0502040204020203" charset="0"/>
              <a:sym typeface="Songti SC"/>
            </a:endParaRPr>
          </a:p>
        </p:txBody>
      </p:sp>
      <p:sp>
        <p:nvSpPr>
          <p:cNvPr id="13" name="AutoShape 13"/>
          <p:cNvSpPr/>
          <p:nvPr/>
        </p:nvSpPr>
        <p:spPr>
          <a:xfrm>
            <a:off x="5838190" y="3809365"/>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3936365"/>
            <a:ext cx="5832475" cy="1452245"/>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rPr>
              <a:t>The distribution is moderately imbalanced, so class weights are also generated for downstream models.</a:t>
            </a:r>
          </a:p>
        </p:txBody>
      </p:sp>
      <p:sp>
        <p:nvSpPr>
          <p:cNvPr id="17" name="AutoShape 2"/>
          <p:cNvSpPr/>
          <p:nvPr/>
        </p:nvSpPr>
        <p:spPr>
          <a:xfrm>
            <a:off x="608965" y="368300"/>
            <a:ext cx="478409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Target Label Distribution</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45220" y="139700"/>
            <a:ext cx="3726815" cy="1301750"/>
          </a:xfrm>
          <a:prstGeom prst="rect">
            <a:avLst/>
          </a:prstGeom>
        </p:spPr>
      </p:pic>
      <p:sp>
        <p:nvSpPr>
          <p:cNvPr id="22" name="AutoShape 11"/>
          <p:cNvSpPr/>
          <p:nvPr/>
        </p:nvSpPr>
        <p:spPr>
          <a:xfrm>
            <a:off x="507365" y="5105400"/>
            <a:ext cx="4674235" cy="77724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en-US" altLang="zh-CN">
                <a:solidFill>
                  <a:srgbClr val="595959"/>
                </a:solidFill>
                <a:latin typeface="Segoe UI" panose="020B0502040204020203" charset="0"/>
                <a:ea typeface="Noto Sans SC" panose="020B0200000000000000" charset="-122"/>
                <a:cs typeface="Segoe UI" panose="020B0502040204020203" charset="0"/>
              </a:rPr>
              <a:t>The target is a five-class ESRB-style classification problem.</a:t>
            </a:r>
          </a:p>
        </p:txBody>
      </p:sp>
      <p:pic>
        <p:nvPicPr>
          <p:cNvPr id="2" name="图片 1"/>
          <p:cNvPicPr/>
          <p:nvPr/>
        </p:nvPicPr>
        <p:blipFill>
          <a:blip r:embed="rId4"/>
          <a:stretch>
            <a:fillRect/>
          </a:stretch>
        </p:blipFill>
        <p:spPr>
          <a:xfrm>
            <a:off x="507365" y="1760855"/>
            <a:ext cx="4572000" cy="2920365"/>
          </a:xfrm>
          <a:prstGeom prst="rect">
            <a:avLst/>
          </a:prstGeom>
        </p:spPr>
      </p:pic>
      <p:sp>
        <p:nvSpPr>
          <p:cNvPr id="4" name="AutoShape 4"/>
          <p:cNvSpPr/>
          <p:nvPr/>
        </p:nvSpPr>
        <p:spPr>
          <a:xfrm>
            <a:off x="507365" y="1760855"/>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43710"/>
            <a:ext cx="5842000" cy="78549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1505585"/>
            <a:ext cx="5588000" cy="1219200"/>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Raw feature columns:   </a:t>
            </a: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rPr>
              <a:t>165</a:t>
            </a:r>
          </a:p>
        </p:txBody>
      </p:sp>
      <p:sp>
        <p:nvSpPr>
          <p:cNvPr id="13" name="AutoShape 13"/>
          <p:cNvSpPr/>
          <p:nvPr/>
        </p:nvSpPr>
        <p:spPr>
          <a:xfrm>
            <a:off x="5838190" y="3125470"/>
            <a:ext cx="5842000" cy="84899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5190" y="3011805"/>
            <a:ext cx="5588000" cy="1028065"/>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Encoded feature columns: </a:t>
            </a: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rPr>
              <a:t>758</a:t>
            </a:r>
          </a:p>
        </p:txBody>
      </p:sp>
      <p:sp>
        <p:nvSpPr>
          <p:cNvPr id="15" name="AutoShape 15"/>
          <p:cNvSpPr/>
          <p:nvPr/>
        </p:nvSpPr>
        <p:spPr>
          <a:xfrm>
            <a:off x="5838190" y="4570730"/>
            <a:ext cx="5842000" cy="1567180"/>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965190" y="4678045"/>
            <a:ext cx="5588000" cy="13544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The feature space expands because:</a:t>
            </a:r>
          </a:p>
          <a:p>
            <a:pPr marL="0" indent="0" algn="l">
              <a:lnSpc>
                <a:spcPct val="108000"/>
              </a:lnSpc>
              <a:defRPr/>
            </a:pPr>
            <a:r>
              <a:rPr lang="en-US" altLang="zh-CN" sz="1600" dirty="0">
                <a:solidFill>
                  <a:srgbClr val="595959"/>
                </a:solidFill>
                <a:latin typeface="Segoe UI" panose="020B0502040204020203" charset="0"/>
                <a:ea typeface="Songti SC"/>
                <a:cs typeface="Segoe UI" panose="020B0502040204020203" charset="0"/>
              </a:rPr>
              <a:t>• Radio answers become one-hot indicators</a:t>
            </a:r>
          </a:p>
          <a:p>
            <a:pPr marL="0" indent="0" algn="l">
              <a:lnSpc>
                <a:spcPct val="108000"/>
              </a:lnSpc>
              <a:defRPr/>
            </a:pPr>
            <a:r>
              <a:rPr lang="en-US" altLang="zh-CN" sz="1600" dirty="0">
                <a:solidFill>
                  <a:srgbClr val="595959"/>
                </a:solidFill>
                <a:latin typeface="Segoe UI" panose="020B0502040204020203" charset="0"/>
                <a:ea typeface="Songti SC"/>
                <a:cs typeface="Segoe UI" panose="020B0502040204020203" charset="0"/>
              </a:rPr>
              <a:t>• Checkbox answers become multiple binary indicators</a:t>
            </a:r>
          </a:p>
          <a:p>
            <a:pPr marL="0" indent="0" algn="l">
              <a:lnSpc>
                <a:spcPct val="108000"/>
              </a:lnSpc>
              <a:defRPr/>
            </a:pPr>
            <a:r>
              <a:rPr lang="en-US" altLang="zh-CN" sz="1600" dirty="0">
                <a:solidFill>
                  <a:srgbClr val="595959"/>
                </a:solidFill>
                <a:latin typeface="Segoe UI" panose="020B0502040204020203" charset="0"/>
                <a:ea typeface="Songti SC"/>
                <a:cs typeface="Segoe UI" panose="020B0502040204020203" charset="0"/>
              </a:rPr>
              <a:t>• Missing-state markers are also encoded</a:t>
            </a:r>
          </a:p>
        </p:txBody>
      </p:sp>
      <p:sp>
        <p:nvSpPr>
          <p:cNvPr id="17" name="AutoShape 2"/>
          <p:cNvSpPr/>
          <p:nvPr/>
        </p:nvSpPr>
        <p:spPr>
          <a:xfrm>
            <a:off x="554355" y="385445"/>
            <a:ext cx="541083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Feature Space</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1060" y="139700"/>
            <a:ext cx="3796665" cy="1301750"/>
          </a:xfrm>
          <a:prstGeom prst="rect">
            <a:avLst/>
          </a:prstGeom>
        </p:spPr>
      </p:pic>
      <p:sp>
        <p:nvSpPr>
          <p:cNvPr id="22" name="AutoShape 11"/>
          <p:cNvSpPr/>
          <p:nvPr/>
        </p:nvSpPr>
        <p:spPr>
          <a:xfrm>
            <a:off x="990600" y="5227320"/>
            <a:ext cx="3404235" cy="51435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en-US" altLang="zh-CN" b="1">
                <a:solidFill>
                  <a:srgbClr val="595959"/>
                </a:solidFill>
                <a:latin typeface="Segoe UI" panose="020B0502040204020203" charset="0"/>
                <a:ea typeface="Noto Sans SC" panose="020B0200000000000000" charset="-122"/>
                <a:cs typeface="Segoe UI" panose="020B0502040204020203" charset="0"/>
              </a:rPr>
              <a:t>Matrix Shapes</a:t>
            </a:r>
          </a:p>
        </p:txBody>
      </p:sp>
      <p:pic>
        <p:nvPicPr>
          <p:cNvPr id="2" name="图片 1"/>
          <p:cNvPicPr/>
          <p:nvPr/>
        </p:nvPicPr>
        <p:blipFill>
          <a:blip r:embed="rId4"/>
          <a:stretch>
            <a:fillRect/>
          </a:stretch>
        </p:blipFill>
        <p:spPr>
          <a:xfrm>
            <a:off x="508000" y="1873250"/>
            <a:ext cx="4572635" cy="2893695"/>
          </a:xfrm>
          <a:prstGeom prst="rect">
            <a:avLst/>
          </a:prstGeom>
        </p:spPr>
      </p:pic>
      <p:sp>
        <p:nvSpPr>
          <p:cNvPr id="4" name="AutoShape 4"/>
          <p:cNvSpPr/>
          <p:nvPr/>
        </p:nvSpPr>
        <p:spPr>
          <a:xfrm>
            <a:off x="508000" y="1845945"/>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60855"/>
            <a:ext cx="5842000" cy="156591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1934210"/>
            <a:ext cx="5588000" cy="1219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Purpose:</a:t>
            </a:r>
            <a:endParaRPr lang="en-US" altLang="zh-CN" sz="1400" dirty="0">
              <a:latin typeface="Arial" panose="020B0604020202020204" pitchFamily="34" charset="0"/>
              <a:cs typeface="Arial" panose="020B0604020202020204" pitchFamily="34" charset="0"/>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Reduce bias toward majority classes</a:t>
            </a: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Improve learning for smaller classes</a:t>
            </a: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Support models using class_weight="balanced"</a:t>
            </a:r>
          </a:p>
        </p:txBody>
      </p:sp>
      <p:sp>
        <p:nvSpPr>
          <p:cNvPr id="13" name="AutoShape 13"/>
          <p:cNvSpPr/>
          <p:nvPr/>
        </p:nvSpPr>
        <p:spPr>
          <a:xfrm>
            <a:off x="5838190" y="40386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4165600"/>
            <a:ext cx="5588000" cy="1452245"/>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Final validation checks:</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Same feature columns across train, validation, and test</a:t>
            </a: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No missing values in encoded matrices</a:t>
            </a: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No rating leakage</a:t>
            </a: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Reproducible split and metadata</a:t>
            </a:r>
          </a:p>
        </p:txBody>
      </p:sp>
      <p:sp>
        <p:nvSpPr>
          <p:cNvPr id="17" name="AutoShape 2"/>
          <p:cNvSpPr/>
          <p:nvPr/>
        </p:nvSpPr>
        <p:spPr>
          <a:xfrm>
            <a:off x="635000" y="367665"/>
            <a:ext cx="798385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Class Imbalance and Final Checks</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20735" y="139700"/>
            <a:ext cx="3771900" cy="1301750"/>
          </a:xfrm>
          <a:prstGeom prst="rect">
            <a:avLst/>
          </a:prstGeom>
        </p:spPr>
      </p:pic>
      <p:sp>
        <p:nvSpPr>
          <p:cNvPr id="22" name="AutoShape 11"/>
          <p:cNvSpPr/>
          <p:nvPr/>
        </p:nvSpPr>
        <p:spPr>
          <a:xfrm>
            <a:off x="507365" y="5338445"/>
            <a:ext cx="4572635" cy="709295"/>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zh-CN" altLang="en-US" sz="1400">
                <a:solidFill>
                  <a:srgbClr val="595959"/>
                </a:solidFill>
                <a:latin typeface="Segoe UI" panose="020B0502040204020203" charset="0"/>
                <a:ea typeface="Noto Sans SC" panose="020B0200000000000000" charset="-122"/>
                <a:cs typeface="Segoe UI" panose="020B0502040204020203" charset="0"/>
              </a:rPr>
              <a:t>🛡</a:t>
            </a:r>
            <a:r>
              <a:rPr lang="en-US" altLang="zh-CN" sz="1400">
                <a:solidFill>
                  <a:srgbClr val="595959"/>
                </a:solidFill>
                <a:latin typeface="Segoe UI" panose="020B0502040204020203" charset="0"/>
                <a:ea typeface="Noto Sans SC" panose="020B0200000000000000" charset="-122"/>
                <a:cs typeface="Segoe UI" panose="020B0502040204020203" charset="0"/>
              </a:rPr>
              <a:t>  </a:t>
            </a:r>
            <a:r>
              <a:rPr lang="en-US" altLang="zh-CN" sz="1600">
                <a:solidFill>
                  <a:srgbClr val="595959"/>
                </a:solidFill>
                <a:latin typeface="Segoe UI" panose="020B0502040204020203" charset="0"/>
                <a:ea typeface="Noto Sans SC" panose="020B0200000000000000" charset="-122"/>
                <a:cs typeface="Segoe UI" panose="020B0502040204020203" charset="0"/>
              </a:rPr>
              <a:t>Class weights are generated for Task 5 model training</a:t>
            </a:r>
          </a:p>
        </p:txBody>
      </p:sp>
      <p:pic>
        <p:nvPicPr>
          <p:cNvPr id="3" name="图片 2"/>
          <p:cNvPicPr/>
          <p:nvPr/>
        </p:nvPicPr>
        <p:blipFill>
          <a:blip r:embed="rId4"/>
          <a:stretch>
            <a:fillRect/>
          </a:stretch>
        </p:blipFill>
        <p:spPr>
          <a:xfrm>
            <a:off x="508000" y="1837690"/>
            <a:ext cx="4572000" cy="2907030"/>
          </a:xfrm>
          <a:prstGeom prst="rect">
            <a:avLst/>
          </a:prstGeom>
        </p:spPr>
      </p:pic>
      <p:sp>
        <p:nvSpPr>
          <p:cNvPr id="4" name="AutoShape 4"/>
          <p:cNvSpPr/>
          <p:nvPr/>
        </p:nvSpPr>
        <p:spPr>
          <a:xfrm>
            <a:off x="508000" y="1837690"/>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任意多边形 3"/>
          <p:cNvSpPr/>
          <p:nvPr/>
        </p:nvSpPr>
        <p:spPr>
          <a:xfrm rot="16872204">
            <a:off x="1095680" y="2934035"/>
            <a:ext cx="2679375" cy="1489619"/>
          </a:xfrm>
          <a:custGeom>
            <a:avLst/>
            <a:gdLst>
              <a:gd name="connsiteX0" fmla="*/ 0 w 1010195"/>
              <a:gd name="connsiteY0" fmla="*/ 0 h 217714"/>
              <a:gd name="connsiteX1" fmla="*/ 8709 w 1010195"/>
              <a:gd name="connsiteY1" fmla="*/ 217714 h 217714"/>
              <a:gd name="connsiteX2" fmla="*/ 1010195 w 1010195"/>
              <a:gd name="connsiteY2" fmla="*/ 87086 h 217714"/>
              <a:gd name="connsiteX3" fmla="*/ 0 w 1010195"/>
              <a:gd name="connsiteY3" fmla="*/ 0 h 217714"/>
              <a:gd name="connsiteX0-1" fmla="*/ 0 w 1017338"/>
              <a:gd name="connsiteY0-2" fmla="*/ 0 h 217714"/>
              <a:gd name="connsiteX1-3" fmla="*/ 8709 w 1017338"/>
              <a:gd name="connsiteY1-4" fmla="*/ 217714 h 217714"/>
              <a:gd name="connsiteX2-5" fmla="*/ 1017338 w 1017338"/>
              <a:gd name="connsiteY2-6" fmla="*/ 87086 h 217714"/>
              <a:gd name="connsiteX3-7" fmla="*/ 0 w 1017338"/>
              <a:gd name="connsiteY3-8" fmla="*/ 0 h 217714"/>
              <a:gd name="connsiteX0-1-1" fmla="*/ 0 w 1017338"/>
              <a:gd name="connsiteY0-2-2" fmla="*/ 0 h 248457"/>
              <a:gd name="connsiteX1-3-3" fmla="*/ 98341 w 1017338"/>
              <a:gd name="connsiteY1-4-4" fmla="*/ 248457 h 248457"/>
              <a:gd name="connsiteX2-5-5" fmla="*/ 1017338 w 1017338"/>
              <a:gd name="connsiteY2-6-6" fmla="*/ 87086 h 248457"/>
              <a:gd name="connsiteX3-7-7" fmla="*/ 0 w 1017338"/>
              <a:gd name="connsiteY3-8-8" fmla="*/ 0 h 248457"/>
              <a:gd name="connsiteX0-9" fmla="*/ 0 w 1041847"/>
              <a:gd name="connsiteY0-10" fmla="*/ 0 h 264949"/>
              <a:gd name="connsiteX1-11" fmla="*/ 122850 w 1041847"/>
              <a:gd name="connsiteY1-12" fmla="*/ 264949 h 264949"/>
              <a:gd name="connsiteX2-13" fmla="*/ 1041847 w 1041847"/>
              <a:gd name="connsiteY2-14" fmla="*/ 103578 h 264949"/>
              <a:gd name="connsiteX3-15" fmla="*/ 0 w 1041847"/>
              <a:gd name="connsiteY3-16" fmla="*/ 0 h 264949"/>
              <a:gd name="connsiteX0-17" fmla="*/ 0 w 1041847"/>
              <a:gd name="connsiteY0-18" fmla="*/ 0 h 252106"/>
              <a:gd name="connsiteX1-19" fmla="*/ 188050 w 1041847"/>
              <a:gd name="connsiteY1-20" fmla="*/ 252106 h 252106"/>
              <a:gd name="connsiteX2-21" fmla="*/ 1041847 w 1041847"/>
              <a:gd name="connsiteY2-22" fmla="*/ 103578 h 252106"/>
              <a:gd name="connsiteX3-23" fmla="*/ 0 w 1041847"/>
              <a:gd name="connsiteY3-24" fmla="*/ 0 h 252106"/>
              <a:gd name="connsiteX0-25" fmla="*/ 0 w 1041847"/>
              <a:gd name="connsiteY0-26" fmla="*/ 0 h 269441"/>
              <a:gd name="connsiteX1-27" fmla="*/ 182425 w 1041847"/>
              <a:gd name="connsiteY1-28" fmla="*/ 269441 h 269441"/>
              <a:gd name="connsiteX2-29" fmla="*/ 1041847 w 1041847"/>
              <a:gd name="connsiteY2-30" fmla="*/ 103578 h 269441"/>
              <a:gd name="connsiteX3-31" fmla="*/ 0 w 1041847"/>
              <a:gd name="connsiteY3-32" fmla="*/ 0 h 269441"/>
            </a:gdLst>
            <a:ahLst/>
            <a:cxnLst>
              <a:cxn ang="0">
                <a:pos x="connsiteX0-1-1" y="connsiteY0-2-2"/>
              </a:cxn>
              <a:cxn ang="0">
                <a:pos x="connsiteX1-3-3" y="connsiteY1-4-4"/>
              </a:cxn>
              <a:cxn ang="0">
                <a:pos x="connsiteX2-5-5" y="connsiteY2-6-6"/>
              </a:cxn>
              <a:cxn ang="0">
                <a:pos x="connsiteX3-7-7" y="connsiteY3-8-8"/>
              </a:cxn>
            </a:cxnLst>
            <a:rect l="l" t="t" r="r" b="b"/>
            <a:pathLst>
              <a:path w="1041847" h="269441">
                <a:moveTo>
                  <a:pt x="0" y="0"/>
                </a:moveTo>
                <a:lnTo>
                  <a:pt x="182425" y="269441"/>
                </a:lnTo>
                <a:lnTo>
                  <a:pt x="1041847" y="103578"/>
                </a:lnTo>
                <a:lnTo>
                  <a:pt x="0" y="0"/>
                </a:lnTo>
                <a:close/>
              </a:path>
            </a:pathLst>
          </a:custGeom>
          <a:gradFill>
            <a:gsLst>
              <a:gs pos="0">
                <a:schemeClr val="accent3">
                  <a:lumMod val="89000"/>
                </a:schemeClr>
              </a:gs>
              <a:gs pos="22000">
                <a:schemeClr val="accent3">
                  <a:lumMod val="75000"/>
                </a:schemeClr>
              </a:gs>
              <a:gs pos="63000">
                <a:schemeClr val="bg2">
                  <a:lumMod val="2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8" name="任意多边形 5"/>
          <p:cNvSpPr/>
          <p:nvPr/>
        </p:nvSpPr>
        <p:spPr>
          <a:xfrm>
            <a:off x="9101921" y="4739894"/>
            <a:ext cx="1762818" cy="825844"/>
          </a:xfrm>
          <a:custGeom>
            <a:avLst/>
            <a:gdLst>
              <a:gd name="connsiteX0" fmla="*/ 0 w 1670050"/>
              <a:gd name="connsiteY0" fmla="*/ 666750 h 666750"/>
              <a:gd name="connsiteX1" fmla="*/ 139700 w 1670050"/>
              <a:gd name="connsiteY1" fmla="*/ 0 h 666750"/>
              <a:gd name="connsiteX2" fmla="*/ 1670050 w 1670050"/>
              <a:gd name="connsiteY2" fmla="*/ 12700 h 666750"/>
              <a:gd name="connsiteX3" fmla="*/ 0 w 1670050"/>
              <a:gd name="connsiteY3" fmla="*/ 666750 h 666750"/>
              <a:gd name="connsiteX0-1" fmla="*/ 0 w 1676400"/>
              <a:gd name="connsiteY0-2" fmla="*/ 666750 h 666750"/>
              <a:gd name="connsiteX1-3" fmla="*/ 139700 w 1676400"/>
              <a:gd name="connsiteY1-4" fmla="*/ 0 h 666750"/>
              <a:gd name="connsiteX2-5" fmla="*/ 1676400 w 1676400"/>
              <a:gd name="connsiteY2-6" fmla="*/ 38100 h 666750"/>
              <a:gd name="connsiteX3-7" fmla="*/ 0 w 1676400"/>
              <a:gd name="connsiteY3-8" fmla="*/ 666750 h 666750"/>
              <a:gd name="connsiteX0-9" fmla="*/ 0 w 1668780"/>
              <a:gd name="connsiteY0-10" fmla="*/ 666750 h 666750"/>
              <a:gd name="connsiteX1-11" fmla="*/ 139700 w 1668780"/>
              <a:gd name="connsiteY1-12" fmla="*/ 0 h 666750"/>
              <a:gd name="connsiteX2-13" fmla="*/ 1668780 w 1668780"/>
              <a:gd name="connsiteY2-14" fmla="*/ 22860 h 666750"/>
              <a:gd name="connsiteX3-15" fmla="*/ 0 w 1668780"/>
              <a:gd name="connsiteY3-16" fmla="*/ 666750 h 666750"/>
              <a:gd name="connsiteX0-1-1" fmla="*/ 0 w 1668780"/>
              <a:gd name="connsiteY0-2-2" fmla="*/ 666750 h 666750"/>
              <a:gd name="connsiteX1-3-3" fmla="*/ 139700 w 1668780"/>
              <a:gd name="connsiteY1-4-4" fmla="*/ 0 h 666750"/>
              <a:gd name="connsiteX2-5-5" fmla="*/ 1668780 w 1668780"/>
              <a:gd name="connsiteY2-6-6" fmla="*/ 83463 h 666750"/>
              <a:gd name="connsiteX3-7-7" fmla="*/ 0 w 1668780"/>
              <a:gd name="connsiteY3-8-8" fmla="*/ 666750 h 666750"/>
              <a:gd name="connsiteX0-9-9" fmla="*/ 0 w 1722808"/>
              <a:gd name="connsiteY0-10-10" fmla="*/ 681901 h 681901"/>
              <a:gd name="connsiteX1-11-11" fmla="*/ 193728 w 1722808"/>
              <a:gd name="connsiteY1-12-12" fmla="*/ 0 h 681901"/>
              <a:gd name="connsiteX2-13-13" fmla="*/ 1722808 w 1722808"/>
              <a:gd name="connsiteY2-14-14" fmla="*/ 83463 h 681901"/>
              <a:gd name="connsiteX3-15-15" fmla="*/ 0 w 1722808"/>
              <a:gd name="connsiteY3-16-16" fmla="*/ 681901 h 681901"/>
            </a:gdLst>
            <a:ahLst/>
            <a:cxnLst>
              <a:cxn ang="0">
                <a:pos x="connsiteX0-1-1" y="connsiteY0-2-2"/>
              </a:cxn>
              <a:cxn ang="0">
                <a:pos x="connsiteX1-3-3" y="connsiteY1-4-4"/>
              </a:cxn>
              <a:cxn ang="0">
                <a:pos x="connsiteX2-5-5" y="connsiteY2-6-6"/>
              </a:cxn>
              <a:cxn ang="0">
                <a:pos x="connsiteX3-7-7" y="connsiteY3-8-8"/>
              </a:cxn>
            </a:cxnLst>
            <a:rect l="l" t="t" r="r" b="b"/>
            <a:pathLst>
              <a:path w="1722808" h="681901">
                <a:moveTo>
                  <a:pt x="0" y="681901"/>
                </a:moveTo>
                <a:lnTo>
                  <a:pt x="193728" y="0"/>
                </a:lnTo>
                <a:lnTo>
                  <a:pt x="1722808" y="83463"/>
                </a:lnTo>
                <a:lnTo>
                  <a:pt x="0" y="681901"/>
                </a:lnTo>
                <a:close/>
              </a:path>
            </a:pathLst>
          </a:custGeom>
          <a:gradFill>
            <a:gsLst>
              <a:gs pos="23000">
                <a:schemeClr val="bg2">
                  <a:lumMod val="25000"/>
                </a:schemeClr>
              </a:gs>
              <a:gs pos="62000">
                <a:schemeClr val="accent3">
                  <a:lumMod val="43000"/>
                </a:schemeClr>
              </a:gs>
              <a:gs pos="100000">
                <a:schemeClr val="accent3">
                  <a:lumMod val="70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9" name="任意多边形 4"/>
          <p:cNvSpPr/>
          <p:nvPr/>
        </p:nvSpPr>
        <p:spPr>
          <a:xfrm>
            <a:off x="1411354"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1048610" name="任意多边形 2"/>
          <p:cNvSpPr/>
          <p:nvPr/>
        </p:nvSpPr>
        <p:spPr>
          <a:xfrm>
            <a:off x="184"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1048611" name="任意多边形 6"/>
          <p:cNvSpPr/>
          <p:nvPr/>
        </p:nvSpPr>
        <p:spPr>
          <a:xfrm>
            <a:off x="9073112"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pic>
        <p:nvPicPr>
          <p:cNvPr id="2097162" name="图片 7"/>
          <p:cNvPicPr>
            <a:picLocks noChangeAspect="1"/>
          </p:cNvPicPr>
          <p:nvPr/>
        </p:nvPicPr>
        <p:blipFill rotWithShape="1">
          <a:blip r:embed="rId2"/>
          <a:srcRect l="15806" t="13440" r="18511" b="11972"/>
          <a:stretch>
            <a:fillRect/>
          </a:stretch>
        </p:blipFill>
        <p:spPr>
          <a:xfrm>
            <a:off x="251950" y="2096308"/>
            <a:ext cx="2385019" cy="2154768"/>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3" name="文本框 2"/>
          <p:cNvSpPr txBox="1"/>
          <p:nvPr/>
        </p:nvSpPr>
        <p:spPr>
          <a:xfrm>
            <a:off x="2893060" y="2978785"/>
            <a:ext cx="9371330" cy="1108075"/>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4: </a:t>
            </a: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Machine Learning Model Training &amp; Evaluation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Algorithm Benchmarking: </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From High-Dimensional Sparse Features to Age Rating Prediction</a:t>
            </a:r>
          </a:p>
        </p:txBody>
      </p:sp>
      <p:sp>
        <p:nvSpPr>
          <p:cNvPr id="4" name="任意多边形 4"/>
          <p:cNvSpPr/>
          <p:nvPr/>
        </p:nvSpPr>
        <p:spPr>
          <a:xfrm>
            <a:off x="1411989"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5" name="任意多边形 2"/>
          <p:cNvSpPr/>
          <p:nvPr/>
        </p:nvSpPr>
        <p:spPr>
          <a:xfrm>
            <a:off x="819"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6" name="任意多边形 6"/>
          <p:cNvSpPr/>
          <p:nvPr/>
        </p:nvSpPr>
        <p:spPr>
          <a:xfrm>
            <a:off x="9073747"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7" name="文本框 6"/>
          <p:cNvSpPr txBox="1"/>
          <p:nvPr/>
        </p:nvSpPr>
        <p:spPr>
          <a:xfrm>
            <a:off x="3145790" y="2926080"/>
            <a:ext cx="7802880" cy="1108075"/>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4: </a:t>
            </a: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Machine Learning Model Training &amp; Evaluation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Algorithm Benchmarking: </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From High-Dimensional Sparse Features to Age Rating Prediction</a:t>
            </a:r>
          </a:p>
          <a:p>
            <a:r>
              <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Presenter:ZiHan Chen</a:t>
            </a:r>
          </a:p>
        </p:txBody>
      </p:sp>
      <p:pic>
        <p:nvPicPr>
          <p:cNvPr id="8" name="图片 7"/>
          <p:cNvPicPr>
            <a:picLocks noChangeAspect="1"/>
          </p:cNvPicPr>
          <p:nvPr/>
        </p:nvPicPr>
        <p:blipFill rotWithShape="1">
          <a:blip r:embed="rId2"/>
          <a:srcRect l="15806" t="13440" r="18511" b="11972"/>
          <a:stretch>
            <a:fillRect/>
          </a:stretch>
        </p:blipFill>
        <p:spPr>
          <a:xfrm>
            <a:off x="184005" y="2037253"/>
            <a:ext cx="2385019" cy="21547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8611"/>
                                        </p:tgtEl>
                                        <p:attrNameLst>
                                          <p:attrName>style.visibility</p:attrName>
                                        </p:attrNameLst>
                                      </p:cBhvr>
                                      <p:to>
                                        <p:strVal val="visible"/>
                                      </p:to>
                                    </p:set>
                                    <p:animEffect transition="in" filter="wipe(down)">
                                      <p:cBhvr>
                                        <p:cTn id="7" dur="500"/>
                                        <p:tgtEl>
                                          <p:spTgt spid="104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Modeling Challenges &amp; Core Strategies</a:t>
            </a:r>
          </a:p>
        </p:txBody>
      </p:sp>
      <p:cxnSp>
        <p:nvCxnSpPr>
          <p:cNvPr id="3"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sp>
        <p:nvSpPr>
          <p:cNvPr id="4" name="AutoShape 4"/>
          <p:cNvSpPr/>
          <p:nvPr/>
        </p:nvSpPr>
        <p:spPr>
          <a:xfrm>
            <a:off x="508000" y="1587500"/>
            <a:ext cx="5270500" cy="4318000"/>
          </a:xfrm>
          <a:prstGeom prst="roundRect">
            <a:avLst>
              <a:gd name="adj" fmla="val 0"/>
            </a:avLst>
          </a:prstGeom>
          <a:solidFill>
            <a:srgbClr val="FFFFFF">
              <a:alpha val="100000"/>
            </a:srgbClr>
          </a:solidFill>
          <a:ln w="38100" cap="flat" cmpd="sng">
            <a:solidFill>
              <a:srgbClr val="AFABAB">
                <a:alpha val="100000"/>
              </a:srgbClr>
            </a:solidFill>
            <a:prstDash val="solid"/>
            <a:miter lim="10000000"/>
          </a:ln>
        </p:spPr>
        <p:txBody>
          <a:bodyPr vert="horz" wrap="square" lIns="63500" tIns="63500" rIns="63500" bIns="63500" rtlCol="0" anchor="ctr"/>
          <a:lstStyle/>
          <a:p>
            <a:pPr algn="ctr">
              <a:defRPr/>
            </a:pPr>
            <a:endParaRPr/>
          </a:p>
        </p:txBody>
      </p:sp>
      <p:sp>
        <p:nvSpPr>
          <p:cNvPr id="5" name="AutoShape 5"/>
          <p:cNvSpPr/>
          <p:nvPr/>
        </p:nvSpPr>
        <p:spPr>
          <a:xfrm>
            <a:off x="647700" y="1684655"/>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3025"/>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Data Challenges</a:t>
            </a:r>
            <a:endParaRPr lang="en-US" sz="1100">
              <a:latin typeface="Arial" panose="020B0604020202020204" pitchFamily="34" charset="0"/>
              <a:cs typeface="Arial" panose="020B0604020202020204" pitchFamily="34" charset="0"/>
            </a:endParaRPr>
          </a:p>
        </p:txBody>
      </p:sp>
      <p:cxnSp>
        <p:nvCxnSpPr>
          <p:cNvPr id="6" name="Connector 6"/>
          <p:cNvCxnSpPr/>
          <p:nvPr/>
        </p:nvCxnSpPr>
        <p:spPr>
          <a:xfrm rot="-9046">
            <a:off x="647708" y="2292350"/>
            <a:ext cx="4826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7" name="AutoShape 7"/>
          <p:cNvSpPr/>
          <p:nvPr/>
        </p:nvSpPr>
        <p:spPr>
          <a:xfrm>
            <a:off x="647700" y="22860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1. High Dimensionality vs. Small Sample Size</a:t>
            </a:r>
            <a:endParaRPr lang="en-US" sz="1200">
              <a:latin typeface="Segoe UI" panose="020B0502040204020203" charset="0"/>
              <a:cs typeface="Segoe UI" panose="020B0502040204020203" charset="0"/>
            </a:endParaRPr>
          </a:p>
          <a:p>
            <a:pPr marL="0" indent="0" algn="l">
              <a:lnSpc>
                <a:spcPct val="108000"/>
              </a:lnSpc>
            </a:pPr>
            <a:r>
              <a:rPr lang="en-US" sz="13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Only 810 training samples, but expanded to 758 dimensions after One-Hot Encoding, leading to the classic "curse of dimensionality".</a:t>
            </a:r>
          </a:p>
        </p:txBody>
      </p:sp>
      <p:cxnSp>
        <p:nvCxnSpPr>
          <p:cNvPr id="8" name="Connector 8"/>
          <p:cNvCxnSpPr/>
          <p:nvPr/>
        </p:nvCxnSpPr>
        <p:spPr>
          <a:xfrm rot="-9046">
            <a:off x="647708" y="3308350"/>
            <a:ext cx="4826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9" name="AutoShape 9"/>
          <p:cNvSpPr/>
          <p:nvPr/>
        </p:nvSpPr>
        <p:spPr>
          <a:xfrm>
            <a:off x="647700" y="36195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2. Extreme Matrix Sparsity</a:t>
            </a:r>
            <a:endParaRPr lang="en-US" sz="1200">
              <a:latin typeface="Segoe UI" panose="020B0502040204020203" charset="0"/>
              <a:cs typeface="Segoe UI" panose="020B0502040204020203" charset="0"/>
            </a:endParaRPr>
          </a:p>
          <a:p>
            <a:pPr marL="0" indent="0" algn="l">
              <a:lnSpc>
                <a:spcPct val="108000"/>
              </a:lnSpc>
            </a:pPr>
            <a:r>
              <a:rPr lang="en-US" sz="13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The vast majority of features are marked as 'No' or 'INACTIVE', which drowns valid signals in a sea of zeros and reduces model sensitivity.</a:t>
            </a:r>
          </a:p>
        </p:txBody>
      </p:sp>
      <p:cxnSp>
        <p:nvCxnSpPr>
          <p:cNvPr id="10" name="Connector 10"/>
          <p:cNvCxnSpPr/>
          <p:nvPr/>
        </p:nvCxnSpPr>
        <p:spPr>
          <a:xfrm rot="-9046">
            <a:off x="647708" y="4654550"/>
            <a:ext cx="4826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11" name="AutoShape 11"/>
          <p:cNvSpPr/>
          <p:nvPr/>
        </p:nvSpPr>
        <p:spPr>
          <a:xfrm>
            <a:off x="647700" y="48768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3. Severe Class Imbalance</a:t>
            </a:r>
            <a:endParaRPr lang="en-US" sz="1200">
              <a:latin typeface="Segoe UI" panose="020B0502040204020203" charset="0"/>
              <a:cs typeface="Segoe UI" panose="020B0502040204020203" charset="0"/>
            </a:endParaRPr>
          </a:p>
          <a:p>
            <a:pPr marL="0" indent="0" algn="l">
              <a:lnSpc>
                <a:spcPct val="108000"/>
              </a:lnSpc>
            </a:pPr>
            <a:r>
              <a:rPr lang="en-US" sz="13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Uneven distribution across 5 age rating categories risks the model being biased towards the majority class.</a:t>
            </a:r>
          </a:p>
        </p:txBody>
      </p:sp>
      <p:cxnSp>
        <p:nvCxnSpPr>
          <p:cNvPr id="12" name="Connector 12"/>
          <p:cNvCxnSpPr/>
          <p:nvPr/>
        </p:nvCxnSpPr>
        <p:spPr>
          <a:xfrm>
            <a:off x="6176010" y="1587500"/>
            <a:ext cx="17145" cy="4428490"/>
          </a:xfrm>
          <a:prstGeom prst="straightConnector1">
            <a:avLst/>
          </a:prstGeom>
          <a:solidFill>
            <a:srgbClr val="DEE0E3">
              <a:alpha val="100000"/>
            </a:srgbClr>
          </a:solidFill>
          <a:ln w="12700" cap="flat" cmpd="sng">
            <a:solidFill>
              <a:srgbClr val="AFABAB">
                <a:alpha val="50000"/>
              </a:srgbClr>
            </a:solidFill>
            <a:prstDash val="solid"/>
            <a:round/>
            <a:headEnd type="none" w="med" len="med"/>
            <a:tailEnd type="none" w="med" len="med"/>
          </a:ln>
        </p:spPr>
      </p:cxnSp>
      <p:sp>
        <p:nvSpPr>
          <p:cNvPr id="13" name="AutoShape 13"/>
          <p:cNvSpPr/>
          <p:nvPr/>
        </p:nvSpPr>
        <p:spPr>
          <a:xfrm>
            <a:off x="6591300" y="1831975"/>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718300" y="1895475"/>
            <a:ext cx="5016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286090"/>
                </a:solidFill>
                <a:latin typeface="Segoe UI" panose="020B0502040204020203" charset="0"/>
                <a:ea typeface="Noto Sans SC" panose="020B0200000000000000" charset="-122"/>
                <a:cs typeface="Segoe UI" panose="020B0502040204020203" charset="0"/>
                <a:sym typeface="Noto Sans SC" panose="020B0200000000000000" charset="-122"/>
              </a:rPr>
              <a:t>🛡  Algorithm Diversity: Broad Evaluation</a:t>
            </a:r>
            <a:endParaRPr lang="en-US" sz="1100" dirty="0">
              <a:latin typeface="Segoe UI" panose="020B0502040204020203" charset="0"/>
              <a:cs typeface="Segoe UI" panose="020B0502040204020203" charset="0"/>
            </a:endParaRPr>
          </a:p>
          <a:p>
            <a:pPr marL="0" indent="0" algn="l">
              <a:lnSpc>
                <a:spcPct val="108000"/>
              </a:lnSpc>
            </a:pPr>
            <a:r>
              <a:rPr lang="en-US" sz="1300" b="0" i="0" u="none" strike="noStrike" dirty="0">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Evaluated 4 classic classification algorithms (Linear vs. Tree-based models) to capture different patterns in the sparse, high-dimensional data landscape.</a:t>
            </a:r>
          </a:p>
        </p:txBody>
      </p:sp>
      <p:sp>
        <p:nvSpPr>
          <p:cNvPr id="15" name="AutoShape 15"/>
          <p:cNvSpPr/>
          <p:nvPr/>
        </p:nvSpPr>
        <p:spPr>
          <a:xfrm>
            <a:off x="6591300" y="3228975"/>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718300" y="3292475"/>
            <a:ext cx="5016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86090"/>
                </a:solidFill>
                <a:latin typeface="Segoe UI" panose="020B0502040204020203" charset="0"/>
                <a:ea typeface="Noto Sans SC" panose="020B0200000000000000" charset="-122"/>
                <a:cs typeface="Segoe UI" panose="020B0502040204020203" charset="0"/>
                <a:sym typeface="Noto Sans SC" panose="020B0200000000000000" charset="-122"/>
              </a:rPr>
              <a:t>⚖   Imbalance Handling: Weighted Optimization</a:t>
            </a:r>
            <a:endParaRPr lang="en-US" sz="1100">
              <a:latin typeface="Segoe UI" panose="020B0502040204020203" charset="0"/>
              <a:cs typeface="Segoe UI" panose="020B0502040204020203" charset="0"/>
            </a:endParaRPr>
          </a:p>
          <a:p>
            <a:pPr marL="0" indent="0" algn="l">
              <a:lnSpc>
                <a:spcPct val="108000"/>
              </a:lnSpc>
            </a:pPr>
            <a:r>
              <a:rPr lang="en-US" sz="13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Enforced class_weight='balanced' across all models to automatically adjust weights inversely proportional to class frequencies, mitigating majority class bias.</a:t>
            </a:r>
          </a:p>
        </p:txBody>
      </p:sp>
      <p:sp>
        <p:nvSpPr>
          <p:cNvPr id="17" name="AutoShape 17"/>
          <p:cNvSpPr/>
          <p:nvPr/>
        </p:nvSpPr>
        <p:spPr>
          <a:xfrm>
            <a:off x="6591300" y="4625975"/>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718300" y="4689475"/>
            <a:ext cx="5016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86090"/>
                </a:solidFill>
                <a:latin typeface="Segoe UI" panose="020B0502040204020203" charset="0"/>
                <a:ea typeface="Noto Sans SC" panose="020B0200000000000000" charset="-122"/>
                <a:cs typeface="Segoe UI" panose="020B0502040204020203" charset="0"/>
                <a:sym typeface="Noto Sans SC" panose="020B0200000000000000" charset="-122"/>
              </a:rPr>
              <a:t>📊   Fair Benchmarking: Rigorous Validation</a:t>
            </a:r>
            <a:endParaRPr lang="en-US" sz="1100">
              <a:latin typeface="Segoe UI" panose="020B0502040204020203" charset="0"/>
              <a:cs typeface="Segoe UI" panose="020B0502040204020203" charset="0"/>
            </a:endParaRPr>
          </a:p>
          <a:p>
            <a:pPr marL="0" indent="0" algn="l">
              <a:lnSpc>
                <a:spcPct val="108000"/>
              </a:lnSpc>
            </a:pPr>
            <a:r>
              <a:rPr lang="en-US" sz="13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Applied strict 5-Fold Cross-Validation (GridSearchCV) uniformly to all models, ensuring a consistent, unbiased comparison of performance metrics.</a:t>
            </a:r>
          </a:p>
        </p:txBody>
      </p: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508000" y="1515745"/>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endParaRPr/>
          </a:p>
        </p:txBody>
      </p:sp>
      <p:sp>
        <p:nvSpPr>
          <p:cNvPr id="6" name="AutoShape 6"/>
          <p:cNvSpPr/>
          <p:nvPr/>
        </p:nvSpPr>
        <p:spPr>
          <a:xfrm>
            <a:off x="508000" y="4596130"/>
            <a:ext cx="2223135"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 y="4723130"/>
            <a:ext cx="196913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Test Set</a:t>
            </a: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 Accuracy</a:t>
            </a:r>
            <a:endParaRPr lang="en-US" sz="1000">
              <a:latin typeface="Segoe UI" panose="020B0502040204020203" charset="0"/>
              <a:cs typeface="Segoe UI" panose="020B0502040204020203" charset="0"/>
            </a:endParaRPr>
          </a:p>
          <a:p>
            <a:pPr marL="0" indent="0" algn="ctr">
              <a:lnSpc>
                <a:spcPct val="125000"/>
              </a:lnSpc>
            </a:pPr>
            <a:r>
              <a:rPr lang="en-US" altLang="zh-CN" sz="28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0.921</a:t>
            </a:r>
          </a:p>
        </p:txBody>
      </p:sp>
      <p:sp>
        <p:nvSpPr>
          <p:cNvPr id="8" name="AutoShape 8"/>
          <p:cNvSpPr/>
          <p:nvPr/>
        </p:nvSpPr>
        <p:spPr>
          <a:xfrm>
            <a:off x="2857500" y="4596130"/>
            <a:ext cx="2223135"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983865" y="4723130"/>
            <a:ext cx="196913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Macro F1 Score</a:t>
            </a:r>
            <a:endParaRPr lang="en-US" sz="1100">
              <a:latin typeface="Segoe UI" panose="020B0502040204020203" charset="0"/>
              <a:cs typeface="Segoe UI" panose="020B0502040204020203" charset="0"/>
            </a:endParaRPr>
          </a:p>
          <a:p>
            <a:pPr marL="0" indent="0" algn="ctr">
              <a:lnSpc>
                <a:spcPct val="125000"/>
              </a:lnSpc>
            </a:pPr>
            <a:r>
              <a:rPr lang="en-US" altLang="zh-CN" sz="28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0.918</a:t>
            </a:r>
          </a:p>
        </p:txBody>
      </p:sp>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60855"/>
            <a:ext cx="5842000" cy="131254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1760855"/>
            <a:ext cx="5588000" cy="1219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b="1" dirty="0">
                <a:solidFill>
                  <a:srgbClr val="1F2329"/>
                </a:solidFill>
                <a:latin typeface="Arial" panose="020B0604020202020204" pitchFamily="34" charset="0"/>
                <a:ea typeface="Noto Sans SC" panose="020B0200000000000000" charset="-122"/>
                <a:cs typeface="Arial" panose="020B0604020202020204" pitchFamily="34" charset="0"/>
              </a:rPr>
              <a:t>Model Intro</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A classic linear classifier utilizing regularization penalties. It is naturally suited for high-dimensional and extremely sparse feature spaces.</a:t>
            </a:r>
          </a:p>
        </p:txBody>
      </p:sp>
      <p:sp>
        <p:nvSpPr>
          <p:cNvPr id="13" name="AutoShape 13"/>
          <p:cNvSpPr/>
          <p:nvPr/>
        </p:nvSpPr>
        <p:spPr>
          <a:xfrm>
            <a:off x="583819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3479800"/>
            <a:ext cx="5588000" cy="145224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b="1" dirty="0">
                <a:solidFill>
                  <a:srgbClr val="1F2329"/>
                </a:solidFill>
                <a:latin typeface="Arial" panose="020B0604020202020204" pitchFamily="34" charset="0"/>
                <a:ea typeface="Noto Sans SC" panose="020B0200000000000000" charset="-122"/>
                <a:cs typeface="Arial" panose="020B0604020202020204" pitchFamily="34" charset="0"/>
              </a:rPr>
              <a:t>Training Process</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Conducted an exhaustive Grid Search with 53 parameter combinations via 5-Fold CV. The tuning focused on the regularization penalty (l1_ratio), inverse regularization strength (C), and adopting the saga solver optimized for large sparse datasets.</a:t>
            </a:r>
          </a:p>
        </p:txBody>
      </p:sp>
      <p:sp>
        <p:nvSpPr>
          <p:cNvPr id="15" name="AutoShape 15"/>
          <p:cNvSpPr/>
          <p:nvPr/>
        </p:nvSpPr>
        <p:spPr>
          <a:xfrm>
            <a:off x="5838190" y="5338445"/>
            <a:ext cx="5842000" cy="904875"/>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969000" y="5384800"/>
            <a:ext cx="558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Optimal Hyperparameters:</a:t>
            </a:r>
          </a:p>
          <a:p>
            <a:pPr marL="0" indent="0" algn="l">
              <a:lnSpc>
                <a:spcPct val="108000"/>
              </a:lnSpc>
              <a:defRPr/>
            </a:pPr>
            <a:r>
              <a:rPr lang="en-US" altLang="zh-CN" sz="1400" dirty="0">
                <a:solidFill>
                  <a:srgbClr val="595959"/>
                </a:solidFill>
                <a:latin typeface="Segoe UI" panose="020B0502040204020203" charset="0"/>
                <a:ea typeface="Songti SC"/>
                <a:cs typeface="Segoe UI" panose="020B0502040204020203" charset="0"/>
              </a:rPr>
              <a:t>l1_ratio=1.0 (Pure L1 Lasso),C=10.0, solver='saga'</a:t>
            </a:r>
          </a:p>
        </p:txBody>
      </p:sp>
      <p:sp>
        <p:nvSpPr>
          <p:cNvPr id="17"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a:solidFill>
                  <a:srgbClr val="1F2329"/>
                </a:solidFill>
                <a:latin typeface="Arial" panose="020B0604020202020204" pitchFamily="34" charset="0"/>
                <a:ea typeface="Noto Sans SC" panose="020B0200000000000000" charset="-122"/>
                <a:cs typeface="Arial" panose="020B0604020202020204" pitchFamily="34" charset="0"/>
              </a:rPr>
              <a:t>Model 1: Logistic Regression (The Sparse Champion)</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pic>
        <p:nvPicPr>
          <p:cNvPr id="21" name="图片 20" descr="confusion_matrix_logistic_regression_test"/>
          <p:cNvPicPr>
            <a:picLocks noChangeAspect="1"/>
          </p:cNvPicPr>
          <p:nvPr/>
        </p:nvPicPr>
        <p:blipFill>
          <a:blip r:embed="rId4"/>
          <a:stretch>
            <a:fillRect/>
          </a:stretch>
        </p:blipFill>
        <p:spPr>
          <a:xfrm>
            <a:off x="635000" y="1609090"/>
            <a:ext cx="4317365" cy="2698750"/>
          </a:xfrm>
          <a:prstGeom prst="rect">
            <a:avLst/>
          </a:prstGeom>
        </p:spPr>
      </p:pic>
      <p:sp>
        <p:nvSpPr>
          <p:cNvPr id="22" name="AutoShape 11"/>
          <p:cNvSpPr/>
          <p:nvPr/>
        </p:nvSpPr>
        <p:spPr>
          <a:xfrm>
            <a:off x="508000" y="5989320"/>
            <a:ext cx="4572635" cy="51435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en-US" sz="1400">
                <a:solidFill>
                  <a:srgbClr val="595959"/>
                </a:solidFill>
                <a:latin typeface="Segoe UI" panose="020B0502040204020203" charset="0"/>
                <a:ea typeface="Noto Sans SC" panose="020B0200000000000000" charset="-122"/>
                <a:cs typeface="Segoe UI" panose="020B0502040204020203" charset="0"/>
              </a:rPr>
              <a:t>💡 Insight: Pure L1 Regularization automatically triggered extreme feature selection.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508000" y="1515745"/>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endParaRPr/>
          </a:p>
        </p:txBody>
      </p:sp>
      <p:sp>
        <p:nvSpPr>
          <p:cNvPr id="6" name="AutoShape 6"/>
          <p:cNvSpPr/>
          <p:nvPr/>
        </p:nvSpPr>
        <p:spPr>
          <a:xfrm>
            <a:off x="508000" y="4596130"/>
            <a:ext cx="2223135"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 y="4723130"/>
            <a:ext cx="196913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Test Set</a:t>
            </a: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 Accuracy</a:t>
            </a:r>
            <a:endParaRPr lang="en-US" sz="1100">
              <a:latin typeface="Segoe UI" panose="020B0502040204020203" charset="0"/>
              <a:cs typeface="Segoe UI" panose="020B0502040204020203" charset="0"/>
            </a:endParaRPr>
          </a:p>
          <a:p>
            <a:pPr marL="0" indent="0" algn="ctr">
              <a:lnSpc>
                <a:spcPct val="125000"/>
              </a:lnSpc>
            </a:pPr>
            <a:r>
              <a:rPr lang="en-US" altLang="zh-CN" sz="28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0.783</a:t>
            </a:r>
          </a:p>
        </p:txBody>
      </p:sp>
      <p:sp>
        <p:nvSpPr>
          <p:cNvPr id="8" name="AutoShape 8"/>
          <p:cNvSpPr/>
          <p:nvPr/>
        </p:nvSpPr>
        <p:spPr>
          <a:xfrm>
            <a:off x="2857500" y="4596130"/>
            <a:ext cx="2223135"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983865" y="4723130"/>
            <a:ext cx="196913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Macro F1 Score</a:t>
            </a:r>
            <a:endParaRPr lang="en-US" sz="1100">
              <a:latin typeface="Segoe UI" panose="020B0502040204020203" charset="0"/>
              <a:cs typeface="Segoe UI" panose="020B0502040204020203" charset="0"/>
            </a:endParaRPr>
          </a:p>
          <a:p>
            <a:pPr marL="0" indent="0" algn="ctr">
              <a:lnSpc>
                <a:spcPct val="125000"/>
              </a:lnSpc>
            </a:pPr>
            <a:r>
              <a:rPr lang="en-US" altLang="zh-CN" sz="28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0.797</a:t>
            </a:r>
          </a:p>
        </p:txBody>
      </p:sp>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60855"/>
            <a:ext cx="5842000" cy="131254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1760855"/>
            <a:ext cx="5588000" cy="1219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b="1" dirty="0">
                <a:solidFill>
                  <a:srgbClr val="1F2329"/>
                </a:solidFill>
                <a:latin typeface="Arial" panose="020B0604020202020204" pitchFamily="34" charset="0"/>
                <a:ea typeface="Noto Sans SC" panose="020B0200000000000000" charset="-122"/>
                <a:cs typeface="Arial" panose="020B0604020202020204" pitchFamily="34" charset="0"/>
              </a:rPr>
              <a:t>Model Intro</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A classic Bagging ensemble model that builds multiple decision trees to capture complex non-linear relationships.</a:t>
            </a:r>
          </a:p>
        </p:txBody>
      </p:sp>
      <p:sp>
        <p:nvSpPr>
          <p:cNvPr id="13" name="AutoShape 13"/>
          <p:cNvSpPr/>
          <p:nvPr/>
        </p:nvSpPr>
        <p:spPr>
          <a:xfrm>
            <a:off x="583819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3479800"/>
            <a:ext cx="5588000" cy="145224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b="1" dirty="0">
                <a:solidFill>
                  <a:srgbClr val="1F2329"/>
                </a:solidFill>
                <a:latin typeface="Arial" panose="020B0604020202020204" pitchFamily="34" charset="0"/>
                <a:ea typeface="Noto Sans SC" panose="020B0200000000000000" charset="-122"/>
                <a:cs typeface="Arial" panose="020B0604020202020204" pitchFamily="34" charset="0"/>
              </a:rPr>
              <a:t>Training Process</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Performed a 162-combination Grid Search (5-Fold CV) to optimize tree splitting mechanics. The search space heavily explored maximum tree depth (</a:t>
            </a:r>
            <a:r>
              <a:rPr lang="en-US" altLang="zh-CN" sz="1400" b="0" i="0" u="none" strike="noStrike" dirty="0" err="1">
                <a:solidFill>
                  <a:srgbClr val="595959"/>
                </a:solidFill>
                <a:latin typeface="Segoe UI" panose="020B0502040204020203" charset="0"/>
                <a:ea typeface="Songti SC"/>
                <a:cs typeface="Segoe UI" panose="020B0502040204020203" charset="0"/>
                <a:sym typeface="Songti SC"/>
              </a:rPr>
              <a:t>max_depth</a:t>
            </a: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 minimum leaf samples (</a:t>
            </a:r>
            <a:r>
              <a:rPr lang="en-US" altLang="zh-CN" sz="1400" b="0" i="0" u="none" strike="noStrike" dirty="0" err="1">
                <a:solidFill>
                  <a:srgbClr val="595959"/>
                </a:solidFill>
                <a:latin typeface="Segoe UI" panose="020B0502040204020203" charset="0"/>
                <a:ea typeface="Songti SC"/>
                <a:cs typeface="Segoe UI" panose="020B0502040204020203" charset="0"/>
                <a:sym typeface="Songti SC"/>
              </a:rPr>
              <a:t>min_samples_leaf</a:t>
            </a: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 and feature sampling rates (</a:t>
            </a:r>
            <a:r>
              <a:rPr lang="en-US" altLang="zh-CN" sz="1400" b="0" i="0" u="none" strike="noStrike" dirty="0" err="1">
                <a:solidFill>
                  <a:srgbClr val="595959"/>
                </a:solidFill>
                <a:latin typeface="Segoe UI" panose="020B0502040204020203" charset="0"/>
                <a:ea typeface="Songti SC"/>
                <a:cs typeface="Segoe UI" panose="020B0502040204020203" charset="0"/>
                <a:sym typeface="Songti SC"/>
              </a:rPr>
              <a:t>max_features</a:t>
            </a: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a:t>
            </a:r>
          </a:p>
        </p:txBody>
      </p:sp>
      <p:sp>
        <p:nvSpPr>
          <p:cNvPr id="15" name="AutoShape 15"/>
          <p:cNvSpPr/>
          <p:nvPr/>
        </p:nvSpPr>
        <p:spPr>
          <a:xfrm>
            <a:off x="5838190" y="5338445"/>
            <a:ext cx="5842000" cy="904875"/>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969000" y="5384800"/>
            <a:ext cx="558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Optimal Hyperparameters:</a:t>
            </a:r>
          </a:p>
          <a:p>
            <a:pPr marL="0" indent="0" algn="l">
              <a:lnSpc>
                <a:spcPct val="108000"/>
              </a:lnSpc>
              <a:defRPr/>
            </a:pPr>
            <a:r>
              <a:rPr lang="en-US" altLang="zh-CN" sz="1400" dirty="0" err="1">
                <a:solidFill>
                  <a:srgbClr val="595959"/>
                </a:solidFill>
                <a:latin typeface="Segoe UI" panose="020B0502040204020203" charset="0"/>
                <a:ea typeface="Songti SC"/>
                <a:cs typeface="Segoe UI" panose="020B0502040204020203" charset="0"/>
              </a:rPr>
              <a:t>max_depth</a:t>
            </a:r>
            <a:r>
              <a:rPr lang="en-US" altLang="zh-CN" sz="1400" dirty="0">
                <a:solidFill>
                  <a:srgbClr val="595959"/>
                </a:solidFill>
                <a:latin typeface="Segoe UI" panose="020B0502040204020203" charset="0"/>
                <a:ea typeface="Songti SC"/>
                <a:cs typeface="Segoe UI" panose="020B0502040204020203" charset="0"/>
              </a:rPr>
              <a:t>=None, </a:t>
            </a:r>
            <a:r>
              <a:rPr lang="en-US" altLang="zh-CN" sz="1400" dirty="0" err="1">
                <a:solidFill>
                  <a:srgbClr val="595959"/>
                </a:solidFill>
                <a:latin typeface="Segoe UI" panose="020B0502040204020203" charset="0"/>
                <a:ea typeface="Songti SC"/>
                <a:cs typeface="Segoe UI" panose="020B0502040204020203" charset="0"/>
              </a:rPr>
              <a:t>min_samples_leaf</a:t>
            </a:r>
            <a:r>
              <a:rPr lang="en-US" altLang="zh-CN" sz="1400" dirty="0">
                <a:solidFill>
                  <a:srgbClr val="595959"/>
                </a:solidFill>
                <a:latin typeface="Segoe UI" panose="020B0502040204020203" charset="0"/>
                <a:ea typeface="Songti SC"/>
                <a:cs typeface="Segoe UI" panose="020B0502040204020203" charset="0"/>
              </a:rPr>
              <a:t>=1, </a:t>
            </a:r>
            <a:r>
              <a:rPr lang="en-US" altLang="zh-CN" sz="1400" dirty="0" err="1">
                <a:solidFill>
                  <a:srgbClr val="595959"/>
                </a:solidFill>
                <a:latin typeface="Segoe UI" panose="020B0502040204020203" charset="0"/>
                <a:ea typeface="Songti SC"/>
                <a:cs typeface="Segoe UI" panose="020B0502040204020203" charset="0"/>
              </a:rPr>
              <a:t>max_features</a:t>
            </a:r>
            <a:r>
              <a:rPr lang="en-US" altLang="zh-CN" sz="1400" dirty="0">
                <a:solidFill>
                  <a:srgbClr val="595959"/>
                </a:solidFill>
                <a:latin typeface="Segoe UI" panose="020B0502040204020203" charset="0"/>
                <a:ea typeface="Songti SC"/>
                <a:cs typeface="Segoe UI" panose="020B0502040204020203" charset="0"/>
              </a:rPr>
              <a:t>=0.3</a:t>
            </a:r>
          </a:p>
        </p:txBody>
      </p:sp>
      <p:sp>
        <p:nvSpPr>
          <p:cNvPr id="17"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Model 2: Random Forest (The Unconstrained Baseline)</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22" name="AutoShape 11"/>
          <p:cNvSpPr/>
          <p:nvPr/>
        </p:nvSpPr>
        <p:spPr>
          <a:xfrm>
            <a:off x="508000" y="5989320"/>
            <a:ext cx="4572635" cy="51435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zh-CN" altLang="en-US" sz="1400">
                <a:solidFill>
                  <a:srgbClr val="595959"/>
                </a:solidFill>
                <a:latin typeface="Segoe UI" panose="020B0502040204020203" charset="0"/>
                <a:ea typeface="Noto Sans SC" panose="020B0200000000000000" charset="-122"/>
                <a:cs typeface="Segoe UI" panose="020B0502040204020203" charset="0"/>
              </a:rPr>
              <a:t>⚠</a:t>
            </a:r>
            <a:r>
              <a:rPr lang="en-US" altLang="zh-CN" sz="1400">
                <a:solidFill>
                  <a:srgbClr val="595959"/>
                </a:solidFill>
                <a:latin typeface="Segoe UI" panose="020B0502040204020203" charset="0"/>
                <a:ea typeface="Noto Sans SC" panose="020B0200000000000000" charset="-122"/>
                <a:cs typeface="Segoe UI" panose="020B0502040204020203" charset="0"/>
              </a:rPr>
              <a:t>Warning: max_depth=None led to severe overfitting (memorization) on the small training set.</a:t>
            </a:r>
          </a:p>
        </p:txBody>
      </p:sp>
      <p:pic>
        <p:nvPicPr>
          <p:cNvPr id="3" name="图片 2" descr="confusion_matrix_random_forest_test"/>
          <p:cNvPicPr>
            <a:picLocks noChangeAspect="1"/>
          </p:cNvPicPr>
          <p:nvPr/>
        </p:nvPicPr>
        <p:blipFill>
          <a:blip r:embed="rId4"/>
          <a:stretch>
            <a:fillRect/>
          </a:stretch>
        </p:blipFill>
        <p:spPr>
          <a:xfrm>
            <a:off x="635000" y="1620520"/>
            <a:ext cx="4317365" cy="27076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508000" y="1515745"/>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endParaRPr/>
          </a:p>
        </p:txBody>
      </p:sp>
      <p:sp>
        <p:nvSpPr>
          <p:cNvPr id="6" name="AutoShape 6"/>
          <p:cNvSpPr/>
          <p:nvPr/>
        </p:nvSpPr>
        <p:spPr>
          <a:xfrm>
            <a:off x="508000" y="4596130"/>
            <a:ext cx="2223135"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 y="4723130"/>
            <a:ext cx="196913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Test Set</a:t>
            </a: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 Accuracy</a:t>
            </a:r>
            <a:endParaRPr lang="en-US" sz="1100">
              <a:latin typeface="Segoe UI" panose="020B0502040204020203" charset="0"/>
              <a:cs typeface="Segoe UI" panose="020B0502040204020203" charset="0"/>
            </a:endParaRPr>
          </a:p>
          <a:p>
            <a:pPr marL="0" indent="0" algn="ctr">
              <a:lnSpc>
                <a:spcPct val="125000"/>
              </a:lnSpc>
            </a:pPr>
            <a:r>
              <a:rPr lang="en-US" altLang="zh-CN" sz="28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0.814</a:t>
            </a:r>
          </a:p>
        </p:txBody>
      </p:sp>
      <p:sp>
        <p:nvSpPr>
          <p:cNvPr id="8" name="AutoShape 8"/>
          <p:cNvSpPr/>
          <p:nvPr/>
        </p:nvSpPr>
        <p:spPr>
          <a:xfrm>
            <a:off x="2857500" y="4596130"/>
            <a:ext cx="2223135"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983865" y="4723130"/>
            <a:ext cx="196913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Macro F1 Score</a:t>
            </a:r>
            <a:endParaRPr lang="en-US" sz="1100">
              <a:latin typeface="Segoe UI" panose="020B0502040204020203" charset="0"/>
              <a:cs typeface="Segoe UI" panose="020B0502040204020203" charset="0"/>
            </a:endParaRPr>
          </a:p>
          <a:p>
            <a:pPr marL="0" indent="0" algn="ctr">
              <a:lnSpc>
                <a:spcPct val="125000"/>
              </a:lnSpc>
            </a:pPr>
            <a:r>
              <a:rPr lang="en-US" altLang="zh-CN" sz="28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0.810</a:t>
            </a:r>
          </a:p>
        </p:txBody>
      </p:sp>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60855"/>
            <a:ext cx="5842000" cy="131254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1760855"/>
            <a:ext cx="5588000" cy="1219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b="1" dirty="0">
                <a:solidFill>
                  <a:srgbClr val="1F2329"/>
                </a:solidFill>
                <a:latin typeface="Arial" panose="020B0604020202020204" pitchFamily="34" charset="0"/>
                <a:ea typeface="Noto Sans SC" panose="020B0200000000000000" charset="-122"/>
                <a:cs typeface="Arial" panose="020B0604020202020204" pitchFamily="34" charset="0"/>
              </a:rPr>
              <a:t>Model Intro</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A highly optimized Gradient Boosting Decision Tree (GBDT) framework with built-in sparsity-aware split finding.</a:t>
            </a:r>
          </a:p>
        </p:txBody>
      </p:sp>
      <p:sp>
        <p:nvSpPr>
          <p:cNvPr id="13" name="AutoShape 13"/>
          <p:cNvSpPr/>
          <p:nvPr/>
        </p:nvSpPr>
        <p:spPr>
          <a:xfrm>
            <a:off x="583819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3479800"/>
            <a:ext cx="5588000" cy="145224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b="1" dirty="0">
                <a:solidFill>
                  <a:srgbClr val="1F2329"/>
                </a:solidFill>
                <a:latin typeface="Arial" panose="020B0604020202020204" pitchFamily="34" charset="0"/>
                <a:ea typeface="Noto Sans SC" panose="020B0200000000000000" charset="-122"/>
                <a:cs typeface="Arial" panose="020B0604020202020204" pitchFamily="34" charset="0"/>
              </a:rPr>
              <a:t>Training Process</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Implemented a 2-stage training pipeline to prevent overfitting. </a:t>
            </a:r>
          </a:p>
          <a:p>
            <a:pPr marL="0" indent="0" algn="l">
              <a:lnSpc>
                <a:spcPct val="117000"/>
              </a:lnSpc>
            </a:pPr>
            <a:r>
              <a:rPr lang="en-US" altLang="zh-CN" sz="1400" b="1" i="0" u="none" strike="noStrike" dirty="0">
                <a:solidFill>
                  <a:srgbClr val="595959"/>
                </a:solidFill>
                <a:latin typeface="Segoe UI" panose="020B0502040204020203" charset="0"/>
                <a:ea typeface="Songti SC"/>
                <a:cs typeface="Segoe UI" panose="020B0502040204020203" charset="0"/>
                <a:sym typeface="Songti SC"/>
              </a:rPr>
              <a:t>Stage 1: </a:t>
            </a: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Anti-overfitting Grid Search limiting tree depth and feature sampling. </a:t>
            </a:r>
          </a:p>
          <a:p>
            <a:pPr marL="0" indent="0" algn="l">
              <a:lnSpc>
                <a:spcPct val="117000"/>
              </a:lnSpc>
            </a:pPr>
            <a:r>
              <a:rPr lang="en-US" altLang="zh-CN" sz="1400" b="1" i="0" u="none" strike="noStrike" dirty="0">
                <a:solidFill>
                  <a:srgbClr val="595959"/>
                </a:solidFill>
                <a:latin typeface="Segoe UI" panose="020B0502040204020203" charset="0"/>
                <a:ea typeface="Songti SC"/>
                <a:cs typeface="Segoe UI" panose="020B0502040204020203" charset="0"/>
                <a:sym typeface="Songti SC"/>
              </a:rPr>
              <a:t>Stage 2: </a:t>
            </a: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Final training with 500 estimators utilizing Early Stopping (patience=30) monitored on an independent validation set.</a:t>
            </a:r>
          </a:p>
        </p:txBody>
      </p:sp>
      <p:sp>
        <p:nvSpPr>
          <p:cNvPr id="15" name="AutoShape 15"/>
          <p:cNvSpPr/>
          <p:nvPr/>
        </p:nvSpPr>
        <p:spPr>
          <a:xfrm>
            <a:off x="5838190" y="5338445"/>
            <a:ext cx="5842000" cy="904875"/>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969000" y="5384800"/>
            <a:ext cx="558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Optimal Hyperparameters:</a:t>
            </a:r>
          </a:p>
          <a:p>
            <a:pPr marL="0" indent="0" algn="l">
              <a:lnSpc>
                <a:spcPct val="108000"/>
              </a:lnSpc>
              <a:defRPr/>
            </a:pPr>
            <a:r>
              <a:rPr lang="en-US" altLang="zh-CN" sz="1400" dirty="0" err="1">
                <a:solidFill>
                  <a:srgbClr val="595959"/>
                </a:solidFill>
                <a:latin typeface="Segoe UI" panose="020B0502040204020203" charset="0"/>
                <a:ea typeface="Songti SC"/>
                <a:cs typeface="Segoe UI" panose="020B0502040204020203" charset="0"/>
              </a:rPr>
              <a:t>max_depth</a:t>
            </a:r>
            <a:r>
              <a:rPr lang="en-US" altLang="zh-CN" sz="1400" dirty="0">
                <a:solidFill>
                  <a:srgbClr val="595959"/>
                </a:solidFill>
                <a:latin typeface="Segoe UI" panose="020B0502040204020203" charset="0"/>
                <a:ea typeface="Songti SC"/>
                <a:cs typeface="Segoe UI" panose="020B0502040204020203" charset="0"/>
              </a:rPr>
              <a:t>=6, </a:t>
            </a:r>
            <a:r>
              <a:rPr lang="en-US" altLang="zh-CN" sz="1400" dirty="0" err="1">
                <a:solidFill>
                  <a:srgbClr val="595959"/>
                </a:solidFill>
                <a:latin typeface="Segoe UI" panose="020B0502040204020203" charset="0"/>
                <a:ea typeface="Songti SC"/>
                <a:cs typeface="Segoe UI" panose="020B0502040204020203" charset="0"/>
              </a:rPr>
              <a:t>colsample_bytree</a:t>
            </a:r>
            <a:r>
              <a:rPr lang="en-US" altLang="zh-CN" sz="1400" dirty="0">
                <a:solidFill>
                  <a:srgbClr val="595959"/>
                </a:solidFill>
                <a:latin typeface="Segoe UI" panose="020B0502040204020203" charset="0"/>
                <a:ea typeface="Songti SC"/>
                <a:cs typeface="Segoe UI" panose="020B0502040204020203" charset="0"/>
              </a:rPr>
              <a:t>=0.8, subsample=1.0</a:t>
            </a:r>
          </a:p>
        </p:txBody>
      </p:sp>
      <p:sp>
        <p:nvSpPr>
          <p:cNvPr id="17"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Model 3: XGBoost (The Robust Performer)</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22" name="AutoShape 11"/>
          <p:cNvSpPr/>
          <p:nvPr/>
        </p:nvSpPr>
        <p:spPr>
          <a:xfrm>
            <a:off x="508000" y="5989320"/>
            <a:ext cx="4572635" cy="51435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zh-CN" altLang="en-US" sz="1400">
                <a:solidFill>
                  <a:srgbClr val="595959"/>
                </a:solidFill>
                <a:latin typeface="Segoe UI" panose="020B0502040204020203" charset="0"/>
                <a:ea typeface="Noto Sans SC" panose="020B0200000000000000" charset="-122"/>
                <a:cs typeface="Segoe UI" panose="020B0502040204020203" charset="0"/>
              </a:rPr>
              <a:t>🛡</a:t>
            </a:r>
            <a:r>
              <a:rPr lang="en-US" altLang="zh-CN" sz="1400">
                <a:solidFill>
                  <a:srgbClr val="595959"/>
                </a:solidFill>
                <a:latin typeface="Segoe UI" panose="020B0502040204020203" charset="0"/>
                <a:ea typeface="Noto Sans SC" panose="020B0200000000000000" charset="-122"/>
                <a:cs typeface="Segoe UI" panose="020B0502040204020203" charset="0"/>
              </a:rPr>
              <a:t> Strategy: Constrained depth feature sub-sampling forced the model to learn true generalized rules.</a:t>
            </a:r>
          </a:p>
        </p:txBody>
      </p:sp>
      <p:pic>
        <p:nvPicPr>
          <p:cNvPr id="2" name="图片 1" descr="xgboost"/>
          <p:cNvPicPr>
            <a:picLocks noChangeAspect="1"/>
          </p:cNvPicPr>
          <p:nvPr/>
        </p:nvPicPr>
        <p:blipFill>
          <a:blip r:embed="rId4"/>
          <a:stretch>
            <a:fillRect/>
          </a:stretch>
        </p:blipFill>
        <p:spPr>
          <a:xfrm>
            <a:off x="631825" y="1616710"/>
            <a:ext cx="4320540" cy="26949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508000" y="1515745"/>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endParaRPr/>
          </a:p>
        </p:txBody>
      </p:sp>
      <p:sp>
        <p:nvSpPr>
          <p:cNvPr id="6" name="AutoShape 6"/>
          <p:cNvSpPr/>
          <p:nvPr/>
        </p:nvSpPr>
        <p:spPr>
          <a:xfrm>
            <a:off x="508000" y="4596130"/>
            <a:ext cx="2223135"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 y="4723130"/>
            <a:ext cx="196913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Test Set</a:t>
            </a: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 Accuracy</a:t>
            </a:r>
            <a:endParaRPr lang="en-US" sz="1100">
              <a:latin typeface="Segoe UI" panose="020B0502040204020203" charset="0"/>
              <a:cs typeface="Segoe UI" panose="020B0502040204020203" charset="0"/>
            </a:endParaRPr>
          </a:p>
          <a:p>
            <a:pPr marL="0" indent="0" algn="ctr">
              <a:lnSpc>
                <a:spcPct val="125000"/>
              </a:lnSpc>
            </a:pPr>
            <a:r>
              <a:rPr lang="en-US" altLang="zh-CN" sz="28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0.780</a:t>
            </a:r>
          </a:p>
        </p:txBody>
      </p:sp>
      <p:sp>
        <p:nvSpPr>
          <p:cNvPr id="8" name="AutoShape 8"/>
          <p:cNvSpPr/>
          <p:nvPr/>
        </p:nvSpPr>
        <p:spPr>
          <a:xfrm>
            <a:off x="2857500" y="4596130"/>
            <a:ext cx="2223135"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983865" y="4723130"/>
            <a:ext cx="196913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Macro F1 Score</a:t>
            </a:r>
            <a:endParaRPr lang="en-US" sz="1100">
              <a:latin typeface="Segoe UI" panose="020B0502040204020203" charset="0"/>
              <a:cs typeface="Segoe UI" panose="020B0502040204020203" charset="0"/>
            </a:endParaRPr>
          </a:p>
          <a:p>
            <a:pPr marL="0" indent="0" algn="ctr">
              <a:lnSpc>
                <a:spcPct val="125000"/>
              </a:lnSpc>
            </a:pPr>
            <a:r>
              <a:rPr lang="en-US" altLang="zh-CN" sz="28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0.780</a:t>
            </a:r>
          </a:p>
        </p:txBody>
      </p:sp>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60855"/>
            <a:ext cx="5842000" cy="131254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1760855"/>
            <a:ext cx="5588000" cy="1219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b="1" dirty="0">
                <a:solidFill>
                  <a:srgbClr val="1F2329"/>
                </a:solidFill>
                <a:latin typeface="Arial" panose="020B0604020202020204" pitchFamily="34" charset="0"/>
                <a:ea typeface="Noto Sans SC" panose="020B0200000000000000" charset="-122"/>
                <a:cs typeface="Arial" panose="020B0604020202020204" pitchFamily="34" charset="0"/>
              </a:rPr>
              <a:t>Model Intro</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A lightweight GBDT framework known for its fast Histogram-based algorithms and aggressive Leaf-wise growth strategy.</a:t>
            </a:r>
          </a:p>
        </p:txBody>
      </p:sp>
      <p:sp>
        <p:nvSpPr>
          <p:cNvPr id="13" name="AutoShape 13"/>
          <p:cNvSpPr/>
          <p:nvPr/>
        </p:nvSpPr>
        <p:spPr>
          <a:xfrm>
            <a:off x="583819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3479800"/>
            <a:ext cx="5588000" cy="145224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b="1" dirty="0">
                <a:solidFill>
                  <a:srgbClr val="1F2329"/>
                </a:solidFill>
                <a:latin typeface="Arial" panose="020B0604020202020204" pitchFamily="34" charset="0"/>
                <a:ea typeface="Noto Sans SC" panose="020B0200000000000000" charset="-122"/>
                <a:cs typeface="Arial" panose="020B0604020202020204" pitchFamily="34" charset="0"/>
              </a:rPr>
              <a:t>Training Process</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Configured to single-thread mode (</a:t>
            </a:r>
            <a:r>
              <a:rPr lang="en-US" altLang="zh-CN" sz="1400" b="0" i="0" u="none" strike="noStrike" dirty="0" err="1">
                <a:solidFill>
                  <a:srgbClr val="595959"/>
                </a:solidFill>
                <a:latin typeface="Segoe UI" panose="020B0502040204020203" charset="0"/>
                <a:ea typeface="Songti SC"/>
                <a:cs typeface="Segoe UI" panose="020B0502040204020203" charset="0"/>
                <a:sym typeface="Songti SC"/>
              </a:rPr>
              <a:t>n_jobs</a:t>
            </a: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=1) to bypass C++ OpenMP deadlocks caused by small datasets. Applied rigorous Grid Search focusing on extreme leaf capacity constraints (</a:t>
            </a:r>
            <a:r>
              <a:rPr lang="en-US" altLang="zh-CN" sz="1400" b="0" i="0" u="none" strike="noStrike" dirty="0" err="1">
                <a:solidFill>
                  <a:srgbClr val="595959"/>
                </a:solidFill>
                <a:latin typeface="Segoe UI" panose="020B0502040204020203" charset="0"/>
                <a:ea typeface="Songti SC"/>
                <a:cs typeface="Segoe UI" panose="020B0502040204020203" charset="0"/>
                <a:sym typeface="Songti SC"/>
              </a:rPr>
              <a:t>min_child_samples</a:t>
            </a:r>
            <a:r>
              <a:rPr lang="en-US" altLang="zh-CN" sz="1400" b="0" i="0" u="none" strike="noStrike" dirty="0">
                <a:solidFill>
                  <a:srgbClr val="595959"/>
                </a:solidFill>
                <a:latin typeface="Segoe UI" panose="020B0502040204020203" charset="0"/>
                <a:ea typeface="Songti SC"/>
                <a:cs typeface="Segoe UI" panose="020B0502040204020203" charset="0"/>
                <a:sym typeface="Songti SC"/>
              </a:rPr>
              <a:t>) to curb its over-aggressive growth, followed by Early Stopping training.</a:t>
            </a:r>
          </a:p>
        </p:txBody>
      </p:sp>
      <p:sp>
        <p:nvSpPr>
          <p:cNvPr id="15" name="AutoShape 15"/>
          <p:cNvSpPr/>
          <p:nvPr/>
        </p:nvSpPr>
        <p:spPr>
          <a:xfrm>
            <a:off x="5838190" y="5338445"/>
            <a:ext cx="5842000" cy="904875"/>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969000" y="5384800"/>
            <a:ext cx="558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Optimal Hyperparameters:</a:t>
            </a:r>
          </a:p>
          <a:p>
            <a:pPr marL="0" indent="0" algn="l">
              <a:lnSpc>
                <a:spcPct val="108000"/>
              </a:lnSpc>
              <a:defRPr/>
            </a:pPr>
            <a:r>
              <a:rPr lang="en-US" altLang="zh-CN" sz="1400" dirty="0" err="1">
                <a:solidFill>
                  <a:srgbClr val="595959"/>
                </a:solidFill>
                <a:latin typeface="Segoe UI" panose="020B0502040204020203" charset="0"/>
                <a:ea typeface="Songti SC"/>
                <a:cs typeface="Segoe UI" panose="020B0502040204020203" charset="0"/>
              </a:rPr>
              <a:t>min_child_samples</a:t>
            </a:r>
            <a:r>
              <a:rPr lang="en-US" altLang="zh-CN" sz="1400" dirty="0">
                <a:solidFill>
                  <a:srgbClr val="595959"/>
                </a:solidFill>
                <a:latin typeface="Segoe UI" panose="020B0502040204020203" charset="0"/>
                <a:ea typeface="Songti SC"/>
                <a:cs typeface="Segoe UI" panose="020B0502040204020203" charset="0"/>
              </a:rPr>
              <a:t>=15, </a:t>
            </a:r>
            <a:r>
              <a:rPr lang="en-US" altLang="zh-CN" sz="1400" dirty="0" err="1">
                <a:solidFill>
                  <a:srgbClr val="595959"/>
                </a:solidFill>
                <a:latin typeface="Segoe UI" panose="020B0502040204020203" charset="0"/>
                <a:ea typeface="Songti SC"/>
                <a:cs typeface="Segoe UI" panose="020B0502040204020203" charset="0"/>
              </a:rPr>
              <a:t>num_leaves</a:t>
            </a:r>
            <a:r>
              <a:rPr lang="en-US" altLang="zh-CN" sz="1400" dirty="0">
                <a:solidFill>
                  <a:srgbClr val="595959"/>
                </a:solidFill>
                <a:latin typeface="Segoe UI" panose="020B0502040204020203" charset="0"/>
                <a:ea typeface="Songti SC"/>
                <a:cs typeface="Segoe UI" panose="020B0502040204020203" charset="0"/>
              </a:rPr>
              <a:t>=15, </a:t>
            </a:r>
            <a:r>
              <a:rPr lang="en-US" altLang="zh-CN" sz="1400" dirty="0" err="1">
                <a:solidFill>
                  <a:srgbClr val="595959"/>
                </a:solidFill>
                <a:latin typeface="Segoe UI" panose="020B0502040204020203" charset="0"/>
                <a:ea typeface="Songti SC"/>
                <a:cs typeface="Segoe UI" panose="020B0502040204020203" charset="0"/>
              </a:rPr>
              <a:t>max_depth</a:t>
            </a:r>
            <a:r>
              <a:rPr lang="en-US" altLang="zh-CN" sz="1400" dirty="0">
                <a:solidFill>
                  <a:srgbClr val="595959"/>
                </a:solidFill>
                <a:latin typeface="Segoe UI" panose="020B0502040204020203" charset="0"/>
                <a:ea typeface="Songti SC"/>
                <a:cs typeface="Segoe UI" panose="020B0502040204020203" charset="0"/>
              </a:rPr>
              <a:t>=6</a:t>
            </a:r>
          </a:p>
        </p:txBody>
      </p:sp>
      <p:sp>
        <p:nvSpPr>
          <p:cNvPr id="17"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Model 4: LightGBM (The Constrained Underdog)</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22" name="AutoShape 11"/>
          <p:cNvSpPr/>
          <p:nvPr/>
        </p:nvSpPr>
        <p:spPr>
          <a:xfrm>
            <a:off x="508000" y="5989320"/>
            <a:ext cx="4572635" cy="51435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zh-CN" altLang="en-US" sz="1400">
                <a:solidFill>
                  <a:srgbClr val="595959"/>
                </a:solidFill>
                <a:latin typeface="Segoe UI" panose="020B0502040204020203" charset="0"/>
                <a:ea typeface="Noto Sans SC" panose="020B0200000000000000" charset="-122"/>
                <a:cs typeface="Segoe UI" panose="020B0502040204020203" charset="0"/>
              </a:rPr>
              <a:t>📉</a:t>
            </a:r>
            <a:r>
              <a:rPr lang="en-US" altLang="zh-CN" sz="1400">
                <a:solidFill>
                  <a:srgbClr val="595959"/>
                </a:solidFill>
                <a:latin typeface="Segoe UI" panose="020B0502040204020203" charset="0"/>
                <a:ea typeface="Noto Sans SC" panose="020B0200000000000000" charset="-122"/>
                <a:cs typeface="Segoe UI" panose="020B0502040204020203" charset="0"/>
              </a:rPr>
              <a:t>  Diagnosis: High leaf capacity thresholds forced the model to ignore rare but critical 'red-line' triggers</a:t>
            </a:r>
          </a:p>
        </p:txBody>
      </p:sp>
      <p:pic>
        <p:nvPicPr>
          <p:cNvPr id="3" name="图片 2" descr="lightgbm"/>
          <p:cNvPicPr>
            <a:picLocks noChangeAspect="1"/>
          </p:cNvPicPr>
          <p:nvPr/>
        </p:nvPicPr>
        <p:blipFill>
          <a:blip r:embed="rId4"/>
          <a:stretch>
            <a:fillRect/>
          </a:stretch>
        </p:blipFill>
        <p:spPr>
          <a:xfrm>
            <a:off x="635000" y="1598930"/>
            <a:ext cx="4317365" cy="27381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Comprehensive Performance Benchmarking</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23" name="AutoShape 8"/>
          <p:cNvSpPr/>
          <p:nvPr/>
        </p:nvSpPr>
        <p:spPr>
          <a:xfrm>
            <a:off x="7102475" y="1628140"/>
            <a:ext cx="4864100" cy="1752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Performance Insights: The Unexpected Winner</a:t>
            </a:r>
            <a:endParaRPr lang="en-US" sz="1600" dirty="0">
              <a:latin typeface="Arial" panose="020B0604020202020204" pitchFamily="34" charset="0"/>
              <a:cs typeface="Arial" panose="020B0604020202020204" pitchFamily="34" charset="0"/>
            </a:endParaRPr>
          </a:p>
          <a:p>
            <a:pPr marL="0" indent="0" algn="l">
              <a:lnSpc>
                <a:spcPct val="108000"/>
              </a:lnSpc>
            </a:pPr>
            <a:r>
              <a:rPr lang="en-US" altLang="zh-CN" sz="1300" b="0" i="0" u="none" strike="noStrike" dirty="0">
                <a:solidFill>
                  <a:srgbClr val="595959"/>
                </a:solidFill>
                <a:latin typeface="Segoe UI" panose="020B0502040204020203" charset="0"/>
                <a:ea typeface="Songti SC"/>
                <a:cs typeface="Segoe UI" panose="020B0502040204020203" charset="0"/>
                <a:sym typeface="Songti SC"/>
              </a:rPr>
              <a:t>Through a horizontal comparison of three key indicators: Accuracy, Macro F1, and Macro AUC, we found that Logistic Regression (marked in orange) outperforms more complex tree-based ensemble models in all dimensions. It not only leads in numerical values but also has an overwhelming advantage in training efficiency and interpretability.</a:t>
            </a:r>
          </a:p>
        </p:txBody>
      </p:sp>
      <p:sp>
        <p:nvSpPr>
          <p:cNvPr id="27" name="AutoShape 9"/>
          <p:cNvSpPr/>
          <p:nvPr/>
        </p:nvSpPr>
        <p:spPr>
          <a:xfrm>
            <a:off x="7102475" y="3700780"/>
            <a:ext cx="4863465" cy="2082800"/>
          </a:xfrm>
          <a:prstGeom prst="roundRect">
            <a:avLst>
              <a:gd name="adj" fmla="val 0"/>
            </a:avLst>
          </a:prstGeom>
          <a:solidFill>
            <a:srgbClr val="FFF8E1">
              <a:alpha val="100000"/>
            </a:srgbClr>
          </a:solidFill>
          <a:ln w="12700" cap="flat" cmpd="sng">
            <a:solidFill>
              <a:srgbClr val="FFA726">
                <a:alpha val="100000"/>
              </a:srgbClr>
            </a:solidFill>
            <a:prstDash val="solid"/>
            <a:round/>
          </a:ln>
        </p:spPr>
        <p:txBody>
          <a:bodyPr vert="horz" wrap="square" lIns="63500" tIns="63500" rIns="63500" bIns="63500" rtlCol="0" anchor="ctr"/>
          <a:lstStyle/>
          <a:p>
            <a:pPr algn="ctr">
              <a:defRPr/>
            </a:pPr>
            <a:endParaRPr/>
          </a:p>
        </p:txBody>
      </p:sp>
      <p:sp>
        <p:nvSpPr>
          <p:cNvPr id="28" name="AutoShape 10"/>
          <p:cNvSpPr/>
          <p:nvPr/>
        </p:nvSpPr>
        <p:spPr>
          <a:xfrm>
            <a:off x="7229475" y="3914775"/>
            <a:ext cx="4631690" cy="163639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dirty="0">
                <a:solidFill>
                  <a:srgbClr val="E6510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💡Core Conclusion</a:t>
            </a:r>
            <a:endParaRPr lang="en-US" sz="1600" dirty="0">
              <a:latin typeface="Arial" panose="020B0604020202020204" pitchFamily="34" charset="0"/>
              <a:cs typeface="Arial" panose="020B0604020202020204" pitchFamily="34" charset="0"/>
            </a:endParaRPr>
          </a:p>
          <a:p>
            <a:pPr marL="0" indent="0" algn="l">
              <a:lnSpc>
                <a:spcPct val="108000"/>
              </a:lnSpc>
            </a:pPr>
            <a:r>
              <a:rPr lang="en-US" sz="1300" b="0" i="0" u="none" strike="noStrike" dirty="0">
                <a:solidFill>
                  <a:srgbClr val="3C3C3C"/>
                </a:solidFill>
                <a:latin typeface="Segoe UI" panose="020B0502040204020203" charset="0"/>
                <a:ea typeface="Songti SC"/>
                <a:cs typeface="Segoe UI" panose="020B0502040204020203" charset="0"/>
                <a:sym typeface="Songti SC"/>
              </a:rPr>
              <a:t>Under strict fair benchmarking, Logistic Regression outperforms complex tree models by a significant margin. This reaffirms that for this specific problem space, simplicity and linearity yield more robust and generalizable results than over-parameterized models.</a:t>
            </a:r>
          </a:p>
        </p:txBody>
      </p:sp>
      <p:pic>
        <p:nvPicPr>
          <p:cNvPr id="2" name="图片 1"/>
          <p:cNvPicPr>
            <a:picLocks noChangeAspect="1"/>
          </p:cNvPicPr>
          <p:nvPr/>
        </p:nvPicPr>
        <p:blipFill>
          <a:blip r:embed="rId4"/>
          <a:stretch>
            <a:fillRect/>
          </a:stretch>
        </p:blipFill>
        <p:spPr>
          <a:xfrm>
            <a:off x="355600" y="1628140"/>
            <a:ext cx="6252210" cy="41560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The " Why " : Decrypting the Algorithmic Divergence</a:t>
            </a: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4" name="AutoShape 4"/>
          <p:cNvSpPr/>
          <p:nvPr/>
        </p:nvSpPr>
        <p:spPr>
          <a:xfrm>
            <a:off x="498475" y="1627505"/>
            <a:ext cx="4826000" cy="4064000"/>
          </a:xfrm>
          <a:prstGeom prst="roundRect">
            <a:avLst>
              <a:gd name="adj" fmla="val 0"/>
            </a:avLst>
          </a:prstGeom>
          <a:solidFill>
            <a:srgbClr val="FFFFFF">
              <a:alpha val="100000"/>
            </a:srgbClr>
          </a:solidFill>
          <a:ln w="38100" cap="flat" cmpd="sng">
            <a:solidFill>
              <a:srgbClr val="3B82F6">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81025" y="1754505"/>
            <a:ext cx="4666615"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a:solidFill>
                  <a:srgbClr val="3B82F6"/>
                </a:solidFill>
                <a:latin typeface="Arial" panose="020B0604020202020204" pitchFamily="34" charset="0"/>
                <a:ea typeface="Noto Sans SC" panose="020B0200000000000000" charset="-122"/>
                <a:cs typeface="Arial" panose="020B0604020202020204" pitchFamily="34" charset="0"/>
              </a:rPr>
              <a:t>The Triumph of Logistic Regression:</a:t>
            </a:r>
          </a:p>
          <a:p>
            <a:pPr marL="0" indent="0" algn="l">
              <a:lnSpc>
                <a:spcPct val="125000"/>
              </a:lnSpc>
              <a:defRPr/>
            </a:pPr>
            <a:r>
              <a:rPr lang="en-US" sz="1800" b="1">
                <a:solidFill>
                  <a:srgbClr val="3B82F6"/>
                </a:solidFill>
                <a:latin typeface="Arial" panose="020B0604020202020204" pitchFamily="34" charset="0"/>
                <a:ea typeface="Noto Sans SC" panose="020B0200000000000000" charset="-122"/>
                <a:cs typeface="Arial" panose="020B0604020202020204" pitchFamily="34" charset="0"/>
              </a:rPr>
              <a:t>      Sparsity Meets Business Logic</a:t>
            </a:r>
          </a:p>
        </p:txBody>
      </p:sp>
      <p:cxnSp>
        <p:nvCxnSpPr>
          <p:cNvPr id="6" name="Connector 6"/>
          <p:cNvCxnSpPr/>
          <p:nvPr/>
        </p:nvCxnSpPr>
        <p:spPr>
          <a:xfrm rot="-9878">
            <a:off x="701684" y="256730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7" name="AutoShape 7"/>
          <p:cNvSpPr/>
          <p:nvPr/>
        </p:nvSpPr>
        <p:spPr>
          <a:xfrm>
            <a:off x="701675" y="2700655"/>
            <a:ext cx="4419600" cy="10496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Algorithmic Behavior: Pure L1 Regularization</a:t>
            </a:r>
            <a:endParaRPr lang="en-US" sz="1200">
              <a:latin typeface="Segoe UI" panose="020B0502040204020203" charset="0"/>
              <a:cs typeface="Segoe UI" panose="020B0502040204020203" charset="0"/>
            </a:endParaRPr>
          </a:p>
          <a:p>
            <a:pPr marL="0" indent="0" algn="l">
              <a:lnSpc>
                <a:spcPct val="108000"/>
              </a:lnSpc>
            </a:pP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Pure L1 Regularization (Lasso) successfully compressed </a:t>
            </a:r>
            <a:r>
              <a:rPr lang="en-US" altLang="zh-CN" sz="1400" b="1" i="0" u="none" strike="noStrike">
                <a:solidFill>
                  <a:srgbClr val="FF0000"/>
                </a:solidFill>
                <a:latin typeface="Segoe UI" panose="020B0502040204020203" charset="0"/>
                <a:ea typeface="Noto Sans SC" panose="020B0200000000000000" charset="-122"/>
                <a:cs typeface="Segoe UI" panose="020B0502040204020203" charset="0"/>
                <a:sym typeface="Noto Sans SC" panose="020B0200000000000000" charset="-122"/>
              </a:rPr>
              <a:t>80.6%</a:t>
            </a: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 of redundant feature weights to exactly 0.</a:t>
            </a:r>
          </a:p>
        </p:txBody>
      </p:sp>
      <p:cxnSp>
        <p:nvCxnSpPr>
          <p:cNvPr id="8" name="Connector 8"/>
          <p:cNvCxnSpPr/>
          <p:nvPr/>
        </p:nvCxnSpPr>
        <p:spPr>
          <a:xfrm rot="-9878">
            <a:off x="701684" y="383095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9" name="AutoShape 9"/>
          <p:cNvSpPr/>
          <p:nvPr/>
        </p:nvSpPr>
        <p:spPr>
          <a:xfrm>
            <a:off x="701675" y="4017010"/>
            <a:ext cx="44196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Perfect Business Mapping: " One-Strike Veto "</a:t>
            </a:r>
            <a:endParaRPr lang="en-US" sz="1200">
              <a:latin typeface="Segoe UI" panose="020B0502040204020203" charset="0"/>
              <a:cs typeface="Segoe UI" panose="020B0502040204020203" charset="0"/>
            </a:endParaRPr>
          </a:p>
          <a:p>
            <a:pPr marL="0" indent="0" algn="l">
              <a:lnSpc>
                <a:spcPct val="108000"/>
              </a:lnSpc>
            </a:pP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This mathematically perfectly aligns with Google Play's underlying </a:t>
            </a:r>
            <a:r>
              <a:rPr lang="en-US" altLang="zh-CN" sz="1400" b="1" i="0" u="none" strike="noStrike">
                <a:solidFill>
                  <a:srgbClr val="FF0000"/>
                </a:solidFill>
                <a:latin typeface="Segoe UI" panose="020B0502040204020203" charset="0"/>
                <a:ea typeface="Noto Sans SC" panose="020B0200000000000000" charset="-122"/>
                <a:cs typeface="Segoe UI" panose="020B0502040204020203" charset="0"/>
                <a:sym typeface="Noto Sans SC" panose="020B0200000000000000" charset="-122"/>
              </a:rPr>
              <a:t>" One-Strike Veto"</a:t>
            </a:r>
            <a:r>
              <a:rPr lang="en-US" altLang="zh-CN" sz="1400" b="1"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 </a:t>
            </a: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logic (e.g., ticking 'Gore' immediately triggers a 17+ rating, regardless of other benign answers).</a:t>
            </a:r>
          </a:p>
        </p:txBody>
      </p:sp>
      <p:sp>
        <p:nvSpPr>
          <p:cNvPr id="11" name="AutoShape 11"/>
          <p:cNvSpPr/>
          <p:nvPr/>
        </p:nvSpPr>
        <p:spPr>
          <a:xfrm>
            <a:off x="5984875" y="1627505"/>
            <a:ext cx="5638800" cy="1841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84875" y="1627505"/>
            <a:ext cx="76200" cy="1841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38875" y="1754505"/>
            <a:ext cx="5263515"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Unconstrained Tree Models (e.g., Random Forest)</a:t>
            </a:r>
            <a:endParaRPr lang="en-US" sz="1000">
              <a:latin typeface="Segoe UI" panose="020B0502040204020203" charset="0"/>
              <a:cs typeface="Segoe UI" panose="020B0502040204020203" charset="0"/>
            </a:endParaRPr>
          </a:p>
          <a:p>
            <a:pPr marL="0" indent="0" algn="l">
              <a:lnSpc>
                <a:spcPct val="108000"/>
              </a:lnSpc>
            </a:pPr>
            <a:r>
              <a:rPr lang="en-US"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Suffer from severe overfitting (memorization) when processing high-dimensional wide tables. They capture random noise as patterns, failing to generalize to unseen critical cases in the app rating dataset.</a:t>
            </a:r>
          </a:p>
        </p:txBody>
      </p:sp>
      <p:sp>
        <p:nvSpPr>
          <p:cNvPr id="14" name="AutoShape 14"/>
          <p:cNvSpPr/>
          <p:nvPr/>
        </p:nvSpPr>
        <p:spPr>
          <a:xfrm>
            <a:off x="5984875" y="3850005"/>
            <a:ext cx="5638800" cy="1841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984875" y="3850005"/>
            <a:ext cx="76200" cy="18415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169660" y="3977005"/>
            <a:ext cx="533273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Constrained Tree Models (e.g., XGBoost/LightGBM)</a:t>
            </a:r>
            <a:endParaRPr lang="en-US" sz="1000">
              <a:latin typeface="Segoe UI" panose="020B0502040204020203" charset="0"/>
              <a:cs typeface="Segoe UI" panose="020B0502040204020203" charset="0"/>
            </a:endParaRPr>
          </a:p>
          <a:p>
            <a:pPr marL="0" indent="0" algn="l">
              <a:lnSpc>
                <a:spcPct val="108000"/>
              </a:lnSpc>
            </a:pPr>
            <a:r>
              <a:rPr lang="en-US" altLang="zh-CN" sz="1400" b="0" i="0" u="none" strike="noStrike">
                <a:solidFill>
                  <a:srgbClr val="595959"/>
                </a:solidFill>
                <a:latin typeface="Segoe UI" panose="020B0502040204020203" charset="0"/>
                <a:ea typeface="Noto Sans SC" panose="020B0200000000000000" charset="-122"/>
                <a:cs typeface="Segoe UI" panose="020B0502040204020203" charset="0"/>
                <a:sym typeface="Noto Sans SC" panose="020B0200000000000000" charset="-122"/>
              </a:rPr>
              <a:t>When we apply strict anti-overfitting rules (like min_child_samples), the algorithms treat "extremely rare but fatal violations" as minor noise and actively filter them out, causing a drop in accuracy.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740000">
            <a:off x="1092200" y="2933700"/>
            <a:ext cx="2679375" cy="1489619"/>
          </a:xfrm>
          <a:custGeom>
            <a:avLst/>
            <a:gdLst/>
            <a:ahLst/>
            <a:cxnLst/>
            <a:rect l="l" t="t" r="r" b="b"/>
            <a:pathLst>
              <a:path w="2679375" h="1489619">
                <a:moveTo>
                  <a:pt x="0" y="0"/>
                </a:moveTo>
                <a:lnTo>
                  <a:pt x="469152" y="1489619"/>
                </a:lnTo>
                <a:lnTo>
                  <a:pt x="2679375" y="572637"/>
                </a:lnTo>
                <a:lnTo>
                  <a:pt x="0" y="0"/>
                </a:lnTo>
                <a:close/>
              </a:path>
            </a:pathLst>
          </a:custGeom>
          <a:gradFill rotWithShape="0">
            <a:gsLst>
              <a:gs pos="0">
                <a:srgbClr val="939393">
                  <a:alpha val="100000"/>
                </a:srgbClr>
              </a:gs>
              <a:gs pos="22000">
                <a:srgbClr val="7C7C7C">
                  <a:alpha val="100000"/>
                </a:srgbClr>
              </a:gs>
              <a:gs pos="63000">
                <a:srgbClr val="3B3838">
                  <a:alpha val="100000"/>
                </a:srgbClr>
              </a:gs>
            </a:gsLst>
            <a:lin ang="60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9105900" y="4737100"/>
            <a:ext cx="1762818" cy="825844"/>
          </a:xfrm>
          <a:custGeom>
            <a:avLst/>
            <a:gdLst/>
            <a:ahLst/>
            <a:cxnLst/>
            <a:rect l="l" t="t" r="r" b="b"/>
            <a:pathLst>
              <a:path w="1762818" h="825844">
                <a:moveTo>
                  <a:pt x="0" y="825844"/>
                </a:moveTo>
                <a:lnTo>
                  <a:pt x="198227" y="0"/>
                </a:lnTo>
                <a:lnTo>
                  <a:pt x="1762818" y="101082"/>
                </a:lnTo>
                <a:lnTo>
                  <a:pt x="0" y="825844"/>
                </a:lnTo>
                <a:close/>
              </a:path>
            </a:pathLst>
          </a:custGeom>
          <a:gradFill rotWithShape="0">
            <a:gsLst>
              <a:gs pos="23000">
                <a:srgbClr val="3B3838">
                  <a:alpha val="100000"/>
                </a:srgbClr>
              </a:gs>
              <a:gs pos="62000">
                <a:srgbClr val="474747">
                  <a:alpha val="100000"/>
                </a:srgbClr>
              </a:gs>
              <a:gs pos="100000">
                <a:srgbClr val="747474">
                  <a:alpha val="100000"/>
                </a:srgbClr>
              </a:gs>
            </a:gsLst>
            <a:lin ang="13200000"/>
          </a:gradFill>
          <a:ln w="25400" cap="flat" cmpd="sng">
            <a:noFill/>
            <a:prstDash val="solid"/>
            <a:round/>
          </a:ln>
        </p:spPr>
        <p:txBody>
          <a:bodyPr vert="horz" wrap="square" lIns="63500" tIns="63500" rIns="63500" bIns="63500" rtlCol="0" anchor="ctr"/>
          <a:lstStyle/>
          <a:p>
            <a:pPr algn="ctr">
              <a:defRPr/>
            </a:pPr>
            <a:endParaRPr/>
          </a:p>
        </p:txBody>
      </p:sp>
      <p:sp>
        <p:nvSpPr>
          <p:cNvPr id="4" name="Freeform 4"/>
          <p:cNvSpPr/>
          <p:nvPr/>
        </p:nvSpPr>
        <p:spPr>
          <a:xfrm>
            <a:off x="1409700" y="2667000"/>
            <a:ext cx="9479512" cy="2182506"/>
          </a:xfrm>
          <a:custGeom>
            <a:avLst/>
            <a:gdLst/>
            <a:ahLst/>
            <a:cxnLst/>
            <a:rect l="l" t="t" r="r" b="b"/>
            <a:pathLst>
              <a:path w="9479512" h="2182506">
                <a:moveTo>
                  <a:pt x="1321979" y="0"/>
                </a:moveTo>
                <a:lnTo>
                  <a:pt x="9073328" y="14848"/>
                </a:lnTo>
                <a:lnTo>
                  <a:pt x="9479512" y="2182506"/>
                </a:lnTo>
                <a:lnTo>
                  <a:pt x="0" y="2170134"/>
                </a:lnTo>
                <a:lnTo>
                  <a:pt x="1463016" y="1998157"/>
                </a:lnTo>
                <a:lnTo>
                  <a:pt x="1321979" y="0"/>
                </a:lnTo>
                <a:close/>
              </a:path>
            </a:pathLst>
          </a:custGeom>
          <a:solidFill>
            <a:srgbClr val="2F5597">
              <a:alpha val="100000"/>
            </a:srgbClr>
          </a:solidFill>
          <a:ln w="25400" cap="flat" cmpd="sng">
            <a:noFill/>
            <a:prstDash val="solid"/>
            <a:round/>
          </a:ln>
          <a:effectLst>
            <a:outerShdw blurRad="25400" dist="25400" algn="l" rotWithShape="0">
              <a:srgbClr val="000000">
                <a:alpha val="20000"/>
              </a:srgbClr>
            </a:outerShdw>
          </a:effectLst>
        </p:spPr>
        <p:txBody>
          <a:bodyPr vert="horz" wrap="square" lIns="63500" tIns="63500" rIns="63500" bIns="63500" rtlCol="0" anchor="ctr"/>
          <a:lstStyle/>
          <a:p>
            <a:pPr algn="ctr">
              <a:defRPr/>
            </a:pPr>
            <a:endParaRPr/>
          </a:p>
        </p:txBody>
      </p:sp>
      <p:sp>
        <p:nvSpPr>
          <p:cNvPr id="5" name="Freeform 5"/>
          <p:cNvSpPr/>
          <p:nvPr/>
        </p:nvSpPr>
        <p:spPr>
          <a:xfrm>
            <a:off x="-4096" y="1778000"/>
            <a:ext cx="2897348" cy="2861146"/>
          </a:xfrm>
          <a:custGeom>
            <a:avLst/>
            <a:gdLst/>
            <a:ahLst/>
            <a:cxnLst/>
            <a:rect l="l" t="t" r="r" b="b"/>
            <a:pathLst>
              <a:path w="2897348" h="2861146">
                <a:moveTo>
                  <a:pt x="15917" y="0"/>
                </a:moveTo>
                <a:lnTo>
                  <a:pt x="2867333" y="166521"/>
                </a:lnTo>
                <a:lnTo>
                  <a:pt x="2897348" y="2861146"/>
                </a:lnTo>
                <a:lnTo>
                  <a:pt x="5002" y="2640253"/>
                </a:lnTo>
                <a:cubicBezTo>
                  <a:pt x="0" y="1762229"/>
                  <a:pt x="20920" y="893162"/>
                  <a:pt x="15917" y="0"/>
                </a:cubicBezTo>
                <a:close/>
              </a:path>
            </a:pathLst>
          </a:custGeom>
          <a:solidFill>
            <a:srgbClr val="AFABAB">
              <a:alpha val="100000"/>
            </a:srgbClr>
          </a:solidFill>
          <a:ln w="25400" cap="flat" cmpd="sng">
            <a:noFill/>
            <a:prstDash val="solid"/>
            <a:round/>
          </a:ln>
          <a:effectLst>
            <a:outerShdw blurRad="736600" dist="330200" dir="2400000" sx="95000" sy="95000" algn="l" rotWithShape="0">
              <a:srgbClr val="203864">
                <a:alpha val="75000"/>
              </a:srgbClr>
            </a:outerShdw>
          </a:effectLst>
        </p:spPr>
        <p:txBody>
          <a:bodyPr vert="horz" wrap="square" lIns="63500" tIns="63500" rIns="63500" bIns="63500" rtlCol="0" anchor="ctr"/>
          <a:lstStyle/>
          <a:p>
            <a:pPr algn="ctr">
              <a:defRPr/>
            </a:pPr>
            <a:endParaRPr/>
          </a:p>
        </p:txBody>
      </p:sp>
      <p:sp>
        <p:nvSpPr>
          <p:cNvPr id="6" name="Freeform 6"/>
          <p:cNvSpPr/>
          <p:nvPr/>
        </p:nvSpPr>
        <p:spPr>
          <a:xfrm>
            <a:off x="9067800" y="2590800"/>
            <a:ext cx="3118706" cy="2975205"/>
          </a:xfrm>
          <a:custGeom>
            <a:avLst/>
            <a:gdLst/>
            <a:ahLst/>
            <a:cxnLst/>
            <a:rect l="l" t="t" r="r" b="b"/>
            <a:pathLst>
              <a:path w="3118706" h="2975205">
                <a:moveTo>
                  <a:pt x="3118706" y="0"/>
                </a:moveTo>
                <a:lnTo>
                  <a:pt x="3118706" y="2494930"/>
                </a:lnTo>
                <a:lnTo>
                  <a:pt x="0" y="2975205"/>
                </a:lnTo>
                <a:lnTo>
                  <a:pt x="1735690" y="2261645"/>
                </a:lnTo>
                <a:lnTo>
                  <a:pt x="1605410" y="1357993"/>
                </a:lnTo>
                <a:lnTo>
                  <a:pt x="3118706" y="0"/>
                </a:lnTo>
                <a:close/>
              </a:path>
            </a:pathLst>
          </a:custGeom>
          <a:gradFill rotWithShape="0">
            <a:gsLst>
              <a:gs pos="12000">
                <a:srgbClr val="203864">
                  <a:alpha val="100000"/>
                </a:srgbClr>
              </a:gs>
              <a:gs pos="92000">
                <a:srgbClr val="2F5597">
                  <a:alpha val="100000"/>
                </a:srgbClr>
              </a:gs>
            </a:gsLst>
            <a:lin ang="16800000"/>
          </a:gra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srcRect l="15734" t="13596" r="18531" b="11842"/>
          <a:stretch>
            <a:fillRect/>
          </a:stretch>
        </p:blipFill>
        <p:spPr>
          <a:xfrm>
            <a:off x="254000" y="2095500"/>
            <a:ext cx="2387600" cy="2159000"/>
          </a:xfrm>
          <a:prstGeom prst="rect">
            <a:avLst/>
          </a:prstGeom>
          <a:noFill/>
          <a:ln w="25400" cap="flat" cmpd="sng">
            <a:noFill/>
            <a:prstDash val="solid"/>
            <a:round/>
          </a:ln>
        </p:spPr>
      </p:pic>
      <p:pic>
        <p:nvPicPr>
          <p:cNvPr id="8" name="Picture 8"/>
          <p:cNvPicPr>
            <a:picLocks noChangeAspect="1"/>
          </p:cNvPicPr>
          <p:nvPr/>
        </p:nvPicPr>
        <p:blipFill>
          <a:blip r:embed="rId4"/>
          <a:srcRect/>
          <a:stretch>
            <a:fillRect/>
          </a:stretch>
        </p:blipFill>
        <p:spPr>
          <a:xfrm>
            <a:off x="8826500" y="139700"/>
            <a:ext cx="3365500" cy="1308100"/>
          </a:xfrm>
          <a:prstGeom prst="rect">
            <a:avLst/>
          </a:prstGeom>
          <a:noFill/>
          <a:ln w="25400" cap="flat" cmpd="sng">
            <a:noFill/>
            <a:prstDash val="solid"/>
            <a:round/>
          </a:ln>
        </p:spPr>
      </p:pic>
      <p:sp>
        <p:nvSpPr>
          <p:cNvPr id="9" name="AutoShape 9"/>
          <p:cNvSpPr/>
          <p:nvPr/>
        </p:nvSpPr>
        <p:spPr>
          <a:xfrm>
            <a:off x="3074513" y="2767654"/>
            <a:ext cx="7697821" cy="1122464"/>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400" b="1" i="0" u="none" strike="noStrike" dirty="0">
                <a:solidFill>
                  <a:srgbClr val="EAEAEA"/>
                </a:solidFill>
                <a:effectLst>
                  <a:outerShdw blurRad="63500" dist="12700" dir="1500000" algn="tl" rotWithShape="0">
                    <a:srgbClr val="3B3838">
                      <a:alpha val="39000"/>
                    </a:srgbClr>
                  </a:outerShdw>
                </a:effectLst>
                <a:latin typeface="Arial" panose="020B0604020202020204"/>
                <a:ea typeface="Arial" panose="020B0604020202020204"/>
                <a:cs typeface="Arial" panose="020B0604020202020204"/>
                <a:sym typeface="Arial" panose="020B0604020202020204"/>
              </a:rPr>
              <a:t>Chapter 5: </a:t>
            </a:r>
          </a:p>
          <a:p>
            <a:pPr marL="0" indent="0" algn="l">
              <a:lnSpc>
                <a:spcPct val="100000"/>
              </a:lnSpc>
              <a:defRPr/>
            </a:pPr>
            <a:r>
              <a:rPr lang="en-US" sz="2400" b="1" i="0" u="none" strike="noStrike" dirty="0">
                <a:solidFill>
                  <a:srgbClr val="EAEAEA"/>
                </a:solidFill>
                <a:effectLst>
                  <a:outerShdw blurRad="63500" dist="12700" dir="1500000" algn="tl" rotWithShape="0">
                    <a:srgbClr val="3B3838">
                      <a:alpha val="39000"/>
                    </a:srgbClr>
                  </a:outerShdw>
                </a:effectLst>
                <a:latin typeface="Arial" panose="020B0604020202020204"/>
                <a:ea typeface="Arial" panose="020B0604020202020204"/>
                <a:cs typeface="Arial" panose="020B0604020202020204"/>
                <a:sym typeface="Arial" panose="020B0604020202020204"/>
              </a:rPr>
              <a:t>Results Analysis and Safety Implications</a:t>
            </a:r>
            <a:endParaRPr lang="en-US" sz="1100" dirty="0"/>
          </a:p>
          <a:p>
            <a:pPr marL="0" indent="0" algn="l">
              <a:lnSpc>
                <a:spcPct val="100000"/>
              </a:lnSpc>
            </a:pPr>
            <a:r>
              <a:rPr lang="en-US" sz="1800" b="1" i="0" u="none" strike="noStrike" dirty="0">
                <a:solidFill>
                  <a:srgbClr val="808080"/>
                </a:solidFill>
                <a:effectLst>
                  <a:outerShdw blurRad="63500" dist="12700" dir="1500000" algn="tl" rotWithShape="0">
                    <a:srgbClr val="3B3838">
                      <a:alpha val="39000"/>
                    </a:srgbClr>
                  </a:outerShdw>
                </a:effectLst>
                <a:latin typeface="Arial" panose="020B0604020202020204"/>
                <a:ea typeface="Arial" panose="020B0604020202020204"/>
                <a:cs typeface="Arial" panose="020B0604020202020204"/>
                <a:sym typeface="Arial" panose="020B0604020202020204"/>
              </a:rPr>
              <a:t>Core Agenda: Deep Dive into Feature Impact, Data Quality &amp; Safety Guidelines</a:t>
            </a:r>
          </a:p>
          <a:p>
            <a:r>
              <a:rPr lang="en-US" altLang="zh-CN" sz="1800" b="1" dirty="0" err="1">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Presenter:ZiXuan</a:t>
            </a:r>
            <a:r>
              <a:rPr lang="en-US" altLang="zh-CN" sz="18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 Wang</a:t>
            </a:r>
          </a:p>
          <a:p>
            <a:pPr marL="0" indent="0" algn="l">
              <a:lnSpc>
                <a:spcPct val="100000"/>
              </a:lnSpc>
            </a:pPr>
            <a:endParaRPr lang="en-US" sz="1800" b="1" i="0" u="none" strike="noStrike" dirty="0">
              <a:solidFill>
                <a:srgbClr val="808080"/>
              </a:solidFill>
              <a:effectLst>
                <a:outerShdw blurRad="63500" dist="12700" dir="1500000" algn="tl" rotWithShape="0">
                  <a:srgbClr val="3B3838">
                    <a:alpha val="39000"/>
                  </a:srgbClr>
                </a:outerShdw>
              </a:effectLst>
              <a:latin typeface="Arial" panose="020B0604020202020204"/>
              <a:ea typeface="Arial" panose="020B0604020202020204"/>
              <a:cs typeface="Arial" panose="020B0604020202020204"/>
              <a:sym typeface="Arial" panose="020B0604020202020204"/>
            </a:endParaRPr>
          </a:p>
        </p:txBody>
      </p:sp>
      <p:sp>
        <p:nvSpPr>
          <p:cNvPr id="11" name="Freeform 11"/>
          <p:cNvSpPr/>
          <p:nvPr/>
        </p:nvSpPr>
        <p:spPr>
          <a:xfrm>
            <a:off x="-3461" y="1778000"/>
            <a:ext cx="2897348" cy="2861146"/>
          </a:xfrm>
          <a:custGeom>
            <a:avLst/>
            <a:gdLst/>
            <a:ahLst/>
            <a:cxnLst/>
            <a:rect l="l" t="t" r="r" b="b"/>
            <a:pathLst>
              <a:path w="2897348" h="2861146">
                <a:moveTo>
                  <a:pt x="15917" y="0"/>
                </a:moveTo>
                <a:lnTo>
                  <a:pt x="2867333" y="166521"/>
                </a:lnTo>
                <a:lnTo>
                  <a:pt x="2897348" y="2861146"/>
                </a:lnTo>
                <a:lnTo>
                  <a:pt x="5002" y="2640253"/>
                </a:lnTo>
                <a:cubicBezTo>
                  <a:pt x="0" y="1762229"/>
                  <a:pt x="20920" y="893162"/>
                  <a:pt x="15917" y="0"/>
                </a:cubicBezTo>
                <a:close/>
              </a:path>
            </a:pathLst>
          </a:custGeom>
          <a:solidFill>
            <a:srgbClr val="AFABAB">
              <a:alpha val="100000"/>
            </a:srgbClr>
          </a:solidFill>
          <a:ln w="25400" cap="flat" cmpd="sng">
            <a:noFill/>
            <a:prstDash val="solid"/>
            <a:round/>
          </a:ln>
          <a:effectLst>
            <a:outerShdw blurRad="736600" dist="330200" dir="2400000" sx="95000" sy="95000" algn="l" rotWithShape="0">
              <a:srgbClr val="203864">
                <a:alpha val="75000"/>
              </a:srgbClr>
            </a:outerShdw>
          </a:effectLst>
        </p:spPr>
        <p:txBody>
          <a:bodyPr vert="horz" wrap="square" lIns="63500" tIns="63500" rIns="63500" bIns="63500" rtlCol="0" anchor="ctr"/>
          <a:lstStyle/>
          <a:p>
            <a:pPr algn="ctr">
              <a:defRPr/>
            </a:pPr>
            <a:endParaRPr/>
          </a:p>
        </p:txBody>
      </p:sp>
      <p:sp>
        <p:nvSpPr>
          <p:cNvPr id="12" name="Freeform 12"/>
          <p:cNvSpPr/>
          <p:nvPr/>
        </p:nvSpPr>
        <p:spPr>
          <a:xfrm>
            <a:off x="9067800" y="2590800"/>
            <a:ext cx="3118706" cy="2975205"/>
          </a:xfrm>
          <a:custGeom>
            <a:avLst/>
            <a:gdLst/>
            <a:ahLst/>
            <a:cxnLst/>
            <a:rect l="l" t="t" r="r" b="b"/>
            <a:pathLst>
              <a:path w="3118706" h="2975205">
                <a:moveTo>
                  <a:pt x="3118706" y="0"/>
                </a:moveTo>
                <a:lnTo>
                  <a:pt x="3118706" y="2494930"/>
                </a:lnTo>
                <a:lnTo>
                  <a:pt x="0" y="2975205"/>
                </a:lnTo>
                <a:lnTo>
                  <a:pt x="1735690" y="2261645"/>
                </a:lnTo>
                <a:lnTo>
                  <a:pt x="1605410" y="1357993"/>
                </a:lnTo>
                <a:lnTo>
                  <a:pt x="3118706" y="0"/>
                </a:lnTo>
                <a:close/>
              </a:path>
            </a:pathLst>
          </a:custGeom>
          <a:gradFill rotWithShape="0">
            <a:gsLst>
              <a:gs pos="12000">
                <a:srgbClr val="203864">
                  <a:alpha val="100000"/>
                </a:srgbClr>
              </a:gs>
              <a:gs pos="92000">
                <a:srgbClr val="2F5597">
                  <a:alpha val="100000"/>
                </a:srgbClr>
              </a:gs>
            </a:gsLst>
            <a:lin ang="16800000"/>
          </a:gra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3"/>
          <a:srcRect l="15734" t="13596" r="18531" b="11842"/>
          <a:stretch>
            <a:fillRect/>
          </a:stretch>
        </p:blipFill>
        <p:spPr>
          <a:xfrm>
            <a:off x="177800" y="2032000"/>
            <a:ext cx="2387600" cy="2159000"/>
          </a:xfrm>
          <a:prstGeom prst="rect">
            <a:avLst/>
          </a:prstGeom>
          <a:noFill/>
          <a:ln w="25400" cap="flat" cmpd="sng">
            <a:noFill/>
            <a:prstDash val="solid"/>
            <a:rou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952500" y="0"/>
            <a:ext cx="10287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 y="1815298"/>
            <a:ext cx="5448291" cy="2413809"/>
          </a:xfrm>
          <a:prstGeom prst="roundRect">
            <a:avLst>
              <a:gd name="adj" fmla="val 0"/>
            </a:avLst>
          </a:prstGeom>
          <a:noFill/>
          <a:ln w="25400" cap="flat" cmpd="sng">
            <a:solidFill>
              <a:srgbClr val="AFABAB">
                <a:alpha val="100000"/>
              </a:srgbClr>
            </a:solidFill>
            <a:prstDash val="solid"/>
            <a:miter lim="80000000"/>
          </a:ln>
        </p:spPr>
        <p:txBody>
          <a:bodyPr vert="horz" wrap="square" lIns="63500" tIns="63500" rIns="63500" bIns="63500" rtlCol="0" anchor="ctr"/>
          <a:lstStyle/>
          <a:p>
            <a:pPr algn="ctr">
              <a:defRPr/>
            </a:pPr>
            <a:endParaRPr/>
          </a:p>
        </p:txBody>
      </p:sp>
      <p:sp>
        <p:nvSpPr>
          <p:cNvPr id="4" name="AutoShape 4"/>
          <p:cNvSpPr/>
          <p:nvPr/>
        </p:nvSpPr>
        <p:spPr>
          <a:xfrm>
            <a:off x="5080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Peak Accuracy (200 Feat)</a:t>
            </a:r>
            <a:endParaRPr lang="en-US" sz="1100"/>
          </a:p>
          <a:p>
            <a:pPr marL="0" indent="0" algn="ctr">
              <a:lnSpc>
                <a:spcPct val="125000"/>
              </a:lnSpc>
            </a:pPr>
            <a:r>
              <a:rPr lang="en-US" sz="2800" b="1" i="0" u="none" strike="noStrike">
                <a:solidFill>
                  <a:srgbClr val="1F2329"/>
                </a:solidFill>
                <a:latin typeface="Segoe UI" panose="020B0502040204020203"/>
                <a:ea typeface="Segoe UI" panose="020B0502040204020203"/>
                <a:cs typeface="Segoe UI" panose="020B0502040204020203"/>
                <a:sym typeface="Segoe UI" panose="020B0502040204020203"/>
              </a:rPr>
              <a:t>0.933</a:t>
            </a:r>
          </a:p>
        </p:txBody>
      </p:sp>
      <p:sp>
        <p:nvSpPr>
          <p:cNvPr id="6" name="AutoShape 6"/>
          <p:cNvSpPr/>
          <p:nvPr/>
        </p:nvSpPr>
        <p:spPr>
          <a:xfrm>
            <a:off x="28575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9845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Full Model (758 Feat)</a:t>
            </a:r>
            <a:endParaRPr lang="en-US" sz="1100"/>
          </a:p>
          <a:p>
            <a:pPr marL="0" indent="0" algn="ctr">
              <a:lnSpc>
                <a:spcPct val="125000"/>
              </a:lnSpc>
            </a:pPr>
            <a:r>
              <a:rPr lang="en-US" sz="2800" b="1" i="0" u="none" strike="noStrike">
                <a:solidFill>
                  <a:srgbClr val="1F2329"/>
                </a:solidFill>
                <a:latin typeface="Segoe UI" panose="020B0502040204020203"/>
                <a:ea typeface="Segoe UI" panose="020B0502040204020203"/>
                <a:cs typeface="Segoe UI" panose="020B0502040204020203"/>
                <a:sym typeface="Segoe UI" panose="020B0502040204020203"/>
              </a:rPr>
              <a:t>0.921</a:t>
            </a:r>
          </a:p>
        </p:txBody>
      </p:sp>
      <p:cxnSp>
        <p:nvCxnSpPr>
          <p:cNvPr id="8" name="Connector 8"/>
          <p:cNvCxnSpPr/>
          <p:nvPr/>
        </p:nvCxnSpPr>
        <p:spPr>
          <a:xfrm rot="5391296">
            <a:off x="3155942" y="4013208"/>
            <a:ext cx="50165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9" name="AutoShape 9"/>
          <p:cNvSpPr/>
          <p:nvPr/>
        </p:nvSpPr>
        <p:spPr>
          <a:xfrm>
            <a:off x="5842000" y="1765300"/>
            <a:ext cx="5842000" cy="1308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969000" y="1765300"/>
            <a:ext cx="5588000" cy="1219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1F2329"/>
                </a:solidFill>
                <a:latin typeface="Arial" panose="020B0604020202020204"/>
                <a:ea typeface="Arial" panose="020B0604020202020204"/>
                <a:cs typeface="Arial" panose="020B0604020202020204"/>
                <a:sym typeface="Arial" panose="020B0604020202020204"/>
              </a:rPr>
              <a:t>📈 Experimental Findings</a:t>
            </a:r>
            <a:endParaRPr lang="en-US" sz="1100"/>
          </a:p>
          <a:p>
            <a:pPr marL="0" indent="0" algn="l">
              <a:lnSpc>
                <a:spcPct val="117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Tested feature subsets (10, 50, 200, 758). Accuracy rose sharply to 200 features (0.933, 101% relative to full), then slightly declined with all 758 features, proving diminishing returns and redundancy.</a:t>
            </a:r>
          </a:p>
        </p:txBody>
      </p:sp>
      <p:sp>
        <p:nvSpPr>
          <p:cNvPr id="11" name="AutoShape 11"/>
          <p:cNvSpPr/>
          <p:nvPr/>
        </p:nvSpPr>
        <p:spPr>
          <a:xfrm>
            <a:off x="584200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3479800"/>
            <a:ext cx="5588000" cy="1447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1F2329"/>
                </a:solidFill>
                <a:latin typeface="Arial" panose="020B0604020202020204"/>
                <a:ea typeface="Arial" panose="020B0604020202020204"/>
                <a:cs typeface="Arial" panose="020B0604020202020204"/>
                <a:sym typeface="Arial" panose="020B0604020202020204"/>
              </a:rPr>
              <a:t>💡 Key Conclusion</a:t>
            </a:r>
            <a:endParaRPr lang="en-US" sz="1100"/>
          </a:p>
          <a:p>
            <a:pPr marL="0" indent="0" algn="l">
              <a:lnSpc>
                <a:spcPct val="117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The Google Play questionnaire contains substantial redundancy. Most items provide little discriminative value, and using a subset of 200 high-information features is sufficient to match or exceed the performance of the complete dataset.</a:t>
            </a:r>
          </a:p>
        </p:txBody>
      </p:sp>
      <p:sp>
        <p:nvSpPr>
          <p:cNvPr id="13" name="AutoShape 13"/>
          <p:cNvSpPr/>
          <p:nvPr/>
        </p:nvSpPr>
        <p:spPr>
          <a:xfrm>
            <a:off x="5842000" y="5334000"/>
            <a:ext cx="5842000" cy="901700"/>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5384800"/>
            <a:ext cx="558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Arial" panose="020B0604020202020204"/>
                <a:ea typeface="Arial" panose="020B0604020202020204"/>
                <a:cs typeface="Arial" panose="020B0604020202020204"/>
                <a:sym typeface="Arial" panose="020B0604020202020204"/>
              </a:rPr>
              <a:t>🎯 Practical Implications</a:t>
            </a:r>
            <a:endParaRPr lang="en-US" sz="1100"/>
          </a:p>
          <a:p>
            <a:pPr marL="0" indent="0" algn="l">
              <a:lnSpc>
                <a:spcPct val="108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Prioritize high-density features for research; simplify questionnaires to boost user completion efficiency and reduce data collection costs.</a:t>
            </a:r>
          </a:p>
        </p:txBody>
      </p:sp>
      <p:sp>
        <p:nvSpPr>
          <p:cNvPr id="15" name="AutoShape 15"/>
          <p:cNvSpPr/>
          <p:nvPr/>
        </p:nvSpPr>
        <p:spPr>
          <a:xfrm>
            <a:off x="317491" y="2413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panose="020B0604020202020204"/>
                <a:ea typeface="Arial" panose="020B0604020202020204"/>
                <a:cs typeface="Arial" panose="020B0604020202020204"/>
                <a:sym typeface="Arial" panose="020B0604020202020204"/>
              </a:rPr>
              <a:t>Questionnaire Redundancy: </a:t>
            </a:r>
          </a:p>
          <a:p>
            <a:pPr marL="0" indent="0" algn="l">
              <a:lnSpc>
                <a:spcPct val="125000"/>
              </a:lnSpc>
              <a:defRPr/>
            </a:pPr>
            <a:r>
              <a:rPr lang="en-US" sz="2400" b="1" i="0" u="none" strike="noStrike" dirty="0">
                <a:solidFill>
                  <a:srgbClr val="1F2329"/>
                </a:solidFill>
                <a:latin typeface="Arial" panose="020B0604020202020204"/>
                <a:ea typeface="Arial" panose="020B0604020202020204"/>
                <a:cs typeface="Arial" panose="020B0604020202020204"/>
                <a:sym typeface="Arial" panose="020B0604020202020204"/>
              </a:rPr>
              <a:t>More Questions Do Not Always Improve Performance</a:t>
            </a:r>
            <a:endParaRPr lang="en-US" sz="1100" dirty="0"/>
          </a:p>
        </p:txBody>
      </p:sp>
      <p:cxnSp>
        <p:nvCxnSpPr>
          <p:cNvPr id="16" name="Connector 16"/>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7" name="Picture 17"/>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sp>
        <p:nvSpPr>
          <p:cNvPr id="18" name="AutoShape 18"/>
          <p:cNvSpPr/>
          <p:nvPr/>
        </p:nvSpPr>
        <p:spPr>
          <a:xfrm>
            <a:off x="508000" y="5994400"/>
            <a:ext cx="4572000" cy="52070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0" tIns="0" rIns="0" bIns="0" rtlCol="0" anchor="ctr" anchorCtr="0"/>
          <a:lstStyle/>
          <a:p>
            <a:pPr marL="0" indent="0" algn="ctr">
              <a:lnSpc>
                <a:spcPct val="100000"/>
              </a:lnSpc>
              <a:defRPr/>
            </a:pP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Insight: Excessive low-value data collection increases cost without benefit.</a:t>
            </a:r>
            <a:endParaRPr lang="en-US" sz="1100"/>
          </a:p>
        </p:txBody>
      </p:sp>
      <p:pic>
        <p:nvPicPr>
          <p:cNvPr id="20" name="图片 19"/>
          <p:cNvPicPr>
            <a:picLocks noChangeAspect="1"/>
          </p:cNvPicPr>
          <p:nvPr/>
        </p:nvPicPr>
        <p:blipFill>
          <a:blip r:embed="rId4"/>
          <a:stretch>
            <a:fillRect/>
          </a:stretch>
        </p:blipFill>
        <p:spPr>
          <a:xfrm>
            <a:off x="185322" y="1937137"/>
            <a:ext cx="5291549" cy="217013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31734" y="1511300"/>
            <a:ext cx="4221266" cy="2984500"/>
          </a:xfrm>
          <a:prstGeom prst="roundRect">
            <a:avLst>
              <a:gd name="adj" fmla="val 0"/>
            </a:avLst>
          </a:prstGeom>
          <a:noFill/>
          <a:ln w="25400" cap="flat" cmpd="sng">
            <a:solidFill>
              <a:srgbClr val="AFABAB">
                <a:alpha val="100000"/>
              </a:srgbClr>
            </a:solidFill>
            <a:prstDash val="solid"/>
            <a:miter lim="80000000"/>
          </a:ln>
        </p:spPr>
        <p:txBody>
          <a:bodyPr vert="horz" wrap="square" lIns="63500" tIns="63500" rIns="63500" bIns="63500" rtlCol="0" anchor="ctr"/>
          <a:lstStyle/>
          <a:p>
            <a:pPr algn="ctr">
              <a:defRPr/>
            </a:pPr>
            <a:endParaRPr/>
          </a:p>
        </p:txBody>
      </p:sp>
      <p:sp>
        <p:nvSpPr>
          <p:cNvPr id="4" name="AutoShape 4"/>
          <p:cNvSpPr/>
          <p:nvPr/>
        </p:nvSpPr>
        <p:spPr>
          <a:xfrm>
            <a:off x="5080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Hotspot Zone</a:t>
            </a:r>
            <a:endParaRPr lang="en-US" sz="1100"/>
          </a:p>
          <a:p>
            <a:pPr marL="0" indent="0" algn="ctr">
              <a:lnSpc>
                <a:spcPct val="125000"/>
              </a:lnSpc>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Teen ↔ Mature 17+</a:t>
            </a:r>
          </a:p>
        </p:txBody>
      </p:sp>
      <p:sp>
        <p:nvSpPr>
          <p:cNvPr id="6" name="AutoShape 6"/>
          <p:cNvSpPr/>
          <p:nvPr/>
        </p:nvSpPr>
        <p:spPr>
          <a:xfrm>
            <a:off x="28575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9845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Min Probability Gap</a:t>
            </a:r>
            <a:endParaRPr lang="en-US" sz="1100"/>
          </a:p>
          <a:p>
            <a:pPr marL="0" indent="0" algn="ctr">
              <a:lnSpc>
                <a:spcPct val="125000"/>
              </a:lnSpc>
            </a:pPr>
            <a:r>
              <a:rPr lang="en-US" sz="2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0.001</a:t>
            </a:r>
          </a:p>
        </p:txBody>
      </p:sp>
      <p:cxnSp>
        <p:nvCxnSpPr>
          <p:cNvPr id="8" name="Connector 8"/>
          <p:cNvCxnSpPr/>
          <p:nvPr/>
        </p:nvCxnSpPr>
        <p:spPr>
          <a:xfrm rot="5391296">
            <a:off x="2889250" y="4013208"/>
            <a:ext cx="50165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9" name="AutoShape 9"/>
          <p:cNvSpPr/>
          <p:nvPr/>
        </p:nvSpPr>
        <p:spPr>
          <a:xfrm>
            <a:off x="5842000" y="1765300"/>
            <a:ext cx="5842000" cy="1308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969000" y="1765300"/>
            <a:ext cx="5588000" cy="1219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Key Observations</a:t>
            </a:r>
            <a:endParaRPr lang="en-US" sz="1100"/>
          </a:p>
          <a:p>
            <a:pPr marL="0" indent="0" algn="l">
              <a:lnSpc>
                <a:spcPct val="108000"/>
              </a:lnSpc>
            </a:pP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Uncertain samples cluster heavily at the boundary between 'Teen' and 'Mature 17+' categories. The gap between the top two predicted class probabilities is often negligible, indicating high ambiguity in content classification.</a:t>
            </a:r>
          </a:p>
        </p:txBody>
      </p:sp>
      <p:sp>
        <p:nvSpPr>
          <p:cNvPr id="11" name="AutoShape 11"/>
          <p:cNvSpPr/>
          <p:nvPr/>
        </p:nvSpPr>
        <p:spPr>
          <a:xfrm>
            <a:off x="584200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3479800"/>
            <a:ext cx="5588000" cy="1447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Borderline Case Examples</a:t>
            </a:r>
            <a:endParaRPr lang="en-US" sz="1100" dirty="0"/>
          </a:p>
          <a:p>
            <a:pPr marL="0" indent="0" algn="l">
              <a:lnSpc>
                <a:spcPct val="108000"/>
              </a:lnSpc>
            </a:pP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Sample #239: Mature 17+ (0.443) vs. Teen (0.442). </a:t>
            </a:r>
          </a:p>
          <a:p>
            <a:pPr marL="0" indent="0" algn="l">
              <a:lnSpc>
                <a:spcPct val="108000"/>
              </a:lnSpc>
            </a:pP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These minuscule gaps (0.001) are not random errors but reflect genuine difficulty in applying rigid age labels.</a:t>
            </a:r>
          </a:p>
        </p:txBody>
      </p:sp>
      <p:sp>
        <p:nvSpPr>
          <p:cNvPr id="13" name="AutoShape 13"/>
          <p:cNvSpPr/>
          <p:nvPr/>
        </p:nvSpPr>
        <p:spPr>
          <a:xfrm>
            <a:off x="5842000" y="5334000"/>
            <a:ext cx="5842000" cy="901700"/>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5384800"/>
            <a:ext cx="558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Practical Implications</a:t>
            </a:r>
            <a:endParaRPr lang="en-US" sz="1100"/>
          </a:p>
          <a:p>
            <a:pPr marL="0" indent="0" algn="l">
              <a:lnSpc>
                <a:spcPct val="108000"/>
              </a:lnSpc>
            </a:pP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 uncertainty is a feature, not a bug. It can automate the flagging of borderline content for mandatory human review, improving fairness.</a:t>
            </a:r>
          </a:p>
        </p:txBody>
      </p:sp>
      <p:sp>
        <p:nvSpPr>
          <p:cNvPr id="15" name="AutoShape 15"/>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panose="020B0604020202020204"/>
                <a:ea typeface="Arial" panose="020B0604020202020204"/>
                <a:cs typeface="Arial" panose="020B0604020202020204"/>
                <a:sym typeface="Arial" panose="020B0604020202020204"/>
              </a:rPr>
              <a:t>Uncertainty and Gray Areas in Age Rating</a:t>
            </a:r>
            <a:endParaRPr lang="en-US" sz="1100"/>
          </a:p>
        </p:txBody>
      </p:sp>
      <p:cxnSp>
        <p:nvCxnSpPr>
          <p:cNvPr id="16" name="Connector 16"/>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sp>
        <p:nvSpPr>
          <p:cNvPr id="17" name="AutoShape 17"/>
          <p:cNvSpPr/>
          <p:nvPr/>
        </p:nvSpPr>
        <p:spPr>
          <a:xfrm>
            <a:off x="508000" y="5994400"/>
            <a:ext cx="4572000" cy="520700"/>
          </a:xfrm>
          <a:prstGeom prst="roundRect">
            <a:avLst>
              <a:gd name="adj" fmla="val 0"/>
            </a:avLst>
          </a:prstGeom>
          <a:solidFill>
            <a:srgbClr val="E3F2FD">
              <a:alpha val="100000"/>
            </a:srgbClr>
          </a:solidFill>
          <a:ln w="12700" cap="flat" cmpd="sng">
            <a:solidFill>
              <a:srgbClr val="2196F3">
                <a:alpha val="50000"/>
              </a:srgbClr>
            </a:solidFill>
            <a:prstDash val="solid"/>
            <a:round/>
          </a:ln>
        </p:spPr>
        <p:txBody>
          <a:bodyPr vert="horz" wrap="square" lIns="0" tIns="0" rIns="0" bIns="0" rtlCol="0" anchor="ctr" anchorCtr="0"/>
          <a:lstStyle/>
          <a:p>
            <a:pPr marL="0" indent="0" algn="ctr">
              <a:lnSpc>
                <a:spcPct val="100000"/>
              </a:lnSpc>
              <a:defRPr/>
            </a:pP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Insight: Ambiguity stems from criteria, not just model limitations.</a:t>
            </a:r>
            <a:endParaRPr lang="en-US" sz="1100"/>
          </a:p>
        </p:txBody>
      </p:sp>
      <p:pic>
        <p:nvPicPr>
          <p:cNvPr id="19" name="图片 18"/>
          <p:cNvPicPr>
            <a:picLocks noChangeAspect="1"/>
          </p:cNvPicPr>
          <p:nvPr/>
        </p:nvPicPr>
        <p:blipFill>
          <a:blip r:embed="rId3"/>
          <a:srcRect r="49584" b="-2166"/>
          <a:stretch>
            <a:fillRect/>
          </a:stretch>
        </p:blipFill>
        <p:spPr>
          <a:xfrm>
            <a:off x="784785" y="1585637"/>
            <a:ext cx="4145430" cy="2948263"/>
          </a:xfrm>
          <a:prstGeom prst="rect">
            <a:avLst/>
          </a:prstGeom>
        </p:spPr>
      </p:pic>
      <p:pic>
        <p:nvPicPr>
          <p:cNvPr id="3" name="Picture 17"/>
          <p:cNvPicPr>
            <a:picLocks noChangeAspect="1"/>
          </p:cNvPicPr>
          <p:nvPr/>
        </p:nvPicPr>
        <p:blipFill>
          <a:blip r:embed="rId4"/>
          <a:srcRect/>
          <a:stretch>
            <a:fillRect/>
          </a:stretch>
        </p:blipFill>
        <p:spPr>
          <a:xfrm>
            <a:off x="8826500" y="139700"/>
            <a:ext cx="3365500" cy="1308100"/>
          </a:xfrm>
          <a:prstGeom prst="rect">
            <a:avLst/>
          </a:prstGeom>
          <a:noFill/>
          <a:ln w="25400" cap="flat" cmpd="sng">
            <a:noFill/>
            <a:prstDash val="solid"/>
            <a:rou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panose="020B0604020202020204"/>
                <a:ea typeface="Arial" panose="020B0604020202020204"/>
                <a:cs typeface="Arial" panose="020B0604020202020204"/>
                <a:sym typeface="Arial" panose="020B0604020202020204"/>
              </a:rPr>
              <a:t>Structural Missing Values Are Informative Signals</a:t>
            </a:r>
            <a:endParaRPr lang="en-US" sz="1100"/>
          </a:p>
        </p:txBody>
      </p:sp>
      <p:cxnSp>
        <p:nvCxnSpPr>
          <p:cNvPr id="3" name="Connector 3"/>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4" name="Picture 4"/>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sp>
        <p:nvSpPr>
          <p:cNvPr id="5" name="AutoShape 5"/>
          <p:cNvSpPr/>
          <p:nvPr/>
        </p:nvSpPr>
        <p:spPr>
          <a:xfrm>
            <a:off x="508000" y="1511300"/>
            <a:ext cx="4572000" cy="2921000"/>
          </a:xfrm>
          <a:prstGeom prst="roundRect">
            <a:avLst>
              <a:gd name="adj" fmla="val 0"/>
            </a:avLst>
          </a:prstGeom>
          <a:noFill/>
          <a:ln w="25400" cap="flat" cmpd="sng">
            <a:solidFill>
              <a:srgbClr val="AFABAB">
                <a:alpha val="100000"/>
              </a:srgbClr>
            </a:solidFill>
            <a:prstDash val="solid"/>
            <a:miter lim="80000000"/>
          </a:ln>
        </p:spPr>
        <p:txBody>
          <a:bodyPr vert="horz" wrap="square" lIns="63500" tIns="63500" rIns="63500" bIns="63500" rtlCol="0" anchor="ctr"/>
          <a:lstStyle/>
          <a:p>
            <a:pPr algn="ctr">
              <a:defRPr/>
            </a:pPr>
            <a:endParaRPr/>
          </a:p>
        </p:txBody>
      </p:sp>
      <p:sp>
        <p:nvSpPr>
          <p:cNvPr id="6" name="AutoShape 6"/>
          <p:cNvSpPr/>
          <p:nvPr/>
        </p:nvSpPr>
        <p:spPr>
          <a:xfrm>
            <a:off x="635000" y="1600200"/>
            <a:ext cx="4318000" cy="2743200"/>
          </a:xfrm>
          <a:prstGeom prst="roundRect">
            <a:avLst>
              <a:gd name="adj" fmla="val 0"/>
            </a:avLst>
          </a:prstGeom>
          <a:noFill/>
          <a:ln w="25400" cap="flat" cmpd="sng">
            <a:noFill/>
            <a:prstDash val="solid"/>
            <a:round/>
          </a:ln>
        </p:spPr>
        <p:txBody>
          <a:bodyPr vert="horz" wrap="square" lIns="127000" tIns="127000" rIns="127000" bIns="127000" rtlCol="0" anchor="ctr" anchorCtr="0"/>
          <a:lstStyle/>
          <a:p>
            <a:pPr marL="0" indent="0" algn="l">
              <a:lnSpc>
                <a:spcPct val="108000"/>
              </a:lnSpc>
              <a:defRPr/>
            </a:pPr>
            <a:r>
              <a:rPr lang="en-US" sz="1800" b="1"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Sentinel Values in Branching Logic</a:t>
            </a:r>
            <a:endParaRPr lang="en-US" sz="1100" dirty="0"/>
          </a:p>
          <a:p>
            <a:pPr marL="0" indent="0" algn="l">
              <a:lnSpc>
                <a:spcPct val="117000"/>
              </a:lnSpc>
            </a:pP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In questionnaires with conditional branching, values like '__INACTIVE__' or '__NONE__' are not random noise. They represent activated risk branches (e.g., a question about severe violence being inactive means no such content exists).</a:t>
            </a:r>
          </a:p>
        </p:txBody>
      </p:sp>
      <p:sp>
        <p:nvSpPr>
          <p:cNvPr id="7" name="AutoShape 7"/>
          <p:cNvSpPr/>
          <p:nvPr/>
        </p:nvSpPr>
        <p:spPr>
          <a:xfrm>
            <a:off x="5080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350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Key Sentinel Values</a:t>
            </a:r>
            <a:endParaRPr lang="en-US" sz="1100"/>
          </a:p>
          <a:p>
            <a:pPr marL="0" indent="0" algn="ctr">
              <a:lnSpc>
                <a:spcPct val="125000"/>
              </a:lnSpc>
            </a:pPr>
            <a:r>
              <a:rPr lang="en-US" sz="2000" b="1" i="0" u="none" strike="noStrike">
                <a:solidFill>
                  <a:srgbClr val="1F2329"/>
                </a:solidFill>
                <a:latin typeface="Segoe UI" panose="020B0502040204020203"/>
                <a:ea typeface="Segoe UI" panose="020B0502040204020203"/>
                <a:cs typeface="Segoe UI" panose="020B0502040204020203"/>
                <a:sym typeface="Segoe UI" panose="020B0502040204020203"/>
              </a:rPr>
              <a:t>__INACTIVE__</a:t>
            </a:r>
          </a:p>
        </p:txBody>
      </p:sp>
      <p:sp>
        <p:nvSpPr>
          <p:cNvPr id="9" name="AutoShape 9"/>
          <p:cNvSpPr/>
          <p:nvPr/>
        </p:nvSpPr>
        <p:spPr>
          <a:xfrm>
            <a:off x="28575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9845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Logistic Reg L1 Coeff</a:t>
            </a:r>
            <a:endParaRPr lang="en-US" sz="1100"/>
          </a:p>
          <a:p>
            <a:pPr marL="0" indent="0" algn="ctr">
              <a:lnSpc>
                <a:spcPct val="125000"/>
              </a:lnSpc>
            </a:pPr>
            <a:r>
              <a:rPr lang="en-US" sz="2400" b="1" i="0" u="none" strike="noStrike">
                <a:solidFill>
                  <a:srgbClr val="1F2329"/>
                </a:solidFill>
                <a:latin typeface="Segoe UI" panose="020B0502040204020203"/>
                <a:ea typeface="Segoe UI" panose="020B0502040204020203"/>
                <a:cs typeface="Segoe UI" panose="020B0502040204020203"/>
                <a:sym typeface="Segoe UI" panose="020B0502040204020203"/>
              </a:rPr>
              <a:t>± High Weight</a:t>
            </a:r>
          </a:p>
        </p:txBody>
      </p:sp>
      <p:cxnSp>
        <p:nvCxnSpPr>
          <p:cNvPr id="11" name="Connector 11"/>
          <p:cNvCxnSpPr/>
          <p:nvPr/>
        </p:nvCxnSpPr>
        <p:spPr>
          <a:xfrm rot="5391296">
            <a:off x="2889250" y="4013208"/>
            <a:ext cx="50165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2" name="AutoShape 12"/>
          <p:cNvSpPr/>
          <p:nvPr/>
        </p:nvSpPr>
        <p:spPr>
          <a:xfrm>
            <a:off x="5842000" y="1765300"/>
            <a:ext cx="5842000" cy="1308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5969000" y="1765300"/>
            <a:ext cx="5588000" cy="1219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1F2329"/>
                </a:solidFill>
                <a:latin typeface="Arial" panose="020B0604020202020204"/>
                <a:ea typeface="Arial" panose="020B0604020202020204"/>
                <a:cs typeface="Arial" panose="020B0604020202020204"/>
                <a:sym typeface="Arial" panose="020B0604020202020204"/>
              </a:rPr>
              <a:t>🧠 Core Analysis &amp; Insight</a:t>
            </a:r>
            <a:endParaRPr lang="en-US" sz="1100"/>
          </a:p>
          <a:p>
            <a:pPr marL="0" indent="0" algn="l">
              <a:lnSpc>
                <a:spcPct val="117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Instead of discarding or imputing, we retained structural missing values. The L1 coefficients of the logistic regression model revealed that these sentinel features carry substantial positive/negative weights, indicating strong predictive power.</a:t>
            </a:r>
          </a:p>
        </p:txBody>
      </p:sp>
      <p:sp>
        <p:nvSpPr>
          <p:cNvPr id="14" name="AutoShape 14"/>
          <p:cNvSpPr/>
          <p:nvPr/>
        </p:nvSpPr>
        <p:spPr>
          <a:xfrm>
            <a:off x="584200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969000" y="3479800"/>
            <a:ext cx="5588000" cy="1447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1F2329"/>
                </a:solidFill>
                <a:latin typeface="Arial" panose="020B0604020202020204"/>
                <a:ea typeface="Arial" panose="020B0604020202020204"/>
                <a:cs typeface="Arial" panose="020B0604020202020204"/>
                <a:sym typeface="Arial" panose="020B0604020202020204"/>
              </a:rPr>
              <a:t>📚 Semantic Signal vs. Noise</a:t>
            </a:r>
            <a:endParaRPr lang="en-US" sz="1100"/>
          </a:p>
          <a:p>
            <a:pPr marL="0" indent="0" algn="l">
              <a:lnSpc>
                <a:spcPct val="117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In branching questionnaires, the absence or inactivity of a question is a direct semantic signal about the subject (e.g., no severe violence = lower risk). Treating these as mere missing data would erase critical context and degrade model accuracy.</a:t>
            </a:r>
          </a:p>
        </p:txBody>
      </p:sp>
      <p:sp>
        <p:nvSpPr>
          <p:cNvPr id="16" name="AutoShape 16"/>
          <p:cNvSpPr/>
          <p:nvPr/>
        </p:nvSpPr>
        <p:spPr>
          <a:xfrm>
            <a:off x="5842000" y="5334000"/>
            <a:ext cx="5842000" cy="901700"/>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969000" y="5384800"/>
            <a:ext cx="558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Arial" panose="020B0604020202020204"/>
                <a:ea typeface="Arial" panose="020B0604020202020204"/>
                <a:cs typeface="Arial" panose="020B0604020202020204"/>
                <a:sym typeface="Arial" panose="020B0604020202020204"/>
              </a:rPr>
              <a:t>💡 Strategic Recommendation</a:t>
            </a:r>
            <a:endParaRPr lang="en-US" sz="1100"/>
          </a:p>
          <a:p>
            <a:pPr marL="0" indent="0" algn="l">
              <a:lnSpc>
                <a:spcPct val="108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Retain sentinel values as categorical features; avoid mean/mode imputation to preserve the semantic information embedded in structural missingness.</a:t>
            </a:r>
          </a:p>
        </p:txBody>
      </p:sp>
      <p:sp>
        <p:nvSpPr>
          <p:cNvPr id="18" name="AutoShape 18"/>
          <p:cNvSpPr/>
          <p:nvPr/>
        </p:nvSpPr>
        <p:spPr>
          <a:xfrm>
            <a:off x="508000" y="5994400"/>
            <a:ext cx="4572000" cy="52070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595959"/>
                </a:solidFill>
                <a:latin typeface="Segoe UI" panose="020B0502040204020203"/>
                <a:ea typeface="Segoe UI" panose="020B0502040204020203"/>
                <a:cs typeface="Segoe UI" panose="020B0502040204020203"/>
                <a:sym typeface="Segoe UI" panose="020B0502040204020203"/>
              </a:rPr>
              <a:t>💡 Note: Discarding these values would remove critical context for accurate risk classification.</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panose="020B0604020202020204"/>
                <a:ea typeface="Arial" panose="020B0604020202020204"/>
                <a:cs typeface="Arial" panose="020B0604020202020204"/>
                <a:sym typeface="Arial" panose="020B0604020202020204"/>
              </a:rPr>
              <a:t>Summary and Safety Recommendations</a:t>
            </a:r>
            <a:endParaRPr lang="en-US" sz="1100"/>
          </a:p>
        </p:txBody>
      </p:sp>
      <p:cxnSp>
        <p:nvCxnSpPr>
          <p:cNvPr id="3" name="Connector 3"/>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4" name="Picture 4"/>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sp>
        <p:nvSpPr>
          <p:cNvPr id="5" name="AutoShape 5"/>
          <p:cNvSpPr/>
          <p:nvPr/>
        </p:nvSpPr>
        <p:spPr>
          <a:xfrm>
            <a:off x="495300" y="1625600"/>
            <a:ext cx="4826000" cy="4064000"/>
          </a:xfrm>
          <a:prstGeom prst="roundRect">
            <a:avLst>
              <a:gd name="adj" fmla="val 0"/>
            </a:avLst>
          </a:prstGeom>
          <a:solidFill>
            <a:srgbClr val="FFFFFF">
              <a:alpha val="100000"/>
            </a:srgbClr>
          </a:solidFill>
          <a:ln w="38100" cap="flat" cmpd="sng">
            <a:solidFill>
              <a:srgbClr val="3B82F6">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84200" y="1752600"/>
            <a:ext cx="46609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1" i="0" u="none" strike="noStrike">
                <a:solidFill>
                  <a:srgbClr val="3B82F6"/>
                </a:solidFill>
                <a:latin typeface="Arial" panose="020B0604020202020204"/>
                <a:ea typeface="Arial" panose="020B0604020202020204"/>
                <a:cs typeface="Arial" panose="020B0604020202020204"/>
                <a:sym typeface="Arial" panose="020B0604020202020204"/>
              </a:rPr>
              <a:t>Research Summary: Core Findings</a:t>
            </a:r>
            <a:endParaRPr lang="en-US" sz="1100"/>
          </a:p>
        </p:txBody>
      </p:sp>
      <p:cxnSp>
        <p:nvCxnSpPr>
          <p:cNvPr id="7" name="Connector 7"/>
          <p:cNvCxnSpPr/>
          <p:nvPr/>
        </p:nvCxnSpPr>
        <p:spPr>
          <a:xfrm rot="-9878">
            <a:off x="698509" y="2571750"/>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8" name="AutoShape 8"/>
          <p:cNvSpPr/>
          <p:nvPr/>
        </p:nvSpPr>
        <p:spPr>
          <a:xfrm>
            <a:off x="698500" y="2705100"/>
            <a:ext cx="4419600" cy="1054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a:ea typeface="Segoe UI" panose="020B0502040204020203"/>
                <a:cs typeface="Segoe UI" panose="020B0502040204020203"/>
                <a:sym typeface="Segoe UI" panose="020B0502040204020203"/>
              </a:rPr>
              <a:t>Model Choice &amp; Risk Drivers</a:t>
            </a:r>
            <a:endParaRPr lang="en-US" sz="1100"/>
          </a:p>
          <a:p>
            <a:pPr marL="0" indent="0" algn="l">
              <a:lnSpc>
                <a:spcPct val="108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L1 logistic regression outperformed others. High-risk ratings are dominated by violence, sexual content, drugs, and gambling, forming distinct feature combinations.</a:t>
            </a:r>
          </a:p>
        </p:txBody>
      </p:sp>
      <p:cxnSp>
        <p:nvCxnSpPr>
          <p:cNvPr id="9" name="Connector 9"/>
          <p:cNvCxnSpPr/>
          <p:nvPr/>
        </p:nvCxnSpPr>
        <p:spPr>
          <a:xfrm rot="-9878">
            <a:off x="698509" y="3829050"/>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0" name="AutoShape 10"/>
          <p:cNvSpPr/>
          <p:nvPr/>
        </p:nvSpPr>
        <p:spPr>
          <a:xfrm>
            <a:off x="698500" y="4013200"/>
            <a:ext cx="44196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Segoe UI" panose="020B0502040204020203"/>
                <a:ea typeface="Segoe UI" panose="020B0502040204020203"/>
                <a:cs typeface="Segoe UI" panose="020B0502040204020203"/>
                <a:sym typeface="Segoe UI" panose="020B0502040204020203"/>
              </a:rPr>
              <a:t>Redundancy &amp; The Gray Zone Challenge</a:t>
            </a:r>
            <a:endParaRPr lang="en-US" sz="1100"/>
          </a:p>
          <a:p>
            <a:pPr marL="0" indent="0" algn="l">
              <a:lnSpc>
                <a:spcPct val="108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Questionnaires are highly redundant; key features suffice. The "Teen" and "Mature 17+" boundary is the most prominent gray area, with structural missing values holding predictive value.</a:t>
            </a:r>
          </a:p>
        </p:txBody>
      </p:sp>
      <p:sp>
        <p:nvSpPr>
          <p:cNvPr id="11" name="AutoShape 11"/>
          <p:cNvSpPr/>
          <p:nvPr/>
        </p:nvSpPr>
        <p:spPr>
          <a:xfrm>
            <a:off x="5981700" y="1625600"/>
            <a:ext cx="5638800" cy="1841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81700" y="1625600"/>
            <a:ext cx="76200" cy="1841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35700" y="1752600"/>
            <a:ext cx="5257800" cy="158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a:solidFill>
                  <a:srgbClr val="1F2329"/>
                </a:solidFill>
                <a:latin typeface="Segoe UI" panose="020B0502040204020203"/>
                <a:ea typeface="Segoe UI" panose="020B0502040204020203"/>
                <a:cs typeface="Segoe UI" panose="020B0502040204020203"/>
                <a:sym typeface="Segoe UI" panose="020B0502040204020203"/>
              </a:rPr>
              <a:t>Strengthen Validation &amp; Human-in-the-Loop</a:t>
            </a:r>
            <a:endParaRPr lang="en-US" sz="1100"/>
          </a:p>
          <a:p>
            <a:pPr marL="0" indent="0" algn="l">
              <a:lnSpc>
                <a:spcPct val="108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For high-risk content, enforce strict validation and manual spot checks. Introduce human review specifically for borderline cases between "Teen" and "Mature 17+" to minimize misclassification errors.</a:t>
            </a:r>
          </a:p>
        </p:txBody>
      </p:sp>
      <p:sp>
        <p:nvSpPr>
          <p:cNvPr id="14" name="AutoShape 14"/>
          <p:cNvSpPr/>
          <p:nvPr/>
        </p:nvSpPr>
        <p:spPr>
          <a:xfrm>
            <a:off x="5981700" y="3848100"/>
            <a:ext cx="5638800" cy="1841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981700" y="3848100"/>
            <a:ext cx="76200" cy="1841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172200" y="3975100"/>
            <a:ext cx="5334000" cy="158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a:solidFill>
                  <a:srgbClr val="1F2329"/>
                </a:solidFill>
                <a:latin typeface="Segoe UI" panose="020B0502040204020203"/>
                <a:ea typeface="Segoe UI" panose="020B0502040204020203"/>
                <a:cs typeface="Segoe UI" panose="020B0502040204020203"/>
                <a:sym typeface="Segoe UI" panose="020B0502040204020203"/>
              </a:rPr>
              <a:t>Simplify Questionnaires &amp; Avoid Overgeneralization</a:t>
            </a:r>
            <a:endParaRPr lang="en-US" sz="1100"/>
          </a:p>
          <a:p>
            <a:pPr marL="0" indent="0" algn="l">
              <a:lnSpc>
                <a:spcPct val="108000"/>
              </a:lnSpc>
            </a:pPr>
            <a:r>
              <a:rPr lang="en-US" sz="1400" b="0" i="0" u="none" strike="noStrike">
                <a:solidFill>
                  <a:srgbClr val="595959"/>
                </a:solidFill>
                <a:latin typeface="Segoe UI" panose="020B0502040204020203"/>
                <a:ea typeface="Segoe UI" panose="020B0502040204020203"/>
                <a:cs typeface="Segoe UI" panose="020B0502040204020203"/>
                <a:sym typeface="Segoe UI" panose="020B0502040204020203"/>
              </a:rPr>
              <a:t>Eliminate low-information, redundant questions to reduce user burden. Exercise caution when drawing conclusions from categories with extremely small sample sizes to avoid misleading inferences.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6" name="图片 5" descr="C:/Users/hugq/Desktop/图片2.png图片2"/>
          <p:cNvPicPr>
            <a:picLocks noChangeAspect="1"/>
          </p:cNvPicPr>
          <p:nvPr/>
        </p:nvPicPr>
        <p:blipFill rotWithShape="1">
          <a:blip r:embed="rId2"/>
          <a:srcRect l="92" r="92"/>
          <a:stretch>
            <a:fillRect/>
          </a:stretch>
        </p:blipFill>
        <p:spPr>
          <a:xfrm>
            <a:off x="-3437890" y="568960"/>
            <a:ext cx="9895840" cy="9213215"/>
          </a:xfrm>
          <a:prstGeom prst="rect">
            <a:avLst/>
          </a:prstGeom>
          <a:ln>
            <a:noFill/>
          </a:ln>
          <a:effectLst>
            <a:glow rad="127000">
              <a:schemeClr val="accent1">
                <a:alpha val="0"/>
              </a:schemeClr>
            </a:glow>
            <a:outerShdw blurRad="50800" dist="50800" dir="5400000" algn="ctr" rotWithShape="0">
              <a:srgbClr val="000000">
                <a:alpha val="0"/>
              </a:srgbClr>
            </a:outerShdw>
          </a:effectLst>
        </p:spPr>
      </p:pic>
      <p:grpSp>
        <p:nvGrpSpPr>
          <p:cNvPr id="115" name="组合 13"/>
          <p:cNvGrpSpPr/>
          <p:nvPr/>
        </p:nvGrpSpPr>
        <p:grpSpPr>
          <a:xfrm>
            <a:off x="-1210" y="1235190"/>
            <a:ext cx="6624000" cy="6646"/>
            <a:chOff x="-1209" y="1019383"/>
            <a:chExt cx="6097209" cy="6646"/>
          </a:xfrm>
        </p:grpSpPr>
        <p:cxnSp>
          <p:nvCxnSpPr>
            <p:cNvPr id="3145772" name="直接连接符 14"/>
            <p:cNvCxnSpPr/>
            <p:nvPr/>
          </p:nvCxnSpPr>
          <p:spPr>
            <a:xfrm>
              <a:off x="-1209" y="1026029"/>
              <a:ext cx="6097209"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45773" name="直接连接符 15"/>
            <p:cNvCxnSpPr/>
            <p:nvPr/>
          </p:nvCxnSpPr>
          <p:spPr>
            <a:xfrm flipV="1">
              <a:off x="3572967" y="1019383"/>
              <a:ext cx="2523033" cy="6646"/>
            </a:xfrm>
            <a:prstGeom prst="line">
              <a:avLst/>
            </a:prstGeom>
            <a:ln w="50800">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1048799" name="矩形 6"/>
          <p:cNvSpPr/>
          <p:nvPr/>
        </p:nvSpPr>
        <p:spPr>
          <a:xfrm rot="12451847">
            <a:off x="5446662" y="-916711"/>
            <a:ext cx="7766971" cy="10145666"/>
          </a:xfrm>
          <a:custGeom>
            <a:avLst/>
            <a:gdLst>
              <a:gd name="connsiteX0" fmla="*/ 0 w 10546584"/>
              <a:gd name="connsiteY0" fmla="*/ 0 h 15621816"/>
              <a:gd name="connsiteX1" fmla="*/ 10546584 w 10546584"/>
              <a:gd name="connsiteY1" fmla="*/ 0 h 15621816"/>
              <a:gd name="connsiteX2" fmla="*/ 10546584 w 10546584"/>
              <a:gd name="connsiteY2" fmla="*/ 15621816 h 15621816"/>
              <a:gd name="connsiteX3" fmla="*/ 0 w 10546584"/>
              <a:gd name="connsiteY3" fmla="*/ 15621816 h 15621816"/>
              <a:gd name="connsiteX4" fmla="*/ 0 w 10546584"/>
              <a:gd name="connsiteY4" fmla="*/ 0 h 15621816"/>
              <a:gd name="connsiteX0-1" fmla="*/ 0 w 10546584"/>
              <a:gd name="connsiteY0-2" fmla="*/ 0 h 15621816"/>
              <a:gd name="connsiteX1-3" fmla="*/ 10546584 w 10546584"/>
              <a:gd name="connsiteY1-4" fmla="*/ 0 h 15621816"/>
              <a:gd name="connsiteX2-5" fmla="*/ 10538602 w 10546584"/>
              <a:gd name="connsiteY2-6" fmla="*/ 13463391 h 15621816"/>
              <a:gd name="connsiteX3-7" fmla="*/ 0 w 10546584"/>
              <a:gd name="connsiteY3-8" fmla="*/ 15621816 h 15621816"/>
              <a:gd name="connsiteX4-9" fmla="*/ 0 w 10546584"/>
              <a:gd name="connsiteY4-10" fmla="*/ 0 h 15621816"/>
              <a:gd name="connsiteX0-11" fmla="*/ 0 w 10579250"/>
              <a:gd name="connsiteY0-12" fmla="*/ 0 h 15621816"/>
              <a:gd name="connsiteX1-13" fmla="*/ 10546584 w 10579250"/>
              <a:gd name="connsiteY1-14" fmla="*/ 0 h 15621816"/>
              <a:gd name="connsiteX2-15" fmla="*/ 10579116 w 10579250"/>
              <a:gd name="connsiteY2-16" fmla="*/ 12497037 h 15621816"/>
              <a:gd name="connsiteX3-17" fmla="*/ 0 w 10579250"/>
              <a:gd name="connsiteY3-18" fmla="*/ 15621816 h 15621816"/>
              <a:gd name="connsiteX4-19" fmla="*/ 0 w 10579250"/>
              <a:gd name="connsiteY4-20" fmla="*/ 0 h 15621816"/>
              <a:gd name="connsiteX0-21" fmla="*/ 0 w 10579250"/>
              <a:gd name="connsiteY0-22" fmla="*/ 0 h 15652941"/>
              <a:gd name="connsiteX1-23" fmla="*/ 10546584 w 10579250"/>
              <a:gd name="connsiteY1-24" fmla="*/ 0 h 15652941"/>
              <a:gd name="connsiteX2-25" fmla="*/ 10579116 w 10579250"/>
              <a:gd name="connsiteY2-26" fmla="*/ 12497037 h 15652941"/>
              <a:gd name="connsiteX3-27" fmla="*/ 4556221 w 10579250"/>
              <a:gd name="connsiteY3-28" fmla="*/ 15652941 h 15652941"/>
              <a:gd name="connsiteX4-29" fmla="*/ 0 w 10579250"/>
              <a:gd name="connsiteY4-30" fmla="*/ 0 h 15652941"/>
              <a:gd name="connsiteX0-31" fmla="*/ 1 w 10589663"/>
              <a:gd name="connsiteY0-32" fmla="*/ 5535143 h 15652941"/>
              <a:gd name="connsiteX1-33" fmla="*/ 10556997 w 10589663"/>
              <a:gd name="connsiteY1-34" fmla="*/ 0 h 15652941"/>
              <a:gd name="connsiteX2-35" fmla="*/ 10589529 w 10589663"/>
              <a:gd name="connsiteY2-36" fmla="*/ 12497037 h 15652941"/>
              <a:gd name="connsiteX3-37" fmla="*/ 4566634 w 10589663"/>
              <a:gd name="connsiteY3-38" fmla="*/ 15652941 h 15652941"/>
              <a:gd name="connsiteX4-39" fmla="*/ 1 w 10589663"/>
              <a:gd name="connsiteY4-40" fmla="*/ 5535143 h 15652941"/>
              <a:gd name="connsiteX0-41" fmla="*/ 0 w 10702424"/>
              <a:gd name="connsiteY0-42" fmla="*/ 5535143 h 15652941"/>
              <a:gd name="connsiteX1-43" fmla="*/ 10556996 w 10702424"/>
              <a:gd name="connsiteY1-44" fmla="*/ 0 h 15652941"/>
              <a:gd name="connsiteX2-45" fmla="*/ 10702390 w 10702424"/>
              <a:gd name="connsiteY2-46" fmla="*/ 12715735 h 15652941"/>
              <a:gd name="connsiteX3-47" fmla="*/ 4566633 w 10702424"/>
              <a:gd name="connsiteY3-48" fmla="*/ 15652941 h 15652941"/>
              <a:gd name="connsiteX4-49" fmla="*/ 0 w 10702424"/>
              <a:gd name="connsiteY4-50" fmla="*/ 5535143 h 15652941"/>
              <a:gd name="connsiteX0-51" fmla="*/ 0 w 10702424"/>
              <a:gd name="connsiteY0-52" fmla="*/ 5535143 h 15557566"/>
              <a:gd name="connsiteX1-53" fmla="*/ 10556996 w 10702424"/>
              <a:gd name="connsiteY1-54" fmla="*/ 0 h 15557566"/>
              <a:gd name="connsiteX2-55" fmla="*/ 10702390 w 10702424"/>
              <a:gd name="connsiteY2-56" fmla="*/ 12715735 h 15557566"/>
              <a:gd name="connsiteX3-57" fmla="*/ 5213885 w 10702424"/>
              <a:gd name="connsiteY3-58" fmla="*/ 15557566 h 15557566"/>
              <a:gd name="connsiteX4-59" fmla="*/ 0 w 10702424"/>
              <a:gd name="connsiteY4-60" fmla="*/ 5535143 h 15557566"/>
              <a:gd name="connsiteX0-61" fmla="*/ 0 w 10695787"/>
              <a:gd name="connsiteY0-62" fmla="*/ 5535143 h 15557566"/>
              <a:gd name="connsiteX1-63" fmla="*/ 10556996 w 10695787"/>
              <a:gd name="connsiteY1-64" fmla="*/ 0 h 15557566"/>
              <a:gd name="connsiteX2-65" fmla="*/ 10695751 w 10695787"/>
              <a:gd name="connsiteY2-66" fmla="*/ 12702952 h 15557566"/>
              <a:gd name="connsiteX3-67" fmla="*/ 5213885 w 10695787"/>
              <a:gd name="connsiteY3-68" fmla="*/ 15557566 h 15557566"/>
              <a:gd name="connsiteX4-69" fmla="*/ 0 w 10695787"/>
              <a:gd name="connsiteY4-70" fmla="*/ 5535143 h 15557566"/>
              <a:gd name="connsiteX0-71" fmla="*/ 0 w 10695787"/>
              <a:gd name="connsiteY0-72" fmla="*/ 5535143 h 15575924"/>
              <a:gd name="connsiteX1-73" fmla="*/ 10556996 w 10695787"/>
              <a:gd name="connsiteY1-74" fmla="*/ 0 h 15575924"/>
              <a:gd name="connsiteX2-75" fmla="*/ 10695751 w 10695787"/>
              <a:gd name="connsiteY2-76" fmla="*/ 12702952 h 15575924"/>
              <a:gd name="connsiteX3-77" fmla="*/ 5272012 w 10695787"/>
              <a:gd name="connsiteY3-78" fmla="*/ 15575924 h 15575924"/>
              <a:gd name="connsiteX4-79" fmla="*/ 0 w 10695787"/>
              <a:gd name="connsiteY4-80" fmla="*/ 5535143 h 15575924"/>
              <a:gd name="connsiteX0-81" fmla="*/ 0 w 10695787"/>
              <a:gd name="connsiteY0-82" fmla="*/ 5535143 h 15525337"/>
              <a:gd name="connsiteX1-83" fmla="*/ 10556996 w 10695787"/>
              <a:gd name="connsiteY1-84" fmla="*/ 0 h 15525337"/>
              <a:gd name="connsiteX2-85" fmla="*/ 10695751 w 10695787"/>
              <a:gd name="connsiteY2-86" fmla="*/ 12702952 h 15525337"/>
              <a:gd name="connsiteX3-87" fmla="*/ 5213345 w 10695787"/>
              <a:gd name="connsiteY3-88" fmla="*/ 15525337 h 15525337"/>
              <a:gd name="connsiteX4-89" fmla="*/ 0 w 10695787"/>
              <a:gd name="connsiteY4-90" fmla="*/ 5535143 h 15525337"/>
              <a:gd name="connsiteX0-91" fmla="*/ 0 w 10695787"/>
              <a:gd name="connsiteY0-92" fmla="*/ 5535143 h 17031858"/>
              <a:gd name="connsiteX1-93" fmla="*/ 10556996 w 10695787"/>
              <a:gd name="connsiteY1-94" fmla="*/ 0 h 17031858"/>
              <a:gd name="connsiteX2-95" fmla="*/ 10695751 w 10695787"/>
              <a:gd name="connsiteY2-96" fmla="*/ 12702952 h 17031858"/>
              <a:gd name="connsiteX3-97" fmla="*/ 4833139 w 10695787"/>
              <a:gd name="connsiteY3-98" fmla="*/ 17031859 h 17031858"/>
              <a:gd name="connsiteX4-99" fmla="*/ 0 w 10695787"/>
              <a:gd name="connsiteY4-100" fmla="*/ 5535143 h 17031858"/>
              <a:gd name="connsiteX0-101" fmla="*/ 0 w 10695799"/>
              <a:gd name="connsiteY0-102" fmla="*/ 6585436 h 18082152"/>
              <a:gd name="connsiteX1-103" fmla="*/ 10592776 w 10695799"/>
              <a:gd name="connsiteY1-104" fmla="*/ 1 h 18082152"/>
              <a:gd name="connsiteX2-105" fmla="*/ 10695751 w 10695799"/>
              <a:gd name="connsiteY2-106" fmla="*/ 13753245 h 18082152"/>
              <a:gd name="connsiteX3-107" fmla="*/ 4833139 w 10695799"/>
              <a:gd name="connsiteY3-108" fmla="*/ 18082152 h 18082152"/>
              <a:gd name="connsiteX4-109" fmla="*/ 0 w 10695799"/>
              <a:gd name="connsiteY4-110" fmla="*/ 6585436 h 18082152"/>
              <a:gd name="connsiteX0-111" fmla="*/ 0 w 9150024"/>
              <a:gd name="connsiteY0-112" fmla="*/ 7701734 h 18082151"/>
              <a:gd name="connsiteX1-113" fmla="*/ 9047001 w 9150024"/>
              <a:gd name="connsiteY1-114" fmla="*/ 0 h 18082151"/>
              <a:gd name="connsiteX2-115" fmla="*/ 9149976 w 9150024"/>
              <a:gd name="connsiteY2-116" fmla="*/ 13753244 h 18082151"/>
              <a:gd name="connsiteX3-117" fmla="*/ 3287364 w 9150024"/>
              <a:gd name="connsiteY3-118" fmla="*/ 18082151 h 18082151"/>
              <a:gd name="connsiteX4-119" fmla="*/ 0 w 9150024"/>
              <a:gd name="connsiteY4-120" fmla="*/ 7701734 h 18082151"/>
              <a:gd name="connsiteX0-121" fmla="*/ 0 w 9739439"/>
              <a:gd name="connsiteY0-122" fmla="*/ 7268496 h 18082151"/>
              <a:gd name="connsiteX1-123" fmla="*/ 9636416 w 9739439"/>
              <a:gd name="connsiteY1-124" fmla="*/ 0 h 18082151"/>
              <a:gd name="connsiteX2-125" fmla="*/ 9739391 w 9739439"/>
              <a:gd name="connsiteY2-126" fmla="*/ 13753244 h 18082151"/>
              <a:gd name="connsiteX3-127" fmla="*/ 3876779 w 9739439"/>
              <a:gd name="connsiteY3-128" fmla="*/ 18082151 h 18082151"/>
              <a:gd name="connsiteX4-129" fmla="*/ 0 w 9739439"/>
              <a:gd name="connsiteY4-130" fmla="*/ 7268496 h 18082151"/>
              <a:gd name="connsiteX0-131" fmla="*/ 0 w 9718841"/>
              <a:gd name="connsiteY0-132" fmla="*/ 7268496 h 18082151"/>
              <a:gd name="connsiteX1-133" fmla="*/ 9636416 w 9718841"/>
              <a:gd name="connsiteY1-134" fmla="*/ 0 h 18082151"/>
              <a:gd name="connsiteX2-135" fmla="*/ 9718782 w 9718841"/>
              <a:gd name="connsiteY2-136" fmla="*/ 13627821 h 18082151"/>
              <a:gd name="connsiteX3-137" fmla="*/ 3876779 w 9718841"/>
              <a:gd name="connsiteY3-138" fmla="*/ 18082151 h 18082151"/>
              <a:gd name="connsiteX4-139" fmla="*/ 0 w 9718841"/>
              <a:gd name="connsiteY4-140" fmla="*/ 7268496 h 18082151"/>
              <a:gd name="connsiteX0-141" fmla="*/ 0 w 9699862"/>
              <a:gd name="connsiteY0-142" fmla="*/ 7268496 h 18082151"/>
              <a:gd name="connsiteX1-143" fmla="*/ 9636416 w 9699862"/>
              <a:gd name="connsiteY1-144" fmla="*/ 0 h 18082151"/>
              <a:gd name="connsiteX2-145" fmla="*/ 9699787 w 9699862"/>
              <a:gd name="connsiteY2-146" fmla="*/ 13642280 h 18082151"/>
              <a:gd name="connsiteX3-147" fmla="*/ 3876779 w 9699862"/>
              <a:gd name="connsiteY3-148" fmla="*/ 18082151 h 18082151"/>
              <a:gd name="connsiteX4-149" fmla="*/ 0 w 9699862"/>
              <a:gd name="connsiteY4-150" fmla="*/ 7268496 h 18082151"/>
              <a:gd name="connsiteX0-151" fmla="*/ 0 w 9724998"/>
              <a:gd name="connsiteY0-152" fmla="*/ 7268496 h 18082151"/>
              <a:gd name="connsiteX1-153" fmla="*/ 9636416 w 9724998"/>
              <a:gd name="connsiteY1-154" fmla="*/ 0 h 18082151"/>
              <a:gd name="connsiteX2-155" fmla="*/ 9724943 w 9724998"/>
              <a:gd name="connsiteY2-156" fmla="*/ 13746603 h 18082151"/>
              <a:gd name="connsiteX3-157" fmla="*/ 3876779 w 9724998"/>
              <a:gd name="connsiteY3-158" fmla="*/ 18082151 h 18082151"/>
              <a:gd name="connsiteX4-159" fmla="*/ 0 w 9724998"/>
              <a:gd name="connsiteY4-160" fmla="*/ 7268496 h 18082151"/>
              <a:gd name="connsiteX0-161" fmla="*/ 0 w 9724998"/>
              <a:gd name="connsiteY0-162" fmla="*/ 7268496 h 18158734"/>
              <a:gd name="connsiteX1-163" fmla="*/ 9636416 w 9724998"/>
              <a:gd name="connsiteY1-164" fmla="*/ 0 h 18158734"/>
              <a:gd name="connsiteX2-165" fmla="*/ 9724943 w 9724998"/>
              <a:gd name="connsiteY2-166" fmla="*/ 13746603 h 18158734"/>
              <a:gd name="connsiteX3-167" fmla="*/ 3892033 w 9724998"/>
              <a:gd name="connsiteY3-168" fmla="*/ 18158734 h 18158734"/>
              <a:gd name="connsiteX4-169" fmla="*/ 0 w 9724998"/>
              <a:gd name="connsiteY4-170" fmla="*/ 7268496 h 18158734"/>
              <a:gd name="connsiteX0-171" fmla="*/ 0 w 9725000"/>
              <a:gd name="connsiteY0-172" fmla="*/ 7359537 h 18249775"/>
              <a:gd name="connsiteX1-173" fmla="*/ 9640156 w 9725000"/>
              <a:gd name="connsiteY1-174" fmla="*/ 0 h 18249775"/>
              <a:gd name="connsiteX2-175" fmla="*/ 9724943 w 9725000"/>
              <a:gd name="connsiteY2-176" fmla="*/ 13837644 h 18249775"/>
              <a:gd name="connsiteX3-177" fmla="*/ 3892033 w 9725000"/>
              <a:gd name="connsiteY3-178" fmla="*/ 18249775 h 18249775"/>
              <a:gd name="connsiteX4-179" fmla="*/ 0 w 9725000"/>
              <a:gd name="connsiteY4-180" fmla="*/ 7359537 h 18249775"/>
              <a:gd name="connsiteX0-181" fmla="*/ 0 w 9755106"/>
              <a:gd name="connsiteY0-182" fmla="*/ 7241345 h 18249775"/>
              <a:gd name="connsiteX1-183" fmla="*/ 9670262 w 9755106"/>
              <a:gd name="connsiteY1-184" fmla="*/ 0 h 18249775"/>
              <a:gd name="connsiteX2-185" fmla="*/ 9755049 w 9755106"/>
              <a:gd name="connsiteY2-186" fmla="*/ 13837644 h 18249775"/>
              <a:gd name="connsiteX3-187" fmla="*/ 3922139 w 9755106"/>
              <a:gd name="connsiteY3-188" fmla="*/ 18249775 h 18249775"/>
              <a:gd name="connsiteX4-189" fmla="*/ 0 w 9755106"/>
              <a:gd name="connsiteY4-190" fmla="*/ 7241345 h 18249775"/>
              <a:gd name="connsiteX0-191" fmla="*/ 0 w 9670262"/>
              <a:gd name="connsiteY0-192" fmla="*/ 7241345 h 18249775"/>
              <a:gd name="connsiteX1-193" fmla="*/ 9670262 w 9670262"/>
              <a:gd name="connsiteY1-194" fmla="*/ 0 h 18249775"/>
              <a:gd name="connsiteX2-195" fmla="*/ 9538740 w 9670262"/>
              <a:gd name="connsiteY2-196" fmla="*/ 13773009 h 18249775"/>
              <a:gd name="connsiteX3-197" fmla="*/ 3922139 w 9670262"/>
              <a:gd name="connsiteY3-198" fmla="*/ 18249775 h 18249775"/>
              <a:gd name="connsiteX4-199" fmla="*/ 0 w 9670262"/>
              <a:gd name="connsiteY4-200" fmla="*/ 7241345 h 18249775"/>
              <a:gd name="connsiteX0-201" fmla="*/ 0 w 9670262"/>
              <a:gd name="connsiteY0-202" fmla="*/ 7241345 h 18249775"/>
              <a:gd name="connsiteX1-203" fmla="*/ 9670262 w 9670262"/>
              <a:gd name="connsiteY1-204" fmla="*/ 0 h 18249775"/>
              <a:gd name="connsiteX2-205" fmla="*/ 9535806 w 9670262"/>
              <a:gd name="connsiteY2-206" fmla="*/ 13933992 h 18249775"/>
              <a:gd name="connsiteX3-207" fmla="*/ 3922139 w 9670262"/>
              <a:gd name="connsiteY3-208" fmla="*/ 18249775 h 18249775"/>
              <a:gd name="connsiteX4-209" fmla="*/ 0 w 9670262"/>
              <a:gd name="connsiteY4-210" fmla="*/ 7241345 h 18249775"/>
              <a:gd name="connsiteX0-211" fmla="*/ 0 w 9528208"/>
              <a:gd name="connsiteY0-212" fmla="*/ 7097929 h 18249775"/>
              <a:gd name="connsiteX1-213" fmla="*/ 9528208 w 9528208"/>
              <a:gd name="connsiteY1-214" fmla="*/ 0 h 18249775"/>
              <a:gd name="connsiteX2-215" fmla="*/ 9393752 w 9528208"/>
              <a:gd name="connsiteY2-216" fmla="*/ 13933992 h 18249775"/>
              <a:gd name="connsiteX3-217" fmla="*/ 3780085 w 9528208"/>
              <a:gd name="connsiteY3-218" fmla="*/ 18249775 h 18249775"/>
              <a:gd name="connsiteX4-219" fmla="*/ 0 w 9528208"/>
              <a:gd name="connsiteY4-220" fmla="*/ 7097929 h 18249775"/>
              <a:gd name="connsiteX0-221" fmla="*/ 0 w 9655007"/>
              <a:gd name="connsiteY0-222" fmla="*/ 7317929 h 18249775"/>
              <a:gd name="connsiteX1-223" fmla="*/ 9655007 w 9655007"/>
              <a:gd name="connsiteY1-224" fmla="*/ 0 h 18249775"/>
              <a:gd name="connsiteX2-225" fmla="*/ 9520551 w 9655007"/>
              <a:gd name="connsiteY2-226" fmla="*/ 13933992 h 18249775"/>
              <a:gd name="connsiteX3-227" fmla="*/ 3906884 w 9655007"/>
              <a:gd name="connsiteY3-228" fmla="*/ 18249775 h 18249775"/>
              <a:gd name="connsiteX4-229" fmla="*/ 0 w 9655007"/>
              <a:gd name="connsiteY4-230" fmla="*/ 7317929 h 18249775"/>
              <a:gd name="connsiteX0-231" fmla="*/ 0 w 9655007"/>
              <a:gd name="connsiteY0-232" fmla="*/ 7317929 h 18249775"/>
              <a:gd name="connsiteX1-233" fmla="*/ 9655007 w 9655007"/>
              <a:gd name="connsiteY1-234" fmla="*/ 0 h 18249775"/>
              <a:gd name="connsiteX2-235" fmla="*/ 9392542 w 9655007"/>
              <a:gd name="connsiteY2-236" fmla="*/ 14049080 h 18249775"/>
              <a:gd name="connsiteX3-237" fmla="*/ 3906884 w 9655007"/>
              <a:gd name="connsiteY3-238" fmla="*/ 18249775 h 18249775"/>
              <a:gd name="connsiteX4-239" fmla="*/ 0 w 9655007"/>
              <a:gd name="connsiteY4-240" fmla="*/ 7317929 h 18249775"/>
              <a:gd name="connsiteX0-241" fmla="*/ 0 w 9460921"/>
              <a:gd name="connsiteY0-242" fmla="*/ 7117261 h 18049107"/>
              <a:gd name="connsiteX1-243" fmla="*/ 9460921 w 9460921"/>
              <a:gd name="connsiteY1-244" fmla="*/ 0 h 18049107"/>
              <a:gd name="connsiteX2-245" fmla="*/ 9392542 w 9460921"/>
              <a:gd name="connsiteY2-246" fmla="*/ 13848412 h 18049107"/>
              <a:gd name="connsiteX3-247" fmla="*/ 3906884 w 9460921"/>
              <a:gd name="connsiteY3-248" fmla="*/ 18049107 h 18049107"/>
              <a:gd name="connsiteX4-249" fmla="*/ 0 w 9460921"/>
              <a:gd name="connsiteY4-250" fmla="*/ 7117261 h 1804910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460921" h="18049107">
                <a:moveTo>
                  <a:pt x="0" y="7117261"/>
                </a:moveTo>
                <a:lnTo>
                  <a:pt x="9460921" y="0"/>
                </a:lnTo>
                <a:cubicBezTo>
                  <a:pt x="9458260" y="4487797"/>
                  <a:pt x="9395203" y="9360615"/>
                  <a:pt x="9392542" y="13848412"/>
                </a:cubicBezTo>
                <a:lnTo>
                  <a:pt x="3906884" y="18049107"/>
                </a:lnTo>
                <a:lnTo>
                  <a:pt x="0" y="7117261"/>
                </a:lnTo>
                <a:close/>
              </a:path>
            </a:pathLst>
          </a:custGeom>
          <a:gradFill flip="none" rotWithShape="1">
            <a:gsLst>
              <a:gs pos="14000">
                <a:schemeClr val="accent1">
                  <a:lumMod val="67000"/>
                </a:schemeClr>
              </a:gs>
              <a:gs pos="66000">
                <a:schemeClr val="accent1">
                  <a:lumMod val="97000"/>
                  <a:lumOff val="3000"/>
                </a:schemeClr>
              </a:gs>
              <a:gs pos="100000">
                <a:schemeClr val="accent1">
                  <a:lumMod val="60000"/>
                  <a:lumOff val="40000"/>
                </a:schemeClr>
              </a:gs>
            </a:gsLst>
            <a:lin ang="162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45" dirty="0"/>
          </a:p>
        </p:txBody>
      </p:sp>
      <p:sp>
        <p:nvSpPr>
          <p:cNvPr id="1048800" name="文本框 8"/>
          <p:cNvSpPr txBox="1"/>
          <p:nvPr/>
        </p:nvSpPr>
        <p:spPr>
          <a:xfrm>
            <a:off x="5996940" y="2181860"/>
            <a:ext cx="5808980" cy="1890395"/>
          </a:xfrm>
          <a:prstGeom prst="rect">
            <a:avLst/>
          </a:prstGeom>
          <a:noFill/>
        </p:spPr>
        <p:txBody>
          <a:bodyPr wrap="square" rtlCol="0">
            <a:noAutofit/>
          </a:bodyPr>
          <a:lstStyle/>
          <a:p>
            <a:r>
              <a:rPr lang="en-US" altLang="zh-CN" sz="5400" b="1" dirty="0">
                <a:solidFill>
                  <a:schemeClr val="bg2">
                    <a:lumMod val="90000"/>
                  </a:schemeClr>
                </a:solidFill>
                <a:effectLst>
                  <a:outerShdw blurRad="50800" dist="50800" dir="5400000" algn="ctr" rotWithShape="0">
                    <a:schemeClr val="bg2">
                      <a:lumMod val="25000"/>
                    </a:schemeClr>
                  </a:outerShdw>
                </a:effectLst>
                <a:latin typeface="Arial" panose="020B0604020202020204" pitchFamily="34" charset="0"/>
                <a:ea typeface="宋体" panose="02010600030101010101" pitchFamily="2" charset="-122"/>
                <a:cs typeface="Arial" panose="020B0604020202020204" pitchFamily="34" charset="0"/>
                <a:sym typeface="+mn-ea"/>
              </a:rPr>
              <a:t>Thank you </a:t>
            </a:r>
          </a:p>
          <a:p>
            <a:r>
              <a:rPr lang="en-US" altLang="zh-CN" sz="5400" b="1" dirty="0">
                <a:solidFill>
                  <a:schemeClr val="bg2">
                    <a:lumMod val="90000"/>
                  </a:schemeClr>
                </a:solidFill>
                <a:effectLst>
                  <a:outerShdw blurRad="50800" dist="50800" dir="5400000" algn="ctr" rotWithShape="0">
                    <a:schemeClr val="bg2">
                      <a:lumMod val="25000"/>
                    </a:schemeClr>
                  </a:outerShdw>
                </a:effectLst>
                <a:latin typeface="Arial" panose="020B0604020202020204" pitchFamily="34" charset="0"/>
                <a:ea typeface="宋体" panose="02010600030101010101" pitchFamily="2" charset="-122"/>
                <a:cs typeface="Arial" panose="020B0604020202020204" pitchFamily="34" charset="0"/>
                <a:sym typeface="+mn-ea"/>
              </a:rPr>
              <a:t>for your listening</a:t>
            </a:r>
            <a:endParaRPr lang="zh-CN" altLang="en-US" sz="5400" b="1" dirty="0">
              <a:solidFill>
                <a:schemeClr val="bg2">
                  <a:lumMod val="90000"/>
                </a:schemeClr>
              </a:solidFill>
              <a:effectLst>
                <a:outerShdw blurRad="50800" dist="50800" dir="5400000" algn="ctr" rotWithShape="0">
                  <a:schemeClr val="bg2">
                    <a:lumMod val="25000"/>
                  </a:schemeClr>
                </a:outerShdw>
              </a:effectLst>
              <a:latin typeface="Arial" panose="020B0604020202020204" pitchFamily="34" charset="0"/>
              <a:ea typeface="宋体" panose="02010600030101010101" pitchFamily="2" charset="-122"/>
              <a:cs typeface="Arial" panose="020B0604020202020204" pitchFamily="34" charset="0"/>
            </a:endParaRPr>
          </a:p>
          <a:p>
            <a:endParaRPr lang="zh-CN" altLang="en-US" sz="5400" b="1" dirty="0">
              <a:solidFill>
                <a:schemeClr val="bg2">
                  <a:lumMod val="90000"/>
                </a:schemeClr>
              </a:solidFill>
              <a:effectLst>
                <a:outerShdw blurRad="50800" dist="50800" dir="5400000" algn="ctr" rotWithShape="0">
                  <a:schemeClr val="bg2">
                    <a:lumMod val="25000"/>
                  </a:schemeClr>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1048801" name="文本框 9"/>
          <p:cNvSpPr txBox="1"/>
          <p:nvPr/>
        </p:nvSpPr>
        <p:spPr>
          <a:xfrm>
            <a:off x="5998431" y="4309964"/>
            <a:ext cx="5808626" cy="460375"/>
          </a:xfrm>
          <a:prstGeom prst="rect">
            <a:avLst/>
          </a:prstGeom>
          <a:noFill/>
        </p:spPr>
        <p:txBody>
          <a:bodyPr wrap="square" rtlCol="0">
            <a:spAutoFit/>
          </a:bodyPr>
          <a:lstStyle/>
          <a:p>
            <a:r>
              <a:rPr lang="en-US" sz="2400" dirty="0">
                <a:solidFill>
                  <a:schemeClr val="tx1"/>
                </a:solidFill>
                <a:effectLst>
                  <a:outerShdw blurRad="50800" dist="50800" dir="5400000" algn="ctr" rotWithShape="0">
                    <a:schemeClr val="bg2">
                      <a:lumMod val="25000"/>
                    </a:schemeClr>
                  </a:outerShdw>
                </a:effectLst>
                <a:latin typeface="Segoe UI" panose="020B0502040204020203" charset="0"/>
                <a:ea typeface="宋体" panose="02010600030101010101" pitchFamily="2" charset="-122"/>
                <a:cs typeface="Segoe UI" panose="020B0502040204020203" charset="0"/>
              </a:rPr>
              <a:t>Project5   2026.6</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988" y="0"/>
            <a:ext cx="4465329" cy="152095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k5NWM4NzQyODBjYzI3NzAwNzQ5MGQ2ZDM2ZDcwMjg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2.72881889763784,&quot;left&quot;:37.68952755905512,&quot;top&quot;:167.99999999999994,&quot;width&quot;:888.538818897637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88.7288188976378,&quot;left&quot;:37.68952755905512,&quot;top&quot;:122,&quot;width&quot;:888.538818897637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09.49996775609657,&quot;left&quot;:55.24999027209799,&quot;top&quot;:226.50003224390343,&quot;width&quot;:348.0014367786387}"/>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09.49996775609657,&quot;left&quot;:55.24999027209799,&quot;top&quot;:226.50003224390343,&quot;width&quot;:348.0014367786387}"/>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09.49996775609657,&quot;left&quot;:55.24999027209799,&quot;top&quot;:226.50003224390343,&quot;width&quot;:348.0014367786387}"/>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09.49996775609657,&quot;left&quot;:55.24999027209799,&quot;top&quot;:226.50003224390343,&quot;width&quot;:348.0014367786387}"/>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09.49996775609657,&quot;left&quot;:55.24999027209799,&quot;top&quot;:226.50003224390343,&quot;width&quot;:348.0014367786387}"/>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09.49996775609657,&quot;left&quot;:55.24999027209799,&quot;top&quot;:226.50003224390343,&quot;width&quot;:348.001436778638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09.49996775609657,&quot;left&quot;:55.24999027209799,&quot;top&quot;:226.50003224390343,&quot;width&quot;:348.0014367786387}"/>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09.49996775609657,&quot;left&quot;:55.24999027209799,&quot;top&quot;:226.50003224390343,&quot;width&quot;:348.001436778638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60.8499677560966,&quot;left&quot;:55.24999027209799,&quot;top&quot;:175.1500322439034,&quot;width&quot;:357.9500097279020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60.8499677560966,&quot;left&quot;:55.24999027209799,&quot;top&quot;:175.1500322439034,&quot;width&quot;:357.9500097279020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60.8499677560966,&quot;left&quot;:55.24999027209799,&quot;top&quot;:175.1500322439034,&quot;width&quot;:357.9500097279020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16.2720472440945,&quot;left&quot;:-3.52511811023622,&quot;top&quot;:71.5103937007874,&quot;width&quot;:931.6330708661417}"/>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42.72881889763784,&quot;left&quot;:37.68952755905512,&quot;top&quot;:167.99999999999994,&quot;width&quot;:888.5388188976376}"/>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42.72881889763784,&quot;left&quot;:37.68952755905512,&quot;top&quot;:167.99999999999994,&quot;width&quot;:888.5388188976376}"/>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42.72881889763784,&quot;left&quot;:37.68952755905512,&quot;top&quot;:167.99999999999994,&quot;width&quot;:888.5388188976376}"/>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42.72881889763784,&quot;left&quot;:37.68952755905512,&quot;top&quot;:167.99999999999994,&quot;width&quot;:888.53881889763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6378</Words>
  <Application>Microsoft Macintosh PowerPoint</Application>
  <PresentationFormat>宽屏</PresentationFormat>
  <Paragraphs>641</Paragraphs>
  <Slides>40</Slides>
  <Notes>37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40</vt:i4>
      </vt:variant>
    </vt:vector>
  </HeadingPairs>
  <TitlesOfParts>
    <vt:vector size="50" baseType="lpstr">
      <vt:lpstr>等线</vt:lpstr>
      <vt:lpstr>等线 Light</vt:lpstr>
      <vt:lpstr>汉仪雅酷黑-85J</vt:lpstr>
      <vt:lpstr>宋体</vt:lpstr>
      <vt:lpstr>HYXuanSong 75J</vt:lpstr>
      <vt:lpstr>Noto Sans SC</vt:lpstr>
      <vt:lpstr>Arial</vt:lpstr>
      <vt:lpstr>Courier New</vt:lpstr>
      <vt:lpstr>Segoe UI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Rick Sanchez</cp:lastModifiedBy>
  <cp:revision>182</cp:revision>
  <dcterms:created xsi:type="dcterms:W3CDTF">2024-02-29T12:43:00Z</dcterms:created>
  <dcterms:modified xsi:type="dcterms:W3CDTF">2026-06-22T11:35:19Z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96B6552A80BB4E7FB2C2FD8EE8FD07FA_12</vt:lpwstr>
  </property>
  <property fmtid="{D5CDD505-2E9C-101B-9397-08002B2CF9AE}" pid="3" name="KSOProductBuildVer">
    <vt:lpwstr>2052-12.1.0.23542</vt:lpwstr>
  </property>
</Properties>
</file>
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
  </p:notesMasterIdLst>
  <p:handoutMasterIdLst>
    <p:handoutMasterId r:id="rId7"/>
  </p:handoutMasterIdLst>
  <p:sldIdLst>
    <p:sldId id="8936" r:id="rId3"/>
    <p:sldId id="8939" r:id="rId5"/>
    <p:sldId id="8941" r:id="rId6"/>
  </p:sldIdLst>
  <p:sldSz cx="12192000" cy="6858000"/>
  <p:notesSz cx="6858000" cy="9144000"/>
  <p:custDataLst>
    <p:tags r:id="rId1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88" autoAdjust="0"/>
    <p:restoredTop sz="95220" autoAdjust="0"/>
  </p:normalViewPr>
  <p:slideViewPr>
    <p:cSldViewPr snapToGrid="0">
      <p:cViewPr varScale="1">
        <p:scale>
          <a:sx n="86" d="100"/>
          <a:sy n="86" d="100"/>
        </p:scale>
        <p:origin x="48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gs" Target="tags/tag4.xml"/><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79B96F-178F-46C5-9756-2881A12377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EBB00E-10C2-452D-AF12-3632E0B9B5C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F4EBB00E-10C2-452D-AF12-3632E0B9B5C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F4EBB00E-10C2-452D-AF12-3632E0B9B5C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F4EBB00E-10C2-452D-AF12-3632E0B9B5C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内容">
    <p:bg>
      <p:bgPr>
        <a:gradFill flip="none" rotWithShape="1">
          <a:gsLst>
            <a:gs pos="26000">
              <a:srgbClr val="EBECF0"/>
            </a:gs>
            <a:gs pos="0">
              <a:srgbClr val="D7D9E1"/>
            </a:gs>
            <a:gs pos="100000">
              <a:schemeClr val="bg1"/>
            </a:gs>
          </a:gsLst>
          <a:lin ang="5400000" scaled="1"/>
          <a:tileRect/>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7CDB869C-4A6C-1643-AD3B-3BEE20F9F8F5}"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77597D0-8A9D-F34C-BA8D-87696FBE49B1}"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2.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415" y="0"/>
            <a:ext cx="12181172"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ctr" rtl="0" fontAlgn="base">
        <a:spcBef>
          <a:spcPct val="0"/>
        </a:spcBef>
        <a:spcAft>
          <a:spcPct val="0"/>
        </a:spcAft>
        <a:defRPr sz="5900" kern="1200">
          <a:solidFill>
            <a:schemeClr val="tx1"/>
          </a:solidFill>
          <a:latin typeface="+mj-lt"/>
          <a:ea typeface="微软雅黑" panose="020B0503020204020204" pitchFamily="34" charset="-122"/>
          <a:cs typeface="+mj-cs"/>
        </a:defRPr>
      </a:lvl1pPr>
      <a:lvl2pPr algn="ctr" rtl="0" fontAlgn="base">
        <a:spcBef>
          <a:spcPct val="0"/>
        </a:spcBef>
        <a:spcAft>
          <a:spcPct val="0"/>
        </a:spcAft>
        <a:defRPr sz="59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59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59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5900">
          <a:solidFill>
            <a:schemeClr val="tx1"/>
          </a:solidFill>
          <a:latin typeface="Calibri" panose="020F0502020204030204" pitchFamily="34" charset="0"/>
          <a:ea typeface="宋体" panose="02010600030101010101" pitchFamily="2" charset="-122"/>
        </a:defRPr>
      </a:lvl5pPr>
      <a:lvl6pPr marL="608965" algn="ctr" rtl="0" fontAlgn="base">
        <a:spcBef>
          <a:spcPct val="0"/>
        </a:spcBef>
        <a:spcAft>
          <a:spcPct val="0"/>
        </a:spcAft>
        <a:defRPr sz="5900">
          <a:solidFill>
            <a:schemeClr val="tx1"/>
          </a:solidFill>
          <a:latin typeface="Calibri" panose="020F0502020204030204" pitchFamily="34" charset="0"/>
          <a:ea typeface="宋体" panose="02010600030101010101" pitchFamily="2" charset="-122"/>
        </a:defRPr>
      </a:lvl6pPr>
      <a:lvl7pPr marL="1217930" algn="ctr" rtl="0" fontAlgn="base">
        <a:spcBef>
          <a:spcPct val="0"/>
        </a:spcBef>
        <a:spcAft>
          <a:spcPct val="0"/>
        </a:spcAft>
        <a:defRPr sz="5900">
          <a:solidFill>
            <a:schemeClr val="tx1"/>
          </a:solidFill>
          <a:latin typeface="Calibri" panose="020F0502020204030204" pitchFamily="34" charset="0"/>
          <a:ea typeface="宋体" panose="02010600030101010101" pitchFamily="2" charset="-122"/>
        </a:defRPr>
      </a:lvl7pPr>
      <a:lvl8pPr marL="1826260" algn="ctr" rtl="0" fontAlgn="base">
        <a:spcBef>
          <a:spcPct val="0"/>
        </a:spcBef>
        <a:spcAft>
          <a:spcPct val="0"/>
        </a:spcAft>
        <a:defRPr sz="5900">
          <a:solidFill>
            <a:schemeClr val="tx1"/>
          </a:solidFill>
          <a:latin typeface="Calibri" panose="020F0502020204030204" pitchFamily="34" charset="0"/>
          <a:ea typeface="宋体" panose="02010600030101010101" pitchFamily="2" charset="-122"/>
        </a:defRPr>
      </a:lvl8pPr>
      <a:lvl9pPr marL="2435225" algn="ctr" rtl="0" fontAlgn="base">
        <a:spcBef>
          <a:spcPct val="0"/>
        </a:spcBef>
        <a:spcAft>
          <a:spcPct val="0"/>
        </a:spcAft>
        <a:defRPr sz="5900">
          <a:solidFill>
            <a:schemeClr val="tx1"/>
          </a:solidFill>
          <a:latin typeface="Calibri" panose="020F0502020204030204" pitchFamily="34" charset="0"/>
          <a:ea typeface="宋体" panose="02010600030101010101" pitchFamily="2" charset="-122"/>
        </a:defRPr>
      </a:lvl9pPr>
    </p:titleStyle>
    <p:bodyStyle>
      <a:lvl1pPr marL="456565" indent="-456565" algn="l" rtl="0" fontAlgn="base">
        <a:spcBef>
          <a:spcPct val="20000"/>
        </a:spcBef>
        <a:spcAft>
          <a:spcPct val="0"/>
        </a:spcAft>
        <a:buFont typeface="Arial" panose="020B0604020202020204" pitchFamily="34" charset="0"/>
        <a:buChar char="•"/>
        <a:defRPr sz="4300" kern="1200">
          <a:solidFill>
            <a:schemeClr val="tx1"/>
          </a:solidFill>
          <a:latin typeface="+mn-lt"/>
          <a:ea typeface="微软雅黑" panose="020B0503020204020204" pitchFamily="34" charset="-122"/>
          <a:cs typeface="+mn-cs"/>
        </a:defRPr>
      </a:lvl1pPr>
      <a:lvl2pPr marL="989330" indent="-380365" algn="l" rtl="0" fontAlgn="base">
        <a:spcBef>
          <a:spcPct val="20000"/>
        </a:spcBef>
        <a:spcAft>
          <a:spcPct val="0"/>
        </a:spcAft>
        <a:buFont typeface="Arial" panose="020B0604020202020204" pitchFamily="34" charset="0"/>
        <a:buChar char="–"/>
        <a:defRPr sz="3700" kern="1200">
          <a:solidFill>
            <a:schemeClr val="tx1"/>
          </a:solidFill>
          <a:latin typeface="+mn-lt"/>
          <a:ea typeface="微软雅黑" panose="020B0503020204020204" pitchFamily="34" charset="-122"/>
          <a:cs typeface="+mn-cs"/>
        </a:defRPr>
      </a:lvl2pPr>
      <a:lvl3pPr marL="1522730" indent="-304800" algn="l" rtl="0" fontAlgn="base">
        <a:spcBef>
          <a:spcPct val="20000"/>
        </a:spcBef>
        <a:spcAft>
          <a:spcPct val="0"/>
        </a:spcAft>
        <a:buFont typeface="Arial" panose="020B0604020202020204" pitchFamily="34" charset="0"/>
        <a:buChar char="•"/>
        <a:defRPr sz="3200" kern="1200">
          <a:solidFill>
            <a:schemeClr val="tx1"/>
          </a:solidFill>
          <a:latin typeface="+mn-lt"/>
          <a:ea typeface="微软雅黑" panose="020B0503020204020204" pitchFamily="34" charset="-122"/>
          <a:cs typeface="+mn-cs"/>
        </a:defRPr>
      </a:lvl3pPr>
      <a:lvl4pPr marL="2131060" indent="-304800" algn="l" rtl="0" fontAlgn="base">
        <a:spcBef>
          <a:spcPct val="20000"/>
        </a:spcBef>
        <a:spcAft>
          <a:spcPct val="0"/>
        </a:spcAft>
        <a:buFont typeface="Arial" panose="020B0604020202020204" pitchFamily="34" charset="0"/>
        <a:buChar char="–"/>
        <a:defRPr sz="2700" kern="1200">
          <a:solidFill>
            <a:schemeClr val="tx1"/>
          </a:solidFill>
          <a:latin typeface="+mn-lt"/>
          <a:ea typeface="微软雅黑" panose="020B0503020204020204" pitchFamily="34" charset="-122"/>
          <a:cs typeface="+mn-cs"/>
        </a:defRPr>
      </a:lvl4pPr>
      <a:lvl5pPr marL="2740025" indent="-304800" algn="l" rtl="0" fontAlgn="base">
        <a:spcBef>
          <a:spcPct val="20000"/>
        </a:spcBef>
        <a:spcAft>
          <a:spcPct val="0"/>
        </a:spcAft>
        <a:buFont typeface="Arial" panose="020B0604020202020204" pitchFamily="34" charset="0"/>
        <a:buChar char="»"/>
        <a:defRPr sz="2700" kern="1200">
          <a:solidFill>
            <a:schemeClr val="tx1"/>
          </a:solidFill>
          <a:latin typeface="+mn-lt"/>
          <a:ea typeface="微软雅黑" panose="020B0503020204020204" pitchFamily="34" charset="-122"/>
          <a:cs typeface="+mn-cs"/>
        </a:defRPr>
      </a:lvl5pPr>
      <a:lvl6pPr marL="3348990" indent="-304800" algn="l" defTabSz="121793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57955" indent="-304800" algn="l" defTabSz="121793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66920" indent="-304800" algn="l" defTabSz="121793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75250" indent="-304800" algn="l" defTabSz="121793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7930" rtl="0" eaLnBrk="1" latinLnBrk="0" hangingPunct="1">
        <a:defRPr sz="2400" kern="1200">
          <a:solidFill>
            <a:schemeClr val="tx1"/>
          </a:solidFill>
          <a:latin typeface="+mn-lt"/>
          <a:ea typeface="+mn-ea"/>
          <a:cs typeface="+mn-cs"/>
        </a:defRPr>
      </a:lvl1pPr>
      <a:lvl2pPr marL="608965" algn="l" defTabSz="1217930" rtl="0" eaLnBrk="1" latinLnBrk="0" hangingPunct="1">
        <a:defRPr sz="2400" kern="1200">
          <a:solidFill>
            <a:schemeClr val="tx1"/>
          </a:solidFill>
          <a:latin typeface="+mn-lt"/>
          <a:ea typeface="+mn-ea"/>
          <a:cs typeface="+mn-cs"/>
        </a:defRPr>
      </a:lvl2pPr>
      <a:lvl3pPr marL="1217930" algn="l" defTabSz="1217930" rtl="0" eaLnBrk="1" latinLnBrk="0" hangingPunct="1">
        <a:defRPr sz="2400" kern="1200">
          <a:solidFill>
            <a:schemeClr val="tx1"/>
          </a:solidFill>
          <a:latin typeface="+mn-lt"/>
          <a:ea typeface="+mn-ea"/>
          <a:cs typeface="+mn-cs"/>
        </a:defRPr>
      </a:lvl3pPr>
      <a:lvl4pPr marL="1826260" algn="l" defTabSz="1217930" rtl="0" eaLnBrk="1" latinLnBrk="0" hangingPunct="1">
        <a:defRPr sz="2400" kern="1200">
          <a:solidFill>
            <a:schemeClr val="tx1"/>
          </a:solidFill>
          <a:latin typeface="+mn-lt"/>
          <a:ea typeface="+mn-ea"/>
          <a:cs typeface="+mn-cs"/>
        </a:defRPr>
      </a:lvl4pPr>
      <a:lvl5pPr marL="2435225" algn="l" defTabSz="1217930" rtl="0" eaLnBrk="1" latinLnBrk="0" hangingPunct="1">
        <a:defRPr sz="2400" kern="1200">
          <a:solidFill>
            <a:schemeClr val="tx1"/>
          </a:solidFill>
          <a:latin typeface="+mn-lt"/>
          <a:ea typeface="+mn-ea"/>
          <a:cs typeface="+mn-cs"/>
        </a:defRPr>
      </a:lvl5pPr>
      <a:lvl6pPr marL="3044190" algn="l" defTabSz="1217930" rtl="0" eaLnBrk="1" latinLnBrk="0" hangingPunct="1">
        <a:defRPr sz="2400" kern="1200">
          <a:solidFill>
            <a:schemeClr val="tx1"/>
          </a:solidFill>
          <a:latin typeface="+mn-lt"/>
          <a:ea typeface="+mn-ea"/>
          <a:cs typeface="+mn-cs"/>
        </a:defRPr>
      </a:lvl6pPr>
      <a:lvl7pPr marL="3653155" algn="l" defTabSz="1217930" rtl="0" eaLnBrk="1" latinLnBrk="0" hangingPunct="1">
        <a:defRPr sz="2400" kern="1200">
          <a:solidFill>
            <a:schemeClr val="tx1"/>
          </a:solidFill>
          <a:latin typeface="+mn-lt"/>
          <a:ea typeface="+mn-ea"/>
          <a:cs typeface="+mn-cs"/>
        </a:defRPr>
      </a:lvl7pPr>
      <a:lvl8pPr marL="4262120" algn="l" defTabSz="1217930" rtl="0" eaLnBrk="1" latinLnBrk="0" hangingPunct="1">
        <a:defRPr sz="2400" kern="1200">
          <a:solidFill>
            <a:schemeClr val="tx1"/>
          </a:solidFill>
          <a:latin typeface="+mn-lt"/>
          <a:ea typeface="+mn-ea"/>
          <a:cs typeface="+mn-cs"/>
        </a:defRPr>
      </a:lvl8pPr>
      <a:lvl9pPr marL="4870450" algn="l" defTabSz="121793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250825" y="175895"/>
            <a:ext cx="11772900" cy="962025"/>
          </a:xfrm>
          <a:prstGeom prst="rect">
            <a:avLst/>
          </a:prstGeom>
        </p:spPr>
        <p:txBody>
          <a:bodyPr/>
          <a:lstStyle>
            <a:defPPr>
              <a:defRPr lang="zh-CN"/>
            </a:defPPr>
            <a:lvl1pPr algn="ctr">
              <a:defRPr sz="3600">
                <a:latin typeface="+mj-lt"/>
                <a:ea typeface="微软雅黑" panose="020B0503020204020204" pitchFamily="34" charset="-122"/>
                <a:cs typeface="+mj-cs"/>
              </a:defRPr>
            </a:lvl1pPr>
            <a:lvl2pPr algn="ctr">
              <a:defRPr sz="5900"/>
            </a:lvl2pPr>
            <a:lvl3pPr algn="ctr">
              <a:defRPr sz="5900"/>
            </a:lvl3pPr>
            <a:lvl4pPr algn="ctr">
              <a:defRPr sz="5900"/>
            </a:lvl4pPr>
            <a:lvl5pPr algn="ctr">
              <a:defRPr sz="5900"/>
            </a:lvl5pPr>
            <a:lvl6pPr marL="608965" algn="ctr" fontAlgn="base">
              <a:spcBef>
                <a:spcPct val="0"/>
              </a:spcBef>
              <a:spcAft>
                <a:spcPct val="0"/>
              </a:spcAft>
              <a:defRPr sz="5900"/>
            </a:lvl6pPr>
            <a:lvl7pPr marL="1217930" algn="ctr" fontAlgn="base">
              <a:spcBef>
                <a:spcPct val="0"/>
              </a:spcBef>
              <a:spcAft>
                <a:spcPct val="0"/>
              </a:spcAft>
              <a:defRPr sz="5900"/>
            </a:lvl7pPr>
            <a:lvl8pPr marL="1826895" algn="ctr" fontAlgn="base">
              <a:spcBef>
                <a:spcPct val="0"/>
              </a:spcBef>
              <a:spcAft>
                <a:spcPct val="0"/>
              </a:spcAft>
              <a:defRPr sz="5900"/>
            </a:lvl8pPr>
            <a:lvl9pPr marL="2435860" algn="ctr" fontAlgn="base">
              <a:spcBef>
                <a:spcPct val="0"/>
              </a:spcBef>
              <a:spcAft>
                <a:spcPct val="0"/>
              </a:spcAft>
              <a:defRPr sz="5900"/>
            </a:lvl9pPr>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dirty="0">
                <a:solidFill>
                  <a:prstClr val="black"/>
                </a:solidFill>
                <a:latin typeface="Calibri" panose="020F0502020204030204"/>
              </a:rPr>
              <a:t>Black-Box Reverse Modeling and Prediction of Google Play Age Rating Questionnaire</a:t>
            </a:r>
            <a:endParaRPr lang="en-US" altLang="zh-CN" sz="3600" b="1" dirty="0">
              <a:solidFill>
                <a:prstClr val="black"/>
              </a:solidFill>
              <a:latin typeface="Calibri" panose="020F0502020204030204"/>
            </a:endParaRPr>
          </a:p>
        </p:txBody>
      </p:sp>
      <p:sp>
        <p:nvSpPr>
          <p:cNvPr id="19" name="文本框 18"/>
          <p:cNvSpPr txBox="1"/>
          <p:nvPr>
            <p:custDataLst>
              <p:tags r:id="rId1"/>
            </p:custDataLst>
          </p:nvPr>
        </p:nvSpPr>
        <p:spPr>
          <a:xfrm>
            <a:off x="774382" y="1233396"/>
            <a:ext cx="10643235" cy="2708275"/>
          </a:xfrm>
          <a:prstGeom prst="rect">
            <a:avLst/>
          </a:prstGeom>
          <a:noFill/>
        </p:spPr>
        <p:txBody>
          <a:bodyPr wrap="square" lIns="0" tIns="0" rIns="0" bIns="0" rtlCol="0">
            <a:spAutoFit/>
          </a:bodyPr>
          <a:lstStyle/>
          <a:p>
            <a:pPr algn="l"/>
            <a:r>
              <a:rPr lang="en-US" altLang="zh-CN" sz="2400" b="1" dirty="0">
                <a:solidFill>
                  <a:schemeClr val="tx1"/>
                </a:solidFill>
                <a:latin typeface="微软雅黑" panose="020B0503020204020204" pitchFamily="34" charset="-122"/>
                <a:ea typeface="微软雅黑" panose="020B0503020204020204" pitchFamily="34" charset="-122"/>
              </a:rPr>
              <a:t>Description:</a:t>
            </a:r>
            <a:endParaRPr lang="en-US" altLang="zh-CN" sz="2400" b="1" dirty="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Google Play’s age rating mechanism aims to help parents select appropriate applications for minors. In the Google Play store, users can see each app’s age rating, Content Descriptors, and Interactive Elements. These rating results are generated after developers complete content rating questionnaires. However, the entire rating process is opaque to both developers and users. Google does not disclose the specific decision rules or logic of the questionnaire, making the process a complete black box.</a:t>
            </a:r>
            <a:endParaRPr lang="en-US" altLang="zh-CN" sz="1600" dirty="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This project aims to reverse model this black-box system using a data-driven approach. By exploring the mapping relationship between questionnaire answers and the final age rating, the experiment seeks to accurately predict the age rating based on the questionnaire responses.</a:t>
            </a:r>
            <a:endParaRPr lang="en-US" altLang="zh-CN" sz="1600" dirty="0">
              <a:solidFill>
                <a:schemeClr val="tx1"/>
              </a:solidFill>
              <a:latin typeface="微软雅黑" panose="020B0503020204020204" pitchFamily="34" charset="-122"/>
              <a:ea typeface="微软雅黑" panose="020B0503020204020204" pitchFamily="34" charset="-122"/>
            </a:endParaRPr>
          </a:p>
          <a:p>
            <a:pPr indent="0" algn="l">
              <a:lnSpc>
                <a:spcPct val="150000"/>
              </a:lnSpc>
              <a:buClrTx/>
              <a:buSzTx/>
              <a:buFont typeface="Arial" panose="020B0604020202020204" pitchFamily="34" charset="0"/>
              <a:buNone/>
            </a:pPr>
            <a:endParaRPr lang="en-US" altLang="zh-CN" sz="1600" dirty="0">
              <a:solidFill>
                <a:schemeClr val="tx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8265795" y="3652520"/>
            <a:ext cx="2110740" cy="2634615"/>
          </a:xfrm>
          <a:prstGeom prst="rect">
            <a:avLst/>
          </a:prstGeom>
        </p:spPr>
      </p:pic>
      <p:pic>
        <p:nvPicPr>
          <p:cNvPr id="4" name="图片 3"/>
          <p:cNvPicPr>
            <a:picLocks noChangeAspect="1"/>
          </p:cNvPicPr>
          <p:nvPr/>
        </p:nvPicPr>
        <p:blipFill>
          <a:blip r:embed="rId3"/>
          <a:stretch>
            <a:fillRect/>
          </a:stretch>
        </p:blipFill>
        <p:spPr>
          <a:xfrm>
            <a:off x="1651635" y="3584575"/>
            <a:ext cx="1804035" cy="2628900"/>
          </a:xfrm>
          <a:prstGeom prst="rect">
            <a:avLst/>
          </a:prstGeom>
        </p:spPr>
      </p:pic>
      <p:pic>
        <p:nvPicPr>
          <p:cNvPr id="6" name="图片 5"/>
          <p:cNvPicPr>
            <a:picLocks noChangeAspect="1"/>
          </p:cNvPicPr>
          <p:nvPr/>
        </p:nvPicPr>
        <p:blipFill>
          <a:blip r:embed="rId4"/>
          <a:srcRect t="3963" r="6917" b="49177"/>
          <a:stretch>
            <a:fillRect/>
          </a:stretch>
        </p:blipFill>
        <p:spPr>
          <a:xfrm>
            <a:off x="4874895" y="3584575"/>
            <a:ext cx="1955165" cy="2555240"/>
          </a:xfrm>
          <a:prstGeom prst="rect">
            <a:avLst/>
          </a:prstGeom>
        </p:spPr>
      </p:pic>
      <p:sp>
        <p:nvSpPr>
          <p:cNvPr id="7" name="文本框 6"/>
          <p:cNvSpPr txBox="1"/>
          <p:nvPr/>
        </p:nvSpPr>
        <p:spPr>
          <a:xfrm>
            <a:off x="8278495" y="6345555"/>
            <a:ext cx="2160905" cy="430530"/>
          </a:xfrm>
          <a:prstGeom prst="rect">
            <a:avLst/>
          </a:prstGeom>
          <a:noFill/>
        </p:spPr>
        <p:txBody>
          <a:bodyPr wrap="square" lIns="0" tIns="0" rIns="0" bIns="0" rtlCol="0">
            <a:spAutoFit/>
          </a:bodyPr>
          <a:p>
            <a:pPr algn="ctr"/>
            <a:r>
              <a:rPr lang="en-US" altLang="zh-CN" sz="1400" dirty="0">
                <a:latin typeface="微软雅黑" panose="020B0503020204020204" pitchFamily="34" charset="-122"/>
                <a:ea typeface="微软雅黑" panose="020B0503020204020204" pitchFamily="34" charset="-122"/>
              </a:rPr>
              <a:t>Age rating display in Google Play Store</a:t>
            </a:r>
            <a:endParaRPr lang="en-US" altLang="zh-CN" sz="14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1725930" y="6345555"/>
            <a:ext cx="1560830" cy="430530"/>
          </a:xfrm>
          <a:prstGeom prst="rect">
            <a:avLst/>
          </a:prstGeom>
          <a:noFill/>
        </p:spPr>
        <p:txBody>
          <a:bodyPr wrap="square" lIns="0" tIns="0" rIns="0" bIns="0" rtlCol="0">
            <a:spAutoFit/>
          </a:bodyPr>
          <a:p>
            <a:pPr algn="ctr"/>
            <a:r>
              <a:rPr lang="en-US" altLang="zh-CN" sz="1400" dirty="0">
                <a:latin typeface="微软雅黑" panose="020B0503020204020204" pitchFamily="34" charset="-122"/>
                <a:ea typeface="微软雅黑" panose="020B0503020204020204" pitchFamily="34" charset="-122"/>
                <a:sym typeface="+mn-ea"/>
              </a:rPr>
              <a:t>Content rating questionnaire</a:t>
            </a:r>
            <a:endParaRPr lang="en-US" altLang="zh-CN" sz="1400" b="1" dirty="0" smtClean="0">
              <a:solidFill>
                <a:schemeClr val="accent6"/>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4659630" y="6213475"/>
            <a:ext cx="2385060" cy="430530"/>
          </a:xfrm>
          <a:prstGeom prst="rect">
            <a:avLst/>
          </a:prstGeom>
          <a:noFill/>
        </p:spPr>
        <p:txBody>
          <a:bodyPr wrap="square" lIns="0" tIns="0" rIns="0" bIns="0" rtlCol="0">
            <a:spAutoFit/>
          </a:bodyPr>
          <a:p>
            <a:pPr algn="ctr"/>
            <a:r>
              <a:rPr lang="en-US" altLang="zh-CN" sz="1400" dirty="0">
                <a:latin typeface="微软雅黑" panose="020B0503020204020204" pitchFamily="34" charset="-122"/>
                <a:ea typeface="微软雅黑" panose="020B0503020204020204" pitchFamily="34" charset="-122"/>
              </a:rPr>
              <a:t>Content rating questionnaire result page</a:t>
            </a:r>
            <a:endParaRPr lang="en-US" altLang="zh-CN" sz="1400" dirty="0">
              <a:latin typeface="微软雅黑" panose="020B0503020204020204" pitchFamily="34" charset="-122"/>
              <a:ea typeface="微软雅黑" panose="020B0503020204020204" pitchFamily="34" charset="-122"/>
            </a:endParaRPr>
          </a:p>
        </p:txBody>
      </p:sp>
      <p:sp>
        <p:nvSpPr>
          <p:cNvPr id="11" name="右箭头 10"/>
          <p:cNvSpPr/>
          <p:nvPr/>
        </p:nvSpPr>
        <p:spPr>
          <a:xfrm>
            <a:off x="3783965" y="4841875"/>
            <a:ext cx="762635" cy="344170"/>
          </a:xfrm>
          <a:prstGeom prst="right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右箭头 12"/>
          <p:cNvSpPr/>
          <p:nvPr/>
        </p:nvSpPr>
        <p:spPr>
          <a:xfrm>
            <a:off x="7166610" y="4841875"/>
            <a:ext cx="762635" cy="344170"/>
          </a:xfrm>
          <a:prstGeom prst="rightArrow">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250825" y="175895"/>
            <a:ext cx="11772900" cy="962025"/>
          </a:xfrm>
          <a:prstGeom prst="rect">
            <a:avLst/>
          </a:prstGeom>
        </p:spPr>
        <p:txBody>
          <a:bodyPr/>
          <a:lstStyle>
            <a:defPPr>
              <a:defRPr lang="zh-CN"/>
            </a:defPPr>
            <a:lvl1pPr algn="ctr">
              <a:defRPr sz="3600">
                <a:latin typeface="+mj-lt"/>
                <a:ea typeface="微软雅黑" panose="020B0503020204020204" pitchFamily="34" charset="-122"/>
                <a:cs typeface="+mj-cs"/>
              </a:defRPr>
            </a:lvl1pPr>
            <a:lvl2pPr algn="ctr">
              <a:defRPr sz="5900"/>
            </a:lvl2pPr>
            <a:lvl3pPr algn="ctr">
              <a:defRPr sz="5900"/>
            </a:lvl3pPr>
            <a:lvl4pPr algn="ctr">
              <a:defRPr sz="5900"/>
            </a:lvl4pPr>
            <a:lvl5pPr algn="ctr">
              <a:defRPr sz="5900"/>
            </a:lvl5pPr>
            <a:lvl6pPr marL="608965" algn="ctr" fontAlgn="base">
              <a:spcBef>
                <a:spcPct val="0"/>
              </a:spcBef>
              <a:spcAft>
                <a:spcPct val="0"/>
              </a:spcAft>
              <a:defRPr sz="5900"/>
            </a:lvl6pPr>
            <a:lvl7pPr marL="1217930" algn="ctr" fontAlgn="base">
              <a:spcBef>
                <a:spcPct val="0"/>
              </a:spcBef>
              <a:spcAft>
                <a:spcPct val="0"/>
              </a:spcAft>
              <a:defRPr sz="5900"/>
            </a:lvl7pPr>
            <a:lvl8pPr marL="1826895" algn="ctr" fontAlgn="base">
              <a:spcBef>
                <a:spcPct val="0"/>
              </a:spcBef>
              <a:spcAft>
                <a:spcPct val="0"/>
              </a:spcAft>
              <a:defRPr sz="5900"/>
            </a:lvl8pPr>
            <a:lvl9pPr marL="2435860" algn="ctr" fontAlgn="base">
              <a:spcBef>
                <a:spcPct val="0"/>
              </a:spcBef>
              <a:spcAft>
                <a:spcPct val="0"/>
              </a:spcAft>
              <a:defRPr sz="5900"/>
            </a:lvl9pPr>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dirty="0">
                <a:solidFill>
                  <a:prstClr val="black"/>
                </a:solidFill>
                <a:latin typeface="Calibri" panose="020F0502020204030204"/>
              </a:rPr>
              <a:t>Black-Box Reverse Modeling and Prediction of Google Play Age Rating Questionnaire</a:t>
            </a:r>
            <a:endParaRPr lang="en-US" altLang="zh-CN" sz="3600" b="1" dirty="0">
              <a:solidFill>
                <a:prstClr val="black"/>
              </a:solidFill>
              <a:latin typeface="Calibri" panose="020F0502020204030204"/>
            </a:endParaRPr>
          </a:p>
        </p:txBody>
      </p:sp>
      <p:sp>
        <p:nvSpPr>
          <p:cNvPr id="19" name="文本框 18"/>
          <p:cNvSpPr txBox="1"/>
          <p:nvPr>
            <p:custDataLst>
              <p:tags r:id="rId1"/>
            </p:custDataLst>
          </p:nvPr>
        </p:nvSpPr>
        <p:spPr>
          <a:xfrm>
            <a:off x="774382" y="1233396"/>
            <a:ext cx="10643235" cy="5632450"/>
          </a:xfrm>
          <a:prstGeom prst="rect">
            <a:avLst/>
          </a:prstGeom>
          <a:noFill/>
        </p:spPr>
        <p:txBody>
          <a:bodyPr wrap="square" lIns="0" tIns="0" rIns="0" bIns="0" rtlCol="0">
            <a:spAutoFit/>
          </a:bodyPr>
          <a:lstStyle/>
          <a:p>
            <a:pPr indent="0" algn="l">
              <a:lnSpc>
                <a:spcPct val="150000"/>
              </a:lnSpc>
              <a:buClrTx/>
              <a:buSzTx/>
              <a:buFont typeface="Arial" panose="020B0604020202020204" pitchFamily="34" charset="0"/>
              <a:buNone/>
            </a:pPr>
            <a:r>
              <a:rPr lang="en-US" altLang="zh-CN" sz="2400" b="1" dirty="0">
                <a:solidFill>
                  <a:schemeClr val="tx1"/>
                </a:solidFill>
                <a:latin typeface="微软雅黑" panose="020B0503020204020204" pitchFamily="34" charset="-122"/>
                <a:ea typeface="微软雅黑" panose="020B0503020204020204" pitchFamily="34" charset="-122"/>
              </a:rPr>
              <a:t>Task:</a:t>
            </a:r>
            <a:endParaRPr lang="en-US" altLang="zh-CN" sz="2400" b="1"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1</a:t>
            </a:r>
            <a:r>
              <a:rPr lang="zh-CN" altLang="en-US" sz="2000" dirty="0" smtClean="0">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Data Collection Strategy Design and Implementation:</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algn="l">
              <a:lnSpc>
                <a:spcPct val="150000"/>
              </a:lnSpc>
              <a:buClrTx/>
              <a:buSzTx/>
              <a:buFont typeface="Arial" panose="020B0604020202020204" pitchFamily="34" charset="0"/>
              <a:buChar char="•"/>
            </a:pPr>
            <a:r>
              <a:rPr lang="en-US" altLang="zh-CN" sz="2000" dirty="0">
                <a:solidFill>
                  <a:schemeClr val="tx1"/>
                </a:solidFill>
                <a:latin typeface="微软雅黑" panose="020B0503020204020204" pitchFamily="34" charset="-122"/>
                <a:ea typeface="微软雅黑" panose="020B0503020204020204" pitchFamily="34" charset="-122"/>
              </a:rPr>
              <a:t>Design a systematic and efficient strategy for the tree-structured questionnaire and implement automated submission and data collection via scripts. Collect at least 1000 valid samples with sufficient diversity.</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algn="l">
              <a:lnSpc>
                <a:spcPct val="150000"/>
              </a:lnSpc>
              <a:buClrTx/>
              <a:buSzTx/>
              <a:buFont typeface="Arial" panose="020B0604020202020204" pitchFamily="34" charset="0"/>
              <a:buChar char="•"/>
            </a:pPr>
            <a:r>
              <a:rPr lang="en-US" altLang="zh-CN" sz="2000" dirty="0">
                <a:solidFill>
                  <a:schemeClr val="tx1"/>
                </a:solidFill>
                <a:latin typeface="微软雅黑" panose="020B0503020204020204" pitchFamily="34" charset="-122"/>
                <a:ea typeface="微软雅黑" panose="020B0503020204020204" pitchFamily="34" charset="-122"/>
              </a:rPr>
              <a:t>*Google Play Developer Console:https://play.google.com/console/developers</a:t>
            </a:r>
            <a:endParaRPr lang="en-US" altLang="zh-CN" sz="2000" dirty="0">
              <a:solidFill>
                <a:schemeClr val="tx1"/>
              </a:solidFill>
              <a:latin typeface="微软雅黑" panose="020B0503020204020204" pitchFamily="34" charset="-122"/>
              <a:ea typeface="微软雅黑" panose="020B0503020204020204" pitchFamily="34" charset="-122"/>
            </a:endParaRPr>
          </a:p>
          <a:p>
            <a:pPr indent="457200" algn="l">
              <a:lnSpc>
                <a:spcPct val="150000"/>
              </a:lnSpc>
              <a:buClrTx/>
              <a:buSzTx/>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(Access requires a registered Google Play Developer account.)</a:t>
            </a:r>
            <a:endParaRPr lang="en-US" altLang="zh-CN" sz="2000" dirty="0">
              <a:solidFill>
                <a:schemeClr val="tx1"/>
              </a:solidFill>
              <a:latin typeface="微软雅黑" panose="020B0503020204020204" pitchFamily="34" charset="-122"/>
              <a:ea typeface="微软雅黑" panose="020B0503020204020204" pitchFamily="34" charset="-122"/>
            </a:endParaRPr>
          </a:p>
          <a:p>
            <a:pPr indent="0" algn="l">
              <a:lnSpc>
                <a:spcPct val="150000"/>
              </a:lnSpc>
              <a:buClrTx/>
              <a:buSzTx/>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sym typeface="+mn-ea"/>
              </a:rPr>
              <a:t>2)  Model Training and Prediction:</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algn="l">
              <a:lnSpc>
                <a:spcPct val="150000"/>
              </a:lnSpc>
              <a:buClrTx/>
              <a:buSzTx/>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sym typeface="+mn-ea"/>
              </a:rPr>
              <a:t>Perform feature engineering on the collected data and train machine learning models for multi-class age rating prediction. Attempt at least 3 different models and conduct performance comparison and optimization.</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algn="l">
              <a:lnSpc>
                <a:spcPct val="150000"/>
              </a:lnSpc>
              <a:buClrTx/>
              <a:buSzTx/>
              <a:buFont typeface="Arial" panose="020B0604020202020204" pitchFamily="34" charset="0"/>
              <a:buChar char="•"/>
            </a:pPr>
            <a:endParaRPr lang="en-US" altLang="zh-CN"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250825" y="175895"/>
            <a:ext cx="11772900" cy="962025"/>
          </a:xfrm>
          <a:prstGeom prst="rect">
            <a:avLst/>
          </a:prstGeom>
        </p:spPr>
        <p:txBody>
          <a:bodyPr/>
          <a:lstStyle>
            <a:defPPr>
              <a:defRPr lang="zh-CN"/>
            </a:defPPr>
            <a:lvl1pPr algn="ctr">
              <a:defRPr sz="3600">
                <a:latin typeface="+mj-lt"/>
                <a:ea typeface="微软雅黑" panose="020B0503020204020204" pitchFamily="34" charset="-122"/>
                <a:cs typeface="+mj-cs"/>
              </a:defRPr>
            </a:lvl1pPr>
            <a:lvl2pPr algn="ctr">
              <a:defRPr sz="5900"/>
            </a:lvl2pPr>
            <a:lvl3pPr algn="ctr">
              <a:defRPr sz="5900"/>
            </a:lvl3pPr>
            <a:lvl4pPr algn="ctr">
              <a:defRPr sz="5900"/>
            </a:lvl4pPr>
            <a:lvl5pPr algn="ctr">
              <a:defRPr sz="5900"/>
            </a:lvl5pPr>
            <a:lvl6pPr marL="608965" algn="ctr" fontAlgn="base">
              <a:spcBef>
                <a:spcPct val="0"/>
              </a:spcBef>
              <a:spcAft>
                <a:spcPct val="0"/>
              </a:spcAft>
              <a:defRPr sz="5900"/>
            </a:lvl6pPr>
            <a:lvl7pPr marL="1217930" algn="ctr" fontAlgn="base">
              <a:spcBef>
                <a:spcPct val="0"/>
              </a:spcBef>
              <a:spcAft>
                <a:spcPct val="0"/>
              </a:spcAft>
              <a:defRPr sz="5900"/>
            </a:lvl7pPr>
            <a:lvl8pPr marL="1826895" algn="ctr" fontAlgn="base">
              <a:spcBef>
                <a:spcPct val="0"/>
              </a:spcBef>
              <a:spcAft>
                <a:spcPct val="0"/>
              </a:spcAft>
              <a:defRPr sz="5900"/>
            </a:lvl8pPr>
            <a:lvl9pPr marL="2435860" algn="ctr" fontAlgn="base">
              <a:spcBef>
                <a:spcPct val="0"/>
              </a:spcBef>
              <a:spcAft>
                <a:spcPct val="0"/>
              </a:spcAft>
              <a:defRPr sz="5900"/>
            </a:lvl9pPr>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dirty="0">
                <a:solidFill>
                  <a:prstClr val="black"/>
                </a:solidFill>
                <a:latin typeface="Calibri" panose="020F0502020204030204"/>
              </a:rPr>
              <a:t>Black-Box Reverse Modeling and Prediction of Google Play Age Rating Questionnaire</a:t>
            </a:r>
            <a:endParaRPr lang="en-US" altLang="zh-CN" sz="3600" b="1" dirty="0">
              <a:solidFill>
                <a:prstClr val="black"/>
              </a:solidFill>
              <a:latin typeface="Calibri" panose="020F0502020204030204"/>
            </a:endParaRPr>
          </a:p>
        </p:txBody>
      </p:sp>
      <p:sp>
        <p:nvSpPr>
          <p:cNvPr id="19" name="文本框 18"/>
          <p:cNvSpPr txBox="1"/>
          <p:nvPr>
            <p:custDataLst>
              <p:tags r:id="rId1"/>
            </p:custDataLst>
          </p:nvPr>
        </p:nvSpPr>
        <p:spPr>
          <a:xfrm>
            <a:off x="774382" y="1233396"/>
            <a:ext cx="10643235" cy="4924425"/>
          </a:xfrm>
          <a:prstGeom prst="rect">
            <a:avLst/>
          </a:prstGeom>
          <a:noFill/>
        </p:spPr>
        <p:txBody>
          <a:bodyPr wrap="square" lIns="0" tIns="0" rIns="0" bIns="0" rtlCol="0">
            <a:spAutoFit/>
          </a:bodyPr>
          <a:lstStyle/>
          <a:p>
            <a:pPr algn="l">
              <a:lnSpc>
                <a:spcPct val="150000"/>
              </a:lnSpc>
              <a:buClrTx/>
              <a:buSzTx/>
              <a:buFont typeface="Arial" panose="020B0604020202020204" pitchFamily="34" charset="0"/>
              <a:buNone/>
            </a:pPr>
            <a:endParaRPr lang="en-US" altLang="zh-CN" sz="2000" dirty="0">
              <a:latin typeface="微软雅黑" panose="020B0503020204020204" pitchFamily="34" charset="-122"/>
              <a:ea typeface="微软雅黑" panose="020B0503020204020204" pitchFamily="34" charset="-122"/>
              <a:sym typeface="+mn-ea"/>
            </a:endParaRPr>
          </a:p>
          <a:p>
            <a:pPr algn="l">
              <a:lnSpc>
                <a:spcPct val="150000"/>
              </a:lnSpc>
              <a:buClrTx/>
              <a:buSzTx/>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sym typeface="+mn-ea"/>
              </a:rPr>
              <a:t>3)  Result Analysis:</a:t>
            </a:r>
            <a:endParaRPr lang="en-US" altLang="zh-CN" sz="2000" dirty="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sym typeface="+mn-ea"/>
              </a:rPr>
              <a:t>Perform a comprehensive analysis of the experimental results, including overall model performance, differences across age rating categories, exploration of potential patterns in Google Play’s rating mechanism (e.g., most influential questions), and overall conclusions.</a:t>
            </a:r>
            <a:endParaRPr lang="en-US" altLang="zh-CN" sz="2000" dirty="0">
              <a:solidFill>
                <a:schemeClr val="tx1"/>
              </a:solidFill>
              <a:latin typeface="微软雅黑" panose="020B0503020204020204" pitchFamily="34" charset="-122"/>
              <a:ea typeface="微软雅黑" panose="020B0503020204020204" pitchFamily="34" charset="-122"/>
            </a:endParaRPr>
          </a:p>
          <a:p>
            <a:pPr algn="l">
              <a:lnSpc>
                <a:spcPct val="150000"/>
              </a:lnSpc>
              <a:buClrTx/>
              <a:buSzTx/>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sym typeface="+mn-ea"/>
              </a:rPr>
              <a:t>4)  Report:</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algn="l">
              <a:lnSpc>
                <a:spcPct val="150000"/>
              </a:lnSpc>
              <a:buClrTx/>
              <a:buSzTx/>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sym typeface="+mn-ea"/>
              </a:rPr>
              <a:t>Write a complete report covering: data collection strategy and dataset analysis, model training and performance evaluation, problems encountered and solutions, result analysis and major findings. The report must include dataset information, core code, and key result charts.</a:t>
            </a:r>
            <a:endParaRPr lang="en-US" altLang="zh-CN" sz="2000" dirty="0">
              <a:solidFill>
                <a:schemeClr val="tx1"/>
              </a:solidFill>
              <a:latin typeface="微软雅黑" panose="020B0503020204020204" pitchFamily="34" charset="-122"/>
              <a:ea typeface="微软雅黑" panose="020B0503020204020204" pitchFamily="34" charset="-122"/>
            </a:endParaRPr>
          </a:p>
          <a:p>
            <a:pPr indent="0" algn="l">
              <a:lnSpc>
                <a:spcPct val="150000"/>
              </a:lnSpc>
              <a:buClrTx/>
              <a:buSzTx/>
              <a:buFont typeface="Arial" panose="020B0604020202020204" pitchFamily="34" charset="0"/>
              <a:buNone/>
            </a:pPr>
            <a:endParaRPr lang="en-US" altLang="zh-CN"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PP_MARK_KEY" val="a4b4dde1-97b9-4c6b-aaec-3bf746a94369"/>
  <p:tag name="COMMONDATA" val="eyJoZGlkIjoiMGJiOTUyM2YzYmYzZWVlZTQ4ZWMwNzU5MjkyMzZhYTQifQ=="/>
</p:tagLst>
</file>

<file path=ppt/theme/theme1.xml><?xml version="1.0" encoding="utf-8"?>
<a:theme xmlns:a="http://schemas.openxmlformats.org/drawingml/2006/main" name="1_Office 主题​​">
  <a:themeElements>
    <a:clrScheme name="自定义 2">
      <a:dk1>
        <a:sysClr val="windowText" lastClr="000000"/>
      </a:dk1>
      <a:lt1>
        <a:sysClr val="window" lastClr="FFFFFF"/>
      </a:lt1>
      <a:dk2>
        <a:srgbClr val="FFFFFF"/>
      </a:dk2>
      <a:lt2>
        <a:srgbClr val="FFFFFF"/>
      </a:lt2>
      <a:accent1>
        <a:srgbClr val="0E647C"/>
      </a:accent1>
      <a:accent2>
        <a:srgbClr val="2DB2A4"/>
      </a:accent2>
      <a:accent3>
        <a:srgbClr val="74AF47"/>
      </a:accent3>
      <a:accent4>
        <a:srgbClr val="755DA1"/>
      </a:accent4>
      <a:accent5>
        <a:srgbClr val="4BACC6"/>
      </a:accent5>
      <a:accent6>
        <a:srgbClr val="F87A08"/>
      </a:accent6>
      <a:hlink>
        <a:srgbClr val="FFFFFF"/>
      </a:hlink>
      <a:folHlink>
        <a:srgbClr val="FFFF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lIns="0" tIns="0" rIns="0" bIns="0" rtlCol="0">
        <a:spAutoFit/>
      </a:bodyPr>
      <a:lstStyle>
        <a:defPPr>
          <a:defRPr sz="1600" b="1" dirty="0" smtClean="0">
            <a:solidFill>
              <a:schemeClr val="accent6"/>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2362</Words>
  <Application>WPS 演示</Application>
  <PresentationFormat>宽屏</PresentationFormat>
  <Paragraphs>32</Paragraphs>
  <Slides>3</Slides>
  <Notes>26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vt:i4>
      </vt:variant>
    </vt:vector>
  </HeadingPairs>
  <TitlesOfParts>
    <vt:vector size="12" baseType="lpstr">
      <vt:lpstr>Arial</vt:lpstr>
      <vt:lpstr>宋体</vt:lpstr>
      <vt:lpstr>Wingdings</vt:lpstr>
      <vt:lpstr>微软雅黑</vt:lpstr>
      <vt:lpstr>Calibri</vt:lpstr>
      <vt:lpstr>Calibri</vt:lpstr>
      <vt:lpstr>Arial Unicode MS</vt:lpstr>
      <vt:lpstr>等线</vt:lpstr>
      <vt:lpstr>1_Office 主题​​</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zxb</dc:creator>
  <cp:lastModifiedBy>覆</cp:lastModifiedBy>
  <cp:revision>425</cp:revision>
  <dcterms:created xsi:type="dcterms:W3CDTF">2023-03-24T01:05:00Z</dcterms:created>
  <dcterms:modified xsi:type="dcterms:W3CDTF">2026-05-13T12:26:14Z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A1AEC9BFA7054FF7939A5CEC5868E1EE_13</vt:lpwstr>
  </property>
  <property fmtid="{D5CDD505-2E9C-101B-9397-08002B2CF9AE}" pid="3" name="KSOProductBuildVer">
    <vt:lpwstr>2052-12.1.0.25865</vt:lpwstr>
  </property>
</Properties>
</file>
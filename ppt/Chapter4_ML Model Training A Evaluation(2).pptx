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3"/>
    <p:sldId id="274" r:id="rId4"/>
    <p:sldId id="275" r:id="rId6"/>
    <p:sldId id="277" r:id="rId7"/>
    <p:sldId id="278" r:id="rId8"/>
    <p:sldId id="279" r:id="rId9"/>
    <p:sldId id="280" r:id="rId10"/>
    <p:sldId id="282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ABAB"/>
    <a:srgbClr val="595959"/>
    <a:srgbClr val="B9B9B9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626F-3C3F-4015-BFA0-DB08E9CDE3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5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5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6D368-CBDF-4EC8-A09E-7865E2A2E2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80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2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3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3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3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3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0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1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2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4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4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47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1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1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2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2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任意多边形 3"/>
          <p:cNvSpPr/>
          <p:nvPr/>
        </p:nvSpPr>
        <p:spPr>
          <a:xfrm rot="16872204">
            <a:off x="1095680" y="2934035"/>
            <a:ext cx="2679375" cy="1489619"/>
          </a:xfrm>
          <a:custGeom>
            <a:avLst/>
            <a:gdLst>
              <a:gd name="connsiteX0" fmla="*/ 0 w 1010195"/>
              <a:gd name="connsiteY0" fmla="*/ 0 h 217714"/>
              <a:gd name="connsiteX1" fmla="*/ 8709 w 1010195"/>
              <a:gd name="connsiteY1" fmla="*/ 217714 h 217714"/>
              <a:gd name="connsiteX2" fmla="*/ 1010195 w 1010195"/>
              <a:gd name="connsiteY2" fmla="*/ 87086 h 217714"/>
              <a:gd name="connsiteX3" fmla="*/ 0 w 1010195"/>
              <a:gd name="connsiteY3" fmla="*/ 0 h 217714"/>
              <a:gd name="connsiteX0-1" fmla="*/ 0 w 1017338"/>
              <a:gd name="connsiteY0-2" fmla="*/ 0 h 217714"/>
              <a:gd name="connsiteX1-3" fmla="*/ 8709 w 1017338"/>
              <a:gd name="connsiteY1-4" fmla="*/ 217714 h 217714"/>
              <a:gd name="connsiteX2-5" fmla="*/ 1017338 w 1017338"/>
              <a:gd name="connsiteY2-6" fmla="*/ 87086 h 217714"/>
              <a:gd name="connsiteX3-7" fmla="*/ 0 w 1017338"/>
              <a:gd name="connsiteY3-8" fmla="*/ 0 h 217714"/>
              <a:gd name="connsiteX0-1-1" fmla="*/ 0 w 1017338"/>
              <a:gd name="connsiteY0-2-2" fmla="*/ 0 h 248457"/>
              <a:gd name="connsiteX1-3-3" fmla="*/ 98341 w 1017338"/>
              <a:gd name="connsiteY1-4-4" fmla="*/ 248457 h 248457"/>
              <a:gd name="connsiteX2-5-5" fmla="*/ 1017338 w 1017338"/>
              <a:gd name="connsiteY2-6-6" fmla="*/ 87086 h 248457"/>
              <a:gd name="connsiteX3-7-7" fmla="*/ 0 w 1017338"/>
              <a:gd name="connsiteY3-8-8" fmla="*/ 0 h 248457"/>
              <a:gd name="connsiteX0-9" fmla="*/ 0 w 1041847"/>
              <a:gd name="connsiteY0-10" fmla="*/ 0 h 264949"/>
              <a:gd name="connsiteX1-11" fmla="*/ 122850 w 1041847"/>
              <a:gd name="connsiteY1-12" fmla="*/ 264949 h 264949"/>
              <a:gd name="connsiteX2-13" fmla="*/ 1041847 w 1041847"/>
              <a:gd name="connsiteY2-14" fmla="*/ 103578 h 264949"/>
              <a:gd name="connsiteX3-15" fmla="*/ 0 w 1041847"/>
              <a:gd name="connsiteY3-16" fmla="*/ 0 h 264949"/>
              <a:gd name="connsiteX0-17" fmla="*/ 0 w 1041847"/>
              <a:gd name="connsiteY0-18" fmla="*/ 0 h 252106"/>
              <a:gd name="connsiteX1-19" fmla="*/ 188050 w 1041847"/>
              <a:gd name="connsiteY1-20" fmla="*/ 252106 h 252106"/>
              <a:gd name="connsiteX2-21" fmla="*/ 1041847 w 1041847"/>
              <a:gd name="connsiteY2-22" fmla="*/ 103578 h 252106"/>
              <a:gd name="connsiteX3-23" fmla="*/ 0 w 1041847"/>
              <a:gd name="connsiteY3-24" fmla="*/ 0 h 252106"/>
              <a:gd name="connsiteX0-25" fmla="*/ 0 w 1041847"/>
              <a:gd name="connsiteY0-26" fmla="*/ 0 h 269441"/>
              <a:gd name="connsiteX1-27" fmla="*/ 182425 w 1041847"/>
              <a:gd name="connsiteY1-28" fmla="*/ 269441 h 269441"/>
              <a:gd name="connsiteX2-29" fmla="*/ 1041847 w 1041847"/>
              <a:gd name="connsiteY2-30" fmla="*/ 103578 h 269441"/>
              <a:gd name="connsiteX3-31" fmla="*/ 0 w 1041847"/>
              <a:gd name="connsiteY3-32" fmla="*/ 0 h 26944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041847" h="269441">
                <a:moveTo>
                  <a:pt x="0" y="0"/>
                </a:moveTo>
                <a:lnTo>
                  <a:pt x="182425" y="269441"/>
                </a:lnTo>
                <a:lnTo>
                  <a:pt x="1041847" y="1035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89000"/>
                </a:schemeClr>
              </a:gs>
              <a:gs pos="22000">
                <a:schemeClr val="accent3">
                  <a:lumMod val="75000"/>
                </a:schemeClr>
              </a:gs>
              <a:gs pos="63000">
                <a:schemeClr val="bg2">
                  <a:lumMod val="2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08" name="任意多边形 5"/>
          <p:cNvSpPr/>
          <p:nvPr/>
        </p:nvSpPr>
        <p:spPr>
          <a:xfrm>
            <a:off x="9101921" y="4739894"/>
            <a:ext cx="1762818" cy="825844"/>
          </a:xfrm>
          <a:custGeom>
            <a:avLst/>
            <a:gdLst>
              <a:gd name="connsiteX0" fmla="*/ 0 w 1670050"/>
              <a:gd name="connsiteY0" fmla="*/ 666750 h 666750"/>
              <a:gd name="connsiteX1" fmla="*/ 139700 w 1670050"/>
              <a:gd name="connsiteY1" fmla="*/ 0 h 666750"/>
              <a:gd name="connsiteX2" fmla="*/ 1670050 w 1670050"/>
              <a:gd name="connsiteY2" fmla="*/ 12700 h 666750"/>
              <a:gd name="connsiteX3" fmla="*/ 0 w 1670050"/>
              <a:gd name="connsiteY3" fmla="*/ 666750 h 666750"/>
              <a:gd name="connsiteX0-1" fmla="*/ 0 w 1676400"/>
              <a:gd name="connsiteY0-2" fmla="*/ 666750 h 666750"/>
              <a:gd name="connsiteX1-3" fmla="*/ 139700 w 1676400"/>
              <a:gd name="connsiteY1-4" fmla="*/ 0 h 666750"/>
              <a:gd name="connsiteX2-5" fmla="*/ 1676400 w 1676400"/>
              <a:gd name="connsiteY2-6" fmla="*/ 38100 h 666750"/>
              <a:gd name="connsiteX3-7" fmla="*/ 0 w 1676400"/>
              <a:gd name="connsiteY3-8" fmla="*/ 666750 h 666750"/>
              <a:gd name="connsiteX0-9" fmla="*/ 0 w 1668780"/>
              <a:gd name="connsiteY0-10" fmla="*/ 666750 h 666750"/>
              <a:gd name="connsiteX1-11" fmla="*/ 139700 w 1668780"/>
              <a:gd name="connsiteY1-12" fmla="*/ 0 h 666750"/>
              <a:gd name="connsiteX2-13" fmla="*/ 1668780 w 1668780"/>
              <a:gd name="connsiteY2-14" fmla="*/ 22860 h 666750"/>
              <a:gd name="connsiteX3-15" fmla="*/ 0 w 1668780"/>
              <a:gd name="connsiteY3-16" fmla="*/ 666750 h 666750"/>
              <a:gd name="connsiteX0-1-1" fmla="*/ 0 w 1668780"/>
              <a:gd name="connsiteY0-2-2" fmla="*/ 666750 h 666750"/>
              <a:gd name="connsiteX1-3-3" fmla="*/ 139700 w 1668780"/>
              <a:gd name="connsiteY1-4-4" fmla="*/ 0 h 666750"/>
              <a:gd name="connsiteX2-5-5" fmla="*/ 1668780 w 1668780"/>
              <a:gd name="connsiteY2-6-6" fmla="*/ 83463 h 666750"/>
              <a:gd name="connsiteX3-7-7" fmla="*/ 0 w 1668780"/>
              <a:gd name="connsiteY3-8-8" fmla="*/ 666750 h 666750"/>
              <a:gd name="connsiteX0-9-9" fmla="*/ 0 w 1722808"/>
              <a:gd name="connsiteY0-10-10" fmla="*/ 681901 h 681901"/>
              <a:gd name="connsiteX1-11-11" fmla="*/ 193728 w 1722808"/>
              <a:gd name="connsiteY1-12-12" fmla="*/ 0 h 681901"/>
              <a:gd name="connsiteX2-13-13" fmla="*/ 1722808 w 1722808"/>
              <a:gd name="connsiteY2-14-14" fmla="*/ 83463 h 681901"/>
              <a:gd name="connsiteX3-15-15" fmla="*/ 0 w 1722808"/>
              <a:gd name="connsiteY3-16-16" fmla="*/ 681901 h 681901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</a:cxnLst>
            <a:rect l="l" t="t" r="r" b="b"/>
            <a:pathLst>
              <a:path w="1722808" h="681901">
                <a:moveTo>
                  <a:pt x="0" y="681901"/>
                </a:moveTo>
                <a:lnTo>
                  <a:pt x="193728" y="0"/>
                </a:lnTo>
                <a:lnTo>
                  <a:pt x="1722808" y="83463"/>
                </a:lnTo>
                <a:lnTo>
                  <a:pt x="0" y="681901"/>
                </a:lnTo>
                <a:close/>
              </a:path>
            </a:pathLst>
          </a:custGeom>
          <a:gradFill>
            <a:gsLst>
              <a:gs pos="23000">
                <a:schemeClr val="bg2">
                  <a:lumMod val="25000"/>
                </a:schemeClr>
              </a:gs>
              <a:gs pos="62000">
                <a:schemeClr val="accent3">
                  <a:lumMod val="43000"/>
                </a:schemeClr>
              </a:gs>
              <a:gs pos="100000">
                <a:schemeClr val="accent3">
                  <a:lumMod val="7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09" name="任意多边形 4"/>
          <p:cNvSpPr/>
          <p:nvPr/>
        </p:nvSpPr>
        <p:spPr>
          <a:xfrm>
            <a:off x="1411354" y="2665244"/>
            <a:ext cx="9479512" cy="2182507"/>
          </a:xfrm>
          <a:custGeom>
            <a:avLst/>
            <a:gdLst>
              <a:gd name="connsiteX0" fmla="*/ 899160 w 6408420"/>
              <a:gd name="connsiteY0" fmla="*/ 0 h 2240280"/>
              <a:gd name="connsiteX1" fmla="*/ 6134100 w 6408420"/>
              <a:gd name="connsiteY1" fmla="*/ 15240 h 2240280"/>
              <a:gd name="connsiteX2" fmla="*/ 6408420 w 6408420"/>
              <a:gd name="connsiteY2" fmla="*/ 2240280 h 2240280"/>
              <a:gd name="connsiteX3" fmla="*/ 0 w 6408420"/>
              <a:gd name="connsiteY3" fmla="*/ 2240280 h 2240280"/>
              <a:gd name="connsiteX4" fmla="*/ 1013460 w 6408420"/>
              <a:gd name="connsiteY4" fmla="*/ 2095500 h 2240280"/>
              <a:gd name="connsiteX5" fmla="*/ 899160 w 6408420"/>
              <a:gd name="connsiteY5" fmla="*/ 0 h 2240280"/>
              <a:gd name="connsiteX0-1" fmla="*/ 892810 w 6402070"/>
              <a:gd name="connsiteY0-2" fmla="*/ 0 h 2240280"/>
              <a:gd name="connsiteX1-3" fmla="*/ 6127750 w 6402070"/>
              <a:gd name="connsiteY1-4" fmla="*/ 15240 h 2240280"/>
              <a:gd name="connsiteX2-5" fmla="*/ 6402070 w 6402070"/>
              <a:gd name="connsiteY2-6" fmla="*/ 2240280 h 2240280"/>
              <a:gd name="connsiteX3-7" fmla="*/ 0 w 6402070"/>
              <a:gd name="connsiteY3-8" fmla="*/ 2227580 h 2240280"/>
              <a:gd name="connsiteX4-9" fmla="*/ 1007110 w 6402070"/>
              <a:gd name="connsiteY4-10" fmla="*/ 2095500 h 2240280"/>
              <a:gd name="connsiteX5-11" fmla="*/ 892810 w 6402070"/>
              <a:gd name="connsiteY5-12" fmla="*/ 0 h 2240280"/>
              <a:gd name="connsiteX0-13" fmla="*/ 892810 w 6402070"/>
              <a:gd name="connsiteY0-14" fmla="*/ 0 h 2240280"/>
              <a:gd name="connsiteX1-15" fmla="*/ 6127750 w 6402070"/>
              <a:gd name="connsiteY1-16" fmla="*/ 15240 h 2240280"/>
              <a:gd name="connsiteX2-17" fmla="*/ 6402070 w 6402070"/>
              <a:gd name="connsiteY2-18" fmla="*/ 2240280 h 2240280"/>
              <a:gd name="connsiteX3-19" fmla="*/ 0 w 6402070"/>
              <a:gd name="connsiteY3-20" fmla="*/ 2227580 h 2240280"/>
              <a:gd name="connsiteX4-21" fmla="*/ 988060 w 6402070"/>
              <a:gd name="connsiteY4-22" fmla="*/ 2051050 h 2240280"/>
              <a:gd name="connsiteX5-23" fmla="*/ 892810 w 6402070"/>
              <a:gd name="connsiteY5-24" fmla="*/ 0 h 22402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402070" h="2240280">
                <a:moveTo>
                  <a:pt x="892810" y="0"/>
                </a:moveTo>
                <a:lnTo>
                  <a:pt x="6127750" y="15240"/>
                </a:lnTo>
                <a:lnTo>
                  <a:pt x="6402070" y="2240280"/>
                </a:lnTo>
                <a:lnTo>
                  <a:pt x="0" y="2227580"/>
                </a:lnTo>
                <a:lnTo>
                  <a:pt x="988060" y="2051050"/>
                </a:lnTo>
                <a:lnTo>
                  <a:pt x="89281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25400" dist="254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 altLang="zh-CN" sz="3200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汉仪雅酷黑-85J" panose="00020600040101010101" charset="-122"/>
              <a:ea typeface="汉仪雅酷黑-85J" panose="00020600040101010101" charset="-122"/>
              <a:cs typeface="汉仪雅酷黑-85J" panose="00020600040101010101" charset="-122"/>
            </a:endParaRPr>
          </a:p>
        </p:txBody>
      </p:sp>
      <p:sp>
        <p:nvSpPr>
          <p:cNvPr id="1048610" name="任意多边形 2"/>
          <p:cNvSpPr/>
          <p:nvPr/>
        </p:nvSpPr>
        <p:spPr>
          <a:xfrm>
            <a:off x="184" y="1776649"/>
            <a:ext cx="2893125" cy="2861146"/>
          </a:xfrm>
          <a:custGeom>
            <a:avLst/>
            <a:gdLst>
              <a:gd name="connsiteX0" fmla="*/ 0 w 2438400"/>
              <a:gd name="connsiteY0" fmla="*/ 0 h 2400300"/>
              <a:gd name="connsiteX1" fmla="*/ 2413000 w 2438400"/>
              <a:gd name="connsiteY1" fmla="*/ 139700 h 2400300"/>
              <a:gd name="connsiteX2" fmla="*/ 2438400 w 2438400"/>
              <a:gd name="connsiteY2" fmla="*/ 2400300 h 2400300"/>
              <a:gd name="connsiteX3" fmla="*/ 12700 w 2438400"/>
              <a:gd name="connsiteY3" fmla="*/ 2222500 h 2400300"/>
              <a:gd name="connsiteX4" fmla="*/ 0 w 2438400"/>
              <a:gd name="connsiteY4" fmla="*/ 0 h 2400300"/>
              <a:gd name="connsiteX0-1" fmla="*/ 9896 w 2448296"/>
              <a:gd name="connsiteY0-2" fmla="*/ 0 h 2400300"/>
              <a:gd name="connsiteX1-3" fmla="*/ 2422896 w 2448296"/>
              <a:gd name="connsiteY1-4" fmla="*/ 139700 h 2400300"/>
              <a:gd name="connsiteX2-5" fmla="*/ 2448296 w 2448296"/>
              <a:gd name="connsiteY2-6" fmla="*/ 2400300 h 2400300"/>
              <a:gd name="connsiteX3-7" fmla="*/ 659 w 2448296"/>
              <a:gd name="connsiteY3-8" fmla="*/ 2214986 h 2400300"/>
              <a:gd name="connsiteX4-9" fmla="*/ 9896 w 2448296"/>
              <a:gd name="connsiteY4-10" fmla="*/ 0 h 24003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8296" h="2400300">
                <a:moveTo>
                  <a:pt x="9896" y="0"/>
                </a:moveTo>
                <a:lnTo>
                  <a:pt x="2422896" y="139700"/>
                </a:lnTo>
                <a:lnTo>
                  <a:pt x="2448296" y="2400300"/>
                </a:lnTo>
                <a:lnTo>
                  <a:pt x="659" y="2214986"/>
                </a:lnTo>
                <a:cubicBezTo>
                  <a:pt x="-3574" y="1478386"/>
                  <a:pt x="14129" y="749300"/>
                  <a:pt x="9896" y="0"/>
                </a:cubicBezTo>
                <a:close/>
              </a:path>
            </a:pathLst>
          </a:custGeom>
          <a:solidFill>
            <a:srgbClr val="AFABAB"/>
          </a:solidFill>
          <a:ln>
            <a:noFill/>
          </a:ln>
          <a:effectLst>
            <a:outerShdw blurRad="736600" dist="330200" dir="2400000" sx="95000" sy="95000" algn="l" rotWithShape="0">
              <a:schemeClr val="accent1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48611" name="任意多边形 6"/>
          <p:cNvSpPr/>
          <p:nvPr/>
        </p:nvSpPr>
        <p:spPr>
          <a:xfrm>
            <a:off x="9073112" y="2590534"/>
            <a:ext cx="3118706" cy="2975205"/>
          </a:xfrm>
          <a:custGeom>
            <a:avLst/>
            <a:gdLst>
              <a:gd name="connsiteX0" fmla="*/ 2997200 w 2997200"/>
              <a:gd name="connsiteY0" fmla="*/ 0 h 3028950"/>
              <a:gd name="connsiteX1" fmla="*/ 2997200 w 2997200"/>
              <a:gd name="connsiteY1" fmla="*/ 2540000 h 3028950"/>
              <a:gd name="connsiteX2" fmla="*/ 0 w 2997200"/>
              <a:gd name="connsiteY2" fmla="*/ 3028950 h 3028950"/>
              <a:gd name="connsiteX3" fmla="*/ 1676400 w 2997200"/>
              <a:gd name="connsiteY3" fmla="*/ 2362200 h 3028950"/>
              <a:gd name="connsiteX4" fmla="*/ 1536700 w 2997200"/>
              <a:gd name="connsiteY4" fmla="*/ 1460500 h 3028950"/>
              <a:gd name="connsiteX5" fmla="*/ 2997200 w 2997200"/>
              <a:gd name="connsiteY5" fmla="*/ 0 h 3028950"/>
              <a:gd name="connsiteX0-1" fmla="*/ 2997200 w 2997200"/>
              <a:gd name="connsiteY0-2" fmla="*/ 0 h 3028950"/>
              <a:gd name="connsiteX1-3" fmla="*/ 2997200 w 2997200"/>
              <a:gd name="connsiteY1-4" fmla="*/ 2540000 h 3028950"/>
              <a:gd name="connsiteX2-5" fmla="*/ 0 w 2997200"/>
              <a:gd name="connsiteY2-6" fmla="*/ 3028950 h 3028950"/>
              <a:gd name="connsiteX3-7" fmla="*/ 1644650 w 2997200"/>
              <a:gd name="connsiteY3-8" fmla="*/ 2362200 h 3028950"/>
              <a:gd name="connsiteX4-9" fmla="*/ 1536700 w 2997200"/>
              <a:gd name="connsiteY4-10" fmla="*/ 1460500 h 3028950"/>
              <a:gd name="connsiteX5-11" fmla="*/ 2997200 w 2997200"/>
              <a:gd name="connsiteY5-12" fmla="*/ 0 h 3028950"/>
              <a:gd name="connsiteX0-13" fmla="*/ 3009900 w 3009900"/>
              <a:gd name="connsiteY0-14" fmla="*/ 0 h 3028950"/>
              <a:gd name="connsiteX1-15" fmla="*/ 3009900 w 3009900"/>
              <a:gd name="connsiteY1-16" fmla="*/ 2540000 h 3028950"/>
              <a:gd name="connsiteX2-17" fmla="*/ 0 w 3009900"/>
              <a:gd name="connsiteY2-18" fmla="*/ 3028950 h 3028950"/>
              <a:gd name="connsiteX3-19" fmla="*/ 1657350 w 3009900"/>
              <a:gd name="connsiteY3-20" fmla="*/ 2362200 h 3028950"/>
              <a:gd name="connsiteX4-21" fmla="*/ 1549400 w 3009900"/>
              <a:gd name="connsiteY4-22" fmla="*/ 1460500 h 3028950"/>
              <a:gd name="connsiteX5-23" fmla="*/ 3009900 w 3009900"/>
              <a:gd name="connsiteY5-24" fmla="*/ 0 h 3028950"/>
              <a:gd name="connsiteX0-1-1" fmla="*/ 3009900 w 3009900"/>
              <a:gd name="connsiteY0-2-2" fmla="*/ 0 h 3028950"/>
              <a:gd name="connsiteX1-3-3" fmla="*/ 3009900 w 3009900"/>
              <a:gd name="connsiteY1-4-4" fmla="*/ 2540000 h 3028950"/>
              <a:gd name="connsiteX2-5-5" fmla="*/ 0 w 3009900"/>
              <a:gd name="connsiteY2-6-6" fmla="*/ 3028950 h 3028950"/>
              <a:gd name="connsiteX3-7-7" fmla="*/ 1657350 w 3009900"/>
              <a:gd name="connsiteY3-8-8" fmla="*/ 2362200 h 3028950"/>
              <a:gd name="connsiteX4-9-9" fmla="*/ 1469369 w 3009900"/>
              <a:gd name="connsiteY4-10-10" fmla="*/ 1382526 h 3028950"/>
              <a:gd name="connsiteX5-11-11" fmla="*/ 3009900 w 3009900"/>
              <a:gd name="connsiteY5-12-12" fmla="*/ 0 h 3028950"/>
              <a:gd name="connsiteX0-13-13" fmla="*/ 3009900 w 3009900"/>
              <a:gd name="connsiteY0-14-14" fmla="*/ 0 h 3028950"/>
              <a:gd name="connsiteX1-15-15" fmla="*/ 3009900 w 3009900"/>
              <a:gd name="connsiteY1-16-16" fmla="*/ 2540000 h 3028950"/>
              <a:gd name="connsiteX2-17-17" fmla="*/ 0 w 3009900"/>
              <a:gd name="connsiteY2-18-18" fmla="*/ 3028950 h 3028950"/>
              <a:gd name="connsiteX3-19-19" fmla="*/ 1621780 w 3009900"/>
              <a:gd name="connsiteY3-20-20" fmla="*/ 2274478 h 3028950"/>
              <a:gd name="connsiteX4-21-21" fmla="*/ 1469369 w 3009900"/>
              <a:gd name="connsiteY4-22-22" fmla="*/ 1382526 h 3028950"/>
              <a:gd name="connsiteX5-23-23" fmla="*/ 3009900 w 3009900"/>
              <a:gd name="connsiteY5-24-24" fmla="*/ 0 h 3028950"/>
              <a:gd name="connsiteX0-25" fmla="*/ 3009900 w 3009900"/>
              <a:gd name="connsiteY0-26" fmla="*/ 0 h 3028950"/>
              <a:gd name="connsiteX1-27" fmla="*/ 3009900 w 3009900"/>
              <a:gd name="connsiteY1-28" fmla="*/ 2540000 h 3028950"/>
              <a:gd name="connsiteX2-29" fmla="*/ 0 w 3009900"/>
              <a:gd name="connsiteY2-30" fmla="*/ 3028950 h 3028950"/>
              <a:gd name="connsiteX3-31" fmla="*/ 1621780 w 3009900"/>
              <a:gd name="connsiteY3-32" fmla="*/ 2209096 h 3028950"/>
              <a:gd name="connsiteX4-33" fmla="*/ 1469369 w 3009900"/>
              <a:gd name="connsiteY4-34" fmla="*/ 1382526 h 3028950"/>
              <a:gd name="connsiteX5-35" fmla="*/ 3009900 w 3009900"/>
              <a:gd name="connsiteY5-36" fmla="*/ 0 h 3028950"/>
              <a:gd name="connsiteX0-37" fmla="*/ 3009900 w 3009900"/>
              <a:gd name="connsiteY0-38" fmla="*/ 0 h 3028950"/>
              <a:gd name="connsiteX1-39" fmla="*/ 3009900 w 3009900"/>
              <a:gd name="connsiteY1-40" fmla="*/ 2540000 h 3028950"/>
              <a:gd name="connsiteX2-41" fmla="*/ 0 w 3009900"/>
              <a:gd name="connsiteY2-42" fmla="*/ 3028950 h 3028950"/>
              <a:gd name="connsiteX3-43" fmla="*/ 1621780 w 3009900"/>
              <a:gd name="connsiteY3-44" fmla="*/ 2209096 h 3028950"/>
              <a:gd name="connsiteX4-45" fmla="*/ 1576077 w 3009900"/>
              <a:gd name="connsiteY4-46" fmla="*/ 1354505 h 3028950"/>
              <a:gd name="connsiteX5-47" fmla="*/ 3009900 w 3009900"/>
              <a:gd name="connsiteY5-48" fmla="*/ 0 h 3028950"/>
              <a:gd name="connsiteX0-49" fmla="*/ 3009900 w 3009900"/>
              <a:gd name="connsiteY0-50" fmla="*/ 0 h 3028950"/>
              <a:gd name="connsiteX1-51" fmla="*/ 3009900 w 3009900"/>
              <a:gd name="connsiteY1-52" fmla="*/ 2540000 h 3028950"/>
              <a:gd name="connsiteX2-53" fmla="*/ 0 w 3009900"/>
              <a:gd name="connsiteY2-54" fmla="*/ 3028950 h 3028950"/>
              <a:gd name="connsiteX3-55" fmla="*/ 1755165 w 3009900"/>
              <a:gd name="connsiteY3-56" fmla="*/ 2405243 h 3028950"/>
              <a:gd name="connsiteX4-57" fmla="*/ 1576077 w 3009900"/>
              <a:gd name="connsiteY4-58" fmla="*/ 1354505 h 3028950"/>
              <a:gd name="connsiteX5-59" fmla="*/ 3009900 w 3009900"/>
              <a:gd name="connsiteY5-60" fmla="*/ 0 h 3028950"/>
              <a:gd name="connsiteX0-61" fmla="*/ 3009900 w 3009900"/>
              <a:gd name="connsiteY0-62" fmla="*/ 0 h 3028950"/>
              <a:gd name="connsiteX1-63" fmla="*/ 3009900 w 3009900"/>
              <a:gd name="connsiteY1-64" fmla="*/ 2540000 h 3028950"/>
              <a:gd name="connsiteX2-65" fmla="*/ 0 w 3009900"/>
              <a:gd name="connsiteY2-66" fmla="*/ 3028950 h 3028950"/>
              <a:gd name="connsiteX3-67" fmla="*/ 1719596 w 3009900"/>
              <a:gd name="connsiteY3-68" fmla="*/ 2302500 h 3028950"/>
              <a:gd name="connsiteX4-69" fmla="*/ 1576077 w 3009900"/>
              <a:gd name="connsiteY4-70" fmla="*/ 1354505 h 3028950"/>
              <a:gd name="connsiteX5-71" fmla="*/ 3009900 w 3009900"/>
              <a:gd name="connsiteY5-72" fmla="*/ 0 h 3028950"/>
              <a:gd name="connsiteX0-73" fmla="*/ 3009900 w 3009900"/>
              <a:gd name="connsiteY0-74" fmla="*/ 0 h 3028950"/>
              <a:gd name="connsiteX1-75" fmla="*/ 3009900 w 3009900"/>
              <a:gd name="connsiteY1-76" fmla="*/ 2540000 h 3028950"/>
              <a:gd name="connsiteX2-77" fmla="*/ 0 w 3009900"/>
              <a:gd name="connsiteY2-78" fmla="*/ 3028950 h 3028950"/>
              <a:gd name="connsiteX3-79" fmla="*/ 1719596 w 3009900"/>
              <a:gd name="connsiteY3-80" fmla="*/ 2302500 h 3028950"/>
              <a:gd name="connsiteX4-81" fmla="*/ 1549400 w 3009900"/>
              <a:gd name="connsiteY4-82" fmla="*/ 1382525 h 3028950"/>
              <a:gd name="connsiteX5-83" fmla="*/ 3009900 w 3009900"/>
              <a:gd name="connsiteY5-84" fmla="*/ 0 h 3028950"/>
              <a:gd name="connsiteX0-85" fmla="*/ 3009900 w 3009900"/>
              <a:gd name="connsiteY0-86" fmla="*/ 0 h 3028950"/>
              <a:gd name="connsiteX1-87" fmla="*/ 3009900 w 3009900"/>
              <a:gd name="connsiteY1-88" fmla="*/ 2540000 h 3028950"/>
              <a:gd name="connsiteX2-89" fmla="*/ 0 w 3009900"/>
              <a:gd name="connsiteY2-90" fmla="*/ 3028950 h 3028950"/>
              <a:gd name="connsiteX3-91" fmla="*/ 1675135 w 3009900"/>
              <a:gd name="connsiteY3-92" fmla="*/ 2302500 h 3028950"/>
              <a:gd name="connsiteX4-93" fmla="*/ 1549400 w 3009900"/>
              <a:gd name="connsiteY4-94" fmla="*/ 1382525 h 3028950"/>
              <a:gd name="connsiteX5-95" fmla="*/ 3009900 w 3009900"/>
              <a:gd name="connsiteY5-96" fmla="*/ 0 h 3028950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  <a:cxn ang="0">
                <a:pos x="connsiteX5-11-11" y="connsiteY5-12-12"/>
              </a:cxn>
            </a:cxnLst>
            <a:rect l="l" t="t" r="r" b="b"/>
            <a:pathLst>
              <a:path w="3009900" h="3028950">
                <a:moveTo>
                  <a:pt x="3009900" y="0"/>
                </a:moveTo>
                <a:lnTo>
                  <a:pt x="3009900" y="2540000"/>
                </a:lnTo>
                <a:lnTo>
                  <a:pt x="0" y="3028950"/>
                </a:lnTo>
                <a:lnTo>
                  <a:pt x="1675135" y="2302500"/>
                </a:lnTo>
                <a:lnTo>
                  <a:pt x="1549400" y="1382525"/>
                </a:lnTo>
                <a:lnTo>
                  <a:pt x="300990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50000"/>
                </a:schemeClr>
              </a:gs>
              <a:gs pos="92000">
                <a:schemeClr val="accent1">
                  <a:lumMod val="7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2097162" name="图片 7"/>
          <p:cNvPicPr>
            <a:picLocks noChangeAspect="1"/>
          </p:cNvPicPr>
          <p:nvPr/>
        </p:nvPicPr>
        <p:blipFill rotWithShape="1">
          <a:blip r:embed="rId1"/>
          <a:srcRect l="15806" t="13440" r="18511" b="11972"/>
          <a:stretch>
            <a:fillRect/>
          </a:stretch>
        </p:blipFill>
        <p:spPr>
          <a:xfrm>
            <a:off x="251950" y="2096308"/>
            <a:ext cx="2385019" cy="21547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135" y="139700"/>
            <a:ext cx="3365500" cy="13017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3060" y="2978785"/>
            <a:ext cx="9371330" cy="1108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Arial" panose="020B0604020202020204" pitchFamily="34" charset="0"/>
                <a:ea typeface="汉仪雅酷黑-85J" panose="00020600040101010101" charset="-122"/>
                <a:cs typeface="Arial" panose="020B0604020202020204" pitchFamily="34" charset="0"/>
              </a:rPr>
              <a:t>Chapter 4: </a:t>
            </a:r>
            <a:endParaRPr lang="en-US" altLang="zh-CN" sz="2400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Arial" panose="020B0604020202020204" pitchFamily="34" charset="0"/>
              <a:ea typeface="汉仪雅酷黑-85J" panose="00020600040101010101" charset="-122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Arial" panose="020B0604020202020204" pitchFamily="34" charset="0"/>
                <a:ea typeface="汉仪雅酷黑-85J" panose="00020600040101010101" charset="-122"/>
                <a:cs typeface="Arial" panose="020B0604020202020204" pitchFamily="34" charset="0"/>
              </a:rPr>
              <a:t>Machine Learning Model Training &amp; Evaluation</a:t>
            </a:r>
            <a:endParaRPr lang="en-US" altLang="zh-CN" sz="2400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Arial" panose="020B0604020202020204" pitchFamily="34" charset="0"/>
              <a:ea typeface="汉仪雅酷黑-85J" panose="00020600040101010101" charset="-122"/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Arial" panose="020B0604020202020204" pitchFamily="34" charset="0"/>
                <a:ea typeface="汉仪雅酷黑-85J" panose="00020600040101010101" charset="-122"/>
                <a:cs typeface="Arial" panose="020B0604020202020204" pitchFamily="34" charset="0"/>
              </a:rPr>
              <a:t>Algorithm Benchmarking: 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Arial" panose="020B0604020202020204" pitchFamily="34" charset="0"/>
              <a:ea typeface="汉仪雅酷黑-85J" panose="00020600040101010101" charset="-122"/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Arial" panose="020B0604020202020204" pitchFamily="34" charset="0"/>
                <a:ea typeface="汉仪雅酷黑-85J" panose="00020600040101010101" charset="-122"/>
                <a:cs typeface="Arial" panose="020B0604020202020204" pitchFamily="34" charset="0"/>
              </a:rPr>
              <a:t>From High-Dimensional Sparse Features to Age Rating Prediction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Arial" panose="020B0604020202020204" pitchFamily="34" charset="0"/>
              <a:ea typeface="汉仪雅酷黑-85J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4" name="任意多边形 4"/>
          <p:cNvSpPr/>
          <p:nvPr/>
        </p:nvSpPr>
        <p:spPr>
          <a:xfrm>
            <a:off x="1411989" y="2665244"/>
            <a:ext cx="9479512" cy="2182507"/>
          </a:xfrm>
          <a:custGeom>
            <a:avLst/>
            <a:gdLst>
              <a:gd name="connsiteX0" fmla="*/ 899160 w 6408420"/>
              <a:gd name="connsiteY0" fmla="*/ 0 h 2240280"/>
              <a:gd name="connsiteX1" fmla="*/ 6134100 w 6408420"/>
              <a:gd name="connsiteY1" fmla="*/ 15240 h 2240280"/>
              <a:gd name="connsiteX2" fmla="*/ 6408420 w 6408420"/>
              <a:gd name="connsiteY2" fmla="*/ 2240280 h 2240280"/>
              <a:gd name="connsiteX3" fmla="*/ 0 w 6408420"/>
              <a:gd name="connsiteY3" fmla="*/ 2240280 h 2240280"/>
              <a:gd name="connsiteX4" fmla="*/ 1013460 w 6408420"/>
              <a:gd name="connsiteY4" fmla="*/ 2095500 h 2240280"/>
              <a:gd name="connsiteX5" fmla="*/ 899160 w 6408420"/>
              <a:gd name="connsiteY5" fmla="*/ 0 h 2240280"/>
              <a:gd name="connsiteX0-1" fmla="*/ 892810 w 6402070"/>
              <a:gd name="connsiteY0-2" fmla="*/ 0 h 2240280"/>
              <a:gd name="connsiteX1-3" fmla="*/ 6127750 w 6402070"/>
              <a:gd name="connsiteY1-4" fmla="*/ 15240 h 2240280"/>
              <a:gd name="connsiteX2-5" fmla="*/ 6402070 w 6402070"/>
              <a:gd name="connsiteY2-6" fmla="*/ 2240280 h 2240280"/>
              <a:gd name="connsiteX3-7" fmla="*/ 0 w 6402070"/>
              <a:gd name="connsiteY3-8" fmla="*/ 2227580 h 2240280"/>
              <a:gd name="connsiteX4-9" fmla="*/ 1007110 w 6402070"/>
              <a:gd name="connsiteY4-10" fmla="*/ 2095500 h 2240280"/>
              <a:gd name="connsiteX5-11" fmla="*/ 892810 w 6402070"/>
              <a:gd name="connsiteY5-12" fmla="*/ 0 h 2240280"/>
              <a:gd name="connsiteX0-13" fmla="*/ 892810 w 6402070"/>
              <a:gd name="connsiteY0-14" fmla="*/ 0 h 2240280"/>
              <a:gd name="connsiteX1-15" fmla="*/ 6127750 w 6402070"/>
              <a:gd name="connsiteY1-16" fmla="*/ 15240 h 2240280"/>
              <a:gd name="connsiteX2-17" fmla="*/ 6402070 w 6402070"/>
              <a:gd name="connsiteY2-18" fmla="*/ 2240280 h 2240280"/>
              <a:gd name="connsiteX3-19" fmla="*/ 0 w 6402070"/>
              <a:gd name="connsiteY3-20" fmla="*/ 2227580 h 2240280"/>
              <a:gd name="connsiteX4-21" fmla="*/ 988060 w 6402070"/>
              <a:gd name="connsiteY4-22" fmla="*/ 2051050 h 2240280"/>
              <a:gd name="connsiteX5-23" fmla="*/ 892810 w 6402070"/>
              <a:gd name="connsiteY5-24" fmla="*/ 0 h 22402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402070" h="2240280">
                <a:moveTo>
                  <a:pt x="892810" y="0"/>
                </a:moveTo>
                <a:lnTo>
                  <a:pt x="6127750" y="15240"/>
                </a:lnTo>
                <a:lnTo>
                  <a:pt x="6402070" y="2240280"/>
                </a:lnTo>
                <a:lnTo>
                  <a:pt x="0" y="2227580"/>
                </a:lnTo>
                <a:lnTo>
                  <a:pt x="988060" y="2051050"/>
                </a:lnTo>
                <a:lnTo>
                  <a:pt x="89281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25400" dist="254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 altLang="zh-CN" sz="3200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汉仪雅酷黑-85J" panose="00020600040101010101" charset="-122"/>
              <a:ea typeface="汉仪雅酷黑-85J" panose="00020600040101010101" charset="-122"/>
              <a:cs typeface="汉仪雅酷黑-85J" panose="00020600040101010101" charset="-122"/>
            </a:endParaRPr>
          </a:p>
        </p:txBody>
      </p:sp>
      <p:sp>
        <p:nvSpPr>
          <p:cNvPr id="5" name="任意多边形 2"/>
          <p:cNvSpPr/>
          <p:nvPr/>
        </p:nvSpPr>
        <p:spPr>
          <a:xfrm>
            <a:off x="819" y="1776649"/>
            <a:ext cx="2893125" cy="2861146"/>
          </a:xfrm>
          <a:custGeom>
            <a:avLst/>
            <a:gdLst>
              <a:gd name="connsiteX0" fmla="*/ 0 w 2438400"/>
              <a:gd name="connsiteY0" fmla="*/ 0 h 2400300"/>
              <a:gd name="connsiteX1" fmla="*/ 2413000 w 2438400"/>
              <a:gd name="connsiteY1" fmla="*/ 139700 h 2400300"/>
              <a:gd name="connsiteX2" fmla="*/ 2438400 w 2438400"/>
              <a:gd name="connsiteY2" fmla="*/ 2400300 h 2400300"/>
              <a:gd name="connsiteX3" fmla="*/ 12700 w 2438400"/>
              <a:gd name="connsiteY3" fmla="*/ 2222500 h 2400300"/>
              <a:gd name="connsiteX4" fmla="*/ 0 w 2438400"/>
              <a:gd name="connsiteY4" fmla="*/ 0 h 2400300"/>
              <a:gd name="connsiteX0-1" fmla="*/ 9896 w 2448296"/>
              <a:gd name="connsiteY0-2" fmla="*/ 0 h 2400300"/>
              <a:gd name="connsiteX1-3" fmla="*/ 2422896 w 2448296"/>
              <a:gd name="connsiteY1-4" fmla="*/ 139700 h 2400300"/>
              <a:gd name="connsiteX2-5" fmla="*/ 2448296 w 2448296"/>
              <a:gd name="connsiteY2-6" fmla="*/ 2400300 h 2400300"/>
              <a:gd name="connsiteX3-7" fmla="*/ 659 w 2448296"/>
              <a:gd name="connsiteY3-8" fmla="*/ 2214986 h 2400300"/>
              <a:gd name="connsiteX4-9" fmla="*/ 9896 w 2448296"/>
              <a:gd name="connsiteY4-10" fmla="*/ 0 h 24003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8296" h="2400300">
                <a:moveTo>
                  <a:pt x="9896" y="0"/>
                </a:moveTo>
                <a:lnTo>
                  <a:pt x="2422896" y="139700"/>
                </a:lnTo>
                <a:lnTo>
                  <a:pt x="2448296" y="2400300"/>
                </a:lnTo>
                <a:lnTo>
                  <a:pt x="659" y="2214986"/>
                </a:lnTo>
                <a:cubicBezTo>
                  <a:pt x="-3574" y="1478386"/>
                  <a:pt x="14129" y="749300"/>
                  <a:pt x="9896" y="0"/>
                </a:cubicBezTo>
                <a:close/>
              </a:path>
            </a:pathLst>
          </a:custGeom>
          <a:solidFill>
            <a:srgbClr val="AFABAB"/>
          </a:solidFill>
          <a:ln>
            <a:noFill/>
          </a:ln>
          <a:effectLst>
            <a:outerShdw blurRad="736600" dist="330200" dir="2400000" sx="95000" sy="95000" algn="l" rotWithShape="0">
              <a:schemeClr val="accent1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" name="任意多边形 6"/>
          <p:cNvSpPr/>
          <p:nvPr/>
        </p:nvSpPr>
        <p:spPr>
          <a:xfrm>
            <a:off x="9073747" y="2590534"/>
            <a:ext cx="3118706" cy="2975205"/>
          </a:xfrm>
          <a:custGeom>
            <a:avLst/>
            <a:gdLst>
              <a:gd name="connsiteX0" fmla="*/ 2997200 w 2997200"/>
              <a:gd name="connsiteY0" fmla="*/ 0 h 3028950"/>
              <a:gd name="connsiteX1" fmla="*/ 2997200 w 2997200"/>
              <a:gd name="connsiteY1" fmla="*/ 2540000 h 3028950"/>
              <a:gd name="connsiteX2" fmla="*/ 0 w 2997200"/>
              <a:gd name="connsiteY2" fmla="*/ 3028950 h 3028950"/>
              <a:gd name="connsiteX3" fmla="*/ 1676400 w 2997200"/>
              <a:gd name="connsiteY3" fmla="*/ 2362200 h 3028950"/>
              <a:gd name="connsiteX4" fmla="*/ 1536700 w 2997200"/>
              <a:gd name="connsiteY4" fmla="*/ 1460500 h 3028950"/>
              <a:gd name="connsiteX5" fmla="*/ 2997200 w 2997200"/>
              <a:gd name="connsiteY5" fmla="*/ 0 h 3028950"/>
              <a:gd name="connsiteX0-1" fmla="*/ 2997200 w 2997200"/>
              <a:gd name="connsiteY0-2" fmla="*/ 0 h 3028950"/>
              <a:gd name="connsiteX1-3" fmla="*/ 2997200 w 2997200"/>
              <a:gd name="connsiteY1-4" fmla="*/ 2540000 h 3028950"/>
              <a:gd name="connsiteX2-5" fmla="*/ 0 w 2997200"/>
              <a:gd name="connsiteY2-6" fmla="*/ 3028950 h 3028950"/>
              <a:gd name="connsiteX3-7" fmla="*/ 1644650 w 2997200"/>
              <a:gd name="connsiteY3-8" fmla="*/ 2362200 h 3028950"/>
              <a:gd name="connsiteX4-9" fmla="*/ 1536700 w 2997200"/>
              <a:gd name="connsiteY4-10" fmla="*/ 1460500 h 3028950"/>
              <a:gd name="connsiteX5-11" fmla="*/ 2997200 w 2997200"/>
              <a:gd name="connsiteY5-12" fmla="*/ 0 h 3028950"/>
              <a:gd name="connsiteX0-13" fmla="*/ 3009900 w 3009900"/>
              <a:gd name="connsiteY0-14" fmla="*/ 0 h 3028950"/>
              <a:gd name="connsiteX1-15" fmla="*/ 3009900 w 3009900"/>
              <a:gd name="connsiteY1-16" fmla="*/ 2540000 h 3028950"/>
              <a:gd name="connsiteX2-17" fmla="*/ 0 w 3009900"/>
              <a:gd name="connsiteY2-18" fmla="*/ 3028950 h 3028950"/>
              <a:gd name="connsiteX3-19" fmla="*/ 1657350 w 3009900"/>
              <a:gd name="connsiteY3-20" fmla="*/ 2362200 h 3028950"/>
              <a:gd name="connsiteX4-21" fmla="*/ 1549400 w 3009900"/>
              <a:gd name="connsiteY4-22" fmla="*/ 1460500 h 3028950"/>
              <a:gd name="connsiteX5-23" fmla="*/ 3009900 w 3009900"/>
              <a:gd name="connsiteY5-24" fmla="*/ 0 h 3028950"/>
              <a:gd name="connsiteX0-1-1" fmla="*/ 3009900 w 3009900"/>
              <a:gd name="connsiteY0-2-2" fmla="*/ 0 h 3028950"/>
              <a:gd name="connsiteX1-3-3" fmla="*/ 3009900 w 3009900"/>
              <a:gd name="connsiteY1-4-4" fmla="*/ 2540000 h 3028950"/>
              <a:gd name="connsiteX2-5-5" fmla="*/ 0 w 3009900"/>
              <a:gd name="connsiteY2-6-6" fmla="*/ 3028950 h 3028950"/>
              <a:gd name="connsiteX3-7-7" fmla="*/ 1657350 w 3009900"/>
              <a:gd name="connsiteY3-8-8" fmla="*/ 2362200 h 3028950"/>
              <a:gd name="connsiteX4-9-9" fmla="*/ 1469369 w 3009900"/>
              <a:gd name="connsiteY4-10-10" fmla="*/ 1382526 h 3028950"/>
              <a:gd name="connsiteX5-11-11" fmla="*/ 3009900 w 3009900"/>
              <a:gd name="connsiteY5-12-12" fmla="*/ 0 h 3028950"/>
              <a:gd name="connsiteX0-13-13" fmla="*/ 3009900 w 3009900"/>
              <a:gd name="connsiteY0-14-14" fmla="*/ 0 h 3028950"/>
              <a:gd name="connsiteX1-15-15" fmla="*/ 3009900 w 3009900"/>
              <a:gd name="connsiteY1-16-16" fmla="*/ 2540000 h 3028950"/>
              <a:gd name="connsiteX2-17-17" fmla="*/ 0 w 3009900"/>
              <a:gd name="connsiteY2-18-18" fmla="*/ 3028950 h 3028950"/>
              <a:gd name="connsiteX3-19-19" fmla="*/ 1621780 w 3009900"/>
              <a:gd name="connsiteY3-20-20" fmla="*/ 2274478 h 3028950"/>
              <a:gd name="connsiteX4-21-21" fmla="*/ 1469369 w 3009900"/>
              <a:gd name="connsiteY4-22-22" fmla="*/ 1382526 h 3028950"/>
              <a:gd name="connsiteX5-23-23" fmla="*/ 3009900 w 3009900"/>
              <a:gd name="connsiteY5-24-24" fmla="*/ 0 h 3028950"/>
              <a:gd name="connsiteX0-25" fmla="*/ 3009900 w 3009900"/>
              <a:gd name="connsiteY0-26" fmla="*/ 0 h 3028950"/>
              <a:gd name="connsiteX1-27" fmla="*/ 3009900 w 3009900"/>
              <a:gd name="connsiteY1-28" fmla="*/ 2540000 h 3028950"/>
              <a:gd name="connsiteX2-29" fmla="*/ 0 w 3009900"/>
              <a:gd name="connsiteY2-30" fmla="*/ 3028950 h 3028950"/>
              <a:gd name="connsiteX3-31" fmla="*/ 1621780 w 3009900"/>
              <a:gd name="connsiteY3-32" fmla="*/ 2209096 h 3028950"/>
              <a:gd name="connsiteX4-33" fmla="*/ 1469369 w 3009900"/>
              <a:gd name="connsiteY4-34" fmla="*/ 1382526 h 3028950"/>
              <a:gd name="connsiteX5-35" fmla="*/ 3009900 w 3009900"/>
              <a:gd name="connsiteY5-36" fmla="*/ 0 h 3028950"/>
              <a:gd name="connsiteX0-37" fmla="*/ 3009900 w 3009900"/>
              <a:gd name="connsiteY0-38" fmla="*/ 0 h 3028950"/>
              <a:gd name="connsiteX1-39" fmla="*/ 3009900 w 3009900"/>
              <a:gd name="connsiteY1-40" fmla="*/ 2540000 h 3028950"/>
              <a:gd name="connsiteX2-41" fmla="*/ 0 w 3009900"/>
              <a:gd name="connsiteY2-42" fmla="*/ 3028950 h 3028950"/>
              <a:gd name="connsiteX3-43" fmla="*/ 1621780 w 3009900"/>
              <a:gd name="connsiteY3-44" fmla="*/ 2209096 h 3028950"/>
              <a:gd name="connsiteX4-45" fmla="*/ 1576077 w 3009900"/>
              <a:gd name="connsiteY4-46" fmla="*/ 1354505 h 3028950"/>
              <a:gd name="connsiteX5-47" fmla="*/ 3009900 w 3009900"/>
              <a:gd name="connsiteY5-48" fmla="*/ 0 h 3028950"/>
              <a:gd name="connsiteX0-49" fmla="*/ 3009900 w 3009900"/>
              <a:gd name="connsiteY0-50" fmla="*/ 0 h 3028950"/>
              <a:gd name="connsiteX1-51" fmla="*/ 3009900 w 3009900"/>
              <a:gd name="connsiteY1-52" fmla="*/ 2540000 h 3028950"/>
              <a:gd name="connsiteX2-53" fmla="*/ 0 w 3009900"/>
              <a:gd name="connsiteY2-54" fmla="*/ 3028950 h 3028950"/>
              <a:gd name="connsiteX3-55" fmla="*/ 1755165 w 3009900"/>
              <a:gd name="connsiteY3-56" fmla="*/ 2405243 h 3028950"/>
              <a:gd name="connsiteX4-57" fmla="*/ 1576077 w 3009900"/>
              <a:gd name="connsiteY4-58" fmla="*/ 1354505 h 3028950"/>
              <a:gd name="connsiteX5-59" fmla="*/ 3009900 w 3009900"/>
              <a:gd name="connsiteY5-60" fmla="*/ 0 h 3028950"/>
              <a:gd name="connsiteX0-61" fmla="*/ 3009900 w 3009900"/>
              <a:gd name="connsiteY0-62" fmla="*/ 0 h 3028950"/>
              <a:gd name="connsiteX1-63" fmla="*/ 3009900 w 3009900"/>
              <a:gd name="connsiteY1-64" fmla="*/ 2540000 h 3028950"/>
              <a:gd name="connsiteX2-65" fmla="*/ 0 w 3009900"/>
              <a:gd name="connsiteY2-66" fmla="*/ 3028950 h 3028950"/>
              <a:gd name="connsiteX3-67" fmla="*/ 1719596 w 3009900"/>
              <a:gd name="connsiteY3-68" fmla="*/ 2302500 h 3028950"/>
              <a:gd name="connsiteX4-69" fmla="*/ 1576077 w 3009900"/>
              <a:gd name="connsiteY4-70" fmla="*/ 1354505 h 3028950"/>
              <a:gd name="connsiteX5-71" fmla="*/ 3009900 w 3009900"/>
              <a:gd name="connsiteY5-72" fmla="*/ 0 h 3028950"/>
              <a:gd name="connsiteX0-73" fmla="*/ 3009900 w 3009900"/>
              <a:gd name="connsiteY0-74" fmla="*/ 0 h 3028950"/>
              <a:gd name="connsiteX1-75" fmla="*/ 3009900 w 3009900"/>
              <a:gd name="connsiteY1-76" fmla="*/ 2540000 h 3028950"/>
              <a:gd name="connsiteX2-77" fmla="*/ 0 w 3009900"/>
              <a:gd name="connsiteY2-78" fmla="*/ 3028950 h 3028950"/>
              <a:gd name="connsiteX3-79" fmla="*/ 1719596 w 3009900"/>
              <a:gd name="connsiteY3-80" fmla="*/ 2302500 h 3028950"/>
              <a:gd name="connsiteX4-81" fmla="*/ 1549400 w 3009900"/>
              <a:gd name="connsiteY4-82" fmla="*/ 1382525 h 3028950"/>
              <a:gd name="connsiteX5-83" fmla="*/ 3009900 w 3009900"/>
              <a:gd name="connsiteY5-84" fmla="*/ 0 h 3028950"/>
              <a:gd name="connsiteX0-85" fmla="*/ 3009900 w 3009900"/>
              <a:gd name="connsiteY0-86" fmla="*/ 0 h 3028950"/>
              <a:gd name="connsiteX1-87" fmla="*/ 3009900 w 3009900"/>
              <a:gd name="connsiteY1-88" fmla="*/ 2540000 h 3028950"/>
              <a:gd name="connsiteX2-89" fmla="*/ 0 w 3009900"/>
              <a:gd name="connsiteY2-90" fmla="*/ 3028950 h 3028950"/>
              <a:gd name="connsiteX3-91" fmla="*/ 1675135 w 3009900"/>
              <a:gd name="connsiteY3-92" fmla="*/ 2302500 h 3028950"/>
              <a:gd name="connsiteX4-93" fmla="*/ 1549400 w 3009900"/>
              <a:gd name="connsiteY4-94" fmla="*/ 1382525 h 3028950"/>
              <a:gd name="connsiteX5-95" fmla="*/ 3009900 w 3009900"/>
              <a:gd name="connsiteY5-96" fmla="*/ 0 h 3028950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  <a:cxn ang="0">
                <a:pos x="connsiteX5-11-11" y="connsiteY5-12-12"/>
              </a:cxn>
            </a:cxnLst>
            <a:rect l="l" t="t" r="r" b="b"/>
            <a:pathLst>
              <a:path w="3009900" h="3028950">
                <a:moveTo>
                  <a:pt x="3009900" y="0"/>
                </a:moveTo>
                <a:lnTo>
                  <a:pt x="3009900" y="2540000"/>
                </a:lnTo>
                <a:lnTo>
                  <a:pt x="0" y="3028950"/>
                </a:lnTo>
                <a:lnTo>
                  <a:pt x="1675135" y="2302500"/>
                </a:lnTo>
                <a:lnTo>
                  <a:pt x="1549400" y="1382525"/>
                </a:lnTo>
                <a:lnTo>
                  <a:pt x="3009900" y="0"/>
                </a:lnTo>
                <a:close/>
              </a:path>
            </a:pathLst>
          </a:custGeom>
          <a:gradFill>
            <a:gsLst>
              <a:gs pos="12000">
                <a:schemeClr val="accent1">
                  <a:lumMod val="50000"/>
                </a:schemeClr>
              </a:gs>
              <a:gs pos="92000">
                <a:schemeClr val="accent1">
                  <a:lumMod val="7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16230"/>
            <a:endParaRPr lang="zh-CN" altLang="en-US" sz="1245" dirty="0">
              <a:solidFill>
                <a:srgbClr val="A3005B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45790" y="2926080"/>
            <a:ext cx="7802880" cy="1108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Arial" panose="020B0604020202020204" pitchFamily="34" charset="0"/>
                <a:ea typeface="汉仪雅酷黑-85J" panose="00020600040101010101" charset="-122"/>
                <a:cs typeface="Arial" panose="020B0604020202020204" pitchFamily="34" charset="0"/>
              </a:rPr>
              <a:t>Chapter 4: </a:t>
            </a:r>
            <a:endParaRPr lang="en-US" altLang="zh-CN" sz="2400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Arial" panose="020B0604020202020204" pitchFamily="34" charset="0"/>
              <a:ea typeface="汉仪雅酷黑-85J" panose="00020600040101010101" charset="-122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rgbClr val="EAEAEA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Arial" panose="020B0604020202020204" pitchFamily="34" charset="0"/>
                <a:ea typeface="汉仪雅酷黑-85J" panose="00020600040101010101" charset="-122"/>
                <a:cs typeface="Arial" panose="020B0604020202020204" pitchFamily="34" charset="0"/>
              </a:rPr>
              <a:t>Machine Learning Model Training &amp; Evaluation</a:t>
            </a:r>
            <a:endParaRPr lang="en-US" altLang="zh-CN" sz="2400" b="1" dirty="0">
              <a:solidFill>
                <a:srgbClr val="EAEAEA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Arial" panose="020B0604020202020204" pitchFamily="34" charset="0"/>
              <a:ea typeface="汉仪雅酷黑-85J" panose="00020600040101010101" charset="-122"/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Arial" panose="020B0604020202020204" pitchFamily="34" charset="0"/>
                <a:ea typeface="汉仪雅酷黑-85J" panose="00020600040101010101" charset="-122"/>
                <a:cs typeface="Arial" panose="020B0604020202020204" pitchFamily="34" charset="0"/>
              </a:rPr>
              <a:t>Algorithm Benchmarking: 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Arial" panose="020B0604020202020204" pitchFamily="34" charset="0"/>
              <a:ea typeface="汉仪雅酷黑-85J" panose="00020600040101010101" charset="-122"/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Arial" panose="020B0604020202020204" pitchFamily="34" charset="0"/>
                <a:ea typeface="汉仪雅酷黑-85J" panose="00020600040101010101" charset="-122"/>
                <a:cs typeface="Arial" panose="020B0604020202020204" pitchFamily="34" charset="0"/>
              </a:rPr>
              <a:t>From High-Dimensional Sparse Features to Age Rating Prediction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Arial" panose="020B0604020202020204" pitchFamily="34" charset="0"/>
              <a:ea typeface="汉仪雅酷黑-85J" panose="00020600040101010101" charset="-122"/>
              <a:cs typeface="Arial" panose="020B0604020202020204" pitchFamily="34" charset="0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effectLst>
                  <a:outerShdw blurRad="63500" dist="12700" dir="1500000" sx="103000" sy="103000" algn="ctr" rotWithShape="0">
                    <a:schemeClr val="bg2">
                      <a:lumMod val="25000"/>
                      <a:alpha val="39000"/>
                    </a:schemeClr>
                  </a:outerShdw>
                  <a:reflection stA="45000" endPos="0" dist="50800" dir="5400000" sy="-100000" algn="bl" rotWithShape="0"/>
                </a:effectLst>
                <a:latin typeface="Arial" panose="020B0604020202020204" pitchFamily="34" charset="0"/>
                <a:ea typeface="汉仪雅酷黑-85J" panose="00020600040101010101" charset="-122"/>
                <a:cs typeface="Arial" panose="020B0604020202020204" pitchFamily="34" charset="0"/>
              </a:rPr>
              <a:t>Presenter:ZiHan Chen</a:t>
            </a:r>
            <a:endParaRPr lang="en-US" altLang="zh-CN" sz="1400" b="1" dirty="0">
              <a:solidFill>
                <a:schemeClr val="tx1"/>
              </a:solidFill>
              <a:effectLst>
                <a:outerShdw blurRad="63500" dist="12700" dir="1500000" sx="103000" sy="103000" algn="ctr" rotWithShape="0">
                  <a:schemeClr val="bg2">
                    <a:lumMod val="25000"/>
                    <a:alpha val="39000"/>
                  </a:schemeClr>
                </a:outerShdw>
                <a:reflection stA="45000" endPos="0" dist="50800" dir="5400000" sy="-100000" algn="bl" rotWithShape="0"/>
              </a:effectLst>
              <a:latin typeface="Arial" panose="020B0604020202020204" pitchFamily="34" charset="0"/>
              <a:ea typeface="汉仪雅酷黑-85J" panose="00020600040101010101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l="15806" t="13440" r="18511" b="11972"/>
          <a:stretch>
            <a:fillRect/>
          </a:stretch>
        </p:blipFill>
        <p:spPr>
          <a:xfrm>
            <a:off x="184005" y="2037253"/>
            <a:ext cx="2385019" cy="2154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Modeling Challenges &amp; Core Strategies</a:t>
            </a:r>
            <a:endParaRPr lang="en-US" sz="2400" b="1" i="0" u="none" strike="noStrike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flipV="1">
            <a:off x="355600" y="1129837"/>
            <a:ext cx="8390260" cy="46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FABA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508000" y="15875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AFABA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47700" y="1684655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3025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⚠  Data Challenges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nector 6"/>
          <p:cNvCxnSpPr/>
          <p:nvPr/>
        </p:nvCxnSpPr>
        <p:spPr>
          <a:xfrm rot="-9046">
            <a:off x="647708" y="22923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" y="2286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1. High Dimensionality vs. Small Sample Size</a:t>
            </a:r>
            <a:endParaRPr lang="en-US" sz="12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Only 810 training samples, but expanded to 758 dimensions after One-Hot Encoding, leading to the classic "curse of dimensionality".</a:t>
            </a:r>
            <a:endParaRPr lang="en-US" sz="1300" b="0" i="0" u="none" strike="noStrike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9046">
            <a:off x="647708" y="33083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47700" y="36195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2. Extreme Matrix Sparsity</a:t>
            </a:r>
            <a:endParaRPr lang="en-US" sz="12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The vast majority of features are marked as 'No' or 'INACTIVE', which drowns valid signals in a sea of zeros and reduces model sensitivity.</a:t>
            </a:r>
            <a:endParaRPr lang="en-US" sz="1300" b="0" i="0" u="none" strike="noStrike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9046">
            <a:off x="647708" y="46545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7700" y="48768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3. Severe Class Imbalance</a:t>
            </a:r>
            <a:endParaRPr lang="en-US" sz="12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Uneven distribution across 5 age rating categories risks the model being biased towards the majority class.</a:t>
            </a:r>
            <a:endParaRPr lang="en-US" sz="1300" b="0" i="0" u="none" strike="noStrike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6176010" y="1587500"/>
            <a:ext cx="17145" cy="442849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FABA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91300" y="1831975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18300" y="1895475"/>
            <a:ext cx="501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>
                <a:solidFill>
                  <a:srgbClr val="286090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🛡  Algorithm Diversity: Broad Evaluation</a:t>
            </a:r>
            <a:endParaRPr lang="en-US" sz="1100" dirty="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Evaluated 4 classic classification algorithms (Linear vs. Tree-based models) to capture different patterns in the sparse, high-dimensional data landscape.</a:t>
            </a:r>
            <a:endParaRPr lang="en-US" sz="1300" b="0" i="0" u="none" strike="noStrike" dirty="0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591300" y="3228975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18300" y="3292475"/>
            <a:ext cx="501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86090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⚖   Imbalance Handling: Weighted Optimization</a:t>
            </a:r>
            <a:endParaRPr lang="en-US" sz="11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Enforced class_weight='balanced' across all models to automatically adjust weights inversely proportional to class frequencies, mitigating majority class bias.</a:t>
            </a:r>
            <a:endParaRPr lang="en-US" sz="1300" b="0" i="0" u="none" strike="noStrike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591300" y="4625975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718300" y="4689475"/>
            <a:ext cx="501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86090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📊   Fair Benchmarking: Rigorous Validation</a:t>
            </a:r>
            <a:endParaRPr lang="en-US" sz="11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Applied strict 5-Fold Cross-Validation (GridSearchCV) uniformly to all models, ensuring a consistent, unbiased comparison of performance metrics.</a:t>
            </a:r>
            <a:endParaRPr lang="en-US" sz="1300" b="0" i="0" u="none" strike="noStrike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pic>
        <p:nvPicPr>
          <p:cNvPr id="19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135" y="139700"/>
            <a:ext cx="3365500" cy="130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08000" y="1515745"/>
            <a:ext cx="4572000" cy="292100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AFABAB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4596130"/>
            <a:ext cx="222313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4723130"/>
            <a:ext cx="196913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Test Set</a:t>
            </a:r>
            <a:r>
              <a:rPr lang="en-US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 Accuracy</a:t>
            </a:r>
            <a:endParaRPr lang="en-US" sz="10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ctr">
              <a:lnSpc>
                <a:spcPct val="125000"/>
              </a:lnSpc>
            </a:pPr>
            <a:r>
              <a:rPr lang="en-US" altLang="zh-CN" sz="28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0.921</a:t>
            </a:r>
            <a:endParaRPr lang="en-US" altLang="zh-CN" sz="2800" b="1" i="0" u="none" strike="noStrike">
              <a:solidFill>
                <a:srgbClr val="1F232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857500" y="4596130"/>
            <a:ext cx="222313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983865" y="4723130"/>
            <a:ext cx="196913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Macro F1 Score</a:t>
            </a:r>
            <a:endParaRPr lang="en-US" sz="11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ctr">
              <a:lnSpc>
                <a:spcPct val="125000"/>
              </a:lnSpc>
            </a:pPr>
            <a:r>
              <a:rPr lang="en-US" altLang="zh-CN" sz="28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0.918</a:t>
            </a:r>
            <a:endParaRPr lang="en-US" altLang="zh-CN" sz="2800" b="1" i="0" u="none" strike="noStrike">
              <a:solidFill>
                <a:srgbClr val="1F232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flipH="1">
            <a:off x="5393006" y="1515745"/>
            <a:ext cx="4493" cy="501145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838190" y="1760855"/>
            <a:ext cx="5842000" cy="131254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969000" y="1760855"/>
            <a:ext cx="558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🔄  </a:t>
            </a:r>
            <a:r>
              <a:rPr lang="en-US" b="1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Model Intro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A classic linear classifier utilizing regularization penalties. It is naturally suited for high-dimensional and extremely sparse feature spaces.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838190" y="3352800"/>
            <a:ext cx="5842000" cy="175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969000" y="3479800"/>
            <a:ext cx="5588000" cy="145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⚙  </a:t>
            </a:r>
            <a:r>
              <a:rPr lang="en-US" b="1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Training Process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Conducted an exhaustive Grid Search with 53 parameter combinations via 5-Fold CV. The tuning focused on the regularization penalty (l1_ratio), inverse regularization strength (C), and adopting the saga solver optimized for large sparse datasets.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38190" y="5338445"/>
            <a:ext cx="5842000" cy="904875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969000" y="53848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📊   </a:t>
            </a:r>
            <a:r>
              <a:rPr lang="en-US" altLang="zh-CN" sz="1600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Optimal Hyperparameters:</a:t>
            </a:r>
            <a:endParaRPr lang="en-US" altLang="zh-CN" sz="1600" b="1" i="0" u="none" strike="noStrike" dirty="0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l1_ratio=1.0 (Pure L1 Lasso),C=10.0, solver='saga'</a:t>
            </a:r>
            <a:endParaRPr lang="en-US" altLang="zh-CN" sz="1400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</a:endParaRPr>
          </a:p>
        </p:txBody>
      </p:sp>
      <p:sp>
        <p:nvSpPr>
          <p:cNvPr id="17" name="AutoShape 2"/>
          <p:cNvSpPr/>
          <p:nvPr/>
        </p:nvSpPr>
        <p:spPr>
          <a:xfrm>
            <a:off x="3556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Model 1: Logistic Regression (The Sparse Champion)</a:t>
            </a:r>
            <a:endParaRPr lang="en-US" sz="2400" b="1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cxnSp>
        <p:nvCxnSpPr>
          <p:cNvPr id="18" name="Connector 3"/>
          <p:cNvCxnSpPr/>
          <p:nvPr/>
        </p:nvCxnSpPr>
        <p:spPr>
          <a:xfrm flipV="1">
            <a:off x="355600" y="1129837"/>
            <a:ext cx="8390260" cy="46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FABA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9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135" y="139700"/>
            <a:ext cx="3365500" cy="1301750"/>
          </a:xfrm>
          <a:prstGeom prst="rect">
            <a:avLst/>
          </a:prstGeom>
        </p:spPr>
      </p:pic>
      <p:pic>
        <p:nvPicPr>
          <p:cNvPr id="21" name="图片 20" descr="confusion_matrix_logistic_regression_t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609090"/>
            <a:ext cx="4317365" cy="2698750"/>
          </a:xfrm>
          <a:prstGeom prst="rect">
            <a:avLst/>
          </a:prstGeom>
        </p:spPr>
      </p:pic>
      <p:sp>
        <p:nvSpPr>
          <p:cNvPr id="22" name="AutoShape 11"/>
          <p:cNvSpPr/>
          <p:nvPr/>
        </p:nvSpPr>
        <p:spPr>
          <a:xfrm>
            <a:off x="508000" y="5989320"/>
            <a:ext cx="4572635" cy="514350"/>
          </a:xfrm>
          <a:prstGeom prst="roundRect">
            <a:avLst>
              <a:gd name="adj" fmla="val 0"/>
            </a:avLst>
          </a:prstGeom>
          <a:solidFill>
            <a:srgbClr val="FFF3E0">
              <a:alpha val="100000"/>
            </a:srgbClr>
          </a:solidFill>
          <a:ln w="12700" cap="flat" cmpd="sng">
            <a:solidFill>
              <a:srgbClr val="FFB3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sz="1400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</a:rPr>
              <a:t>💡 Insight: Pure L1 Regularization automatically triggered extreme feature selection.</a:t>
            </a:r>
            <a:endParaRPr lang="en-US" sz="1400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08000" y="1515745"/>
            <a:ext cx="4572000" cy="292100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AFABAB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4596130"/>
            <a:ext cx="222313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4723130"/>
            <a:ext cx="196913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Test Set</a:t>
            </a:r>
            <a:r>
              <a:rPr lang="en-US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 Accuracy</a:t>
            </a:r>
            <a:endParaRPr lang="en-US" sz="11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ctr">
              <a:lnSpc>
                <a:spcPct val="125000"/>
              </a:lnSpc>
            </a:pPr>
            <a:r>
              <a:rPr lang="en-US" altLang="zh-CN" sz="28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0.783</a:t>
            </a:r>
            <a:endParaRPr lang="en-US" altLang="zh-CN" sz="2800" b="1" i="0" u="none" strike="noStrike">
              <a:solidFill>
                <a:srgbClr val="1F232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857500" y="4596130"/>
            <a:ext cx="222313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983865" y="4723130"/>
            <a:ext cx="196913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Macro F1 Score</a:t>
            </a:r>
            <a:endParaRPr lang="en-US" sz="11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ctr">
              <a:lnSpc>
                <a:spcPct val="125000"/>
              </a:lnSpc>
            </a:pPr>
            <a:r>
              <a:rPr lang="en-US" altLang="zh-CN" sz="28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0.797</a:t>
            </a:r>
            <a:endParaRPr lang="en-US" altLang="zh-CN" sz="2800" b="1" i="0" u="none" strike="noStrike">
              <a:solidFill>
                <a:srgbClr val="1F232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flipH="1">
            <a:off x="5393006" y="1515745"/>
            <a:ext cx="4493" cy="501145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838190" y="1760855"/>
            <a:ext cx="5842000" cy="131254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969000" y="1760855"/>
            <a:ext cx="558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🔄  </a:t>
            </a:r>
            <a:r>
              <a:rPr lang="en-US" b="1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Model Intro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A classic Bagging ensemble model that builds multiple decision trees to capture complex non-linear relationships.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838190" y="3352800"/>
            <a:ext cx="5842000" cy="175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969000" y="3479800"/>
            <a:ext cx="5588000" cy="145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⚙  </a:t>
            </a:r>
            <a:r>
              <a:rPr lang="en-US" b="1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Training Process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Performed a 162-combination Grid Search (5-Fold CV) to optimize tree splitting mechanics. The search space heavily explored maximum tree depth (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max_depth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), minimum leaf samples (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min_samples_leaf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), and feature sampling rates (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max_features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).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38190" y="5338445"/>
            <a:ext cx="5842000" cy="904875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969000" y="53848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📊   </a:t>
            </a:r>
            <a:r>
              <a:rPr lang="en-US" altLang="zh-CN" sz="1600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Optimal Hyperparameters:</a:t>
            </a:r>
            <a:endParaRPr lang="en-US" altLang="zh-CN" sz="1600" b="1" i="0" u="none" strike="noStrike" dirty="0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altLang="zh-CN" sz="1400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max_depth</a:t>
            </a:r>
            <a:r>
              <a:rPr lang="en-US" altLang="zh-CN" sz="1400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=None, </a:t>
            </a:r>
            <a:r>
              <a:rPr lang="en-US" altLang="zh-CN" sz="1400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min_samples_leaf</a:t>
            </a:r>
            <a:r>
              <a:rPr lang="en-US" altLang="zh-CN" sz="1400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=1, </a:t>
            </a:r>
            <a:r>
              <a:rPr lang="en-US" altLang="zh-CN" sz="1400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max_features</a:t>
            </a:r>
            <a:r>
              <a:rPr lang="en-US" altLang="zh-CN" sz="1400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=0.3</a:t>
            </a:r>
            <a:endParaRPr lang="en-US" altLang="zh-CN" sz="1400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</a:endParaRPr>
          </a:p>
        </p:txBody>
      </p:sp>
      <p:sp>
        <p:nvSpPr>
          <p:cNvPr id="17" name="AutoShape 2"/>
          <p:cNvSpPr/>
          <p:nvPr/>
        </p:nvSpPr>
        <p:spPr>
          <a:xfrm>
            <a:off x="3556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Model 2: Random Forest (The Unconstrained Baseline)</a:t>
            </a:r>
            <a:endParaRPr lang="en-US" altLang="zh-CN" sz="2400" b="1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cxnSp>
        <p:nvCxnSpPr>
          <p:cNvPr id="18" name="Connector 3"/>
          <p:cNvCxnSpPr/>
          <p:nvPr/>
        </p:nvCxnSpPr>
        <p:spPr>
          <a:xfrm flipV="1">
            <a:off x="355600" y="1129837"/>
            <a:ext cx="8390260" cy="46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FABA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9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135" y="139700"/>
            <a:ext cx="3365500" cy="1301750"/>
          </a:xfrm>
          <a:prstGeom prst="rect">
            <a:avLst/>
          </a:prstGeom>
        </p:spPr>
      </p:pic>
      <p:sp>
        <p:nvSpPr>
          <p:cNvPr id="22" name="AutoShape 11"/>
          <p:cNvSpPr/>
          <p:nvPr/>
        </p:nvSpPr>
        <p:spPr>
          <a:xfrm>
            <a:off x="508000" y="5989320"/>
            <a:ext cx="4572635" cy="514350"/>
          </a:xfrm>
          <a:prstGeom prst="roundRect">
            <a:avLst>
              <a:gd name="adj" fmla="val 0"/>
            </a:avLst>
          </a:prstGeom>
          <a:solidFill>
            <a:srgbClr val="FFF3E0">
              <a:alpha val="100000"/>
            </a:srgbClr>
          </a:solidFill>
          <a:ln w="12700" cap="flat" cmpd="sng">
            <a:solidFill>
              <a:srgbClr val="FFB3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400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</a:rPr>
              <a:t>⚠</a:t>
            </a:r>
            <a:r>
              <a:rPr lang="en-US" altLang="zh-CN" sz="1400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</a:rPr>
              <a:t>Warning: max_depth=None led to severe overfitting (memorization) on the small training set.</a:t>
            </a:r>
            <a:endParaRPr lang="en-US" altLang="zh-CN" sz="1400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</a:endParaRPr>
          </a:p>
        </p:txBody>
      </p:sp>
      <p:pic>
        <p:nvPicPr>
          <p:cNvPr id="3" name="图片 2" descr="confusion_matrix_random_forest_t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620520"/>
            <a:ext cx="4317365" cy="270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08000" y="1515745"/>
            <a:ext cx="4572000" cy="292100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AFABAB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4596130"/>
            <a:ext cx="222313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4723130"/>
            <a:ext cx="196913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Test Set</a:t>
            </a:r>
            <a:r>
              <a:rPr lang="en-US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 Accuracy</a:t>
            </a:r>
            <a:endParaRPr lang="en-US" sz="11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ctr">
              <a:lnSpc>
                <a:spcPct val="125000"/>
              </a:lnSpc>
            </a:pPr>
            <a:r>
              <a:rPr lang="en-US" altLang="zh-CN" sz="28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0.814</a:t>
            </a:r>
            <a:endParaRPr lang="en-US" altLang="zh-CN" sz="2800" b="1" i="0" u="none" strike="noStrike">
              <a:solidFill>
                <a:srgbClr val="1F232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857500" y="4596130"/>
            <a:ext cx="222313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983865" y="4723130"/>
            <a:ext cx="196913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Macro F1 Score</a:t>
            </a:r>
            <a:endParaRPr lang="en-US" sz="11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ctr">
              <a:lnSpc>
                <a:spcPct val="125000"/>
              </a:lnSpc>
            </a:pPr>
            <a:r>
              <a:rPr lang="en-US" altLang="zh-CN" sz="28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0.810</a:t>
            </a:r>
            <a:endParaRPr lang="en-US" altLang="zh-CN" sz="2800" b="1" i="0" u="none" strike="noStrike">
              <a:solidFill>
                <a:srgbClr val="1F232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flipH="1">
            <a:off x="5393006" y="1515745"/>
            <a:ext cx="4493" cy="501145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838190" y="1760855"/>
            <a:ext cx="5842000" cy="131254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969000" y="1760855"/>
            <a:ext cx="558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🔄  </a:t>
            </a:r>
            <a:r>
              <a:rPr lang="en-US" b="1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Model Intro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A highly optimized Gradient Boosting Decision Tree (GBDT) framework with built-in sparsity-aware split finding.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838190" y="3352800"/>
            <a:ext cx="5842000" cy="175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969000" y="3479800"/>
            <a:ext cx="5588000" cy="145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⚙  </a:t>
            </a:r>
            <a:r>
              <a:rPr lang="en-US" b="1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Training Process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Implemented a 2-stage training pipeline to prevent overfitting. 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1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Stage 1: 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Anti-overfitting Grid Search limiting tree depth and feature sampling. 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1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Stage 2: 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Final training with 500 estimators utilizing Early Stopping (patience=30) monitored on an independent validation set.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38190" y="5338445"/>
            <a:ext cx="5842000" cy="904875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969000" y="53848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📊   </a:t>
            </a:r>
            <a:r>
              <a:rPr lang="en-US" altLang="zh-CN" sz="1600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Optimal Hyperparameters:</a:t>
            </a:r>
            <a:endParaRPr lang="en-US" altLang="zh-CN" sz="1600" b="1" i="0" u="none" strike="noStrike" dirty="0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altLang="zh-CN" sz="1400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max_depth</a:t>
            </a:r>
            <a:r>
              <a:rPr lang="en-US" altLang="zh-CN" sz="1400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=6, </a:t>
            </a:r>
            <a:r>
              <a:rPr lang="en-US" altLang="zh-CN" sz="1400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colsample_bytree</a:t>
            </a:r>
            <a:r>
              <a:rPr lang="en-US" altLang="zh-CN" sz="1400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=0.8, subsample=1.0</a:t>
            </a:r>
            <a:endParaRPr lang="en-US" altLang="zh-CN" sz="1400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</a:endParaRPr>
          </a:p>
        </p:txBody>
      </p:sp>
      <p:sp>
        <p:nvSpPr>
          <p:cNvPr id="17" name="AutoShape 2"/>
          <p:cNvSpPr/>
          <p:nvPr/>
        </p:nvSpPr>
        <p:spPr>
          <a:xfrm>
            <a:off x="3556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Model 3: XGBoost (The Robust Performer)</a:t>
            </a:r>
            <a:endParaRPr lang="en-US" altLang="zh-CN" sz="2400" b="1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cxnSp>
        <p:nvCxnSpPr>
          <p:cNvPr id="18" name="Connector 3"/>
          <p:cNvCxnSpPr/>
          <p:nvPr/>
        </p:nvCxnSpPr>
        <p:spPr>
          <a:xfrm flipV="1">
            <a:off x="355600" y="1129837"/>
            <a:ext cx="8390260" cy="46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FABA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9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135" y="139700"/>
            <a:ext cx="3365500" cy="1301750"/>
          </a:xfrm>
          <a:prstGeom prst="rect">
            <a:avLst/>
          </a:prstGeom>
        </p:spPr>
      </p:pic>
      <p:sp>
        <p:nvSpPr>
          <p:cNvPr id="22" name="AutoShape 11"/>
          <p:cNvSpPr/>
          <p:nvPr/>
        </p:nvSpPr>
        <p:spPr>
          <a:xfrm>
            <a:off x="508000" y="5989320"/>
            <a:ext cx="4572635" cy="514350"/>
          </a:xfrm>
          <a:prstGeom prst="roundRect">
            <a:avLst>
              <a:gd name="adj" fmla="val 0"/>
            </a:avLst>
          </a:prstGeom>
          <a:solidFill>
            <a:srgbClr val="FFF3E0">
              <a:alpha val="100000"/>
            </a:srgbClr>
          </a:solidFill>
          <a:ln w="12700" cap="flat" cmpd="sng">
            <a:solidFill>
              <a:srgbClr val="FFB3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400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</a:rPr>
              <a:t>🛡</a:t>
            </a:r>
            <a:r>
              <a:rPr lang="en-US" altLang="zh-CN" sz="1400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</a:rPr>
              <a:t> Strategy: Constrained depth feature sub-sampling forced the model to learn true generalized rules.</a:t>
            </a:r>
            <a:endParaRPr lang="en-US" altLang="zh-CN" sz="1400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</a:endParaRPr>
          </a:p>
        </p:txBody>
      </p:sp>
      <p:pic>
        <p:nvPicPr>
          <p:cNvPr id="2" name="图片 1" descr="xgboo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1616710"/>
            <a:ext cx="4320540" cy="26949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08000" y="1515745"/>
            <a:ext cx="4572000" cy="292100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AFABAB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4596130"/>
            <a:ext cx="222313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4723130"/>
            <a:ext cx="196913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Test Set</a:t>
            </a:r>
            <a:r>
              <a:rPr lang="en-US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 Accuracy</a:t>
            </a:r>
            <a:endParaRPr lang="en-US" sz="11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ctr">
              <a:lnSpc>
                <a:spcPct val="125000"/>
              </a:lnSpc>
            </a:pPr>
            <a:r>
              <a:rPr lang="en-US" altLang="zh-CN" sz="28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0.780</a:t>
            </a:r>
            <a:endParaRPr lang="en-US" altLang="zh-CN" sz="2800" b="1" i="0" u="none" strike="noStrike">
              <a:solidFill>
                <a:srgbClr val="1F232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857500" y="4596130"/>
            <a:ext cx="222313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983865" y="4723130"/>
            <a:ext cx="196913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Macro F1 Score</a:t>
            </a:r>
            <a:endParaRPr lang="en-US" sz="11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ctr">
              <a:lnSpc>
                <a:spcPct val="125000"/>
              </a:lnSpc>
            </a:pPr>
            <a:r>
              <a:rPr lang="en-US" altLang="zh-CN" sz="28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0.780</a:t>
            </a:r>
            <a:endParaRPr lang="en-US" altLang="zh-CN" sz="2800" b="1" i="0" u="none" strike="noStrike">
              <a:solidFill>
                <a:srgbClr val="1F232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flipH="1">
            <a:off x="5393006" y="1515745"/>
            <a:ext cx="4493" cy="501145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838190" y="1760855"/>
            <a:ext cx="5842000" cy="131254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969000" y="1760855"/>
            <a:ext cx="558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🔄  </a:t>
            </a:r>
            <a:r>
              <a:rPr lang="en-US" b="1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Model Intro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A lightweight GBDT framework known for its fast Histogram-based algorithms and aggressive Leaf-wise growth strategy.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838190" y="3352800"/>
            <a:ext cx="5842000" cy="175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969000" y="3479800"/>
            <a:ext cx="5588000" cy="145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⚙  </a:t>
            </a:r>
            <a:r>
              <a:rPr lang="en-US" b="1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Training Process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Configured to single-thread mode (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n_jobs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=1) to bypass C++ OpenMP deadlocks caused by small datasets. Applied rigorous Grid Search focusing on extreme leaf capacity constraints (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min_child_samples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) to curb its over-aggressive growth, followed by Early Stopping training.</a:t>
            </a:r>
            <a:endParaRPr lang="en-US" altLang="zh-CN" sz="14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38190" y="5338445"/>
            <a:ext cx="5842000" cy="904875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AFA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969000" y="53848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📊   </a:t>
            </a:r>
            <a:r>
              <a:rPr lang="en-US" altLang="zh-CN" sz="1600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Optimal Hyperparameters:</a:t>
            </a:r>
            <a:endParaRPr lang="en-US" altLang="zh-CN" sz="1600" b="1" i="0" u="none" strike="noStrike" dirty="0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altLang="zh-CN" sz="1400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min_child_samples</a:t>
            </a:r>
            <a:r>
              <a:rPr lang="en-US" altLang="zh-CN" sz="1400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=15, </a:t>
            </a:r>
            <a:r>
              <a:rPr lang="en-US" altLang="zh-CN" sz="1400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num_leaves</a:t>
            </a:r>
            <a:r>
              <a:rPr lang="en-US" altLang="zh-CN" sz="1400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=15, </a:t>
            </a:r>
            <a:r>
              <a:rPr lang="en-US" altLang="zh-CN" sz="1400" dirty="0" err="1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max_depth</a:t>
            </a:r>
            <a:r>
              <a:rPr lang="en-US" altLang="zh-CN" sz="1400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</a:rPr>
              <a:t>=6</a:t>
            </a:r>
            <a:endParaRPr lang="en-US" altLang="zh-CN" sz="1400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</a:endParaRPr>
          </a:p>
        </p:txBody>
      </p:sp>
      <p:sp>
        <p:nvSpPr>
          <p:cNvPr id="17" name="AutoShape 2"/>
          <p:cNvSpPr/>
          <p:nvPr/>
        </p:nvSpPr>
        <p:spPr>
          <a:xfrm>
            <a:off x="3556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Model 4: LightGBM (The Constrained Underdog)</a:t>
            </a:r>
            <a:endParaRPr lang="en-US" altLang="zh-CN" sz="2400" b="1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cxnSp>
        <p:nvCxnSpPr>
          <p:cNvPr id="18" name="Connector 3"/>
          <p:cNvCxnSpPr/>
          <p:nvPr/>
        </p:nvCxnSpPr>
        <p:spPr>
          <a:xfrm flipV="1">
            <a:off x="355600" y="1129837"/>
            <a:ext cx="8390260" cy="46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FABA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9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135" y="139700"/>
            <a:ext cx="3365500" cy="1301750"/>
          </a:xfrm>
          <a:prstGeom prst="rect">
            <a:avLst/>
          </a:prstGeom>
        </p:spPr>
      </p:pic>
      <p:sp>
        <p:nvSpPr>
          <p:cNvPr id="22" name="AutoShape 11"/>
          <p:cNvSpPr/>
          <p:nvPr/>
        </p:nvSpPr>
        <p:spPr>
          <a:xfrm>
            <a:off x="508000" y="5989320"/>
            <a:ext cx="4572635" cy="514350"/>
          </a:xfrm>
          <a:prstGeom prst="roundRect">
            <a:avLst>
              <a:gd name="adj" fmla="val 0"/>
            </a:avLst>
          </a:prstGeom>
          <a:solidFill>
            <a:srgbClr val="FFF3E0">
              <a:alpha val="100000"/>
            </a:srgbClr>
          </a:solidFill>
          <a:ln w="12700" cap="flat" cmpd="sng">
            <a:solidFill>
              <a:srgbClr val="FFB3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400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</a:rPr>
              <a:t>📉</a:t>
            </a:r>
            <a:r>
              <a:rPr lang="en-US" altLang="zh-CN" sz="1400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</a:rPr>
              <a:t>  Diagnosis: High leaf capacity thresholds forced the model to ignore rare but critical 'red-line' triggers</a:t>
            </a:r>
            <a:endParaRPr lang="en-US" altLang="zh-CN" sz="1400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</a:endParaRPr>
          </a:p>
        </p:txBody>
      </p:sp>
      <p:pic>
        <p:nvPicPr>
          <p:cNvPr id="3" name="图片 2" descr="lightgb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598930"/>
            <a:ext cx="4317365" cy="2738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"/>
          <p:cNvSpPr/>
          <p:nvPr/>
        </p:nvSpPr>
        <p:spPr>
          <a:xfrm>
            <a:off x="3556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Comprehensive Performance Benchmarking</a:t>
            </a:r>
            <a:endParaRPr lang="en-US" altLang="zh-CN" sz="2400" b="1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cxnSp>
        <p:nvCxnSpPr>
          <p:cNvPr id="18" name="Connector 3"/>
          <p:cNvCxnSpPr/>
          <p:nvPr/>
        </p:nvCxnSpPr>
        <p:spPr>
          <a:xfrm flipV="1">
            <a:off x="355600" y="1129837"/>
            <a:ext cx="8390260" cy="46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FABA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9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135" y="139700"/>
            <a:ext cx="3365500" cy="1301750"/>
          </a:xfrm>
          <a:prstGeom prst="rect">
            <a:avLst/>
          </a:prstGeom>
        </p:spPr>
      </p:pic>
      <p:sp>
        <p:nvSpPr>
          <p:cNvPr id="23" name="AutoShape 8"/>
          <p:cNvSpPr/>
          <p:nvPr/>
        </p:nvSpPr>
        <p:spPr>
          <a:xfrm>
            <a:off x="7102475" y="1628140"/>
            <a:ext cx="48641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 dirty="0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📈 Performance Insights: The Unexpected Winner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altLang="zh-CN" sz="1300" b="0" i="0" u="none" strike="noStrike" dirty="0">
                <a:solidFill>
                  <a:srgbClr val="595959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Through a horizontal comparison of three key indicators: Accuracy, Macro F1, and Macro AUC, we found that Logistic Regression (marked in orange) outperforms more complex tree-based ensemble models in all dimensions. It not only leads in numerical values but also has an overwhelming advantage in training efficiency and interpretability.</a:t>
            </a:r>
            <a:endParaRPr lang="en-US" altLang="zh-CN" sz="1300" b="0" i="0" u="none" strike="noStrike" dirty="0">
              <a:solidFill>
                <a:srgbClr val="595959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sp>
        <p:nvSpPr>
          <p:cNvPr id="27" name="AutoShape 9"/>
          <p:cNvSpPr/>
          <p:nvPr/>
        </p:nvSpPr>
        <p:spPr>
          <a:xfrm>
            <a:off x="7102475" y="3700780"/>
            <a:ext cx="4863465" cy="2082800"/>
          </a:xfrm>
          <a:prstGeom prst="roundRect">
            <a:avLst>
              <a:gd name="adj" fmla="val 0"/>
            </a:avLst>
          </a:prstGeom>
          <a:solidFill>
            <a:srgbClr val="FFF8E1">
              <a:alpha val="100000"/>
            </a:srgbClr>
          </a:solidFill>
          <a:ln w="12700" cap="flat" cmpd="sng">
            <a:solidFill>
              <a:srgbClr val="FFA7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0"/>
          <p:cNvSpPr/>
          <p:nvPr/>
        </p:nvSpPr>
        <p:spPr>
          <a:xfrm>
            <a:off x="7229475" y="3914775"/>
            <a:ext cx="4631690" cy="16363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 dirty="0">
                <a:solidFill>
                  <a:srgbClr val="E65100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💡Core Conclusion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>
                <a:solidFill>
                  <a:srgbClr val="3C3C3C"/>
                </a:solidFill>
                <a:latin typeface="Segoe UI" panose="020B0502040204020203" charset="0"/>
                <a:ea typeface="Songti SC"/>
                <a:cs typeface="Segoe UI" panose="020B0502040204020203" charset="0"/>
                <a:sym typeface="Songti SC"/>
              </a:rPr>
              <a:t>Under strict fair benchmarking, Logistic Regression outperforms complex tree models by a significant margin. This reaffirms that for this specific problem space, simplicity and linearity yield more robust and generalizable results than over-parameterized models.</a:t>
            </a:r>
            <a:endParaRPr lang="en-US" sz="1300" b="0" i="0" u="none" strike="noStrike" dirty="0">
              <a:solidFill>
                <a:srgbClr val="3C3C3C"/>
              </a:solidFill>
              <a:latin typeface="Segoe UI" panose="020B0502040204020203" charset="0"/>
              <a:ea typeface="Songti SC"/>
              <a:cs typeface="Segoe UI" panose="020B0502040204020203" charset="0"/>
              <a:sym typeface="Songti SC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628140"/>
            <a:ext cx="6252210" cy="4156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"/>
          <p:cNvSpPr/>
          <p:nvPr/>
        </p:nvSpPr>
        <p:spPr>
          <a:xfrm>
            <a:off x="3556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>
                <a:solidFill>
                  <a:srgbClr val="1F2329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The " Why " : Decrypting the Algorithmic Divergence</a:t>
            </a:r>
            <a:endParaRPr lang="en-US" altLang="zh-CN" sz="2400" b="1">
              <a:solidFill>
                <a:srgbClr val="1F2329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cxnSp>
        <p:nvCxnSpPr>
          <p:cNvPr id="18" name="Connector 3"/>
          <p:cNvCxnSpPr/>
          <p:nvPr/>
        </p:nvCxnSpPr>
        <p:spPr>
          <a:xfrm flipV="1">
            <a:off x="355600" y="1129837"/>
            <a:ext cx="8390260" cy="46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FABA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9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135" y="139700"/>
            <a:ext cx="3365500" cy="130175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498475" y="1627505"/>
            <a:ext cx="4826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81025" y="1754505"/>
            <a:ext cx="466661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✅  </a:t>
            </a:r>
            <a:r>
              <a:rPr lang="en-US" sz="1800" b="1">
                <a:solidFill>
                  <a:srgbClr val="3B82F6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The Triumph of Logistic Regression:</a:t>
            </a:r>
            <a:endParaRPr lang="en-US" sz="1800" b="1">
              <a:solidFill>
                <a:srgbClr val="3B82F6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3B82F6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     Sparsity Meets Business Logic</a:t>
            </a:r>
            <a:endParaRPr lang="en-US" sz="1800" b="1">
              <a:solidFill>
                <a:srgbClr val="3B82F6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cxnSp>
        <p:nvCxnSpPr>
          <p:cNvPr id="6" name="Connector 6"/>
          <p:cNvCxnSpPr/>
          <p:nvPr/>
        </p:nvCxnSpPr>
        <p:spPr>
          <a:xfrm rot="-9878">
            <a:off x="701684" y="2567305"/>
            <a:ext cx="441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01675" y="2700655"/>
            <a:ext cx="4419600" cy="10496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Algorithmic Behavior: Pure L1 Regularization</a:t>
            </a:r>
            <a:endParaRPr lang="en-US" sz="12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altLang="zh-CN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Pure L1 Regularization (Lasso) successfully compressed </a:t>
            </a:r>
            <a:r>
              <a:rPr lang="en-US" altLang="zh-CN" sz="1400" b="1" i="0" u="none" strike="noStrike">
                <a:solidFill>
                  <a:srgbClr val="FF0000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80.6%</a:t>
            </a:r>
            <a:r>
              <a:rPr lang="en-US" altLang="zh-CN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 of redundant feature weights to exactly 0.</a:t>
            </a:r>
            <a:endParaRPr lang="en-US" altLang="zh-CN" sz="1400" b="0" i="0" u="none" strike="noStrike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9878">
            <a:off x="701684" y="3830955"/>
            <a:ext cx="441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01675" y="4017010"/>
            <a:ext cx="4419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Perfect Business Mapping: " One-Strike Veto "</a:t>
            </a:r>
            <a:endParaRPr lang="en-US" sz="12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altLang="zh-CN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This mathematically perfectly aligns with Google Play's underlying </a:t>
            </a:r>
            <a:r>
              <a:rPr lang="en-US" altLang="zh-CN" sz="1400" b="1" i="0" u="none" strike="noStrike">
                <a:solidFill>
                  <a:srgbClr val="FF0000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" One-Strike Veto"</a:t>
            </a:r>
            <a:r>
              <a:rPr lang="en-US" altLang="zh-CN" sz="1400" b="1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 </a:t>
            </a:r>
            <a:r>
              <a:rPr lang="en-US" altLang="zh-CN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logic (e.g., ticking 'Gore' immediately triggers a 17+ rating, regardless of other benign answers).</a:t>
            </a:r>
            <a:endParaRPr lang="en-US" altLang="zh-CN" sz="1400" b="0" i="0" u="none" strike="noStrike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984875" y="1627505"/>
            <a:ext cx="5638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984875" y="1627505"/>
            <a:ext cx="76200" cy="1841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38875" y="1754505"/>
            <a:ext cx="5263515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❌ Unconstrained Tree Models (e.g., Random Forest)</a:t>
            </a:r>
            <a:endParaRPr lang="en-US" sz="10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Suffer from severe overfitting (memorization) when processing high-dimensional wide tables. They capture random noise as patterns, failing to generalize to unseen critical cases in the app rating dataset.</a:t>
            </a:r>
            <a:endParaRPr lang="en-US" sz="1400" b="0" i="0" u="none" strike="noStrike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984875" y="3850005"/>
            <a:ext cx="5638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984875" y="3850005"/>
            <a:ext cx="76200" cy="18415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169660" y="3977005"/>
            <a:ext cx="533273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❌ Constrained Tree Models (e.g., XGBoost/LightGBM)</a:t>
            </a:r>
            <a:endParaRPr lang="en-US" sz="1000">
              <a:latin typeface="Segoe UI" panose="020B0502040204020203" charset="0"/>
              <a:cs typeface="Segoe UI" panose="020B0502040204020203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altLang="zh-CN" sz="1400" b="0" i="0" u="none" strike="noStrike">
                <a:solidFill>
                  <a:srgbClr val="595959"/>
                </a:solidFill>
                <a:latin typeface="Segoe UI" panose="020B0502040204020203" charset="0"/>
                <a:ea typeface="Noto Sans SC" panose="020B0200000000000000" charset="-122"/>
                <a:cs typeface="Segoe UI" panose="020B0502040204020203" charset="0"/>
                <a:sym typeface="Noto Sans SC" panose="020B0200000000000000" charset="-122"/>
              </a:rPr>
              <a:t>When we apply strict anti-overfitting rules (like min_child_samples), the algorithms treat "extremely rare but fatal violations" as minor noise and actively filter them out, causing a drop in accuracy.</a:t>
            </a:r>
            <a:endParaRPr lang="en-US" altLang="zh-CN" sz="1400" b="0" i="0" u="none" strike="noStrike">
              <a:solidFill>
                <a:srgbClr val="595959"/>
              </a:solidFill>
              <a:latin typeface="Segoe UI" panose="020B0502040204020203" charset="0"/>
              <a:ea typeface="Noto Sans SC" panose="020B0200000000000000" charset="-122"/>
              <a:cs typeface="Segoe UI" panose="020B0502040204020203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k5NWM4NzQyODBjYzI3NzAwNzQ5MGQ2ZDM2ZDcwMj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5812</Words>
  <Application>WPS 演示</Application>
  <PresentationFormat>宽屏</PresentationFormat>
  <Paragraphs>136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汉仪雅酷黑-85J</vt:lpstr>
      <vt:lpstr>黑体</vt:lpstr>
      <vt:lpstr>Noto Sans SC</vt:lpstr>
      <vt:lpstr>Segoe UI</vt:lpstr>
      <vt:lpstr>Songti SC</vt:lpstr>
      <vt:lpstr>Segoe Print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陈子涵</cp:lastModifiedBy>
  <cp:revision>73</cp:revision>
  <dcterms:created xsi:type="dcterms:W3CDTF">2024-02-29T12:43:00Z</dcterms:created>
  <dcterms:modified xsi:type="dcterms:W3CDTF">2026-06-22T02:09:01Z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96B6552A80BB4E7FB2C2FD8EE8FD07FA_12</vt:lpwstr>
  </property>
  <property fmtid="{D5CDD505-2E9C-101B-9397-08002B2CF9AE}" pid="3" name="KSOProductBuildVer">
    <vt:lpwstr>2052-12.1.0.23542</vt:lpwstr>
  </property>
</Properties>
</file>
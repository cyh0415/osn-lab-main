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74" r:id="rId5"/>
    <p:sldId id="284" r:id="rId6"/>
    <p:sldId id="285" r:id="rId7"/>
    <p:sldId id="286" r:id="rId8"/>
    <p:sldId id="275" r:id="rId9"/>
    <p:sldId id="277" r:id="rId10"/>
    <p:sldId id="278" r:id="rId11"/>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AFABAB"/>
    <a:srgbClr val="B9B9B9"/>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9" autoAdjust="0"/>
    <p:restoredTop sz="94660"/>
  </p:normalViewPr>
  <p:slideViewPr>
    <p:cSldViewPr snapToGrid="0">
      <p:cViewPr varScale="1">
        <p:scale>
          <a:sx n="103" d="100"/>
          <a:sy n="103" d="100"/>
        </p:scale>
        <p:origin x="88"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45.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5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5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B626F-3C3F-4015-BFA0-DB08E9CDE31C}" type="datetimeFigureOut">
              <a:rPr lang="zh-CN" altLang="en-US" smtClean="0"/>
            </a:fld>
            <a:endParaRPr lang="zh-CN" altLang="en-US"/>
          </a:p>
        </p:txBody>
      </p:sp>
      <p:sp>
        <p:nvSpPr>
          <p:cNvPr id="104885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5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5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5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6D368-CBDF-4EC8-A09E-7865E2A2E21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part is about Task 4, feature engineering and model input preparation.</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In the whole project pipeline, our work is between data cleaning and model training. Task 3 provides a clean dataset, but the data is still in a raw questionnaire format. Machine learning models cannot directly use these text answers.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So our goal is to convert the cleaned questionnaire answers into numerical model inputs. Specifically, we encode different types of questions, prepare train, validation, and test datasets, encode the North America rating labels, and generate reusable metadata for the modeling stage.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 very important requirement in this step is to avoid target leakage, because the dataset contains multiple regional rating outputs.</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For the input, we mainly use four files from Task 3.</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first two are train.csv and test.csv, which contain the cleaned questionnaire samples. The other two are column_groups.json and data_dictionary.csv. These metadata files tell us which columns are features, which columns are target labels, and what type each question is.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After feature engineering, we generate several outputs for Task 5. The most important ones are X_train, X_val, and X_test, which are the encoded feature matrices. We also generate y_train, y_val, and y_test as encoded labels.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Besides that, we provide a feature dictionary, label mapping, class weights, sparse matrix files, and an engineering report. These files make the next modeling step easier and more reproducible.</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In this task, we choose rating__north_america as the prediction target. This corresponds to the ESRB-style age rating in North America.</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model inputs, we only allow the questionnaire category and the answer columns. These columns start with answer double underscore.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We explicitly exclude sample_id, split, and all rating columns. This is important because all regional rating fields are outputs of the same questionnaire. If we use one regional rating to predict another regional rating, the model would indirectly see the answer.</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So this leakage guard makes sure that the model learns from questionnaire answers, not from other rating results.</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The cleaned dataset still contains categorical text values, so we need to encode them into numerical features.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the category field and radio questions, we use one-hot encoding. Each possible answer becomes a binary feature.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For checkbox questions, one sample may select multiple options. Therefore, we split the combined answer string and convert it into multi-hot features.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We also preserve structural missing values, such as inactive questions and not applicable questions. These values are meaningful because the questionnaire has a tree-like structure. If a question is inactive, that itself tells us something about the previous answers.</a:t>
            </a:r>
            <a:br>
              <a:rPr lang="en-US" altLang="zh-CN" sz="1400" b="0" i="0" u="none" strike="noStrike">
                <a:solidFill>
                  <a:srgbClr val="000000"/>
                </a:solidFill>
              </a:rPr>
            </a:br>
            <a:br>
              <a:rPr lang="en-US" altLang="zh-CN" sz="1400" b="0" i="0" u="none" strike="noStrike">
                <a:solidFill>
                  <a:srgbClr val="000000"/>
                </a:solidFill>
              </a:rPr>
            </a:br>
            <a:r>
              <a:rPr lang="en-US" altLang="zh-CN" sz="1400" b="0" i="0" u="none" strike="noStrike">
                <a:solidFill>
                  <a:srgbClr val="000000"/>
                </a:solidFill>
              </a:rPr>
              <a:t>/////</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Task 3 already provides a train and test split, and we keep the original test set unchanged.</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From the Task 3 training set, we further split out a validation set. Finally, we have 810 training samples, 202 validation samples, and 253 test samples.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validation split uses a fixed seed, so the result is reproducible. It is also stratified by questionnaire category and North America rating, so the label distribution is kept as stable as possible across different splits.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gives Task 5 a clean setup for model training, model selection, and final testing.</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Here we show the distribution of the North America rating labels.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task is a five-class classification problem. The five classes are Everyone, Everyone 10+, Teen, Mature 17+, and Adults only 18+.</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distribution is not perfectly balanced. Mature 17+ and Teen have more samples, while Everyone 10+ has fewer samples. This imbalance may affect model training, especially for minority classes.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Because of this, we also generate class weights, so downstream models can reduce bias toward majority classes.</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After encoding, the feature space becomes much larger.</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Originally, we have 165 raw feature columns. After one-hot and multi-hot encoding, we get 758 encoded feature columns.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This expansion is expected. Radio questions produce one binary feature for each possible answer, and checkbox questions can produce multiple binary indicators for different selected options.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final output is a binary feature matrix, which can be directly used by common machine learning models such as logistic regression, random forest, support vector machines, or gradient boosting models.</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ltLang="zh-CN" sz="1400" b="0" i="0" u="none" strike="noStrike">
                <a:solidFill>
                  <a:srgbClr val="000000"/>
                </a:solidFill>
              </a:rPr>
              <a:t>Finally, we generate balanced class weights for the model training stage.</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The purpose is to reduce the model's bias toward majority classes and give more importance to smaller classes. For example, Everyone 10+ receives a higher weight because it has fewer training samples.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Before delivering the outputs, we also run several validation checks. We make sure that train, validation, and test have exactly the same feature columns. We check that there are no missing values in the encoded matrices. We also verify that no rating columns are included as model inputs.</a:t>
            </a:r>
            <a:endParaRPr lang="en-US" altLang="zh-CN"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Overall, Task 4 produces a clean, reproducible, and leakage-free feature engineering pipeline for Task 5 model training.</a:t>
            </a:r>
            <a:endParaRPr lang="en-US" altLang="zh-CN"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0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104880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804" name="日期占位符 3"/>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05" name="页脚占位符 4"/>
          <p:cNvSpPr>
            <a:spLocks noGrp="1"/>
          </p:cNvSpPr>
          <p:nvPr>
            <p:ph type="ftr" sz="quarter" idx="11"/>
          </p:nvPr>
        </p:nvSpPr>
        <p:spPr/>
        <p:txBody>
          <a:bodyPr/>
          <a:lstStyle/>
          <a:p>
            <a:endParaRPr lang="zh-CN" altLang="en-US"/>
          </a:p>
        </p:txBody>
      </p:sp>
      <p:sp>
        <p:nvSpPr>
          <p:cNvPr id="1048806" name="灯片编号占位符 5"/>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1" name="标题 1"/>
          <p:cNvSpPr>
            <a:spLocks noGrp="1"/>
          </p:cNvSpPr>
          <p:nvPr>
            <p:ph type="title"/>
          </p:nvPr>
        </p:nvSpPr>
        <p:spPr/>
        <p:txBody>
          <a:bodyPr/>
          <a:lstStyle/>
          <a:p>
            <a:r>
              <a:rPr lang="zh-CN" altLang="en-US"/>
              <a:t>单击此处编辑母版标题样式</a:t>
            </a:r>
            <a:endParaRPr lang="zh-CN" altLang="en-US"/>
          </a:p>
        </p:txBody>
      </p:sp>
      <p:sp>
        <p:nvSpPr>
          <p:cNvPr id="1048582"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83" name="日期占位符 3"/>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27"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1048828"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8829" name="日期占位符 3"/>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30" name="页脚占位符 4"/>
          <p:cNvSpPr>
            <a:spLocks noGrp="1"/>
          </p:cNvSpPr>
          <p:nvPr>
            <p:ph type="ftr" sz="quarter" idx="11"/>
          </p:nvPr>
        </p:nvSpPr>
        <p:spPr/>
        <p:txBody>
          <a:bodyPr/>
          <a:lstStyle/>
          <a:p>
            <a:endParaRPr lang="zh-CN" altLang="en-US"/>
          </a:p>
        </p:txBody>
      </p:sp>
      <p:sp>
        <p:nvSpPr>
          <p:cNvPr id="1048831" name="灯片编号占位符 5"/>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32" name="标题 1"/>
          <p:cNvSpPr>
            <a:spLocks noGrp="1"/>
          </p:cNvSpPr>
          <p:nvPr>
            <p:ph type="title"/>
          </p:nvPr>
        </p:nvSpPr>
        <p:spPr/>
        <p:txBody>
          <a:bodyPr/>
          <a:lstStyle/>
          <a:p>
            <a:r>
              <a:rPr lang="zh-CN" altLang="en-US"/>
              <a:t>单击此处编辑母版标题样式</a:t>
            </a:r>
            <a:endParaRPr lang="zh-CN" altLang="en-US"/>
          </a:p>
        </p:txBody>
      </p:sp>
      <p:sp>
        <p:nvSpPr>
          <p:cNvPr id="104883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3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35" name="日期占位符 4"/>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36" name="页脚占位符 5"/>
          <p:cNvSpPr>
            <a:spLocks noGrp="1"/>
          </p:cNvSpPr>
          <p:nvPr>
            <p:ph type="ftr" sz="quarter" idx="11"/>
          </p:nvPr>
        </p:nvSpPr>
        <p:spPr/>
        <p:txBody>
          <a:bodyPr/>
          <a:lstStyle/>
          <a:p>
            <a:endParaRPr lang="zh-CN" altLang="en-US"/>
          </a:p>
        </p:txBody>
      </p:sp>
      <p:sp>
        <p:nvSpPr>
          <p:cNvPr id="1048837" name="灯片编号占位符 6"/>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38"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1048839"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840"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1"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842"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3" name="日期占位符 6"/>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44" name="页脚占位符 7"/>
          <p:cNvSpPr>
            <a:spLocks noGrp="1"/>
          </p:cNvSpPr>
          <p:nvPr>
            <p:ph type="ftr" sz="quarter" idx="11"/>
          </p:nvPr>
        </p:nvSpPr>
        <p:spPr/>
        <p:txBody>
          <a:bodyPr/>
          <a:lstStyle/>
          <a:p>
            <a:endParaRPr lang="zh-CN" altLang="en-US"/>
          </a:p>
        </p:txBody>
      </p:sp>
      <p:sp>
        <p:nvSpPr>
          <p:cNvPr id="1048845" name="灯片编号占位符 8"/>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07" name="标题 1"/>
          <p:cNvSpPr>
            <a:spLocks noGrp="1"/>
          </p:cNvSpPr>
          <p:nvPr>
            <p:ph type="title"/>
          </p:nvPr>
        </p:nvSpPr>
        <p:spPr/>
        <p:txBody>
          <a:bodyPr/>
          <a:lstStyle/>
          <a:p>
            <a:r>
              <a:rPr lang="zh-CN" altLang="en-US"/>
              <a:t>单击此处编辑母版标题样式</a:t>
            </a:r>
            <a:endParaRPr lang="zh-CN" altLang="en-US"/>
          </a:p>
        </p:txBody>
      </p:sp>
      <p:sp>
        <p:nvSpPr>
          <p:cNvPr id="1048808" name="日期占位符 2"/>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09" name="页脚占位符 3"/>
          <p:cNvSpPr>
            <a:spLocks noGrp="1"/>
          </p:cNvSpPr>
          <p:nvPr>
            <p:ph type="ftr" sz="quarter" idx="11"/>
          </p:nvPr>
        </p:nvSpPr>
        <p:spPr/>
        <p:txBody>
          <a:bodyPr/>
          <a:lstStyle/>
          <a:p>
            <a:endParaRPr lang="zh-CN" altLang="en-US"/>
          </a:p>
        </p:txBody>
      </p:sp>
      <p:sp>
        <p:nvSpPr>
          <p:cNvPr id="1048810" name="灯片编号占位符 4"/>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91" name="日期占位符 1"/>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592" name="页脚占位符 2"/>
          <p:cNvSpPr>
            <a:spLocks noGrp="1"/>
          </p:cNvSpPr>
          <p:nvPr>
            <p:ph type="ftr" sz="quarter" idx="11"/>
          </p:nvPr>
        </p:nvSpPr>
        <p:spPr/>
        <p:txBody>
          <a:bodyPr/>
          <a:lstStyle/>
          <a:p>
            <a:endParaRPr lang="zh-CN" altLang="en-US"/>
          </a:p>
        </p:txBody>
      </p:sp>
      <p:sp>
        <p:nvSpPr>
          <p:cNvPr id="1048593" name="灯片编号占位符 3"/>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84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847"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8"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849" name="日期占位符 4"/>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50" name="页脚占位符 5"/>
          <p:cNvSpPr>
            <a:spLocks noGrp="1"/>
          </p:cNvSpPr>
          <p:nvPr>
            <p:ph type="ftr" sz="quarter" idx="11"/>
          </p:nvPr>
        </p:nvSpPr>
        <p:spPr/>
        <p:txBody>
          <a:bodyPr/>
          <a:lstStyle/>
          <a:p>
            <a:endParaRPr lang="zh-CN" altLang="en-US"/>
          </a:p>
        </p:txBody>
      </p:sp>
      <p:sp>
        <p:nvSpPr>
          <p:cNvPr id="1048851" name="灯片编号占位符 6"/>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16"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104881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818"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819" name="日期占位符 4"/>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20" name="页脚占位符 5"/>
          <p:cNvSpPr>
            <a:spLocks noGrp="1"/>
          </p:cNvSpPr>
          <p:nvPr>
            <p:ph type="ftr" sz="quarter" idx="11"/>
          </p:nvPr>
        </p:nvSpPr>
        <p:spPr/>
        <p:txBody>
          <a:bodyPr/>
          <a:lstStyle/>
          <a:p>
            <a:endParaRPr lang="zh-CN" altLang="en-US"/>
          </a:p>
        </p:txBody>
      </p:sp>
      <p:sp>
        <p:nvSpPr>
          <p:cNvPr id="1048821" name="灯片编号占位符 6"/>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822" name="标题 1"/>
          <p:cNvSpPr>
            <a:spLocks noGrp="1"/>
          </p:cNvSpPr>
          <p:nvPr>
            <p:ph type="title"/>
          </p:nvPr>
        </p:nvSpPr>
        <p:spPr/>
        <p:txBody>
          <a:bodyPr/>
          <a:lstStyle/>
          <a:p>
            <a:r>
              <a:rPr lang="zh-CN" altLang="en-US"/>
              <a:t>单击此处编辑母版标题样式</a:t>
            </a:r>
            <a:endParaRPr lang="zh-CN" altLang="en-US"/>
          </a:p>
        </p:txBody>
      </p:sp>
      <p:sp>
        <p:nvSpPr>
          <p:cNvPr id="104882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24" name="日期占位符 3"/>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25" name="页脚占位符 4"/>
          <p:cNvSpPr>
            <a:spLocks noGrp="1"/>
          </p:cNvSpPr>
          <p:nvPr>
            <p:ph type="ftr" sz="quarter" idx="11"/>
          </p:nvPr>
        </p:nvSpPr>
        <p:spPr/>
        <p:txBody>
          <a:bodyPr/>
          <a:lstStyle/>
          <a:p>
            <a:endParaRPr lang="zh-CN" altLang="en-US"/>
          </a:p>
        </p:txBody>
      </p:sp>
      <p:sp>
        <p:nvSpPr>
          <p:cNvPr id="1048826" name="灯片编号占位符 5"/>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11"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048812"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3" name="日期占位符 3"/>
          <p:cNvSpPr>
            <a:spLocks noGrp="1"/>
          </p:cNvSpPr>
          <p:nvPr>
            <p:ph type="dt" sz="half" idx="10"/>
          </p:nvPr>
        </p:nvSpPr>
        <p:spPr/>
        <p:txBody>
          <a:bodyPr/>
          <a:lstStyle/>
          <a:p>
            <a:fld id="{4AABA10D-2B2D-471A-9601-27474E66AA77}" type="datetimeFigureOut">
              <a:rPr lang="zh-CN" altLang="en-US" smtClean="0"/>
            </a:fld>
            <a:endParaRPr lang="zh-CN" altLang="en-US"/>
          </a:p>
        </p:txBody>
      </p:sp>
      <p:sp>
        <p:nvSpPr>
          <p:cNvPr id="1048814" name="页脚占位符 4"/>
          <p:cNvSpPr>
            <a:spLocks noGrp="1"/>
          </p:cNvSpPr>
          <p:nvPr>
            <p:ph type="ftr" sz="quarter" idx="11"/>
          </p:nvPr>
        </p:nvSpPr>
        <p:spPr/>
        <p:txBody>
          <a:bodyPr/>
          <a:lstStyle/>
          <a:p>
            <a:endParaRPr lang="zh-CN" altLang="en-US"/>
          </a:p>
        </p:txBody>
      </p:sp>
      <p:sp>
        <p:nvSpPr>
          <p:cNvPr id="1048815" name="灯片编号占位符 5"/>
          <p:cNvSpPr>
            <a:spLocks noGrp="1"/>
          </p:cNvSpPr>
          <p:nvPr>
            <p:ph type="sldNum" sz="quarter" idx="12"/>
          </p:nvPr>
        </p:nvSpPr>
        <p:spPr/>
        <p:txBody>
          <a:bodyPr/>
          <a:lstStyle/>
          <a:p>
            <a:fld id="{B8EC629E-8DEA-4C3D-8B15-BEE892BCF92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ABA10D-2B2D-471A-9601-27474E66AA77}"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EC629E-8DEA-4C3D-8B15-BEE892BCF92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2.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3" Type="http://schemas.openxmlformats.org/officeDocument/2006/relationships/notesSlide" Target="../notesSlides/notesSlide4.xml"/><Relationship Id="rId32" Type="http://schemas.openxmlformats.org/officeDocument/2006/relationships/slideLayout" Target="../slideLayouts/slideLayout1.xml"/><Relationship Id="rId31" Type="http://schemas.openxmlformats.org/officeDocument/2006/relationships/image" Target="../media/image5.png"/><Relationship Id="rId30" Type="http://schemas.openxmlformats.org/officeDocument/2006/relationships/tags" Target="../tags/tag40.xml"/><Relationship Id="rId3" Type="http://schemas.openxmlformats.org/officeDocument/2006/relationships/tags" Target="../tags/tag13.xml"/><Relationship Id="rId29" Type="http://schemas.openxmlformats.org/officeDocument/2006/relationships/tags" Target="../tags/tag39.xml"/><Relationship Id="rId28" Type="http://schemas.openxmlformats.org/officeDocument/2006/relationships/tags" Target="../tags/tag38.xml"/><Relationship Id="rId27" Type="http://schemas.openxmlformats.org/officeDocument/2006/relationships/tags" Target="../tags/tag37.xml"/><Relationship Id="rId26" Type="http://schemas.openxmlformats.org/officeDocument/2006/relationships/tags" Target="../tags/tag36.xml"/><Relationship Id="rId25" Type="http://schemas.openxmlformats.org/officeDocument/2006/relationships/tags" Target="../tags/tag35.xml"/><Relationship Id="rId24" Type="http://schemas.openxmlformats.org/officeDocument/2006/relationships/tags" Target="../tags/tag34.xml"/><Relationship Id="rId23" Type="http://schemas.openxmlformats.org/officeDocument/2006/relationships/tags" Target="../tags/tag33.xml"/><Relationship Id="rId22" Type="http://schemas.openxmlformats.org/officeDocument/2006/relationships/tags" Target="../tags/tag32.xml"/><Relationship Id="rId21" Type="http://schemas.openxmlformats.org/officeDocument/2006/relationships/tags" Target="../tags/tag31.xml"/><Relationship Id="rId20" Type="http://schemas.openxmlformats.org/officeDocument/2006/relationships/tags" Target="../tags/tag30.xml"/><Relationship Id="rId2" Type="http://schemas.openxmlformats.org/officeDocument/2006/relationships/tags" Target="../tags/tag12.xml"/><Relationship Id="rId19" Type="http://schemas.openxmlformats.org/officeDocument/2006/relationships/tags" Target="../tags/tag29.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image" Target="../media/image6.png"/><Relationship Id="rId2" Type="http://schemas.openxmlformats.org/officeDocument/2006/relationships/tags" Target="../tags/tag41.xml"/><Relationship Id="rId10" Type="http://schemas.openxmlformats.org/officeDocument/2006/relationships/notesSlide" Target="../notesSlides/notesSlide5.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任意多边形 3"/>
          <p:cNvSpPr/>
          <p:nvPr/>
        </p:nvSpPr>
        <p:spPr>
          <a:xfrm rot="16872204">
            <a:off x="1095680" y="2934035"/>
            <a:ext cx="2679375" cy="1489619"/>
          </a:xfrm>
          <a:custGeom>
            <a:avLst/>
            <a:gdLst>
              <a:gd name="connsiteX0" fmla="*/ 0 w 1010195"/>
              <a:gd name="connsiteY0" fmla="*/ 0 h 217714"/>
              <a:gd name="connsiteX1" fmla="*/ 8709 w 1010195"/>
              <a:gd name="connsiteY1" fmla="*/ 217714 h 217714"/>
              <a:gd name="connsiteX2" fmla="*/ 1010195 w 1010195"/>
              <a:gd name="connsiteY2" fmla="*/ 87086 h 217714"/>
              <a:gd name="connsiteX3" fmla="*/ 0 w 1010195"/>
              <a:gd name="connsiteY3" fmla="*/ 0 h 217714"/>
              <a:gd name="connsiteX0-1" fmla="*/ 0 w 1017338"/>
              <a:gd name="connsiteY0-2" fmla="*/ 0 h 217714"/>
              <a:gd name="connsiteX1-3" fmla="*/ 8709 w 1017338"/>
              <a:gd name="connsiteY1-4" fmla="*/ 217714 h 217714"/>
              <a:gd name="connsiteX2-5" fmla="*/ 1017338 w 1017338"/>
              <a:gd name="connsiteY2-6" fmla="*/ 87086 h 217714"/>
              <a:gd name="connsiteX3-7" fmla="*/ 0 w 1017338"/>
              <a:gd name="connsiteY3-8" fmla="*/ 0 h 217714"/>
              <a:gd name="connsiteX0-1-1" fmla="*/ 0 w 1017338"/>
              <a:gd name="connsiteY0-2-2" fmla="*/ 0 h 248457"/>
              <a:gd name="connsiteX1-3-3" fmla="*/ 98341 w 1017338"/>
              <a:gd name="connsiteY1-4-4" fmla="*/ 248457 h 248457"/>
              <a:gd name="connsiteX2-5-5" fmla="*/ 1017338 w 1017338"/>
              <a:gd name="connsiteY2-6-6" fmla="*/ 87086 h 248457"/>
              <a:gd name="connsiteX3-7-7" fmla="*/ 0 w 1017338"/>
              <a:gd name="connsiteY3-8-8" fmla="*/ 0 h 248457"/>
              <a:gd name="connsiteX0-9" fmla="*/ 0 w 1041847"/>
              <a:gd name="connsiteY0-10" fmla="*/ 0 h 264949"/>
              <a:gd name="connsiteX1-11" fmla="*/ 122850 w 1041847"/>
              <a:gd name="connsiteY1-12" fmla="*/ 264949 h 264949"/>
              <a:gd name="connsiteX2-13" fmla="*/ 1041847 w 1041847"/>
              <a:gd name="connsiteY2-14" fmla="*/ 103578 h 264949"/>
              <a:gd name="connsiteX3-15" fmla="*/ 0 w 1041847"/>
              <a:gd name="connsiteY3-16" fmla="*/ 0 h 264949"/>
              <a:gd name="connsiteX0-17" fmla="*/ 0 w 1041847"/>
              <a:gd name="connsiteY0-18" fmla="*/ 0 h 252106"/>
              <a:gd name="connsiteX1-19" fmla="*/ 188050 w 1041847"/>
              <a:gd name="connsiteY1-20" fmla="*/ 252106 h 252106"/>
              <a:gd name="connsiteX2-21" fmla="*/ 1041847 w 1041847"/>
              <a:gd name="connsiteY2-22" fmla="*/ 103578 h 252106"/>
              <a:gd name="connsiteX3-23" fmla="*/ 0 w 1041847"/>
              <a:gd name="connsiteY3-24" fmla="*/ 0 h 252106"/>
              <a:gd name="connsiteX0-25" fmla="*/ 0 w 1041847"/>
              <a:gd name="connsiteY0-26" fmla="*/ 0 h 269441"/>
              <a:gd name="connsiteX1-27" fmla="*/ 182425 w 1041847"/>
              <a:gd name="connsiteY1-28" fmla="*/ 269441 h 269441"/>
              <a:gd name="connsiteX2-29" fmla="*/ 1041847 w 1041847"/>
              <a:gd name="connsiteY2-30" fmla="*/ 103578 h 269441"/>
              <a:gd name="connsiteX3-31" fmla="*/ 0 w 1041847"/>
              <a:gd name="connsiteY3-32" fmla="*/ 0 h 269441"/>
            </a:gdLst>
            <a:ahLst/>
            <a:cxnLst>
              <a:cxn ang="0">
                <a:pos x="connsiteX0-1-1" y="connsiteY0-2-2"/>
              </a:cxn>
              <a:cxn ang="0">
                <a:pos x="connsiteX1-3-3" y="connsiteY1-4-4"/>
              </a:cxn>
              <a:cxn ang="0">
                <a:pos x="connsiteX2-5-5" y="connsiteY2-6-6"/>
              </a:cxn>
              <a:cxn ang="0">
                <a:pos x="connsiteX3-7-7" y="connsiteY3-8-8"/>
              </a:cxn>
            </a:cxnLst>
            <a:rect l="l" t="t" r="r" b="b"/>
            <a:pathLst>
              <a:path w="1041847" h="269441">
                <a:moveTo>
                  <a:pt x="0" y="0"/>
                </a:moveTo>
                <a:lnTo>
                  <a:pt x="182425" y="269441"/>
                </a:lnTo>
                <a:lnTo>
                  <a:pt x="1041847" y="103578"/>
                </a:lnTo>
                <a:lnTo>
                  <a:pt x="0" y="0"/>
                </a:lnTo>
                <a:close/>
              </a:path>
            </a:pathLst>
          </a:custGeom>
          <a:gradFill>
            <a:gsLst>
              <a:gs pos="0">
                <a:schemeClr val="accent3">
                  <a:lumMod val="89000"/>
                </a:schemeClr>
              </a:gs>
              <a:gs pos="22000">
                <a:schemeClr val="accent3">
                  <a:lumMod val="75000"/>
                </a:schemeClr>
              </a:gs>
              <a:gs pos="63000">
                <a:schemeClr val="bg2">
                  <a:lumMod val="2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8" name="任意多边形 5"/>
          <p:cNvSpPr/>
          <p:nvPr/>
        </p:nvSpPr>
        <p:spPr>
          <a:xfrm>
            <a:off x="9101921" y="4739894"/>
            <a:ext cx="1762818" cy="825844"/>
          </a:xfrm>
          <a:custGeom>
            <a:avLst/>
            <a:gdLst>
              <a:gd name="connsiteX0" fmla="*/ 0 w 1670050"/>
              <a:gd name="connsiteY0" fmla="*/ 666750 h 666750"/>
              <a:gd name="connsiteX1" fmla="*/ 139700 w 1670050"/>
              <a:gd name="connsiteY1" fmla="*/ 0 h 666750"/>
              <a:gd name="connsiteX2" fmla="*/ 1670050 w 1670050"/>
              <a:gd name="connsiteY2" fmla="*/ 12700 h 666750"/>
              <a:gd name="connsiteX3" fmla="*/ 0 w 1670050"/>
              <a:gd name="connsiteY3" fmla="*/ 666750 h 666750"/>
              <a:gd name="connsiteX0-1" fmla="*/ 0 w 1676400"/>
              <a:gd name="connsiteY0-2" fmla="*/ 666750 h 666750"/>
              <a:gd name="connsiteX1-3" fmla="*/ 139700 w 1676400"/>
              <a:gd name="connsiteY1-4" fmla="*/ 0 h 666750"/>
              <a:gd name="connsiteX2-5" fmla="*/ 1676400 w 1676400"/>
              <a:gd name="connsiteY2-6" fmla="*/ 38100 h 666750"/>
              <a:gd name="connsiteX3-7" fmla="*/ 0 w 1676400"/>
              <a:gd name="connsiteY3-8" fmla="*/ 666750 h 666750"/>
              <a:gd name="connsiteX0-9" fmla="*/ 0 w 1668780"/>
              <a:gd name="connsiteY0-10" fmla="*/ 666750 h 666750"/>
              <a:gd name="connsiteX1-11" fmla="*/ 139700 w 1668780"/>
              <a:gd name="connsiteY1-12" fmla="*/ 0 h 666750"/>
              <a:gd name="connsiteX2-13" fmla="*/ 1668780 w 1668780"/>
              <a:gd name="connsiteY2-14" fmla="*/ 22860 h 666750"/>
              <a:gd name="connsiteX3-15" fmla="*/ 0 w 1668780"/>
              <a:gd name="connsiteY3-16" fmla="*/ 666750 h 666750"/>
              <a:gd name="connsiteX0-1-1" fmla="*/ 0 w 1668780"/>
              <a:gd name="connsiteY0-2-2" fmla="*/ 666750 h 666750"/>
              <a:gd name="connsiteX1-3-3" fmla="*/ 139700 w 1668780"/>
              <a:gd name="connsiteY1-4-4" fmla="*/ 0 h 666750"/>
              <a:gd name="connsiteX2-5-5" fmla="*/ 1668780 w 1668780"/>
              <a:gd name="connsiteY2-6-6" fmla="*/ 83463 h 666750"/>
              <a:gd name="connsiteX3-7-7" fmla="*/ 0 w 1668780"/>
              <a:gd name="connsiteY3-8-8" fmla="*/ 666750 h 666750"/>
              <a:gd name="connsiteX0-9-9" fmla="*/ 0 w 1722808"/>
              <a:gd name="connsiteY0-10-10" fmla="*/ 681901 h 681901"/>
              <a:gd name="connsiteX1-11-11" fmla="*/ 193728 w 1722808"/>
              <a:gd name="connsiteY1-12-12" fmla="*/ 0 h 681901"/>
              <a:gd name="connsiteX2-13-13" fmla="*/ 1722808 w 1722808"/>
              <a:gd name="connsiteY2-14-14" fmla="*/ 83463 h 681901"/>
              <a:gd name="connsiteX3-15-15" fmla="*/ 0 w 1722808"/>
              <a:gd name="connsiteY3-16-16" fmla="*/ 681901 h 681901"/>
            </a:gdLst>
            <a:ahLst/>
            <a:cxnLst>
              <a:cxn ang="0">
                <a:pos x="connsiteX0-1-1" y="connsiteY0-2-2"/>
              </a:cxn>
              <a:cxn ang="0">
                <a:pos x="connsiteX1-3-3" y="connsiteY1-4-4"/>
              </a:cxn>
              <a:cxn ang="0">
                <a:pos x="connsiteX2-5-5" y="connsiteY2-6-6"/>
              </a:cxn>
              <a:cxn ang="0">
                <a:pos x="connsiteX3-7-7" y="connsiteY3-8-8"/>
              </a:cxn>
            </a:cxnLst>
            <a:rect l="l" t="t" r="r" b="b"/>
            <a:pathLst>
              <a:path w="1722808" h="681901">
                <a:moveTo>
                  <a:pt x="0" y="681901"/>
                </a:moveTo>
                <a:lnTo>
                  <a:pt x="193728" y="0"/>
                </a:lnTo>
                <a:lnTo>
                  <a:pt x="1722808" y="83463"/>
                </a:lnTo>
                <a:lnTo>
                  <a:pt x="0" y="681901"/>
                </a:lnTo>
                <a:close/>
              </a:path>
            </a:pathLst>
          </a:custGeom>
          <a:gradFill>
            <a:gsLst>
              <a:gs pos="23000">
                <a:schemeClr val="bg2">
                  <a:lumMod val="25000"/>
                </a:schemeClr>
              </a:gs>
              <a:gs pos="62000">
                <a:schemeClr val="accent3">
                  <a:lumMod val="43000"/>
                </a:schemeClr>
              </a:gs>
              <a:gs pos="100000">
                <a:schemeClr val="accent3">
                  <a:lumMod val="70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9" name="任意多边形 4"/>
          <p:cNvSpPr/>
          <p:nvPr/>
        </p:nvSpPr>
        <p:spPr>
          <a:xfrm>
            <a:off x="1411354"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1048610" name="任意多边形 2"/>
          <p:cNvSpPr/>
          <p:nvPr/>
        </p:nvSpPr>
        <p:spPr>
          <a:xfrm>
            <a:off x="184"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1048611" name="任意多边形 6"/>
          <p:cNvSpPr/>
          <p:nvPr/>
        </p:nvSpPr>
        <p:spPr>
          <a:xfrm>
            <a:off x="9073112"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pic>
        <p:nvPicPr>
          <p:cNvPr id="2097162" name="图片 7"/>
          <p:cNvPicPr>
            <a:picLocks noChangeAspect="1"/>
          </p:cNvPicPr>
          <p:nvPr/>
        </p:nvPicPr>
        <p:blipFill rotWithShape="1">
          <a:blip r:embed="rId1"/>
          <a:srcRect l="15806" t="13440" r="18511" b="11972"/>
          <a:stretch>
            <a:fillRect/>
          </a:stretch>
        </p:blipFill>
        <p:spPr>
          <a:xfrm>
            <a:off x="251950" y="2096308"/>
            <a:ext cx="2385019" cy="2154768"/>
          </a:xfrm>
          <a:prstGeom prst="rect">
            <a:avLst/>
          </a:prstGeom>
        </p:spPr>
      </p:pic>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3" name="文本框 2"/>
          <p:cNvSpPr txBox="1"/>
          <p:nvPr/>
        </p:nvSpPr>
        <p:spPr>
          <a:xfrm>
            <a:off x="2893060" y="2978785"/>
            <a:ext cx="937133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endPar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endPar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endPar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endPar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p:txBody>
      </p:sp>
      <p:sp>
        <p:nvSpPr>
          <p:cNvPr id="4" name="任意多边形 4"/>
          <p:cNvSpPr/>
          <p:nvPr/>
        </p:nvSpPr>
        <p:spPr>
          <a:xfrm>
            <a:off x="1411989"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5" name="任意多边形 2"/>
          <p:cNvSpPr/>
          <p:nvPr/>
        </p:nvSpPr>
        <p:spPr>
          <a:xfrm>
            <a:off x="819"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6" name="任意多边形 6"/>
          <p:cNvSpPr/>
          <p:nvPr/>
        </p:nvSpPr>
        <p:spPr>
          <a:xfrm>
            <a:off x="9073747"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7" name="文本框 6"/>
          <p:cNvSpPr txBox="1"/>
          <p:nvPr/>
        </p:nvSpPr>
        <p:spPr>
          <a:xfrm>
            <a:off x="3145790" y="2926080"/>
            <a:ext cx="780288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3: </a:t>
            </a:r>
            <a:endPar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Feature Engineering and Model Input Preparation</a:t>
            </a:r>
            <a:endPar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endPar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a:p>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a:t>
            </a:r>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Bofan Chen</a:t>
            </a:r>
            <a:endPar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endParaRPr>
          </a:p>
        </p:txBody>
      </p:sp>
      <p:pic>
        <p:nvPicPr>
          <p:cNvPr id="8" name="图片 7"/>
          <p:cNvPicPr>
            <a:picLocks noChangeAspect="1"/>
          </p:cNvPicPr>
          <p:nvPr/>
        </p:nvPicPr>
        <p:blipFill rotWithShape="1">
          <a:blip r:embed="rId1"/>
          <a:srcRect l="15806" t="13440" r="18511" b="11972"/>
          <a:stretch>
            <a:fillRect/>
          </a:stretch>
        </p:blipFill>
        <p:spPr>
          <a:xfrm>
            <a:off x="184005" y="2037253"/>
            <a:ext cx="2385019" cy="2154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8611"/>
                                        </p:tgtEl>
                                        <p:attrNameLst>
                                          <p:attrName>style.visibility</p:attrName>
                                        </p:attrNameLst>
                                      </p:cBhvr>
                                      <p:to>
                                        <p:strVal val="visible"/>
                                      </p:to>
                                    </p:set>
                                    <p:animEffect transition="in" filter="wipe(down)">
                                      <p:cBhvr>
                                        <p:cTn id="7" dur="500"/>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Goal: </a:t>
            </a:r>
            <a:r>
              <a:rPr lang="en-US" altLang="zh-CN" sz="20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Convert cleaned questionnaire data into model-ready inputs</a:t>
            </a: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a:t>
            </a:r>
            <a:endPar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cxnSp>
        <p:nvCxnSpPr>
          <p:cNvPr id="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20" name="AutoShape 4"/>
          <p:cNvSpPr/>
          <p:nvPr/>
        </p:nvSpPr>
        <p:spPr>
          <a:xfrm>
            <a:off x="498475" y="1627505"/>
            <a:ext cx="4826000" cy="4064000"/>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p>
            <a:pPr algn="ctr">
              <a:defRPr/>
            </a:pPr>
          </a:p>
        </p:txBody>
      </p:sp>
      <p:sp>
        <p:nvSpPr>
          <p:cNvPr id="21" name="AutoShape 5"/>
          <p:cNvSpPr/>
          <p:nvPr/>
        </p:nvSpPr>
        <p:spPr>
          <a:xfrm>
            <a:off x="581025" y="1754505"/>
            <a:ext cx="4666615" cy="34671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3B82F6"/>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rgbClr val="3B82F6"/>
                </a:solidFill>
                <a:latin typeface="Arial" panose="020B0604020202020204" pitchFamily="34" charset="0"/>
                <a:ea typeface="Noto Sans SC" panose="020B0200000000000000" charset="-122"/>
                <a:cs typeface="Arial" panose="020B0604020202020204" pitchFamily="34" charset="0"/>
              </a:rPr>
              <a:t>Main responsibilities:</a:t>
            </a:r>
            <a:endParaRPr lang="en-US" altLang="zh-CN" sz="1800" b="1">
              <a:solidFill>
                <a:srgbClr val="3B82F6"/>
              </a:solidFill>
              <a:latin typeface="Arial" panose="020B0604020202020204" pitchFamily="34" charset="0"/>
              <a:ea typeface="Noto Sans SC" panose="020B0200000000000000" charset="-122"/>
              <a:cs typeface="Arial" panose="020B0604020202020204" pitchFamily="34" charset="0"/>
            </a:endParaRPr>
          </a:p>
        </p:txBody>
      </p:sp>
      <p:cxnSp>
        <p:nvCxnSpPr>
          <p:cNvPr id="22" name="Connector 6"/>
          <p:cNvCxnSpPr/>
          <p:nvPr/>
        </p:nvCxnSpPr>
        <p:spPr>
          <a:xfrm rot="-9878">
            <a:off x="701684" y="223075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7"/>
          <p:cNvSpPr/>
          <p:nvPr/>
        </p:nvSpPr>
        <p:spPr>
          <a:xfrm>
            <a:off x="742950" y="2273935"/>
            <a:ext cx="4504690" cy="52895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Convert raw answers into numerical features</a:t>
            </a:r>
            <a:endPar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cxnSp>
        <p:nvCxnSpPr>
          <p:cNvPr id="24" name="Connector 8"/>
          <p:cNvCxnSpPr/>
          <p:nvPr>
            <p:custDataLst>
              <p:tags r:id="rId2"/>
            </p:custDataLst>
          </p:nvPr>
        </p:nvCxnSpPr>
        <p:spPr>
          <a:xfrm rot="-9878">
            <a:off x="701684" y="288290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6" name="AutoShape 7"/>
          <p:cNvSpPr/>
          <p:nvPr>
            <p:custDataLst>
              <p:tags r:id="rId3"/>
            </p:custDataLst>
          </p:nvPr>
        </p:nvSpPr>
        <p:spPr>
          <a:xfrm>
            <a:off x="742950" y="2975610"/>
            <a:ext cx="3862705" cy="52895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a:t>
            </a: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Prepare train / validation / test datasets</a:t>
            </a:r>
            <a:endPar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cxnSp>
        <p:nvCxnSpPr>
          <p:cNvPr id="27" name="Connector 8"/>
          <p:cNvCxnSpPr/>
          <p:nvPr>
            <p:custDataLst>
              <p:tags r:id="rId4"/>
            </p:custDataLst>
          </p:nvPr>
        </p:nvCxnSpPr>
        <p:spPr>
          <a:xfrm rot="-9878">
            <a:off x="701684" y="358457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8" name="AutoShape 7"/>
          <p:cNvSpPr/>
          <p:nvPr>
            <p:custDataLst>
              <p:tags r:id="rId5"/>
            </p:custDataLst>
          </p:nvPr>
        </p:nvSpPr>
        <p:spPr>
          <a:xfrm>
            <a:off x="742950" y="3677285"/>
            <a:ext cx="4060190" cy="52895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Encode North America age rating labels</a:t>
            </a:r>
            <a:endPar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cxnSp>
        <p:nvCxnSpPr>
          <p:cNvPr id="29" name="Connector 8"/>
          <p:cNvCxnSpPr/>
          <p:nvPr>
            <p:custDataLst>
              <p:tags r:id="rId6"/>
            </p:custDataLst>
          </p:nvPr>
        </p:nvCxnSpPr>
        <p:spPr>
          <a:xfrm rot="-9878">
            <a:off x="701684" y="4286250"/>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0" name="AutoShape 7"/>
          <p:cNvSpPr/>
          <p:nvPr>
            <p:custDataLst>
              <p:tags r:id="rId7"/>
            </p:custDataLst>
          </p:nvPr>
        </p:nvSpPr>
        <p:spPr>
          <a:xfrm>
            <a:off x="742950" y="4352290"/>
            <a:ext cx="3808730" cy="52895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Prevent target leakage from rating outputs</a:t>
            </a:r>
            <a:endPar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cxnSp>
        <p:nvCxnSpPr>
          <p:cNvPr id="31" name="Connector 8"/>
          <p:cNvCxnSpPr/>
          <p:nvPr>
            <p:custDataLst>
              <p:tags r:id="rId8"/>
            </p:custDataLst>
          </p:nvPr>
        </p:nvCxnSpPr>
        <p:spPr>
          <a:xfrm rot="-9878">
            <a:off x="701684" y="494220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2" name="AutoShape 7"/>
          <p:cNvSpPr/>
          <p:nvPr>
            <p:custDataLst>
              <p:tags r:id="rId9"/>
            </p:custDataLst>
          </p:nvPr>
        </p:nvSpPr>
        <p:spPr>
          <a:xfrm>
            <a:off x="742950" y="5008245"/>
            <a:ext cx="4297045" cy="528955"/>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rPr>
              <a:t>• Generate reusable metadata for model training</a:t>
            </a:r>
            <a:endParaRPr lang="en-US" altLang="zh-CN" sz="1400" b="1" i="0" u="none" strike="noStrike">
              <a:solidFill>
                <a:srgbClr val="1F2329"/>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pic>
        <p:nvPicPr>
          <p:cNvPr id="35" name="图片 34"/>
          <p:cNvPicPr/>
          <p:nvPr/>
        </p:nvPicPr>
        <p:blipFill>
          <a:blip r:embed="rId10"/>
          <a:stretch>
            <a:fillRect/>
          </a:stretch>
        </p:blipFill>
        <p:spPr>
          <a:xfrm>
            <a:off x="5721350" y="2508885"/>
            <a:ext cx="6363970" cy="2243455"/>
          </a:xfrm>
          <a:prstGeom prst="rect">
            <a:avLst/>
          </a:prstGeom>
        </p:spPr>
      </p:pic>
      <p:sp>
        <p:nvSpPr>
          <p:cNvPr id="1048643" name="矩形 15"/>
          <p:cNvSpPr/>
          <p:nvPr/>
        </p:nvSpPr>
        <p:spPr>
          <a:xfrm>
            <a:off x="5721350" y="2508250"/>
            <a:ext cx="6363970" cy="224472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a:p>
        </p:txBody>
      </p:sp>
      <p:grpSp>
        <p:nvGrpSpPr>
          <p:cNvPr id="57" name="组合 21"/>
          <p:cNvGrpSpPr/>
          <p:nvPr/>
        </p:nvGrpSpPr>
        <p:grpSpPr>
          <a:xfrm>
            <a:off x="6710045" y="2299335"/>
            <a:ext cx="4386580" cy="577328"/>
            <a:chOff x="11273425" y="5331881"/>
            <a:chExt cx="4684734" cy="804684"/>
          </a:xfrm>
        </p:grpSpPr>
        <p:sp>
          <p:nvSpPr>
            <p:cNvPr id="1048644" name="矩形 19"/>
            <p:cNvSpPr/>
            <p:nvPr/>
          </p:nvSpPr>
          <p:spPr>
            <a:xfrm>
              <a:off x="11273425" y="5331881"/>
              <a:ext cx="4684734" cy="666084"/>
            </a:xfrm>
            <a:prstGeom prst="rect">
              <a:avLst/>
            </a:prstGeom>
            <a:solidFill>
              <a:srgbClr val="0B4189"/>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dirty="0">
                <a:latin typeface="HYXuanSong 75J" panose="00020600040101010101" charset="-122"/>
                <a:ea typeface="HYXuanSong 75J" panose="00020600040101010101" charset="-122"/>
              </a:endParaRPr>
            </a:p>
          </p:txBody>
        </p:sp>
        <p:sp>
          <p:nvSpPr>
            <p:cNvPr id="1048645" name="文本框 20"/>
            <p:cNvSpPr txBox="1"/>
            <p:nvPr/>
          </p:nvSpPr>
          <p:spPr>
            <a:xfrm>
              <a:off x="11492630" y="5409040"/>
              <a:ext cx="4246323" cy="727525"/>
            </a:xfrm>
            <a:prstGeom prst="rect">
              <a:avLst/>
            </a:prstGeom>
            <a:noFill/>
          </p:spPr>
          <p:txBody>
            <a:bodyPr wrap="square" rtlCol="0">
              <a:spAutoFit/>
            </a:bodyPr>
            <a:p>
              <a:pPr algn="ctr"/>
              <a:r>
                <a:rPr lang="en-US" altLang="zh-CN" sz="1400" b="1" dirty="0">
                  <a:solidFill>
                    <a:schemeClr val="bg2"/>
                  </a:solidFill>
                  <a:latin typeface="HYXuanSong 75J" panose="00020600040101010101" charset="-122"/>
                  <a:ea typeface="HYXuanSong 75J" panose="00020600040101010101" charset="-122"/>
                </a:rPr>
                <a:t>Connects the cleaned dataset with training</a:t>
              </a:r>
              <a:endParaRPr lang="en-US" altLang="zh-CN" sz="1400" b="1" dirty="0">
                <a:solidFill>
                  <a:schemeClr val="bg2"/>
                </a:solidFill>
                <a:latin typeface="HYXuanSong 75J" panose="00020600040101010101" charset="-122"/>
                <a:ea typeface="HYXuanSong 75J" panose="00020600040101010101" charset="-122"/>
              </a:endParaRPr>
            </a:p>
            <a:p>
              <a:pPr algn="ctr"/>
              <a:endParaRPr lang="en-US" altLang="zh-CN" sz="1400" b="1" dirty="0">
                <a:solidFill>
                  <a:schemeClr val="bg2"/>
                </a:solidFill>
                <a:latin typeface="HYXuanSong 75J" panose="00020600040101010101" charset="-122"/>
                <a:ea typeface="HYXuanSong 75J" panose="0002060004010101010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1"/>
          <a:stretch>
            <a:fillRect/>
          </a:stretch>
        </p:blipFill>
        <p:spPr>
          <a:xfrm>
            <a:off x="6710045" y="2101215"/>
            <a:ext cx="4542155" cy="3103245"/>
          </a:xfrm>
          <a:prstGeom prst="rect">
            <a:avLst/>
          </a:prstGeom>
        </p:spPr>
      </p:pic>
      <p:sp>
        <p:nvSpPr>
          <p:cNvPr id="2" name="AutoShape 2"/>
          <p:cNvSpPr/>
          <p:nvPr/>
        </p:nvSpPr>
        <p:spPr>
          <a:xfrm>
            <a:off x="647065" y="381000"/>
            <a:ext cx="44405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Input and Output</a:t>
            </a:r>
            <a:endPar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cxnSp>
        <p:nvCxnSpPr>
          <p:cNvPr id="3"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20" name="AutoShape 4"/>
          <p:cNvSpPr/>
          <p:nvPr/>
        </p:nvSpPr>
        <p:spPr>
          <a:xfrm>
            <a:off x="749300" y="1627505"/>
            <a:ext cx="4913630" cy="4361815"/>
          </a:xfrm>
          <a:prstGeom prst="roundRect">
            <a:avLst>
              <a:gd name="adj" fmla="val 0"/>
            </a:avLst>
          </a:prstGeom>
          <a:solidFill>
            <a:srgbClr val="FFFFFF">
              <a:alpha val="100000"/>
            </a:srgbClr>
          </a:solidFill>
          <a:ln w="38100" cap="flat" cmpd="sng">
            <a:solidFill>
              <a:schemeClr val="tx1">
                <a:lumMod val="50000"/>
                <a:lumOff val="50000"/>
                <a:alpha val="100000"/>
              </a:schemeClr>
            </a:solidFill>
            <a:prstDash val="solid"/>
            <a:round/>
          </a:ln>
        </p:spPr>
        <p:txBody>
          <a:bodyPr vert="horz" wrap="square" lIns="63500" tIns="63500" rIns="63500" bIns="63500" rtlCol="0" anchor="ctr"/>
          <a:p>
            <a:pPr algn="ctr">
              <a:defRPr/>
            </a:pPr>
          </a:p>
        </p:txBody>
      </p:sp>
      <p:sp>
        <p:nvSpPr>
          <p:cNvPr id="21" name="AutoShape 5"/>
          <p:cNvSpPr/>
          <p:nvPr/>
        </p:nvSpPr>
        <p:spPr>
          <a:xfrm>
            <a:off x="831850" y="1754505"/>
            <a:ext cx="4666615" cy="34671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chemeClr val="tx1">
                    <a:lumMod val="65000"/>
                    <a:lumOff val="35000"/>
                  </a:schemeClr>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chemeClr val="tx1">
                    <a:lumMod val="65000"/>
                    <a:lumOff val="35000"/>
                  </a:schemeClr>
                </a:solidFill>
                <a:latin typeface="Arial" panose="020B0604020202020204" pitchFamily="34" charset="0"/>
                <a:ea typeface="Noto Sans SC" panose="020B0200000000000000" charset="-122"/>
                <a:cs typeface="Arial" panose="020B0604020202020204" pitchFamily="34" charset="0"/>
              </a:rPr>
              <a:t>Input from Task 3:</a:t>
            </a:r>
            <a:endParaRPr lang="en-US" altLang="zh-CN" sz="1800" b="1">
              <a:solidFill>
                <a:schemeClr val="tx1">
                  <a:lumMod val="65000"/>
                  <a:lumOff val="35000"/>
                </a:schemeClr>
              </a:solidFill>
              <a:latin typeface="Arial" panose="020B0604020202020204" pitchFamily="34" charset="0"/>
              <a:ea typeface="Noto Sans SC" panose="020B0200000000000000" charset="-122"/>
              <a:cs typeface="Arial" panose="020B0604020202020204" pitchFamily="34" charset="0"/>
            </a:endParaRPr>
          </a:p>
        </p:txBody>
      </p:sp>
      <p:sp>
        <p:nvSpPr>
          <p:cNvPr id="23" name="AutoShape 7"/>
          <p:cNvSpPr/>
          <p:nvPr>
            <p:custDataLst>
              <p:tags r:id="rId3"/>
            </p:custDataLst>
          </p:nvPr>
        </p:nvSpPr>
        <p:spPr>
          <a:xfrm>
            <a:off x="1135380" y="2101215"/>
            <a:ext cx="2295525" cy="107188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train.csv</a:t>
            </a:r>
            <a:endPar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test.csv</a:t>
            </a:r>
            <a:endPar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column_groups.json</a:t>
            </a:r>
            <a:endPar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rPr>
              <a:t>• data_dictionary.csv</a:t>
            </a:r>
            <a:endParaRPr lang="en-US" altLang="zh-CN" sz="1400" b="1" i="0" u="none" strike="noStrike">
              <a:solidFill>
                <a:schemeClr val="tx1">
                  <a:lumMod val="65000"/>
                  <a:lumOff val="35000"/>
                </a:schemeClr>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cxnSp>
        <p:nvCxnSpPr>
          <p:cNvPr id="24" name="Connector 8"/>
          <p:cNvCxnSpPr/>
          <p:nvPr>
            <p:custDataLst>
              <p:tags r:id="rId4"/>
            </p:custDataLst>
          </p:nvPr>
        </p:nvCxnSpPr>
        <p:spPr>
          <a:xfrm rot="-9878">
            <a:off x="1000134" y="3535045"/>
            <a:ext cx="44196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6" name="AutoShape 7"/>
          <p:cNvSpPr/>
          <p:nvPr>
            <p:custDataLst>
              <p:tags r:id="rId5"/>
            </p:custDataLst>
          </p:nvPr>
        </p:nvSpPr>
        <p:spPr>
          <a:xfrm>
            <a:off x="1135380" y="4069715"/>
            <a:ext cx="2389505" cy="1738630"/>
          </a:xfrm>
          <a:prstGeom prst="rect">
            <a:avLst/>
          </a:prstGeom>
          <a:noFill/>
          <a:ln w="12700" cap="flat" cmpd="sng">
            <a:noFill/>
            <a:prstDash val="solid"/>
            <a:round/>
          </a:ln>
        </p:spPr>
        <p:txBody>
          <a:bodyPr vert="horz" wrap="square" lIns="0" tIns="0" rIns="0" bIns="0" rtlCol="0" anchor="ctr" anchorCtr="0"/>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CSV feature matrices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Sparse NPZ matrices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Encoded labels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Feature dictionary</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Label mapping</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Class weights</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a:p>
            <a:pPr marL="0" indent="0" algn="l">
              <a:lnSpc>
                <a:spcPct val="108000"/>
              </a:lnSpc>
              <a:defRPr/>
            </a:pPr>
            <a:r>
              <a:rPr lang="en-US" altLang="zh-CN" sz="1400" b="1">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rPr>
              <a:t>• Engineering report</a:t>
            </a:r>
            <a:endParaRPr lang="en-US" altLang="zh-CN" sz="1400" b="1" i="0" u="none" strike="noStrike">
              <a:solidFill>
                <a:srgbClr val="00B050"/>
              </a:solidFill>
              <a:latin typeface="Segoe UI" panose="020B0502040204020203" charset="0"/>
              <a:ea typeface="Noto Sans SC" panose="020B0200000000000000" charset="-122"/>
              <a:cs typeface="Segoe UI" panose="020B0502040204020203" charset="0"/>
              <a:sym typeface="Noto Sans SC" panose="020B0200000000000000" charset="-122"/>
            </a:endParaRPr>
          </a:p>
        </p:txBody>
      </p:sp>
      <p:sp>
        <p:nvSpPr>
          <p:cNvPr id="1048643" name="矩形 15"/>
          <p:cNvSpPr/>
          <p:nvPr/>
        </p:nvSpPr>
        <p:spPr>
          <a:xfrm>
            <a:off x="6710045" y="2100580"/>
            <a:ext cx="4543425" cy="310451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a:p>
        </p:txBody>
      </p:sp>
      <p:sp>
        <p:nvSpPr>
          <p:cNvPr id="5" name="AutoShape 5"/>
          <p:cNvSpPr/>
          <p:nvPr/>
        </p:nvSpPr>
        <p:spPr>
          <a:xfrm>
            <a:off x="831850" y="3638550"/>
            <a:ext cx="4666615" cy="346710"/>
          </a:xfrm>
          <a:prstGeom prst="rect">
            <a:avLst/>
          </a:prstGeom>
          <a:noFill/>
          <a:ln w="12700" cap="flat" cmpd="sng">
            <a:noFill/>
            <a:prstDash val="solid"/>
            <a:round/>
          </a:ln>
        </p:spPr>
        <p:txBody>
          <a:bodyPr vert="horz" wrap="square" lIns="0" tIns="0" rIns="0" bIns="0" rtlCol="0" anchor="ctr" anchorCtr="0"/>
          <a:p>
            <a:pPr marL="0" indent="0" algn="l">
              <a:lnSpc>
                <a:spcPct val="125000"/>
              </a:lnSpc>
              <a:defRPr/>
            </a:pPr>
            <a:r>
              <a:rPr lang="en-US" sz="1800" b="1" i="0" u="none" strike="noStrike">
                <a:solidFill>
                  <a:srgbClr val="00B050"/>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800" b="1">
                <a:solidFill>
                  <a:srgbClr val="00B050"/>
                </a:solidFill>
                <a:latin typeface="Arial" panose="020B0604020202020204" pitchFamily="34" charset="0"/>
                <a:ea typeface="Noto Sans SC" panose="020B0200000000000000" charset="-122"/>
                <a:cs typeface="Arial" panose="020B0604020202020204" pitchFamily="34" charset="0"/>
              </a:rPr>
              <a:t>Output for Task 5:</a:t>
            </a:r>
            <a:endParaRPr lang="en-US" altLang="zh-CN" sz="1800" b="1">
              <a:solidFill>
                <a:srgbClr val="00B050"/>
              </a:solidFill>
              <a:latin typeface="Arial" panose="020B0604020202020204" pitchFamily="34" charset="0"/>
              <a:ea typeface="Noto Sans SC" panose="020B0200000000000000"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065" y="381000"/>
            <a:ext cx="44405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Target and Leakage Control</a:t>
            </a:r>
            <a:endPar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cxnSp>
        <p:nvCxnSpPr>
          <p:cNvPr id="3145740" name="直接连接符 35"/>
          <p:cNvCxnSpPr/>
          <p:nvPr>
            <p:custDataLst>
              <p:tags r:id="rId2"/>
            </p:custDataLst>
          </p:nvPr>
        </p:nvCxnSpPr>
        <p:spPr>
          <a:xfrm flipV="1">
            <a:off x="2474993" y="3603209"/>
            <a:ext cx="2537529" cy="1761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45741" name="直接连接符 40"/>
          <p:cNvCxnSpPr/>
          <p:nvPr>
            <p:custDataLst>
              <p:tags r:id="rId3"/>
            </p:custDataLst>
          </p:nvPr>
        </p:nvCxnSpPr>
        <p:spPr>
          <a:xfrm flipV="1">
            <a:off x="6809957" y="3620899"/>
            <a:ext cx="3075929" cy="11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45742" name="直接连接符 42"/>
          <p:cNvCxnSpPr/>
          <p:nvPr>
            <p:custDataLst>
              <p:tags r:id="rId4"/>
            </p:custDataLst>
          </p:nvPr>
        </p:nvCxnSpPr>
        <p:spPr>
          <a:xfrm>
            <a:off x="5946183" y="908182"/>
            <a:ext cx="1" cy="2138531"/>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45743" name="直接连接符 44"/>
          <p:cNvCxnSpPr/>
          <p:nvPr>
            <p:custDataLst>
              <p:tags r:id="rId5"/>
            </p:custDataLst>
          </p:nvPr>
        </p:nvCxnSpPr>
        <p:spPr>
          <a:xfrm>
            <a:off x="5953894" y="4248226"/>
            <a:ext cx="1" cy="1946611"/>
          </a:xfrm>
          <a:prstGeom prst="line">
            <a:avLst/>
          </a:prstGeom>
          <a:ln w="1905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48670" name="矩形 55"/>
          <p:cNvSpPr/>
          <p:nvPr/>
        </p:nvSpPr>
        <p:spPr>
          <a:xfrm>
            <a:off x="8507186" y="1409936"/>
            <a:ext cx="3539699" cy="1645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45"/>
          </a:p>
        </p:txBody>
      </p:sp>
      <p:sp>
        <p:nvSpPr>
          <p:cNvPr id="1048671" name="文本框 56"/>
          <p:cNvSpPr txBox="1"/>
          <p:nvPr>
            <p:custDataLst>
              <p:tags r:id="rId6"/>
            </p:custDataLst>
          </p:nvPr>
        </p:nvSpPr>
        <p:spPr>
          <a:xfrm>
            <a:off x="8676005" y="2048510"/>
            <a:ext cx="3518535" cy="1447165"/>
          </a:xfrm>
          <a:prstGeom prst="rect">
            <a:avLst/>
          </a:prstGeom>
          <a:noFill/>
        </p:spPr>
        <p:txBody>
          <a:bodyPr wrap="square" rtlCol="0">
            <a:spAutoFit/>
          </a:bodyPr>
          <a:lstStyle/>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category</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answer__* </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questionnaire fields</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endParaRPr lang="zh-CN" altLang="en-US" sz="1245" b="1" dirty="0">
              <a:solidFill>
                <a:schemeClr val="tx1">
                  <a:lumMod val="65000"/>
                  <a:lumOff val="35000"/>
                </a:schemeClr>
              </a:solidFill>
              <a:latin typeface="宋体" panose="02010600030101010101" pitchFamily="2" charset="-122"/>
              <a:ea typeface="宋体" panose="02010600030101010101" pitchFamily="2" charset="-122"/>
            </a:endParaRPr>
          </a:p>
        </p:txBody>
      </p:sp>
      <p:sp>
        <p:nvSpPr>
          <p:cNvPr id="1048672" name="文本框 57"/>
          <p:cNvSpPr txBox="1"/>
          <p:nvPr>
            <p:custDataLst>
              <p:tags r:id="rId7"/>
            </p:custDataLst>
          </p:nvPr>
        </p:nvSpPr>
        <p:spPr>
          <a:xfrm>
            <a:off x="8340725" y="4147820"/>
            <a:ext cx="3612515" cy="1691005"/>
          </a:xfrm>
          <a:prstGeom prst="rect">
            <a:avLst/>
          </a:prstGeom>
          <a:noFill/>
        </p:spPr>
        <p:txBody>
          <a:bodyPr wrap="square" rtlCol="0">
            <a:spAutoFit/>
          </a:bodyPr>
          <a:lstStyle/>
          <a:p>
            <a:pPr lvl="0" algn="l">
              <a:lnSpc>
                <a:spcPct val="130000"/>
              </a:lnSpc>
              <a:buClrTx/>
              <a:buSzTx/>
              <a:buFontTx/>
            </a:pP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All regional rating fields are outputs of the same questionnaire. </a:t>
            </a:r>
            <a:endPar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pPr lvl="0" algn="l">
              <a:lnSpc>
                <a:spcPct val="130000"/>
              </a:lnSpc>
              <a:buClrTx/>
              <a:buSzTx/>
              <a:buFontTx/>
            </a:pP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Using them as input features would leak the answer into the model.</a:t>
            </a:r>
            <a:endParaRPr lang="zh-CN" altLang="en-US" sz="160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p:txBody>
      </p:sp>
      <p:sp>
        <p:nvSpPr>
          <p:cNvPr id="1048673" name="文本框 58"/>
          <p:cNvSpPr txBox="1"/>
          <p:nvPr>
            <p:custDataLst>
              <p:tags r:id="rId8"/>
            </p:custDataLst>
          </p:nvPr>
        </p:nvSpPr>
        <p:spPr>
          <a:xfrm>
            <a:off x="66991" y="2054443"/>
            <a:ext cx="3318202" cy="478790"/>
          </a:xfrm>
          <a:prstGeom prst="rect">
            <a:avLst/>
          </a:prstGeom>
          <a:noFill/>
        </p:spPr>
        <p:txBody>
          <a:bodyPr wrap="square" rtlCol="0">
            <a:spAutoFit/>
          </a:bodyPr>
          <a:lstStyle/>
          <a:p>
            <a:pPr lvl="0" algn="r">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rating__north_america</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p:txBody>
      </p:sp>
      <p:sp>
        <p:nvSpPr>
          <p:cNvPr id="1048674" name="文本框 59"/>
          <p:cNvSpPr txBox="1"/>
          <p:nvPr>
            <p:custDataLst>
              <p:tags r:id="rId9"/>
            </p:custDataLst>
          </p:nvPr>
        </p:nvSpPr>
        <p:spPr>
          <a:xfrm>
            <a:off x="435793" y="4500470"/>
            <a:ext cx="3130729" cy="1254760"/>
          </a:xfrm>
          <a:prstGeom prst="rect">
            <a:avLst/>
          </a:prstGeom>
          <a:noFill/>
        </p:spPr>
        <p:txBody>
          <a:bodyPr wrap="square" rtlCol="0">
            <a:spAutoFit/>
          </a:bodyPr>
          <a:lstStyle/>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sample_id</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split</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a:p>
            <a:pPr lvl="0" algn="l">
              <a:lnSpc>
                <a:spcPct val="130000"/>
              </a:lnSpc>
              <a:buClrTx/>
              <a:buSzTx/>
              <a:buFontTx/>
            </a:pPr>
            <a:r>
              <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rPr>
              <a:t>• all rating__* columns</a:t>
            </a:r>
            <a:endParaRPr lang="zh-CN" altLang="en-US" sz="1940" b="1" kern="0" dirty="0">
              <a:solidFill>
                <a:schemeClr val="tx1">
                  <a:lumMod val="65000"/>
                  <a:lumOff val="35000"/>
                </a:schemeClr>
              </a:solidFill>
              <a:latin typeface="宋体" panose="02010600030101010101" pitchFamily="2" charset="-122"/>
              <a:ea typeface="宋体" panose="02010600030101010101" pitchFamily="2" charset="-122"/>
              <a:cs typeface="Arial" panose="020B0604020202020204" pitchFamily="34" charset="0"/>
            </a:endParaRPr>
          </a:p>
        </p:txBody>
      </p:sp>
      <p:grpSp>
        <p:nvGrpSpPr>
          <p:cNvPr id="68" name="组合 7"/>
          <p:cNvGrpSpPr/>
          <p:nvPr>
            <p:custDataLst>
              <p:tags r:id="rId10"/>
            </p:custDataLst>
          </p:nvPr>
        </p:nvGrpSpPr>
        <p:grpSpPr>
          <a:xfrm>
            <a:off x="3572630" y="1383310"/>
            <a:ext cx="2097381" cy="2097381"/>
            <a:chOff x="5160201" y="1998115"/>
            <a:chExt cx="3024742" cy="3024742"/>
          </a:xfrm>
        </p:grpSpPr>
        <p:grpSp>
          <p:nvGrpSpPr>
            <p:cNvPr id="69" name="Group 11"/>
            <p:cNvGrpSpPr/>
            <p:nvPr/>
          </p:nvGrpSpPr>
          <p:grpSpPr bwMode="auto">
            <a:xfrm>
              <a:off x="5160201" y="1998115"/>
              <a:ext cx="3024742" cy="3024742"/>
              <a:chOff x="0" y="0"/>
              <a:chExt cx="1232" cy="1232"/>
            </a:xfrm>
          </p:grpSpPr>
          <p:sp>
            <p:nvSpPr>
              <p:cNvPr id="1048675" name="Freeform 4"/>
              <p:cNvSpPr>
                <a:spLocks noEditPoints="1" noChangeArrowheads="1"/>
              </p:cNvSpPr>
              <p:nvPr>
                <p:custDataLst>
                  <p:tags r:id="rId11"/>
                </p:custDataLst>
              </p:nvPr>
            </p:nvSpPr>
            <p:spPr bwMode="auto">
              <a:xfrm>
                <a:off x="288" y="288"/>
                <a:ext cx="656" cy="656"/>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rgbClr val="404040">
                  <a:alpha val="31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76" name="Freeform 5"/>
              <p:cNvSpPr>
                <a:spLocks noEditPoints="1" noChangeArrowheads="1"/>
              </p:cNvSpPr>
              <p:nvPr>
                <p:custDataLst>
                  <p:tags r:id="rId12"/>
                </p:custDataLst>
              </p:nvPr>
            </p:nvSpPr>
            <p:spPr bwMode="auto">
              <a:xfrm>
                <a:off x="144" y="144"/>
                <a:ext cx="944" cy="944"/>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rgbClr val="404040">
                  <a:alpha val="20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77" name="Freeform 6"/>
              <p:cNvSpPr>
                <a:spLocks noEditPoints="1" noChangeArrowheads="1"/>
              </p:cNvSpPr>
              <p:nvPr>
                <p:custDataLst>
                  <p:tags r:id="rId13"/>
                </p:custDataLst>
              </p:nvPr>
            </p:nvSpPr>
            <p:spPr bwMode="auto">
              <a:xfrm>
                <a:off x="0" y="0"/>
                <a:ext cx="1232" cy="123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rgbClr val="404040">
                  <a:alpha val="9000"/>
                </a:srgb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sp>
          <p:nvSpPr>
            <p:cNvPr id="1048678" name="矩形 2"/>
            <p:cNvSpPr/>
            <p:nvPr>
              <p:custDataLst>
                <p:tags r:id="rId14"/>
              </p:custDataLst>
            </p:nvPr>
          </p:nvSpPr>
          <p:spPr>
            <a:xfrm>
              <a:off x="5260292" y="2908926"/>
              <a:ext cx="2792172" cy="1235369"/>
            </a:xfrm>
            <a:prstGeom prst="rect">
              <a:avLst/>
            </a:prstGeom>
          </p:spPr>
          <p:txBody>
            <a:bodyPr wrap="non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Prediction </a:t>
              </a:r>
              <a:endParaRPr lang="en-US" altLang="zh-CN" sz="2490" b="1" dirty="0">
                <a:solidFill>
                  <a:srgbClr val="4472C4">
                    <a:lumMod val="75000"/>
                  </a:srgbClr>
                </a:solidFill>
                <a:latin typeface="宋体" panose="02010600030101010101" pitchFamily="2" charset="-122"/>
                <a:ea typeface="宋体" panose="02010600030101010101" pitchFamily="2" charset="-122"/>
              </a:endParaRPr>
            </a:p>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target</a:t>
              </a:r>
              <a:endParaRPr lang="en-US" altLang="zh-CN" sz="2490" b="1" dirty="0">
                <a:solidFill>
                  <a:srgbClr val="4472C4">
                    <a:lumMod val="75000"/>
                  </a:srgbClr>
                </a:solidFill>
                <a:latin typeface="宋体" panose="02010600030101010101" pitchFamily="2" charset="-122"/>
                <a:ea typeface="宋体" panose="02010600030101010101" pitchFamily="2" charset="-122"/>
              </a:endParaRPr>
            </a:p>
          </p:txBody>
        </p:sp>
      </p:grpSp>
      <p:grpSp>
        <p:nvGrpSpPr>
          <p:cNvPr id="70" name="组合 18"/>
          <p:cNvGrpSpPr/>
          <p:nvPr>
            <p:custDataLst>
              <p:tags r:id="rId15"/>
            </p:custDataLst>
          </p:nvPr>
        </p:nvGrpSpPr>
        <p:grpSpPr>
          <a:xfrm>
            <a:off x="3563352" y="3862188"/>
            <a:ext cx="2097381" cy="2097381"/>
            <a:chOff x="5146800" y="5578716"/>
            <a:chExt cx="3024742" cy="3024742"/>
          </a:xfrm>
        </p:grpSpPr>
        <p:sp>
          <p:nvSpPr>
            <p:cNvPr id="1048679" name="矩形 4"/>
            <p:cNvSpPr/>
            <p:nvPr>
              <p:custDataLst>
                <p:tags r:id="rId16"/>
              </p:custDataLst>
            </p:nvPr>
          </p:nvSpPr>
          <p:spPr>
            <a:xfrm>
              <a:off x="5573044" y="6500715"/>
              <a:ext cx="2135429" cy="1235369"/>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Excluded columns</a:t>
              </a:r>
              <a:endParaRPr lang="en-US" altLang="zh-CN" sz="2490" b="1" dirty="0">
                <a:solidFill>
                  <a:srgbClr val="4472C4">
                    <a:lumMod val="75000"/>
                  </a:srgbClr>
                </a:solidFill>
                <a:latin typeface="宋体" panose="02010600030101010101" pitchFamily="2" charset="-122"/>
                <a:ea typeface="宋体" panose="02010600030101010101" pitchFamily="2" charset="-122"/>
              </a:endParaRPr>
            </a:p>
          </p:txBody>
        </p:sp>
        <p:sp>
          <p:nvSpPr>
            <p:cNvPr id="1048680" name="Freeform 4"/>
            <p:cNvSpPr>
              <a:spLocks noEditPoints="1" noChangeArrowheads="1"/>
            </p:cNvSpPr>
            <p:nvPr>
              <p:custDataLst>
                <p:tags r:id="rId17"/>
              </p:custDataLst>
            </p:nvPr>
          </p:nvSpPr>
          <p:spPr bwMode="auto">
            <a:xfrm>
              <a:off x="5853883" y="6285799"/>
              <a:ext cx="1610576" cy="1610576"/>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accent1">
                <a:lumMod val="7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1" name="Freeform 5"/>
            <p:cNvSpPr>
              <a:spLocks noEditPoints="1" noChangeArrowheads="1"/>
            </p:cNvSpPr>
            <p:nvPr>
              <p:custDataLst>
                <p:tags r:id="rId18"/>
              </p:custDataLst>
            </p:nvPr>
          </p:nvSpPr>
          <p:spPr bwMode="auto">
            <a:xfrm>
              <a:off x="5500341" y="5932257"/>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accent1">
                <a:lumMod val="7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2" name="Freeform 6"/>
            <p:cNvSpPr>
              <a:spLocks noEditPoints="1" noChangeArrowheads="1"/>
            </p:cNvSpPr>
            <p:nvPr>
              <p:custDataLst>
                <p:tags r:id="rId19"/>
              </p:custDataLst>
            </p:nvPr>
          </p:nvSpPr>
          <p:spPr bwMode="auto">
            <a:xfrm>
              <a:off x="5146800" y="5578716"/>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accent1">
                <a:lumMod val="7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grpSp>
        <p:nvGrpSpPr>
          <p:cNvPr id="71" name="组合 16"/>
          <p:cNvGrpSpPr/>
          <p:nvPr>
            <p:custDataLst>
              <p:tags r:id="rId20"/>
            </p:custDataLst>
          </p:nvPr>
        </p:nvGrpSpPr>
        <p:grpSpPr>
          <a:xfrm>
            <a:off x="6048123" y="1380342"/>
            <a:ext cx="2597150" cy="2097381"/>
            <a:chOff x="8736433" y="1993827"/>
            <a:chExt cx="3745485" cy="3024742"/>
          </a:xfrm>
        </p:grpSpPr>
        <p:sp>
          <p:nvSpPr>
            <p:cNvPr id="1048683" name="矩形 81"/>
            <p:cNvSpPr/>
            <p:nvPr>
              <p:custDataLst>
                <p:tags r:id="rId21"/>
              </p:custDataLst>
            </p:nvPr>
          </p:nvSpPr>
          <p:spPr>
            <a:xfrm>
              <a:off x="8736433" y="2915088"/>
              <a:ext cx="3745485" cy="1787576"/>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Allowed model inputs</a:t>
              </a:r>
              <a:endParaRPr lang="en-US" altLang="zh-CN" sz="2490" b="1" dirty="0">
                <a:solidFill>
                  <a:srgbClr val="4472C4">
                    <a:lumMod val="75000"/>
                  </a:srgbClr>
                </a:solidFill>
                <a:latin typeface="宋体" panose="02010600030101010101" pitchFamily="2" charset="-122"/>
                <a:ea typeface="宋体" panose="02010600030101010101" pitchFamily="2" charset="-122"/>
              </a:endParaRPr>
            </a:p>
            <a:p>
              <a:pPr lvl="0" algn="ctr"/>
              <a:endParaRPr lang="en-US" altLang="zh-CN" sz="2490" b="1" dirty="0">
                <a:solidFill>
                  <a:srgbClr val="4472C4">
                    <a:lumMod val="75000"/>
                  </a:srgbClr>
                </a:solidFill>
                <a:latin typeface="宋体" panose="02010600030101010101" pitchFamily="2" charset="-122"/>
                <a:ea typeface="宋体" panose="02010600030101010101" pitchFamily="2" charset="-122"/>
              </a:endParaRPr>
            </a:p>
          </p:txBody>
        </p:sp>
        <p:sp>
          <p:nvSpPr>
            <p:cNvPr id="1048684" name="Freeform 4"/>
            <p:cNvSpPr>
              <a:spLocks noEditPoints="1" noChangeArrowheads="1"/>
            </p:cNvSpPr>
            <p:nvPr>
              <p:custDataLst>
                <p:tags r:id="rId22"/>
              </p:custDataLst>
            </p:nvPr>
          </p:nvSpPr>
          <p:spPr bwMode="auto">
            <a:xfrm>
              <a:off x="9770445" y="2700910"/>
              <a:ext cx="1610577" cy="1610577"/>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accent1">
                <a:lumMod val="7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5" name="Freeform 5"/>
            <p:cNvSpPr>
              <a:spLocks noEditPoints="1" noChangeArrowheads="1"/>
            </p:cNvSpPr>
            <p:nvPr>
              <p:custDataLst>
                <p:tags r:id="rId23"/>
              </p:custDataLst>
            </p:nvPr>
          </p:nvSpPr>
          <p:spPr bwMode="auto">
            <a:xfrm>
              <a:off x="9416903" y="2347368"/>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accent1">
                <a:lumMod val="7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6" name="Freeform 6"/>
            <p:cNvSpPr>
              <a:spLocks noEditPoints="1" noChangeArrowheads="1"/>
            </p:cNvSpPr>
            <p:nvPr>
              <p:custDataLst>
                <p:tags r:id="rId24"/>
              </p:custDataLst>
            </p:nvPr>
          </p:nvSpPr>
          <p:spPr bwMode="auto">
            <a:xfrm>
              <a:off x="9045046" y="1993827"/>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accent1">
                <a:lumMod val="7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grpSp>
        <p:nvGrpSpPr>
          <p:cNvPr id="72" name="组合 17"/>
          <p:cNvGrpSpPr/>
          <p:nvPr>
            <p:custDataLst>
              <p:tags r:id="rId25"/>
            </p:custDataLst>
          </p:nvPr>
        </p:nvGrpSpPr>
        <p:grpSpPr>
          <a:xfrm>
            <a:off x="6297545" y="3902680"/>
            <a:ext cx="2097381" cy="2097381"/>
            <a:chOff x="9096190" y="5637205"/>
            <a:chExt cx="3024742" cy="3024742"/>
          </a:xfrm>
        </p:grpSpPr>
        <p:sp>
          <p:nvSpPr>
            <p:cNvPr id="1048687" name="矩形 99"/>
            <p:cNvSpPr/>
            <p:nvPr>
              <p:custDataLst>
                <p:tags r:id="rId26"/>
              </p:custDataLst>
            </p:nvPr>
          </p:nvSpPr>
          <p:spPr>
            <a:xfrm>
              <a:off x="9547251" y="6655220"/>
              <a:ext cx="2122050" cy="683162"/>
            </a:xfrm>
            <a:prstGeom prst="rect">
              <a:avLst/>
            </a:prstGeom>
          </p:spPr>
          <p:txBody>
            <a:bodyPr wrap="square">
              <a:spAutoFit/>
            </a:bodyPr>
            <a:lstStyle/>
            <a:p>
              <a:pPr lvl="0" algn="ctr"/>
              <a:r>
                <a:rPr lang="en-US" altLang="zh-CN" sz="2490" b="1" dirty="0">
                  <a:solidFill>
                    <a:srgbClr val="4472C4">
                      <a:lumMod val="75000"/>
                    </a:srgbClr>
                  </a:solidFill>
                  <a:latin typeface="宋体" panose="02010600030101010101" pitchFamily="2" charset="-122"/>
                  <a:ea typeface="宋体" panose="02010600030101010101" pitchFamily="2" charset="-122"/>
                </a:rPr>
                <a:t>Reason</a:t>
              </a:r>
              <a:endParaRPr lang="en-US" altLang="zh-CN" sz="2490" b="1" dirty="0">
                <a:solidFill>
                  <a:srgbClr val="4472C4">
                    <a:lumMod val="75000"/>
                  </a:srgbClr>
                </a:solidFill>
                <a:latin typeface="宋体" panose="02010600030101010101" pitchFamily="2" charset="-122"/>
                <a:ea typeface="宋体" panose="02010600030101010101" pitchFamily="2" charset="-122"/>
              </a:endParaRPr>
            </a:p>
          </p:txBody>
        </p:sp>
        <p:sp>
          <p:nvSpPr>
            <p:cNvPr id="1048688" name="Freeform 4"/>
            <p:cNvSpPr>
              <a:spLocks noEditPoints="1" noChangeArrowheads="1"/>
            </p:cNvSpPr>
            <p:nvPr>
              <p:custDataLst>
                <p:tags r:id="rId27"/>
              </p:custDataLst>
            </p:nvPr>
          </p:nvSpPr>
          <p:spPr bwMode="auto">
            <a:xfrm>
              <a:off x="9803273" y="6344288"/>
              <a:ext cx="1610577" cy="1610577"/>
            </a:xfrm>
            <a:custGeom>
              <a:avLst/>
              <a:gdLst>
                <a:gd name="T0" fmla="*/ 2 w 656"/>
                <a:gd name="T1" fmla="*/ 362 h 656"/>
                <a:gd name="T2" fmla="*/ 26 w 656"/>
                <a:gd name="T3" fmla="*/ 456 h 656"/>
                <a:gd name="T4" fmla="*/ 74 w 656"/>
                <a:gd name="T5" fmla="*/ 536 h 656"/>
                <a:gd name="T6" fmla="*/ 144 w 656"/>
                <a:gd name="T7" fmla="*/ 600 h 656"/>
                <a:gd name="T8" fmla="*/ 230 w 656"/>
                <a:gd name="T9" fmla="*/ 642 h 656"/>
                <a:gd name="T10" fmla="*/ 328 w 656"/>
                <a:gd name="T11" fmla="*/ 656 h 656"/>
                <a:gd name="T12" fmla="*/ 426 w 656"/>
                <a:gd name="T13" fmla="*/ 642 h 656"/>
                <a:gd name="T14" fmla="*/ 512 w 656"/>
                <a:gd name="T15" fmla="*/ 600 h 656"/>
                <a:gd name="T16" fmla="*/ 582 w 656"/>
                <a:gd name="T17" fmla="*/ 536 h 656"/>
                <a:gd name="T18" fmla="*/ 630 w 656"/>
                <a:gd name="T19" fmla="*/ 456 h 656"/>
                <a:gd name="T20" fmla="*/ 654 w 656"/>
                <a:gd name="T21" fmla="*/ 362 h 656"/>
                <a:gd name="T22" fmla="*/ 650 w 656"/>
                <a:gd name="T23" fmla="*/ 262 h 656"/>
                <a:gd name="T24" fmla="*/ 616 w 656"/>
                <a:gd name="T25" fmla="*/ 172 h 656"/>
                <a:gd name="T26" fmla="*/ 560 w 656"/>
                <a:gd name="T27" fmla="*/ 96 h 656"/>
                <a:gd name="T28" fmla="*/ 484 w 656"/>
                <a:gd name="T29" fmla="*/ 40 h 656"/>
                <a:gd name="T30" fmla="*/ 394 w 656"/>
                <a:gd name="T31" fmla="*/ 6 h 656"/>
                <a:gd name="T32" fmla="*/ 294 w 656"/>
                <a:gd name="T33" fmla="*/ 2 h 656"/>
                <a:gd name="T34" fmla="*/ 200 w 656"/>
                <a:gd name="T35" fmla="*/ 26 h 656"/>
                <a:gd name="T36" fmla="*/ 120 w 656"/>
                <a:gd name="T37" fmla="*/ 74 h 656"/>
                <a:gd name="T38" fmla="*/ 56 w 656"/>
                <a:gd name="T39" fmla="*/ 144 h 656"/>
                <a:gd name="T40" fmla="*/ 14 w 656"/>
                <a:gd name="T41" fmla="*/ 230 h 656"/>
                <a:gd name="T42" fmla="*/ 0 w 656"/>
                <a:gd name="T43" fmla="*/ 328 h 656"/>
                <a:gd name="T44" fmla="*/ 82 w 656"/>
                <a:gd name="T45" fmla="*/ 302 h 656"/>
                <a:gd name="T46" fmla="*/ 100 w 656"/>
                <a:gd name="T47" fmla="*/ 232 h 656"/>
                <a:gd name="T48" fmla="*/ 136 w 656"/>
                <a:gd name="T49" fmla="*/ 170 h 656"/>
                <a:gd name="T50" fmla="*/ 190 w 656"/>
                <a:gd name="T51" fmla="*/ 122 h 656"/>
                <a:gd name="T52" fmla="*/ 254 w 656"/>
                <a:gd name="T53" fmla="*/ 92 h 656"/>
                <a:gd name="T54" fmla="*/ 328 w 656"/>
                <a:gd name="T55" fmla="*/ 80 h 656"/>
                <a:gd name="T56" fmla="*/ 402 w 656"/>
                <a:gd name="T57" fmla="*/ 92 h 656"/>
                <a:gd name="T58" fmla="*/ 466 w 656"/>
                <a:gd name="T59" fmla="*/ 122 h 656"/>
                <a:gd name="T60" fmla="*/ 520 w 656"/>
                <a:gd name="T61" fmla="*/ 170 h 656"/>
                <a:gd name="T62" fmla="*/ 556 w 656"/>
                <a:gd name="T63" fmla="*/ 232 h 656"/>
                <a:gd name="T64" fmla="*/ 574 w 656"/>
                <a:gd name="T65" fmla="*/ 302 h 656"/>
                <a:gd name="T66" fmla="*/ 570 w 656"/>
                <a:gd name="T67" fmla="*/ 378 h 656"/>
                <a:gd name="T68" fmla="*/ 546 w 656"/>
                <a:gd name="T69" fmla="*/ 446 h 656"/>
                <a:gd name="T70" fmla="*/ 504 w 656"/>
                <a:gd name="T71" fmla="*/ 504 h 656"/>
                <a:gd name="T72" fmla="*/ 446 w 656"/>
                <a:gd name="T73" fmla="*/ 546 h 656"/>
                <a:gd name="T74" fmla="*/ 378 w 656"/>
                <a:gd name="T75" fmla="*/ 570 h 656"/>
                <a:gd name="T76" fmla="*/ 302 w 656"/>
                <a:gd name="T77" fmla="*/ 574 h 656"/>
                <a:gd name="T78" fmla="*/ 232 w 656"/>
                <a:gd name="T79" fmla="*/ 556 h 656"/>
                <a:gd name="T80" fmla="*/ 170 w 656"/>
                <a:gd name="T81" fmla="*/ 520 h 656"/>
                <a:gd name="T82" fmla="*/ 122 w 656"/>
                <a:gd name="T83" fmla="*/ 466 h 656"/>
                <a:gd name="T84" fmla="*/ 92 w 656"/>
                <a:gd name="T85" fmla="*/ 402 h 656"/>
                <a:gd name="T86" fmla="*/ 80 w 656"/>
                <a:gd name="T87" fmla="*/ 328 h 65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56"/>
                <a:gd name="T133" fmla="*/ 0 h 656"/>
                <a:gd name="T134" fmla="*/ 656 w 656"/>
                <a:gd name="T135" fmla="*/ 656 h 65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56" h="656">
                  <a:moveTo>
                    <a:pt x="0" y="328"/>
                  </a:moveTo>
                  <a:lnTo>
                    <a:pt x="0" y="328"/>
                  </a:lnTo>
                  <a:lnTo>
                    <a:pt x="2" y="362"/>
                  </a:lnTo>
                  <a:lnTo>
                    <a:pt x="6" y="394"/>
                  </a:lnTo>
                  <a:lnTo>
                    <a:pt x="14" y="426"/>
                  </a:lnTo>
                  <a:lnTo>
                    <a:pt x="26" y="456"/>
                  </a:lnTo>
                  <a:lnTo>
                    <a:pt x="40" y="484"/>
                  </a:lnTo>
                  <a:lnTo>
                    <a:pt x="56" y="512"/>
                  </a:lnTo>
                  <a:lnTo>
                    <a:pt x="74" y="536"/>
                  </a:lnTo>
                  <a:lnTo>
                    <a:pt x="96" y="560"/>
                  </a:lnTo>
                  <a:lnTo>
                    <a:pt x="120" y="582"/>
                  </a:lnTo>
                  <a:lnTo>
                    <a:pt x="144" y="600"/>
                  </a:lnTo>
                  <a:lnTo>
                    <a:pt x="172" y="616"/>
                  </a:lnTo>
                  <a:lnTo>
                    <a:pt x="200" y="630"/>
                  </a:lnTo>
                  <a:lnTo>
                    <a:pt x="230" y="642"/>
                  </a:lnTo>
                  <a:lnTo>
                    <a:pt x="262" y="650"/>
                  </a:lnTo>
                  <a:lnTo>
                    <a:pt x="294" y="654"/>
                  </a:lnTo>
                  <a:lnTo>
                    <a:pt x="328" y="656"/>
                  </a:lnTo>
                  <a:lnTo>
                    <a:pt x="362" y="654"/>
                  </a:lnTo>
                  <a:lnTo>
                    <a:pt x="394" y="650"/>
                  </a:lnTo>
                  <a:lnTo>
                    <a:pt x="426" y="642"/>
                  </a:lnTo>
                  <a:lnTo>
                    <a:pt x="456" y="630"/>
                  </a:lnTo>
                  <a:lnTo>
                    <a:pt x="484" y="616"/>
                  </a:lnTo>
                  <a:lnTo>
                    <a:pt x="512" y="600"/>
                  </a:lnTo>
                  <a:lnTo>
                    <a:pt x="536" y="582"/>
                  </a:lnTo>
                  <a:lnTo>
                    <a:pt x="560" y="560"/>
                  </a:lnTo>
                  <a:lnTo>
                    <a:pt x="582" y="536"/>
                  </a:lnTo>
                  <a:lnTo>
                    <a:pt x="600" y="512"/>
                  </a:lnTo>
                  <a:lnTo>
                    <a:pt x="616" y="484"/>
                  </a:lnTo>
                  <a:lnTo>
                    <a:pt x="630" y="456"/>
                  </a:lnTo>
                  <a:lnTo>
                    <a:pt x="642" y="426"/>
                  </a:lnTo>
                  <a:lnTo>
                    <a:pt x="650" y="394"/>
                  </a:lnTo>
                  <a:lnTo>
                    <a:pt x="654" y="362"/>
                  </a:lnTo>
                  <a:lnTo>
                    <a:pt x="656" y="328"/>
                  </a:lnTo>
                  <a:lnTo>
                    <a:pt x="654" y="294"/>
                  </a:lnTo>
                  <a:lnTo>
                    <a:pt x="650" y="262"/>
                  </a:lnTo>
                  <a:lnTo>
                    <a:pt x="642" y="230"/>
                  </a:lnTo>
                  <a:lnTo>
                    <a:pt x="630" y="200"/>
                  </a:lnTo>
                  <a:lnTo>
                    <a:pt x="616" y="172"/>
                  </a:lnTo>
                  <a:lnTo>
                    <a:pt x="600" y="144"/>
                  </a:lnTo>
                  <a:lnTo>
                    <a:pt x="582" y="120"/>
                  </a:lnTo>
                  <a:lnTo>
                    <a:pt x="560" y="96"/>
                  </a:lnTo>
                  <a:lnTo>
                    <a:pt x="536" y="74"/>
                  </a:lnTo>
                  <a:lnTo>
                    <a:pt x="512" y="56"/>
                  </a:lnTo>
                  <a:lnTo>
                    <a:pt x="484" y="40"/>
                  </a:lnTo>
                  <a:lnTo>
                    <a:pt x="456" y="26"/>
                  </a:lnTo>
                  <a:lnTo>
                    <a:pt x="426" y="14"/>
                  </a:lnTo>
                  <a:lnTo>
                    <a:pt x="394" y="6"/>
                  </a:lnTo>
                  <a:lnTo>
                    <a:pt x="362" y="2"/>
                  </a:lnTo>
                  <a:lnTo>
                    <a:pt x="328" y="0"/>
                  </a:lnTo>
                  <a:lnTo>
                    <a:pt x="294" y="2"/>
                  </a:lnTo>
                  <a:lnTo>
                    <a:pt x="262" y="6"/>
                  </a:lnTo>
                  <a:lnTo>
                    <a:pt x="230" y="14"/>
                  </a:lnTo>
                  <a:lnTo>
                    <a:pt x="200" y="26"/>
                  </a:lnTo>
                  <a:lnTo>
                    <a:pt x="172" y="40"/>
                  </a:lnTo>
                  <a:lnTo>
                    <a:pt x="144" y="56"/>
                  </a:lnTo>
                  <a:lnTo>
                    <a:pt x="120" y="74"/>
                  </a:lnTo>
                  <a:lnTo>
                    <a:pt x="96" y="96"/>
                  </a:lnTo>
                  <a:lnTo>
                    <a:pt x="74" y="120"/>
                  </a:lnTo>
                  <a:lnTo>
                    <a:pt x="56" y="144"/>
                  </a:lnTo>
                  <a:lnTo>
                    <a:pt x="40" y="172"/>
                  </a:lnTo>
                  <a:lnTo>
                    <a:pt x="26" y="200"/>
                  </a:lnTo>
                  <a:lnTo>
                    <a:pt x="14" y="230"/>
                  </a:lnTo>
                  <a:lnTo>
                    <a:pt x="6" y="262"/>
                  </a:lnTo>
                  <a:lnTo>
                    <a:pt x="2" y="294"/>
                  </a:lnTo>
                  <a:lnTo>
                    <a:pt x="0" y="328"/>
                  </a:lnTo>
                  <a:close/>
                  <a:moveTo>
                    <a:pt x="80" y="328"/>
                  </a:moveTo>
                  <a:lnTo>
                    <a:pt x="80" y="328"/>
                  </a:lnTo>
                  <a:lnTo>
                    <a:pt x="82" y="302"/>
                  </a:lnTo>
                  <a:lnTo>
                    <a:pt x="86" y="278"/>
                  </a:lnTo>
                  <a:lnTo>
                    <a:pt x="92" y="254"/>
                  </a:lnTo>
                  <a:lnTo>
                    <a:pt x="100" y="232"/>
                  </a:lnTo>
                  <a:lnTo>
                    <a:pt x="110" y="210"/>
                  </a:lnTo>
                  <a:lnTo>
                    <a:pt x="122" y="190"/>
                  </a:lnTo>
                  <a:lnTo>
                    <a:pt x="136" y="170"/>
                  </a:lnTo>
                  <a:lnTo>
                    <a:pt x="152" y="152"/>
                  </a:lnTo>
                  <a:lnTo>
                    <a:pt x="170" y="136"/>
                  </a:lnTo>
                  <a:lnTo>
                    <a:pt x="190" y="122"/>
                  </a:lnTo>
                  <a:lnTo>
                    <a:pt x="210" y="110"/>
                  </a:lnTo>
                  <a:lnTo>
                    <a:pt x="232" y="100"/>
                  </a:lnTo>
                  <a:lnTo>
                    <a:pt x="254" y="92"/>
                  </a:lnTo>
                  <a:lnTo>
                    <a:pt x="278" y="86"/>
                  </a:lnTo>
                  <a:lnTo>
                    <a:pt x="302" y="82"/>
                  </a:lnTo>
                  <a:lnTo>
                    <a:pt x="328" y="80"/>
                  </a:lnTo>
                  <a:lnTo>
                    <a:pt x="354" y="82"/>
                  </a:lnTo>
                  <a:lnTo>
                    <a:pt x="378" y="86"/>
                  </a:lnTo>
                  <a:lnTo>
                    <a:pt x="402" y="92"/>
                  </a:lnTo>
                  <a:lnTo>
                    <a:pt x="424" y="100"/>
                  </a:lnTo>
                  <a:lnTo>
                    <a:pt x="446" y="110"/>
                  </a:lnTo>
                  <a:lnTo>
                    <a:pt x="466" y="122"/>
                  </a:lnTo>
                  <a:lnTo>
                    <a:pt x="486" y="136"/>
                  </a:lnTo>
                  <a:lnTo>
                    <a:pt x="504" y="152"/>
                  </a:lnTo>
                  <a:lnTo>
                    <a:pt x="520" y="170"/>
                  </a:lnTo>
                  <a:lnTo>
                    <a:pt x="534" y="190"/>
                  </a:lnTo>
                  <a:lnTo>
                    <a:pt x="546" y="210"/>
                  </a:lnTo>
                  <a:lnTo>
                    <a:pt x="556" y="232"/>
                  </a:lnTo>
                  <a:lnTo>
                    <a:pt x="564" y="254"/>
                  </a:lnTo>
                  <a:lnTo>
                    <a:pt x="570" y="278"/>
                  </a:lnTo>
                  <a:lnTo>
                    <a:pt x="574" y="302"/>
                  </a:lnTo>
                  <a:lnTo>
                    <a:pt x="576" y="328"/>
                  </a:lnTo>
                  <a:lnTo>
                    <a:pt x="574" y="354"/>
                  </a:lnTo>
                  <a:lnTo>
                    <a:pt x="570" y="378"/>
                  </a:lnTo>
                  <a:lnTo>
                    <a:pt x="564" y="402"/>
                  </a:lnTo>
                  <a:lnTo>
                    <a:pt x="556" y="424"/>
                  </a:lnTo>
                  <a:lnTo>
                    <a:pt x="546" y="446"/>
                  </a:lnTo>
                  <a:lnTo>
                    <a:pt x="534" y="466"/>
                  </a:lnTo>
                  <a:lnTo>
                    <a:pt x="520" y="486"/>
                  </a:lnTo>
                  <a:lnTo>
                    <a:pt x="504" y="504"/>
                  </a:lnTo>
                  <a:lnTo>
                    <a:pt x="486" y="520"/>
                  </a:lnTo>
                  <a:lnTo>
                    <a:pt x="466" y="534"/>
                  </a:lnTo>
                  <a:lnTo>
                    <a:pt x="446" y="546"/>
                  </a:lnTo>
                  <a:lnTo>
                    <a:pt x="424" y="556"/>
                  </a:lnTo>
                  <a:lnTo>
                    <a:pt x="402" y="564"/>
                  </a:lnTo>
                  <a:lnTo>
                    <a:pt x="378" y="570"/>
                  </a:lnTo>
                  <a:lnTo>
                    <a:pt x="354" y="574"/>
                  </a:lnTo>
                  <a:lnTo>
                    <a:pt x="328" y="576"/>
                  </a:lnTo>
                  <a:lnTo>
                    <a:pt x="302" y="574"/>
                  </a:lnTo>
                  <a:lnTo>
                    <a:pt x="278" y="570"/>
                  </a:lnTo>
                  <a:lnTo>
                    <a:pt x="254" y="564"/>
                  </a:lnTo>
                  <a:lnTo>
                    <a:pt x="232" y="556"/>
                  </a:lnTo>
                  <a:lnTo>
                    <a:pt x="210" y="546"/>
                  </a:lnTo>
                  <a:lnTo>
                    <a:pt x="190" y="534"/>
                  </a:lnTo>
                  <a:lnTo>
                    <a:pt x="170" y="520"/>
                  </a:lnTo>
                  <a:lnTo>
                    <a:pt x="152" y="504"/>
                  </a:lnTo>
                  <a:lnTo>
                    <a:pt x="136" y="486"/>
                  </a:lnTo>
                  <a:lnTo>
                    <a:pt x="122" y="466"/>
                  </a:lnTo>
                  <a:lnTo>
                    <a:pt x="110" y="446"/>
                  </a:lnTo>
                  <a:lnTo>
                    <a:pt x="100" y="424"/>
                  </a:lnTo>
                  <a:lnTo>
                    <a:pt x="92" y="402"/>
                  </a:lnTo>
                  <a:lnTo>
                    <a:pt x="86" y="378"/>
                  </a:lnTo>
                  <a:lnTo>
                    <a:pt x="82" y="354"/>
                  </a:lnTo>
                  <a:lnTo>
                    <a:pt x="80" y="328"/>
                  </a:lnTo>
                  <a:close/>
                </a:path>
              </a:pathLst>
            </a:custGeom>
            <a:solidFill>
              <a:schemeClr val="tx1">
                <a:lumMod val="75000"/>
                <a:lumOff val="25000"/>
                <a:alpha val="28999"/>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89" name="Freeform 5"/>
            <p:cNvSpPr>
              <a:spLocks noEditPoints="1" noChangeArrowheads="1"/>
            </p:cNvSpPr>
            <p:nvPr>
              <p:custDataLst>
                <p:tags r:id="rId28"/>
              </p:custDataLst>
            </p:nvPr>
          </p:nvSpPr>
          <p:spPr bwMode="auto">
            <a:xfrm>
              <a:off x="9449731" y="5990746"/>
              <a:ext cx="2317659" cy="2317659"/>
            </a:xfrm>
            <a:custGeom>
              <a:avLst/>
              <a:gdLst>
                <a:gd name="T0" fmla="*/ 0 w 944"/>
                <a:gd name="T1" fmla="*/ 496 h 944"/>
                <a:gd name="T2" fmla="*/ 10 w 944"/>
                <a:gd name="T3" fmla="*/ 568 h 944"/>
                <a:gd name="T4" fmla="*/ 58 w 944"/>
                <a:gd name="T5" fmla="*/ 696 h 944"/>
                <a:gd name="T6" fmla="*/ 138 w 944"/>
                <a:gd name="T7" fmla="*/ 806 h 944"/>
                <a:gd name="T8" fmla="*/ 248 w 944"/>
                <a:gd name="T9" fmla="*/ 886 h 944"/>
                <a:gd name="T10" fmla="*/ 376 w 944"/>
                <a:gd name="T11" fmla="*/ 934 h 944"/>
                <a:gd name="T12" fmla="*/ 448 w 944"/>
                <a:gd name="T13" fmla="*/ 944 h 944"/>
                <a:gd name="T14" fmla="*/ 520 w 944"/>
                <a:gd name="T15" fmla="*/ 942 h 944"/>
                <a:gd name="T16" fmla="*/ 612 w 944"/>
                <a:gd name="T17" fmla="*/ 922 h 944"/>
                <a:gd name="T18" fmla="*/ 736 w 944"/>
                <a:gd name="T19" fmla="*/ 864 h 944"/>
                <a:gd name="T20" fmla="*/ 836 w 944"/>
                <a:gd name="T21" fmla="*/ 772 h 944"/>
                <a:gd name="T22" fmla="*/ 906 w 944"/>
                <a:gd name="T23" fmla="*/ 656 h 944"/>
                <a:gd name="T24" fmla="*/ 938 w 944"/>
                <a:gd name="T25" fmla="*/ 544 h 944"/>
                <a:gd name="T26" fmla="*/ 944 w 944"/>
                <a:gd name="T27" fmla="*/ 472 h 944"/>
                <a:gd name="T28" fmla="*/ 938 w 944"/>
                <a:gd name="T29" fmla="*/ 400 h 944"/>
                <a:gd name="T30" fmla="*/ 906 w 944"/>
                <a:gd name="T31" fmla="*/ 288 h 944"/>
                <a:gd name="T32" fmla="*/ 836 w 944"/>
                <a:gd name="T33" fmla="*/ 172 h 944"/>
                <a:gd name="T34" fmla="*/ 736 w 944"/>
                <a:gd name="T35" fmla="*/ 80 h 944"/>
                <a:gd name="T36" fmla="*/ 612 w 944"/>
                <a:gd name="T37" fmla="*/ 22 h 944"/>
                <a:gd name="T38" fmla="*/ 520 w 944"/>
                <a:gd name="T39" fmla="*/ 2 h 944"/>
                <a:gd name="T40" fmla="*/ 448 w 944"/>
                <a:gd name="T41" fmla="*/ 0 h 944"/>
                <a:gd name="T42" fmla="*/ 376 w 944"/>
                <a:gd name="T43" fmla="*/ 10 h 944"/>
                <a:gd name="T44" fmla="*/ 248 w 944"/>
                <a:gd name="T45" fmla="*/ 58 h 944"/>
                <a:gd name="T46" fmla="*/ 138 w 944"/>
                <a:gd name="T47" fmla="*/ 138 h 944"/>
                <a:gd name="T48" fmla="*/ 58 w 944"/>
                <a:gd name="T49" fmla="*/ 248 h 944"/>
                <a:gd name="T50" fmla="*/ 10 w 944"/>
                <a:gd name="T51" fmla="*/ 376 h 944"/>
                <a:gd name="T52" fmla="*/ 0 w 944"/>
                <a:gd name="T53" fmla="*/ 448 h 944"/>
                <a:gd name="T54" fmla="*/ 80 w 944"/>
                <a:gd name="T55" fmla="*/ 472 h 944"/>
                <a:gd name="T56" fmla="*/ 98 w 944"/>
                <a:gd name="T57" fmla="*/ 356 h 944"/>
                <a:gd name="T58" fmla="*/ 148 w 944"/>
                <a:gd name="T59" fmla="*/ 252 h 944"/>
                <a:gd name="T60" fmla="*/ 222 w 944"/>
                <a:gd name="T61" fmla="*/ 170 h 944"/>
                <a:gd name="T62" fmla="*/ 320 w 944"/>
                <a:gd name="T63" fmla="*/ 110 h 944"/>
                <a:gd name="T64" fmla="*/ 432 w 944"/>
                <a:gd name="T65" fmla="*/ 82 h 944"/>
                <a:gd name="T66" fmla="*/ 550 w 944"/>
                <a:gd name="T67" fmla="*/ 88 h 944"/>
                <a:gd name="T68" fmla="*/ 658 w 944"/>
                <a:gd name="T69" fmla="*/ 128 h 944"/>
                <a:gd name="T70" fmla="*/ 750 w 944"/>
                <a:gd name="T71" fmla="*/ 194 h 944"/>
                <a:gd name="T72" fmla="*/ 816 w 944"/>
                <a:gd name="T73" fmla="*/ 286 h 944"/>
                <a:gd name="T74" fmla="*/ 856 w 944"/>
                <a:gd name="T75" fmla="*/ 394 h 944"/>
                <a:gd name="T76" fmla="*/ 862 w 944"/>
                <a:gd name="T77" fmla="*/ 512 h 944"/>
                <a:gd name="T78" fmla="*/ 834 w 944"/>
                <a:gd name="T79" fmla="*/ 624 h 944"/>
                <a:gd name="T80" fmla="*/ 774 w 944"/>
                <a:gd name="T81" fmla="*/ 722 h 944"/>
                <a:gd name="T82" fmla="*/ 692 w 944"/>
                <a:gd name="T83" fmla="*/ 796 h 944"/>
                <a:gd name="T84" fmla="*/ 588 w 944"/>
                <a:gd name="T85" fmla="*/ 846 h 944"/>
                <a:gd name="T86" fmla="*/ 472 w 944"/>
                <a:gd name="T87" fmla="*/ 864 h 944"/>
                <a:gd name="T88" fmla="*/ 356 w 944"/>
                <a:gd name="T89" fmla="*/ 846 h 944"/>
                <a:gd name="T90" fmla="*/ 252 w 944"/>
                <a:gd name="T91" fmla="*/ 796 h 944"/>
                <a:gd name="T92" fmla="*/ 170 w 944"/>
                <a:gd name="T93" fmla="*/ 722 h 944"/>
                <a:gd name="T94" fmla="*/ 110 w 944"/>
                <a:gd name="T95" fmla="*/ 624 h 944"/>
                <a:gd name="T96" fmla="*/ 82 w 944"/>
                <a:gd name="T97" fmla="*/ 512 h 94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944"/>
                <a:gd name="T148" fmla="*/ 0 h 944"/>
                <a:gd name="T149" fmla="*/ 944 w 944"/>
                <a:gd name="T150" fmla="*/ 944 h 94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944" h="944">
                  <a:moveTo>
                    <a:pt x="0" y="472"/>
                  </a:moveTo>
                  <a:lnTo>
                    <a:pt x="0" y="472"/>
                  </a:lnTo>
                  <a:lnTo>
                    <a:pt x="0" y="496"/>
                  </a:lnTo>
                  <a:lnTo>
                    <a:pt x="2" y="520"/>
                  </a:lnTo>
                  <a:lnTo>
                    <a:pt x="6" y="544"/>
                  </a:lnTo>
                  <a:lnTo>
                    <a:pt x="10" y="568"/>
                  </a:lnTo>
                  <a:lnTo>
                    <a:pt x="22" y="612"/>
                  </a:lnTo>
                  <a:lnTo>
                    <a:pt x="38" y="656"/>
                  </a:lnTo>
                  <a:lnTo>
                    <a:pt x="58" y="696"/>
                  </a:lnTo>
                  <a:lnTo>
                    <a:pt x="80" y="736"/>
                  </a:lnTo>
                  <a:lnTo>
                    <a:pt x="108" y="772"/>
                  </a:lnTo>
                  <a:lnTo>
                    <a:pt x="138" y="806"/>
                  </a:lnTo>
                  <a:lnTo>
                    <a:pt x="172" y="836"/>
                  </a:lnTo>
                  <a:lnTo>
                    <a:pt x="208" y="864"/>
                  </a:lnTo>
                  <a:lnTo>
                    <a:pt x="248" y="886"/>
                  </a:lnTo>
                  <a:lnTo>
                    <a:pt x="288" y="906"/>
                  </a:lnTo>
                  <a:lnTo>
                    <a:pt x="332" y="922"/>
                  </a:lnTo>
                  <a:lnTo>
                    <a:pt x="376" y="934"/>
                  </a:lnTo>
                  <a:lnTo>
                    <a:pt x="400" y="938"/>
                  </a:lnTo>
                  <a:lnTo>
                    <a:pt x="424" y="942"/>
                  </a:lnTo>
                  <a:lnTo>
                    <a:pt x="448" y="944"/>
                  </a:lnTo>
                  <a:lnTo>
                    <a:pt x="472" y="944"/>
                  </a:lnTo>
                  <a:lnTo>
                    <a:pt x="496" y="944"/>
                  </a:lnTo>
                  <a:lnTo>
                    <a:pt x="520" y="942"/>
                  </a:lnTo>
                  <a:lnTo>
                    <a:pt x="544" y="938"/>
                  </a:lnTo>
                  <a:lnTo>
                    <a:pt x="568" y="934"/>
                  </a:lnTo>
                  <a:lnTo>
                    <a:pt x="612" y="922"/>
                  </a:lnTo>
                  <a:lnTo>
                    <a:pt x="656" y="906"/>
                  </a:lnTo>
                  <a:lnTo>
                    <a:pt x="696" y="886"/>
                  </a:lnTo>
                  <a:lnTo>
                    <a:pt x="736" y="864"/>
                  </a:lnTo>
                  <a:lnTo>
                    <a:pt x="772" y="836"/>
                  </a:lnTo>
                  <a:lnTo>
                    <a:pt x="806" y="806"/>
                  </a:lnTo>
                  <a:lnTo>
                    <a:pt x="836" y="772"/>
                  </a:lnTo>
                  <a:lnTo>
                    <a:pt x="864" y="736"/>
                  </a:lnTo>
                  <a:lnTo>
                    <a:pt x="886" y="696"/>
                  </a:lnTo>
                  <a:lnTo>
                    <a:pt x="906" y="656"/>
                  </a:lnTo>
                  <a:lnTo>
                    <a:pt x="922" y="612"/>
                  </a:lnTo>
                  <a:lnTo>
                    <a:pt x="934" y="568"/>
                  </a:lnTo>
                  <a:lnTo>
                    <a:pt x="938" y="544"/>
                  </a:lnTo>
                  <a:lnTo>
                    <a:pt x="942" y="520"/>
                  </a:lnTo>
                  <a:lnTo>
                    <a:pt x="944" y="496"/>
                  </a:lnTo>
                  <a:lnTo>
                    <a:pt x="944" y="472"/>
                  </a:lnTo>
                  <a:lnTo>
                    <a:pt x="944" y="448"/>
                  </a:lnTo>
                  <a:lnTo>
                    <a:pt x="942" y="424"/>
                  </a:lnTo>
                  <a:lnTo>
                    <a:pt x="938" y="400"/>
                  </a:lnTo>
                  <a:lnTo>
                    <a:pt x="934" y="376"/>
                  </a:lnTo>
                  <a:lnTo>
                    <a:pt x="922" y="332"/>
                  </a:lnTo>
                  <a:lnTo>
                    <a:pt x="906" y="288"/>
                  </a:lnTo>
                  <a:lnTo>
                    <a:pt x="886" y="248"/>
                  </a:lnTo>
                  <a:lnTo>
                    <a:pt x="864" y="208"/>
                  </a:lnTo>
                  <a:lnTo>
                    <a:pt x="836" y="172"/>
                  </a:lnTo>
                  <a:lnTo>
                    <a:pt x="806" y="138"/>
                  </a:lnTo>
                  <a:lnTo>
                    <a:pt x="772" y="108"/>
                  </a:lnTo>
                  <a:lnTo>
                    <a:pt x="736" y="80"/>
                  </a:lnTo>
                  <a:lnTo>
                    <a:pt x="696" y="58"/>
                  </a:lnTo>
                  <a:lnTo>
                    <a:pt x="656" y="38"/>
                  </a:lnTo>
                  <a:lnTo>
                    <a:pt x="612" y="22"/>
                  </a:lnTo>
                  <a:lnTo>
                    <a:pt x="568" y="10"/>
                  </a:lnTo>
                  <a:lnTo>
                    <a:pt x="544" y="6"/>
                  </a:lnTo>
                  <a:lnTo>
                    <a:pt x="520" y="2"/>
                  </a:lnTo>
                  <a:lnTo>
                    <a:pt x="496" y="0"/>
                  </a:lnTo>
                  <a:lnTo>
                    <a:pt x="472" y="0"/>
                  </a:lnTo>
                  <a:lnTo>
                    <a:pt x="448" y="0"/>
                  </a:lnTo>
                  <a:lnTo>
                    <a:pt x="424" y="2"/>
                  </a:lnTo>
                  <a:lnTo>
                    <a:pt x="400" y="6"/>
                  </a:lnTo>
                  <a:lnTo>
                    <a:pt x="376" y="10"/>
                  </a:lnTo>
                  <a:lnTo>
                    <a:pt x="332" y="22"/>
                  </a:lnTo>
                  <a:lnTo>
                    <a:pt x="288" y="38"/>
                  </a:lnTo>
                  <a:lnTo>
                    <a:pt x="248" y="58"/>
                  </a:lnTo>
                  <a:lnTo>
                    <a:pt x="208" y="80"/>
                  </a:lnTo>
                  <a:lnTo>
                    <a:pt x="172" y="108"/>
                  </a:lnTo>
                  <a:lnTo>
                    <a:pt x="138" y="138"/>
                  </a:lnTo>
                  <a:lnTo>
                    <a:pt x="108" y="172"/>
                  </a:lnTo>
                  <a:lnTo>
                    <a:pt x="80" y="208"/>
                  </a:lnTo>
                  <a:lnTo>
                    <a:pt x="58" y="248"/>
                  </a:lnTo>
                  <a:lnTo>
                    <a:pt x="38" y="288"/>
                  </a:lnTo>
                  <a:lnTo>
                    <a:pt x="22" y="332"/>
                  </a:lnTo>
                  <a:lnTo>
                    <a:pt x="10" y="376"/>
                  </a:lnTo>
                  <a:lnTo>
                    <a:pt x="6" y="400"/>
                  </a:lnTo>
                  <a:lnTo>
                    <a:pt x="2" y="424"/>
                  </a:lnTo>
                  <a:lnTo>
                    <a:pt x="0" y="448"/>
                  </a:lnTo>
                  <a:lnTo>
                    <a:pt x="0" y="472"/>
                  </a:lnTo>
                  <a:close/>
                  <a:moveTo>
                    <a:pt x="80" y="472"/>
                  </a:moveTo>
                  <a:lnTo>
                    <a:pt x="80" y="472"/>
                  </a:lnTo>
                  <a:lnTo>
                    <a:pt x="82" y="432"/>
                  </a:lnTo>
                  <a:lnTo>
                    <a:pt x="88" y="394"/>
                  </a:lnTo>
                  <a:lnTo>
                    <a:pt x="98" y="356"/>
                  </a:lnTo>
                  <a:lnTo>
                    <a:pt x="110" y="320"/>
                  </a:lnTo>
                  <a:lnTo>
                    <a:pt x="128" y="286"/>
                  </a:lnTo>
                  <a:lnTo>
                    <a:pt x="148" y="252"/>
                  </a:lnTo>
                  <a:lnTo>
                    <a:pt x="170" y="222"/>
                  </a:lnTo>
                  <a:lnTo>
                    <a:pt x="194" y="194"/>
                  </a:lnTo>
                  <a:lnTo>
                    <a:pt x="222" y="170"/>
                  </a:lnTo>
                  <a:lnTo>
                    <a:pt x="252" y="148"/>
                  </a:lnTo>
                  <a:lnTo>
                    <a:pt x="286" y="128"/>
                  </a:lnTo>
                  <a:lnTo>
                    <a:pt x="320" y="110"/>
                  </a:lnTo>
                  <a:lnTo>
                    <a:pt x="356" y="98"/>
                  </a:lnTo>
                  <a:lnTo>
                    <a:pt x="394" y="88"/>
                  </a:lnTo>
                  <a:lnTo>
                    <a:pt x="432" y="82"/>
                  </a:lnTo>
                  <a:lnTo>
                    <a:pt x="472" y="80"/>
                  </a:lnTo>
                  <a:lnTo>
                    <a:pt x="512" y="82"/>
                  </a:lnTo>
                  <a:lnTo>
                    <a:pt x="550" y="88"/>
                  </a:lnTo>
                  <a:lnTo>
                    <a:pt x="588" y="98"/>
                  </a:lnTo>
                  <a:lnTo>
                    <a:pt x="624" y="110"/>
                  </a:lnTo>
                  <a:lnTo>
                    <a:pt x="658" y="128"/>
                  </a:lnTo>
                  <a:lnTo>
                    <a:pt x="692" y="148"/>
                  </a:lnTo>
                  <a:lnTo>
                    <a:pt x="722" y="170"/>
                  </a:lnTo>
                  <a:lnTo>
                    <a:pt x="750" y="194"/>
                  </a:lnTo>
                  <a:lnTo>
                    <a:pt x="774" y="222"/>
                  </a:lnTo>
                  <a:lnTo>
                    <a:pt x="796" y="252"/>
                  </a:lnTo>
                  <a:lnTo>
                    <a:pt x="816" y="286"/>
                  </a:lnTo>
                  <a:lnTo>
                    <a:pt x="834" y="320"/>
                  </a:lnTo>
                  <a:lnTo>
                    <a:pt x="846" y="356"/>
                  </a:lnTo>
                  <a:lnTo>
                    <a:pt x="856" y="394"/>
                  </a:lnTo>
                  <a:lnTo>
                    <a:pt x="862" y="432"/>
                  </a:lnTo>
                  <a:lnTo>
                    <a:pt x="864" y="472"/>
                  </a:lnTo>
                  <a:lnTo>
                    <a:pt x="862" y="512"/>
                  </a:lnTo>
                  <a:lnTo>
                    <a:pt x="856" y="550"/>
                  </a:lnTo>
                  <a:lnTo>
                    <a:pt x="846" y="588"/>
                  </a:lnTo>
                  <a:lnTo>
                    <a:pt x="834" y="624"/>
                  </a:lnTo>
                  <a:lnTo>
                    <a:pt x="816" y="658"/>
                  </a:lnTo>
                  <a:lnTo>
                    <a:pt x="796" y="692"/>
                  </a:lnTo>
                  <a:lnTo>
                    <a:pt x="774" y="722"/>
                  </a:lnTo>
                  <a:lnTo>
                    <a:pt x="750" y="750"/>
                  </a:lnTo>
                  <a:lnTo>
                    <a:pt x="722" y="774"/>
                  </a:lnTo>
                  <a:lnTo>
                    <a:pt x="692" y="796"/>
                  </a:lnTo>
                  <a:lnTo>
                    <a:pt x="658" y="816"/>
                  </a:lnTo>
                  <a:lnTo>
                    <a:pt x="624" y="834"/>
                  </a:lnTo>
                  <a:lnTo>
                    <a:pt x="588" y="846"/>
                  </a:lnTo>
                  <a:lnTo>
                    <a:pt x="550" y="856"/>
                  </a:lnTo>
                  <a:lnTo>
                    <a:pt x="512" y="862"/>
                  </a:lnTo>
                  <a:lnTo>
                    <a:pt x="472" y="864"/>
                  </a:lnTo>
                  <a:lnTo>
                    <a:pt x="432" y="862"/>
                  </a:lnTo>
                  <a:lnTo>
                    <a:pt x="394" y="856"/>
                  </a:lnTo>
                  <a:lnTo>
                    <a:pt x="356" y="846"/>
                  </a:lnTo>
                  <a:lnTo>
                    <a:pt x="320" y="834"/>
                  </a:lnTo>
                  <a:lnTo>
                    <a:pt x="286" y="816"/>
                  </a:lnTo>
                  <a:lnTo>
                    <a:pt x="252" y="796"/>
                  </a:lnTo>
                  <a:lnTo>
                    <a:pt x="222" y="774"/>
                  </a:lnTo>
                  <a:lnTo>
                    <a:pt x="194" y="750"/>
                  </a:lnTo>
                  <a:lnTo>
                    <a:pt x="170" y="722"/>
                  </a:lnTo>
                  <a:lnTo>
                    <a:pt x="148" y="692"/>
                  </a:lnTo>
                  <a:lnTo>
                    <a:pt x="128" y="658"/>
                  </a:lnTo>
                  <a:lnTo>
                    <a:pt x="110" y="624"/>
                  </a:lnTo>
                  <a:lnTo>
                    <a:pt x="98" y="588"/>
                  </a:lnTo>
                  <a:lnTo>
                    <a:pt x="88" y="550"/>
                  </a:lnTo>
                  <a:lnTo>
                    <a:pt x="82" y="512"/>
                  </a:lnTo>
                  <a:lnTo>
                    <a:pt x="80" y="472"/>
                  </a:lnTo>
                  <a:close/>
                </a:path>
              </a:pathLst>
            </a:custGeom>
            <a:solidFill>
              <a:schemeClr val="tx1">
                <a:lumMod val="75000"/>
                <a:lumOff val="25000"/>
                <a:alpha val="20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a:solidFill>
                  <a:srgbClr val="000000"/>
                </a:solidFill>
                <a:latin typeface="HYXuanSong 75J" panose="00020600040101010101" charset="-122"/>
                <a:ea typeface="HYXuanSong 75J" panose="00020600040101010101" charset="-122"/>
                <a:sym typeface="宋体" panose="02010600030101010101" pitchFamily="2" charset="-122"/>
              </a:endParaRPr>
            </a:p>
          </p:txBody>
        </p:sp>
        <p:sp>
          <p:nvSpPr>
            <p:cNvPr id="1048690" name="Freeform 6"/>
            <p:cNvSpPr>
              <a:spLocks noEditPoints="1" noChangeArrowheads="1"/>
            </p:cNvSpPr>
            <p:nvPr>
              <p:custDataLst>
                <p:tags r:id="rId29"/>
              </p:custDataLst>
            </p:nvPr>
          </p:nvSpPr>
          <p:spPr bwMode="auto">
            <a:xfrm>
              <a:off x="9096190" y="5637205"/>
              <a:ext cx="3024742" cy="3024742"/>
            </a:xfrm>
            <a:custGeom>
              <a:avLst/>
              <a:gdLst>
                <a:gd name="T0" fmla="*/ 8 w 1232"/>
                <a:gd name="T1" fmla="*/ 710 h 1232"/>
                <a:gd name="T2" fmla="*/ 48 w 1232"/>
                <a:gd name="T3" fmla="*/ 856 h 1232"/>
                <a:gd name="T4" fmla="*/ 122 w 1232"/>
                <a:gd name="T5" fmla="*/ 984 h 1232"/>
                <a:gd name="T6" fmla="*/ 224 w 1232"/>
                <a:gd name="T7" fmla="*/ 1092 h 1232"/>
                <a:gd name="T8" fmla="*/ 350 w 1232"/>
                <a:gd name="T9" fmla="*/ 1172 h 1232"/>
                <a:gd name="T10" fmla="*/ 492 w 1232"/>
                <a:gd name="T11" fmla="*/ 1220 h 1232"/>
                <a:gd name="T12" fmla="*/ 648 w 1232"/>
                <a:gd name="T13" fmla="*/ 1232 h 1232"/>
                <a:gd name="T14" fmla="*/ 798 w 1232"/>
                <a:gd name="T15" fmla="*/ 1204 h 1232"/>
                <a:gd name="T16" fmla="*/ 936 w 1232"/>
                <a:gd name="T17" fmla="*/ 1142 h 1232"/>
                <a:gd name="T18" fmla="*/ 1052 w 1232"/>
                <a:gd name="T19" fmla="*/ 1052 h 1232"/>
                <a:gd name="T20" fmla="*/ 1142 w 1232"/>
                <a:gd name="T21" fmla="*/ 936 h 1232"/>
                <a:gd name="T22" fmla="*/ 1204 w 1232"/>
                <a:gd name="T23" fmla="*/ 798 h 1232"/>
                <a:gd name="T24" fmla="*/ 1232 w 1232"/>
                <a:gd name="T25" fmla="*/ 648 h 1232"/>
                <a:gd name="T26" fmla="*/ 1220 w 1232"/>
                <a:gd name="T27" fmla="*/ 492 h 1232"/>
                <a:gd name="T28" fmla="*/ 1172 w 1232"/>
                <a:gd name="T29" fmla="*/ 350 h 1232"/>
                <a:gd name="T30" fmla="*/ 1092 w 1232"/>
                <a:gd name="T31" fmla="*/ 224 h 1232"/>
                <a:gd name="T32" fmla="*/ 984 w 1232"/>
                <a:gd name="T33" fmla="*/ 122 h 1232"/>
                <a:gd name="T34" fmla="*/ 856 w 1232"/>
                <a:gd name="T35" fmla="*/ 48 h 1232"/>
                <a:gd name="T36" fmla="*/ 710 w 1232"/>
                <a:gd name="T37" fmla="*/ 8 h 1232"/>
                <a:gd name="T38" fmla="*/ 554 w 1232"/>
                <a:gd name="T39" fmla="*/ 4 h 1232"/>
                <a:gd name="T40" fmla="*/ 404 w 1232"/>
                <a:gd name="T41" fmla="*/ 38 h 1232"/>
                <a:gd name="T42" fmla="*/ 272 w 1232"/>
                <a:gd name="T43" fmla="*/ 106 h 1232"/>
                <a:gd name="T44" fmla="*/ 160 w 1232"/>
                <a:gd name="T45" fmla="*/ 202 h 1232"/>
                <a:gd name="T46" fmla="*/ 74 w 1232"/>
                <a:gd name="T47" fmla="*/ 322 h 1232"/>
                <a:gd name="T48" fmla="*/ 20 w 1232"/>
                <a:gd name="T49" fmla="*/ 462 h 1232"/>
                <a:gd name="T50" fmla="*/ 0 w 1232"/>
                <a:gd name="T51" fmla="*/ 616 h 1232"/>
                <a:gd name="T52" fmla="*/ 86 w 1232"/>
                <a:gd name="T53" fmla="*/ 534 h 1232"/>
                <a:gd name="T54" fmla="*/ 122 w 1232"/>
                <a:gd name="T55" fmla="*/ 408 h 1232"/>
                <a:gd name="T56" fmla="*/ 186 w 1232"/>
                <a:gd name="T57" fmla="*/ 296 h 1232"/>
                <a:gd name="T58" fmla="*/ 276 w 1232"/>
                <a:gd name="T59" fmla="*/ 202 h 1232"/>
                <a:gd name="T60" fmla="*/ 384 w 1232"/>
                <a:gd name="T61" fmla="*/ 132 h 1232"/>
                <a:gd name="T62" fmla="*/ 508 w 1232"/>
                <a:gd name="T63" fmla="*/ 90 h 1232"/>
                <a:gd name="T64" fmla="*/ 644 w 1232"/>
                <a:gd name="T65" fmla="*/ 80 h 1232"/>
                <a:gd name="T66" fmla="*/ 776 w 1232"/>
                <a:gd name="T67" fmla="*/ 104 h 1232"/>
                <a:gd name="T68" fmla="*/ 894 w 1232"/>
                <a:gd name="T69" fmla="*/ 158 h 1232"/>
                <a:gd name="T70" fmla="*/ 994 w 1232"/>
                <a:gd name="T71" fmla="*/ 238 h 1232"/>
                <a:gd name="T72" fmla="*/ 1074 w 1232"/>
                <a:gd name="T73" fmla="*/ 338 h 1232"/>
                <a:gd name="T74" fmla="*/ 1128 w 1232"/>
                <a:gd name="T75" fmla="*/ 456 h 1232"/>
                <a:gd name="T76" fmla="*/ 1152 w 1232"/>
                <a:gd name="T77" fmla="*/ 588 h 1232"/>
                <a:gd name="T78" fmla="*/ 1142 w 1232"/>
                <a:gd name="T79" fmla="*/ 724 h 1232"/>
                <a:gd name="T80" fmla="*/ 1100 w 1232"/>
                <a:gd name="T81" fmla="*/ 848 h 1232"/>
                <a:gd name="T82" fmla="*/ 1030 w 1232"/>
                <a:gd name="T83" fmla="*/ 956 h 1232"/>
                <a:gd name="T84" fmla="*/ 936 w 1232"/>
                <a:gd name="T85" fmla="*/ 1046 h 1232"/>
                <a:gd name="T86" fmla="*/ 824 w 1232"/>
                <a:gd name="T87" fmla="*/ 1110 h 1232"/>
                <a:gd name="T88" fmla="*/ 698 w 1232"/>
                <a:gd name="T89" fmla="*/ 1146 h 1232"/>
                <a:gd name="T90" fmla="*/ 562 w 1232"/>
                <a:gd name="T91" fmla="*/ 1150 h 1232"/>
                <a:gd name="T92" fmla="*/ 432 w 1232"/>
                <a:gd name="T93" fmla="*/ 1120 h 1232"/>
                <a:gd name="T94" fmla="*/ 316 w 1232"/>
                <a:gd name="T95" fmla="*/ 1060 h 1232"/>
                <a:gd name="T96" fmla="*/ 220 w 1232"/>
                <a:gd name="T97" fmla="*/ 976 h 1232"/>
                <a:gd name="T98" fmla="*/ 144 w 1232"/>
                <a:gd name="T99" fmla="*/ 872 h 1232"/>
                <a:gd name="T100" fmla="*/ 96 w 1232"/>
                <a:gd name="T101" fmla="*/ 750 h 1232"/>
                <a:gd name="T102" fmla="*/ 80 w 1232"/>
                <a:gd name="T103" fmla="*/ 616 h 123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32"/>
                <a:gd name="T157" fmla="*/ 0 h 1232"/>
                <a:gd name="T158" fmla="*/ 1232 w 1232"/>
                <a:gd name="T159" fmla="*/ 1232 h 123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32" h="1232">
                  <a:moveTo>
                    <a:pt x="0" y="616"/>
                  </a:moveTo>
                  <a:lnTo>
                    <a:pt x="0" y="616"/>
                  </a:lnTo>
                  <a:lnTo>
                    <a:pt x="0" y="648"/>
                  </a:lnTo>
                  <a:lnTo>
                    <a:pt x="4" y="678"/>
                  </a:lnTo>
                  <a:lnTo>
                    <a:pt x="8" y="710"/>
                  </a:lnTo>
                  <a:lnTo>
                    <a:pt x="12" y="740"/>
                  </a:lnTo>
                  <a:lnTo>
                    <a:pt x="20" y="770"/>
                  </a:lnTo>
                  <a:lnTo>
                    <a:pt x="28" y="798"/>
                  </a:lnTo>
                  <a:lnTo>
                    <a:pt x="38" y="828"/>
                  </a:lnTo>
                  <a:lnTo>
                    <a:pt x="48" y="856"/>
                  </a:lnTo>
                  <a:lnTo>
                    <a:pt x="60" y="882"/>
                  </a:lnTo>
                  <a:lnTo>
                    <a:pt x="74" y="910"/>
                  </a:lnTo>
                  <a:lnTo>
                    <a:pt x="90" y="936"/>
                  </a:lnTo>
                  <a:lnTo>
                    <a:pt x="106" y="960"/>
                  </a:lnTo>
                  <a:lnTo>
                    <a:pt x="122" y="984"/>
                  </a:lnTo>
                  <a:lnTo>
                    <a:pt x="140" y="1008"/>
                  </a:lnTo>
                  <a:lnTo>
                    <a:pt x="160" y="1030"/>
                  </a:lnTo>
                  <a:lnTo>
                    <a:pt x="180" y="1052"/>
                  </a:lnTo>
                  <a:lnTo>
                    <a:pt x="202" y="1072"/>
                  </a:lnTo>
                  <a:lnTo>
                    <a:pt x="224" y="1092"/>
                  </a:lnTo>
                  <a:lnTo>
                    <a:pt x="248" y="1110"/>
                  </a:lnTo>
                  <a:lnTo>
                    <a:pt x="272" y="1126"/>
                  </a:lnTo>
                  <a:lnTo>
                    <a:pt x="296" y="1142"/>
                  </a:lnTo>
                  <a:lnTo>
                    <a:pt x="322" y="1158"/>
                  </a:lnTo>
                  <a:lnTo>
                    <a:pt x="350" y="1172"/>
                  </a:lnTo>
                  <a:lnTo>
                    <a:pt x="376" y="1184"/>
                  </a:lnTo>
                  <a:lnTo>
                    <a:pt x="404" y="1194"/>
                  </a:lnTo>
                  <a:lnTo>
                    <a:pt x="434" y="1204"/>
                  </a:lnTo>
                  <a:lnTo>
                    <a:pt x="462" y="1212"/>
                  </a:lnTo>
                  <a:lnTo>
                    <a:pt x="492" y="1220"/>
                  </a:lnTo>
                  <a:lnTo>
                    <a:pt x="522" y="1224"/>
                  </a:lnTo>
                  <a:lnTo>
                    <a:pt x="554" y="1228"/>
                  </a:lnTo>
                  <a:lnTo>
                    <a:pt x="584" y="1232"/>
                  </a:lnTo>
                  <a:lnTo>
                    <a:pt x="616" y="1232"/>
                  </a:lnTo>
                  <a:lnTo>
                    <a:pt x="648" y="1232"/>
                  </a:lnTo>
                  <a:lnTo>
                    <a:pt x="678" y="1228"/>
                  </a:lnTo>
                  <a:lnTo>
                    <a:pt x="710" y="1224"/>
                  </a:lnTo>
                  <a:lnTo>
                    <a:pt x="740" y="1220"/>
                  </a:lnTo>
                  <a:lnTo>
                    <a:pt x="770" y="1212"/>
                  </a:lnTo>
                  <a:lnTo>
                    <a:pt x="798" y="1204"/>
                  </a:lnTo>
                  <a:lnTo>
                    <a:pt x="828" y="1194"/>
                  </a:lnTo>
                  <a:lnTo>
                    <a:pt x="856" y="1184"/>
                  </a:lnTo>
                  <a:lnTo>
                    <a:pt x="882" y="1172"/>
                  </a:lnTo>
                  <a:lnTo>
                    <a:pt x="910" y="1158"/>
                  </a:lnTo>
                  <a:lnTo>
                    <a:pt x="936" y="1142"/>
                  </a:lnTo>
                  <a:lnTo>
                    <a:pt x="960" y="1126"/>
                  </a:lnTo>
                  <a:lnTo>
                    <a:pt x="984" y="1110"/>
                  </a:lnTo>
                  <a:lnTo>
                    <a:pt x="1008" y="1092"/>
                  </a:lnTo>
                  <a:lnTo>
                    <a:pt x="1030" y="1072"/>
                  </a:lnTo>
                  <a:lnTo>
                    <a:pt x="1052" y="1052"/>
                  </a:lnTo>
                  <a:lnTo>
                    <a:pt x="1072" y="1030"/>
                  </a:lnTo>
                  <a:lnTo>
                    <a:pt x="1092" y="1008"/>
                  </a:lnTo>
                  <a:lnTo>
                    <a:pt x="1110" y="984"/>
                  </a:lnTo>
                  <a:lnTo>
                    <a:pt x="1126" y="960"/>
                  </a:lnTo>
                  <a:lnTo>
                    <a:pt x="1142" y="936"/>
                  </a:lnTo>
                  <a:lnTo>
                    <a:pt x="1158" y="910"/>
                  </a:lnTo>
                  <a:lnTo>
                    <a:pt x="1172" y="882"/>
                  </a:lnTo>
                  <a:lnTo>
                    <a:pt x="1184" y="856"/>
                  </a:lnTo>
                  <a:lnTo>
                    <a:pt x="1194" y="828"/>
                  </a:lnTo>
                  <a:lnTo>
                    <a:pt x="1204" y="798"/>
                  </a:lnTo>
                  <a:lnTo>
                    <a:pt x="1212" y="770"/>
                  </a:lnTo>
                  <a:lnTo>
                    <a:pt x="1220" y="740"/>
                  </a:lnTo>
                  <a:lnTo>
                    <a:pt x="1224" y="710"/>
                  </a:lnTo>
                  <a:lnTo>
                    <a:pt x="1228" y="678"/>
                  </a:lnTo>
                  <a:lnTo>
                    <a:pt x="1232" y="648"/>
                  </a:lnTo>
                  <a:lnTo>
                    <a:pt x="1232" y="616"/>
                  </a:lnTo>
                  <a:lnTo>
                    <a:pt x="1232" y="584"/>
                  </a:lnTo>
                  <a:lnTo>
                    <a:pt x="1228" y="554"/>
                  </a:lnTo>
                  <a:lnTo>
                    <a:pt x="1224" y="522"/>
                  </a:lnTo>
                  <a:lnTo>
                    <a:pt x="1220" y="492"/>
                  </a:lnTo>
                  <a:lnTo>
                    <a:pt x="1212" y="462"/>
                  </a:lnTo>
                  <a:lnTo>
                    <a:pt x="1204" y="434"/>
                  </a:lnTo>
                  <a:lnTo>
                    <a:pt x="1194" y="404"/>
                  </a:lnTo>
                  <a:lnTo>
                    <a:pt x="1184" y="376"/>
                  </a:lnTo>
                  <a:lnTo>
                    <a:pt x="1172" y="350"/>
                  </a:lnTo>
                  <a:lnTo>
                    <a:pt x="1158" y="322"/>
                  </a:lnTo>
                  <a:lnTo>
                    <a:pt x="1142" y="296"/>
                  </a:lnTo>
                  <a:lnTo>
                    <a:pt x="1126" y="272"/>
                  </a:lnTo>
                  <a:lnTo>
                    <a:pt x="1110" y="248"/>
                  </a:lnTo>
                  <a:lnTo>
                    <a:pt x="1092" y="224"/>
                  </a:lnTo>
                  <a:lnTo>
                    <a:pt x="1072" y="202"/>
                  </a:lnTo>
                  <a:lnTo>
                    <a:pt x="1052" y="180"/>
                  </a:lnTo>
                  <a:lnTo>
                    <a:pt x="1030" y="160"/>
                  </a:lnTo>
                  <a:lnTo>
                    <a:pt x="1008" y="140"/>
                  </a:lnTo>
                  <a:lnTo>
                    <a:pt x="984" y="122"/>
                  </a:lnTo>
                  <a:lnTo>
                    <a:pt x="960" y="106"/>
                  </a:lnTo>
                  <a:lnTo>
                    <a:pt x="936" y="90"/>
                  </a:lnTo>
                  <a:lnTo>
                    <a:pt x="910" y="74"/>
                  </a:lnTo>
                  <a:lnTo>
                    <a:pt x="882" y="60"/>
                  </a:lnTo>
                  <a:lnTo>
                    <a:pt x="856" y="48"/>
                  </a:lnTo>
                  <a:lnTo>
                    <a:pt x="828" y="38"/>
                  </a:lnTo>
                  <a:lnTo>
                    <a:pt x="798" y="28"/>
                  </a:lnTo>
                  <a:lnTo>
                    <a:pt x="770" y="20"/>
                  </a:lnTo>
                  <a:lnTo>
                    <a:pt x="740" y="12"/>
                  </a:lnTo>
                  <a:lnTo>
                    <a:pt x="710" y="8"/>
                  </a:lnTo>
                  <a:lnTo>
                    <a:pt x="678" y="4"/>
                  </a:lnTo>
                  <a:lnTo>
                    <a:pt x="648" y="0"/>
                  </a:lnTo>
                  <a:lnTo>
                    <a:pt x="616" y="0"/>
                  </a:lnTo>
                  <a:lnTo>
                    <a:pt x="584" y="0"/>
                  </a:lnTo>
                  <a:lnTo>
                    <a:pt x="554" y="4"/>
                  </a:lnTo>
                  <a:lnTo>
                    <a:pt x="522" y="8"/>
                  </a:lnTo>
                  <a:lnTo>
                    <a:pt x="492" y="12"/>
                  </a:lnTo>
                  <a:lnTo>
                    <a:pt x="462" y="20"/>
                  </a:lnTo>
                  <a:lnTo>
                    <a:pt x="434" y="28"/>
                  </a:lnTo>
                  <a:lnTo>
                    <a:pt x="404" y="38"/>
                  </a:lnTo>
                  <a:lnTo>
                    <a:pt x="376" y="48"/>
                  </a:lnTo>
                  <a:lnTo>
                    <a:pt x="350" y="60"/>
                  </a:lnTo>
                  <a:lnTo>
                    <a:pt x="322" y="74"/>
                  </a:lnTo>
                  <a:lnTo>
                    <a:pt x="296" y="90"/>
                  </a:lnTo>
                  <a:lnTo>
                    <a:pt x="272" y="106"/>
                  </a:lnTo>
                  <a:lnTo>
                    <a:pt x="248" y="122"/>
                  </a:lnTo>
                  <a:lnTo>
                    <a:pt x="224" y="140"/>
                  </a:lnTo>
                  <a:lnTo>
                    <a:pt x="202" y="160"/>
                  </a:lnTo>
                  <a:lnTo>
                    <a:pt x="180" y="180"/>
                  </a:lnTo>
                  <a:lnTo>
                    <a:pt x="160" y="202"/>
                  </a:lnTo>
                  <a:lnTo>
                    <a:pt x="140" y="224"/>
                  </a:lnTo>
                  <a:lnTo>
                    <a:pt x="122" y="248"/>
                  </a:lnTo>
                  <a:lnTo>
                    <a:pt x="106" y="272"/>
                  </a:lnTo>
                  <a:lnTo>
                    <a:pt x="90" y="296"/>
                  </a:lnTo>
                  <a:lnTo>
                    <a:pt x="74" y="322"/>
                  </a:lnTo>
                  <a:lnTo>
                    <a:pt x="60" y="350"/>
                  </a:lnTo>
                  <a:lnTo>
                    <a:pt x="48" y="376"/>
                  </a:lnTo>
                  <a:lnTo>
                    <a:pt x="38" y="404"/>
                  </a:lnTo>
                  <a:lnTo>
                    <a:pt x="28" y="434"/>
                  </a:lnTo>
                  <a:lnTo>
                    <a:pt x="20" y="462"/>
                  </a:lnTo>
                  <a:lnTo>
                    <a:pt x="12" y="492"/>
                  </a:lnTo>
                  <a:lnTo>
                    <a:pt x="8" y="522"/>
                  </a:lnTo>
                  <a:lnTo>
                    <a:pt x="4" y="554"/>
                  </a:lnTo>
                  <a:lnTo>
                    <a:pt x="0" y="584"/>
                  </a:lnTo>
                  <a:lnTo>
                    <a:pt x="0" y="616"/>
                  </a:lnTo>
                  <a:close/>
                  <a:moveTo>
                    <a:pt x="80" y="616"/>
                  </a:moveTo>
                  <a:lnTo>
                    <a:pt x="80" y="616"/>
                  </a:lnTo>
                  <a:lnTo>
                    <a:pt x="80" y="588"/>
                  </a:lnTo>
                  <a:lnTo>
                    <a:pt x="82" y="562"/>
                  </a:lnTo>
                  <a:lnTo>
                    <a:pt x="86" y="534"/>
                  </a:lnTo>
                  <a:lnTo>
                    <a:pt x="90" y="508"/>
                  </a:lnTo>
                  <a:lnTo>
                    <a:pt x="96" y="482"/>
                  </a:lnTo>
                  <a:lnTo>
                    <a:pt x="104" y="456"/>
                  </a:lnTo>
                  <a:lnTo>
                    <a:pt x="112" y="432"/>
                  </a:lnTo>
                  <a:lnTo>
                    <a:pt x="122" y="408"/>
                  </a:lnTo>
                  <a:lnTo>
                    <a:pt x="132" y="384"/>
                  </a:lnTo>
                  <a:lnTo>
                    <a:pt x="144" y="360"/>
                  </a:lnTo>
                  <a:lnTo>
                    <a:pt x="158" y="338"/>
                  </a:lnTo>
                  <a:lnTo>
                    <a:pt x="172" y="316"/>
                  </a:lnTo>
                  <a:lnTo>
                    <a:pt x="186" y="296"/>
                  </a:lnTo>
                  <a:lnTo>
                    <a:pt x="202" y="276"/>
                  </a:lnTo>
                  <a:lnTo>
                    <a:pt x="220" y="256"/>
                  </a:lnTo>
                  <a:lnTo>
                    <a:pt x="238" y="238"/>
                  </a:lnTo>
                  <a:lnTo>
                    <a:pt x="256" y="220"/>
                  </a:lnTo>
                  <a:lnTo>
                    <a:pt x="276" y="202"/>
                  </a:lnTo>
                  <a:lnTo>
                    <a:pt x="296" y="186"/>
                  </a:lnTo>
                  <a:lnTo>
                    <a:pt x="316" y="172"/>
                  </a:lnTo>
                  <a:lnTo>
                    <a:pt x="338" y="158"/>
                  </a:lnTo>
                  <a:lnTo>
                    <a:pt x="360" y="144"/>
                  </a:lnTo>
                  <a:lnTo>
                    <a:pt x="384" y="132"/>
                  </a:lnTo>
                  <a:lnTo>
                    <a:pt x="408" y="122"/>
                  </a:lnTo>
                  <a:lnTo>
                    <a:pt x="432" y="112"/>
                  </a:lnTo>
                  <a:lnTo>
                    <a:pt x="456" y="104"/>
                  </a:lnTo>
                  <a:lnTo>
                    <a:pt x="482" y="96"/>
                  </a:lnTo>
                  <a:lnTo>
                    <a:pt x="508" y="90"/>
                  </a:lnTo>
                  <a:lnTo>
                    <a:pt x="534" y="86"/>
                  </a:lnTo>
                  <a:lnTo>
                    <a:pt x="562" y="82"/>
                  </a:lnTo>
                  <a:lnTo>
                    <a:pt x="588" y="80"/>
                  </a:lnTo>
                  <a:lnTo>
                    <a:pt x="616" y="80"/>
                  </a:lnTo>
                  <a:lnTo>
                    <a:pt x="644" y="80"/>
                  </a:lnTo>
                  <a:lnTo>
                    <a:pt x="670" y="82"/>
                  </a:lnTo>
                  <a:lnTo>
                    <a:pt x="698" y="86"/>
                  </a:lnTo>
                  <a:lnTo>
                    <a:pt x="724" y="90"/>
                  </a:lnTo>
                  <a:lnTo>
                    <a:pt x="750" y="96"/>
                  </a:lnTo>
                  <a:lnTo>
                    <a:pt x="776" y="104"/>
                  </a:lnTo>
                  <a:lnTo>
                    <a:pt x="800" y="112"/>
                  </a:lnTo>
                  <a:lnTo>
                    <a:pt x="824" y="122"/>
                  </a:lnTo>
                  <a:lnTo>
                    <a:pt x="848" y="132"/>
                  </a:lnTo>
                  <a:lnTo>
                    <a:pt x="872" y="144"/>
                  </a:lnTo>
                  <a:lnTo>
                    <a:pt x="894" y="158"/>
                  </a:lnTo>
                  <a:lnTo>
                    <a:pt x="916" y="172"/>
                  </a:lnTo>
                  <a:lnTo>
                    <a:pt x="936" y="186"/>
                  </a:lnTo>
                  <a:lnTo>
                    <a:pt x="956" y="202"/>
                  </a:lnTo>
                  <a:lnTo>
                    <a:pt x="976" y="220"/>
                  </a:lnTo>
                  <a:lnTo>
                    <a:pt x="994" y="238"/>
                  </a:lnTo>
                  <a:lnTo>
                    <a:pt x="1012" y="256"/>
                  </a:lnTo>
                  <a:lnTo>
                    <a:pt x="1030" y="276"/>
                  </a:lnTo>
                  <a:lnTo>
                    <a:pt x="1046" y="296"/>
                  </a:lnTo>
                  <a:lnTo>
                    <a:pt x="1060" y="316"/>
                  </a:lnTo>
                  <a:lnTo>
                    <a:pt x="1074" y="338"/>
                  </a:lnTo>
                  <a:lnTo>
                    <a:pt x="1088" y="360"/>
                  </a:lnTo>
                  <a:lnTo>
                    <a:pt x="1100" y="384"/>
                  </a:lnTo>
                  <a:lnTo>
                    <a:pt x="1110" y="408"/>
                  </a:lnTo>
                  <a:lnTo>
                    <a:pt x="1120" y="432"/>
                  </a:lnTo>
                  <a:lnTo>
                    <a:pt x="1128" y="456"/>
                  </a:lnTo>
                  <a:lnTo>
                    <a:pt x="1136" y="482"/>
                  </a:lnTo>
                  <a:lnTo>
                    <a:pt x="1142" y="508"/>
                  </a:lnTo>
                  <a:lnTo>
                    <a:pt x="1146" y="534"/>
                  </a:lnTo>
                  <a:lnTo>
                    <a:pt x="1150" y="562"/>
                  </a:lnTo>
                  <a:lnTo>
                    <a:pt x="1152" y="588"/>
                  </a:lnTo>
                  <a:lnTo>
                    <a:pt x="1152" y="616"/>
                  </a:lnTo>
                  <a:lnTo>
                    <a:pt x="1152" y="644"/>
                  </a:lnTo>
                  <a:lnTo>
                    <a:pt x="1150" y="670"/>
                  </a:lnTo>
                  <a:lnTo>
                    <a:pt x="1146" y="698"/>
                  </a:lnTo>
                  <a:lnTo>
                    <a:pt x="1142" y="724"/>
                  </a:lnTo>
                  <a:lnTo>
                    <a:pt x="1136" y="750"/>
                  </a:lnTo>
                  <a:lnTo>
                    <a:pt x="1128" y="776"/>
                  </a:lnTo>
                  <a:lnTo>
                    <a:pt x="1120" y="800"/>
                  </a:lnTo>
                  <a:lnTo>
                    <a:pt x="1110" y="824"/>
                  </a:lnTo>
                  <a:lnTo>
                    <a:pt x="1100" y="848"/>
                  </a:lnTo>
                  <a:lnTo>
                    <a:pt x="1088" y="872"/>
                  </a:lnTo>
                  <a:lnTo>
                    <a:pt x="1074" y="894"/>
                  </a:lnTo>
                  <a:lnTo>
                    <a:pt x="1060" y="916"/>
                  </a:lnTo>
                  <a:lnTo>
                    <a:pt x="1046" y="936"/>
                  </a:lnTo>
                  <a:lnTo>
                    <a:pt x="1030" y="956"/>
                  </a:lnTo>
                  <a:lnTo>
                    <a:pt x="1012" y="976"/>
                  </a:lnTo>
                  <a:lnTo>
                    <a:pt x="994" y="994"/>
                  </a:lnTo>
                  <a:lnTo>
                    <a:pt x="976" y="1012"/>
                  </a:lnTo>
                  <a:lnTo>
                    <a:pt x="956" y="1030"/>
                  </a:lnTo>
                  <a:lnTo>
                    <a:pt x="936" y="1046"/>
                  </a:lnTo>
                  <a:lnTo>
                    <a:pt x="916" y="1060"/>
                  </a:lnTo>
                  <a:lnTo>
                    <a:pt x="894" y="1074"/>
                  </a:lnTo>
                  <a:lnTo>
                    <a:pt x="872" y="1088"/>
                  </a:lnTo>
                  <a:lnTo>
                    <a:pt x="848" y="1100"/>
                  </a:lnTo>
                  <a:lnTo>
                    <a:pt x="824" y="1110"/>
                  </a:lnTo>
                  <a:lnTo>
                    <a:pt x="800" y="1120"/>
                  </a:lnTo>
                  <a:lnTo>
                    <a:pt x="776" y="1128"/>
                  </a:lnTo>
                  <a:lnTo>
                    <a:pt x="750" y="1136"/>
                  </a:lnTo>
                  <a:lnTo>
                    <a:pt x="724" y="1142"/>
                  </a:lnTo>
                  <a:lnTo>
                    <a:pt x="698" y="1146"/>
                  </a:lnTo>
                  <a:lnTo>
                    <a:pt x="670" y="1150"/>
                  </a:lnTo>
                  <a:lnTo>
                    <a:pt x="644" y="1152"/>
                  </a:lnTo>
                  <a:lnTo>
                    <a:pt x="616" y="1152"/>
                  </a:lnTo>
                  <a:lnTo>
                    <a:pt x="588" y="1152"/>
                  </a:lnTo>
                  <a:lnTo>
                    <a:pt x="562" y="1150"/>
                  </a:lnTo>
                  <a:lnTo>
                    <a:pt x="534" y="1146"/>
                  </a:lnTo>
                  <a:lnTo>
                    <a:pt x="508" y="1142"/>
                  </a:lnTo>
                  <a:lnTo>
                    <a:pt x="482" y="1136"/>
                  </a:lnTo>
                  <a:lnTo>
                    <a:pt x="456" y="1128"/>
                  </a:lnTo>
                  <a:lnTo>
                    <a:pt x="432" y="1120"/>
                  </a:lnTo>
                  <a:lnTo>
                    <a:pt x="408" y="1110"/>
                  </a:lnTo>
                  <a:lnTo>
                    <a:pt x="384" y="1100"/>
                  </a:lnTo>
                  <a:lnTo>
                    <a:pt x="360" y="1088"/>
                  </a:lnTo>
                  <a:lnTo>
                    <a:pt x="338" y="1074"/>
                  </a:lnTo>
                  <a:lnTo>
                    <a:pt x="316" y="1060"/>
                  </a:lnTo>
                  <a:lnTo>
                    <a:pt x="296" y="1046"/>
                  </a:lnTo>
                  <a:lnTo>
                    <a:pt x="276" y="1030"/>
                  </a:lnTo>
                  <a:lnTo>
                    <a:pt x="256" y="1012"/>
                  </a:lnTo>
                  <a:lnTo>
                    <a:pt x="238" y="994"/>
                  </a:lnTo>
                  <a:lnTo>
                    <a:pt x="220" y="976"/>
                  </a:lnTo>
                  <a:lnTo>
                    <a:pt x="202" y="956"/>
                  </a:lnTo>
                  <a:lnTo>
                    <a:pt x="186" y="936"/>
                  </a:lnTo>
                  <a:lnTo>
                    <a:pt x="172" y="916"/>
                  </a:lnTo>
                  <a:lnTo>
                    <a:pt x="158" y="894"/>
                  </a:lnTo>
                  <a:lnTo>
                    <a:pt x="144" y="872"/>
                  </a:lnTo>
                  <a:lnTo>
                    <a:pt x="132" y="848"/>
                  </a:lnTo>
                  <a:lnTo>
                    <a:pt x="122" y="824"/>
                  </a:lnTo>
                  <a:lnTo>
                    <a:pt x="112" y="800"/>
                  </a:lnTo>
                  <a:lnTo>
                    <a:pt x="104" y="776"/>
                  </a:lnTo>
                  <a:lnTo>
                    <a:pt x="96" y="750"/>
                  </a:lnTo>
                  <a:lnTo>
                    <a:pt x="90" y="724"/>
                  </a:lnTo>
                  <a:lnTo>
                    <a:pt x="86" y="698"/>
                  </a:lnTo>
                  <a:lnTo>
                    <a:pt x="82" y="670"/>
                  </a:lnTo>
                  <a:lnTo>
                    <a:pt x="80" y="644"/>
                  </a:lnTo>
                  <a:lnTo>
                    <a:pt x="80" y="616"/>
                  </a:lnTo>
                  <a:close/>
                </a:path>
              </a:pathLst>
            </a:custGeom>
            <a:solidFill>
              <a:schemeClr val="tx1">
                <a:lumMod val="75000"/>
                <a:lumOff val="25000"/>
                <a:alpha val="9000"/>
              </a:schemeClr>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defTabSz="316230"/>
              <a:endParaRPr lang="zh-CN" altLang="zh-CN" sz="1245" dirty="0">
                <a:solidFill>
                  <a:srgbClr val="000000"/>
                </a:solidFill>
                <a:latin typeface="HYXuanSong 75J" panose="00020600040101010101" charset="-122"/>
                <a:ea typeface="HYXuanSong 75J" panose="00020600040101010101" charset="-122"/>
                <a:sym typeface="宋体" panose="02010600030101010101" pitchFamily="2" charset="-122"/>
              </a:endParaRPr>
            </a:p>
          </p:txBody>
        </p:sp>
      </p:grpSp>
      <p:pic>
        <p:nvPicPr>
          <p:cNvPr id="2097176" name="图片 33" descr="C:/Users/hugq/Desktop/图片2.png图片2"/>
          <p:cNvPicPr>
            <a:picLocks noChangeAspect="1"/>
          </p:cNvPicPr>
          <p:nvPr>
            <p:custDataLst>
              <p:tags r:id="rId30"/>
            </p:custDataLst>
          </p:nvPr>
        </p:nvPicPr>
        <p:blipFill>
          <a:blip r:embed="rId31"/>
          <a:srcRect l="4730" r="4730"/>
          <a:stretch>
            <a:fillRect/>
          </a:stretch>
        </p:blipFill>
        <p:spPr>
          <a:xfrm>
            <a:off x="5074878" y="2549531"/>
            <a:ext cx="2092677" cy="2147525"/>
          </a:xfrm>
          <a:prstGeom prst="rect">
            <a:avLst/>
          </a:prstGeom>
          <a:effectLst>
            <a:outerShdw blurRad="50800" dist="127000" dir="21540000" sx="98000" sy="98000" algn="ctr" rotWithShape="0">
              <a:schemeClr val="tx2">
                <a:lumMod val="75000"/>
                <a:alpha val="1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8673"/>
                                        </p:tgtEl>
                                        <p:attrNameLst>
                                          <p:attrName>style.visibility</p:attrName>
                                        </p:attrNameLst>
                                      </p:cBhvr>
                                      <p:to>
                                        <p:strVal val="visible"/>
                                      </p:to>
                                    </p:set>
                                    <p:anim calcmode="lin" valueType="num">
                                      <p:cBhvr additive="base">
                                        <p:cTn id="7" dur="500" fill="hold"/>
                                        <p:tgtEl>
                                          <p:spTgt spid="1048673"/>
                                        </p:tgtEl>
                                        <p:attrNameLst>
                                          <p:attrName>ppt_x</p:attrName>
                                        </p:attrNameLst>
                                      </p:cBhvr>
                                      <p:tavLst>
                                        <p:tav tm="0">
                                          <p:val>
                                            <p:strVal val="0-#ppt_w/2"/>
                                          </p:val>
                                        </p:tav>
                                        <p:tav tm="100000">
                                          <p:val>
                                            <p:strVal val="#ppt_x"/>
                                          </p:val>
                                        </p:tav>
                                      </p:tavLst>
                                    </p:anim>
                                    <p:anim calcmode="lin" valueType="num">
                                      <p:cBhvr additive="base">
                                        <p:cTn id="8" dur="500" fill="hold"/>
                                        <p:tgtEl>
                                          <p:spTgt spid="104867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48671"/>
                                        </p:tgtEl>
                                        <p:attrNameLst>
                                          <p:attrName>style.visibility</p:attrName>
                                        </p:attrNameLst>
                                      </p:cBhvr>
                                      <p:to>
                                        <p:strVal val="visible"/>
                                      </p:to>
                                    </p:set>
                                    <p:anim calcmode="lin" valueType="num">
                                      <p:cBhvr additive="base">
                                        <p:cTn id="13" dur="500" fill="hold"/>
                                        <p:tgtEl>
                                          <p:spTgt spid="1048671"/>
                                        </p:tgtEl>
                                        <p:attrNameLst>
                                          <p:attrName>ppt_x</p:attrName>
                                        </p:attrNameLst>
                                      </p:cBhvr>
                                      <p:tavLst>
                                        <p:tav tm="0">
                                          <p:val>
                                            <p:strVal val="1+#ppt_w/2"/>
                                          </p:val>
                                        </p:tav>
                                        <p:tav tm="100000">
                                          <p:val>
                                            <p:strVal val="#ppt_x"/>
                                          </p:val>
                                        </p:tav>
                                      </p:tavLst>
                                    </p:anim>
                                    <p:anim calcmode="lin" valueType="num">
                                      <p:cBhvr additive="base">
                                        <p:cTn id="14" dur="500" fill="hold"/>
                                        <p:tgtEl>
                                          <p:spTgt spid="10486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1048674"/>
                                        </p:tgtEl>
                                        <p:attrNameLst>
                                          <p:attrName>style.visibility</p:attrName>
                                        </p:attrNameLst>
                                      </p:cBhvr>
                                      <p:to>
                                        <p:strVal val="visible"/>
                                      </p:to>
                                    </p:set>
                                    <p:anim calcmode="lin" valueType="num">
                                      <p:cBhvr additive="base">
                                        <p:cTn id="19" dur="500" fill="hold"/>
                                        <p:tgtEl>
                                          <p:spTgt spid="1048674"/>
                                        </p:tgtEl>
                                        <p:attrNameLst>
                                          <p:attrName>ppt_x</p:attrName>
                                        </p:attrNameLst>
                                      </p:cBhvr>
                                      <p:tavLst>
                                        <p:tav tm="0">
                                          <p:val>
                                            <p:strVal val="0-#ppt_w/2"/>
                                          </p:val>
                                        </p:tav>
                                        <p:tav tm="100000">
                                          <p:val>
                                            <p:strVal val="#ppt_x"/>
                                          </p:val>
                                        </p:tav>
                                      </p:tavLst>
                                    </p:anim>
                                    <p:anim calcmode="lin" valueType="num">
                                      <p:cBhvr additive="base">
                                        <p:cTn id="20" dur="500" fill="hold"/>
                                        <p:tgtEl>
                                          <p:spTgt spid="104867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grpId="0" nodeType="clickEffect">
                                  <p:stCondLst>
                                    <p:cond delay="0"/>
                                  </p:stCondLst>
                                  <p:childTnLst>
                                    <p:set>
                                      <p:cBhvr>
                                        <p:cTn id="24" dur="1" fill="hold">
                                          <p:stCondLst>
                                            <p:cond delay="0"/>
                                          </p:stCondLst>
                                        </p:cTn>
                                        <p:tgtEl>
                                          <p:spTgt spid="1048672"/>
                                        </p:tgtEl>
                                        <p:attrNameLst>
                                          <p:attrName>style.visibility</p:attrName>
                                        </p:attrNameLst>
                                      </p:cBhvr>
                                      <p:to>
                                        <p:strVal val="visible"/>
                                      </p:to>
                                    </p:set>
                                    <p:anim calcmode="lin" valueType="num">
                                      <p:cBhvr additive="base">
                                        <p:cTn id="25" dur="500" fill="hold"/>
                                        <p:tgtEl>
                                          <p:spTgt spid="1048672"/>
                                        </p:tgtEl>
                                        <p:attrNameLst>
                                          <p:attrName>ppt_x</p:attrName>
                                        </p:attrNameLst>
                                      </p:cBhvr>
                                      <p:tavLst>
                                        <p:tav tm="0">
                                          <p:val>
                                            <p:strVal val="1+#ppt_w/2"/>
                                          </p:val>
                                        </p:tav>
                                        <p:tav tm="100000">
                                          <p:val>
                                            <p:strVal val="#ppt_x"/>
                                          </p:val>
                                        </p:tav>
                                      </p:tavLst>
                                    </p:anim>
                                    <p:anim calcmode="lin" valueType="num">
                                      <p:cBhvr additive="base">
                                        <p:cTn id="26" dur="500" fill="hold"/>
                                        <p:tgtEl>
                                          <p:spTgt spid="10486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1" grpId="0"/>
      <p:bldP spid="1048672" grpId="0"/>
      <p:bldP spid="1048673" grpId="0"/>
      <p:bldP spid="104867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065" y="381000"/>
            <a:ext cx="566610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Encoding Strategy &amp; Dataset Split</a:t>
            </a:r>
            <a:endParaRPr lang="en-US" altLang="zh-CN" sz="2400" b="1" i="0" u="none" strike="noStrike">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p:txBody>
      </p: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46490" y="220980"/>
            <a:ext cx="3689985" cy="1301750"/>
          </a:xfrm>
          <a:prstGeom prst="rect">
            <a:avLst/>
          </a:prstGeom>
        </p:spPr>
      </p:pic>
      <p:sp>
        <p:nvSpPr>
          <p:cNvPr id="1048670" name="矩形 55"/>
          <p:cNvSpPr/>
          <p:nvPr/>
        </p:nvSpPr>
        <p:spPr>
          <a:xfrm>
            <a:off x="8507186" y="1409936"/>
            <a:ext cx="3539699" cy="16456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45"/>
          </a:p>
        </p:txBody>
      </p:sp>
      <p:sp>
        <p:nvSpPr>
          <p:cNvPr id="1048645" name="文本框 20"/>
          <p:cNvSpPr txBox="1"/>
          <p:nvPr/>
        </p:nvSpPr>
        <p:spPr>
          <a:xfrm>
            <a:off x="7730490" y="3693160"/>
            <a:ext cx="2785110" cy="390525"/>
          </a:xfrm>
          <a:prstGeom prst="rect">
            <a:avLst/>
          </a:prstGeom>
          <a:noFill/>
        </p:spPr>
        <p:txBody>
          <a:bodyPr wrap="square" rtlCol="0">
            <a:spAutoFit/>
          </a:bodyPr>
          <a:p>
            <a:pPr algn="ctr"/>
            <a:r>
              <a:rPr lang="zh-CN" altLang="en-US" sz="1940" b="1" dirty="0">
                <a:solidFill>
                  <a:schemeClr val="bg2"/>
                </a:solidFill>
                <a:latin typeface="HYXuanSong 75J" panose="00020600040101010101" charset="-122"/>
                <a:ea typeface="HYXuanSong 75J" panose="00020600040101010101" charset="-122"/>
              </a:rPr>
              <a:t>单击此处添加图表标题</a:t>
            </a:r>
            <a:endParaRPr lang="zh-CN" altLang="en-US" sz="1940" b="1" dirty="0">
              <a:solidFill>
                <a:schemeClr val="bg2"/>
              </a:solidFill>
              <a:latin typeface="HYXuanSong 75J" panose="00020600040101010101" charset="-122"/>
              <a:ea typeface="HYXuanSong 75J" panose="00020600040101010101" charset="-122"/>
            </a:endParaRPr>
          </a:p>
        </p:txBody>
      </p:sp>
      <p:cxnSp>
        <p:nvCxnSpPr>
          <p:cNvPr id="3145737" name="直接连接符 26"/>
          <p:cNvCxnSpPr/>
          <p:nvPr/>
        </p:nvCxnSpPr>
        <p:spPr>
          <a:xfrm>
            <a:off x="5349001" y="1160409"/>
            <a:ext cx="0" cy="3024000"/>
          </a:xfrm>
          <a:prstGeom prst="line">
            <a:avLst/>
          </a:prstGeom>
          <a:ln w="317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48648" name="文本框 28"/>
          <p:cNvSpPr txBox="1"/>
          <p:nvPr/>
        </p:nvSpPr>
        <p:spPr>
          <a:xfrm>
            <a:off x="6198235" y="1284605"/>
            <a:ext cx="5715635" cy="2745740"/>
          </a:xfrm>
          <a:prstGeom prst="rect">
            <a:avLst/>
          </a:prstGeom>
          <a:noFill/>
        </p:spPr>
        <p:txBody>
          <a:bodyPr wrap="square" rtlCol="0">
            <a:spAutoFit/>
          </a:bodyPr>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original Task 3 test set is kept unchanged.</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Task 4 split:</a:t>
            </a:r>
            <a:endParaRPr lang="en-US" altLang="zh-CN" sz="16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Train: 810 samples</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Validation: 202 samples</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 Test: 253 samples</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validation set is split from Task 3 train.csv using </a:t>
            </a:r>
            <a:r>
              <a:rPr lang="en-US" altLang="zh-CN" sz="16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a fixed seed.</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lvl="0">
              <a:lnSpc>
                <a:spcPct val="120000"/>
              </a:lnSpc>
              <a:spcBef>
                <a:spcPct val="0"/>
              </a:spcBef>
            </a:pPr>
            <a:r>
              <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The split is stratified by category and North America rating.</a:t>
            </a:r>
            <a:endParaRPr lang="en-US" altLang="zh-CN" sz="1600"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p:txBody>
      </p:sp>
      <p:grpSp>
        <p:nvGrpSpPr>
          <p:cNvPr id="59" name="Group 4"/>
          <p:cNvGrpSpPr/>
          <p:nvPr/>
        </p:nvGrpSpPr>
        <p:grpSpPr bwMode="auto">
          <a:xfrm>
            <a:off x="5296589" y="1865364"/>
            <a:ext cx="116498" cy="116498"/>
            <a:chOff x="2928" y="2208"/>
            <a:chExt cx="262" cy="262"/>
          </a:xfrm>
        </p:grpSpPr>
        <p:sp>
          <p:nvSpPr>
            <p:cNvPr id="1048649"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0"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p>
              <a:pPr defTabSz="316230"/>
              <a:endParaRPr lang="zh-CN" altLang="en-US" sz="1245">
                <a:solidFill>
                  <a:srgbClr val="FFFFFF"/>
                </a:solidFill>
                <a:latin typeface="Arial" panose="020B0604020202020204"/>
                <a:ea typeface="微软雅黑" panose="020B0503020204020204" pitchFamily="34" charset="-122"/>
              </a:endParaRPr>
            </a:p>
          </p:txBody>
        </p:sp>
      </p:grpSp>
      <p:grpSp>
        <p:nvGrpSpPr>
          <p:cNvPr id="60" name="Group 4"/>
          <p:cNvGrpSpPr/>
          <p:nvPr/>
        </p:nvGrpSpPr>
        <p:grpSpPr bwMode="auto">
          <a:xfrm>
            <a:off x="5298131" y="3063527"/>
            <a:ext cx="116498" cy="116498"/>
            <a:chOff x="2928" y="2208"/>
            <a:chExt cx="262" cy="262"/>
          </a:xfrm>
        </p:grpSpPr>
        <p:sp>
          <p:nvSpPr>
            <p:cNvPr id="1048651"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2"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p>
              <a:pPr defTabSz="316230"/>
              <a:endParaRPr lang="zh-CN" altLang="en-US" sz="1245">
                <a:solidFill>
                  <a:srgbClr val="FFFFFF"/>
                </a:solidFill>
                <a:latin typeface="Arial" panose="020B0604020202020204"/>
                <a:ea typeface="微软雅黑" panose="020B0503020204020204" pitchFamily="34" charset="-122"/>
              </a:endParaRPr>
            </a:p>
          </p:txBody>
        </p:sp>
      </p:grpSp>
      <p:cxnSp>
        <p:nvCxnSpPr>
          <p:cNvPr id="3145738" name="直接连接符 38"/>
          <p:cNvCxnSpPr/>
          <p:nvPr/>
        </p:nvCxnSpPr>
        <p:spPr>
          <a:xfrm flipH="1">
            <a:off x="6312352" y="4169745"/>
            <a:ext cx="9117" cy="2481576"/>
          </a:xfrm>
          <a:prstGeom prst="line">
            <a:avLst/>
          </a:prstGeom>
          <a:ln w="317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61" name="Group 4"/>
          <p:cNvGrpSpPr/>
          <p:nvPr/>
        </p:nvGrpSpPr>
        <p:grpSpPr bwMode="auto">
          <a:xfrm>
            <a:off x="6254548" y="4926296"/>
            <a:ext cx="116498" cy="116498"/>
            <a:chOff x="2928" y="2208"/>
            <a:chExt cx="262" cy="262"/>
          </a:xfrm>
        </p:grpSpPr>
        <p:sp>
          <p:nvSpPr>
            <p:cNvPr id="1048654"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5"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p>
              <a:pPr defTabSz="316230"/>
              <a:endParaRPr lang="zh-CN" altLang="en-US" sz="1245">
                <a:solidFill>
                  <a:srgbClr val="FFFFFF"/>
                </a:solidFill>
                <a:latin typeface="Arial" panose="020B0604020202020204"/>
                <a:ea typeface="微软雅黑" panose="020B0503020204020204" pitchFamily="34" charset="-122"/>
              </a:endParaRPr>
            </a:p>
          </p:txBody>
        </p:sp>
      </p:grpSp>
      <p:grpSp>
        <p:nvGrpSpPr>
          <p:cNvPr id="62" name="Group 4"/>
          <p:cNvGrpSpPr/>
          <p:nvPr/>
        </p:nvGrpSpPr>
        <p:grpSpPr bwMode="auto">
          <a:xfrm>
            <a:off x="6254548" y="6010279"/>
            <a:ext cx="116498" cy="116498"/>
            <a:chOff x="2928" y="2208"/>
            <a:chExt cx="262" cy="262"/>
          </a:xfrm>
        </p:grpSpPr>
        <p:sp>
          <p:nvSpPr>
            <p:cNvPr id="1048656" name="Oval 5"/>
            <p:cNvSpPr>
              <a:spLocks noChangeArrowheads="1"/>
            </p:cNvSpPr>
            <p:nvPr/>
          </p:nvSpPr>
          <p:spPr bwMode="gray">
            <a:xfrm>
              <a:off x="2928" y="2208"/>
              <a:ext cx="262" cy="262"/>
            </a:xfrm>
            <a:prstGeom prst="ellipse">
              <a:avLst/>
            </a:prstGeom>
            <a:gradFill rotWithShape="1">
              <a:gsLst>
                <a:gs pos="0">
                  <a:schemeClr val="accent2">
                    <a:gamma/>
                    <a:tint val="28627"/>
                    <a:invGamma/>
                  </a:schemeClr>
                </a:gs>
                <a:gs pos="100000">
                  <a:schemeClr val="accent2"/>
                </a:gs>
              </a:gsLst>
              <a:lin ang="2700000" scaled="1"/>
            </a:gradFill>
            <a:ln w="12700">
              <a:solidFill>
                <a:srgbClr val="F8F8F8"/>
              </a:solidFill>
              <a:round/>
            </a:ln>
            <a:effectLst>
              <a:outerShdw dist="35921" dir="2700000" algn="ctr" rotWithShape="0">
                <a:srgbClr val="1C1C1C">
                  <a:alpha val="50000"/>
                </a:srgbClr>
              </a:outerShdw>
            </a:effectLst>
          </p:spPr>
          <p:txBody>
            <a:bodyPr wrap="none" anchor="ctr"/>
            <a:p>
              <a:pPr defTabSz="316230"/>
              <a:endParaRPr lang="zh-CN" altLang="en-US" sz="1245">
                <a:solidFill>
                  <a:srgbClr val="3D3F41"/>
                </a:solidFill>
                <a:latin typeface="Arial" panose="020B0604020202020204"/>
                <a:ea typeface="微软雅黑" panose="020B0503020204020204" pitchFamily="34" charset="-122"/>
              </a:endParaRPr>
            </a:p>
          </p:txBody>
        </p:sp>
        <p:sp>
          <p:nvSpPr>
            <p:cNvPr id="1048657" name="Oval 6"/>
            <p:cNvSpPr>
              <a:spLocks noChangeArrowheads="1"/>
            </p:cNvSpPr>
            <p:nvPr/>
          </p:nvSpPr>
          <p:spPr bwMode="gray">
            <a:xfrm>
              <a:off x="2949" y="2230"/>
              <a:ext cx="218" cy="218"/>
            </a:xfrm>
            <a:prstGeom prst="ellipse">
              <a:avLst/>
            </a:prstGeom>
            <a:solidFill>
              <a:srgbClr val="071F65"/>
            </a:solidFill>
            <a:ln>
              <a:solidFill>
                <a:srgbClr val="071F65"/>
              </a:solidFill>
            </a:ln>
          </p:spPr>
          <p:style>
            <a:lnRef idx="1">
              <a:schemeClr val="accent6"/>
            </a:lnRef>
            <a:fillRef idx="3">
              <a:schemeClr val="accent6"/>
            </a:fillRef>
            <a:effectRef idx="2">
              <a:schemeClr val="accent6"/>
            </a:effectRef>
            <a:fontRef idx="minor">
              <a:schemeClr val="lt1"/>
            </a:fontRef>
          </p:style>
          <p:txBody>
            <a:bodyPr wrap="none" anchor="ctr"/>
            <a:p>
              <a:pPr defTabSz="316230"/>
              <a:endParaRPr lang="zh-CN" altLang="en-US" sz="1245">
                <a:solidFill>
                  <a:srgbClr val="FFFFFF"/>
                </a:solidFill>
                <a:latin typeface="Arial" panose="020B0604020202020204"/>
                <a:ea typeface="微软雅黑" panose="020B0503020204020204" pitchFamily="34" charset="-122"/>
              </a:endParaRPr>
            </a:p>
          </p:txBody>
        </p:sp>
      </p:grpSp>
      <p:cxnSp>
        <p:nvCxnSpPr>
          <p:cNvPr id="3145739" name="直接连接符 49"/>
          <p:cNvCxnSpPr/>
          <p:nvPr/>
        </p:nvCxnSpPr>
        <p:spPr>
          <a:xfrm>
            <a:off x="4802343" y="4178416"/>
            <a:ext cx="2030262"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48658" name="文本框 54"/>
          <p:cNvSpPr txBox="1"/>
          <p:nvPr/>
        </p:nvSpPr>
        <p:spPr>
          <a:xfrm>
            <a:off x="234950" y="4869815"/>
            <a:ext cx="5801360" cy="1383030"/>
          </a:xfrm>
          <a:prstGeom prst="rect">
            <a:avLst/>
          </a:prstGeom>
          <a:noFill/>
        </p:spPr>
        <p:txBody>
          <a:bodyPr wrap="square" rtlCol="0">
            <a:spAutoFit/>
          </a:bodyPr>
          <a:p>
            <a:pPr>
              <a:lnSpc>
                <a:spcPct val="120000"/>
              </a:lnSpc>
              <a:spcBef>
                <a:spcPct val="0"/>
              </a:spcBef>
            </a:pPr>
            <a:r>
              <a:rPr lang="en-US" altLang="zh-CN" sz="14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rPr>
              <a:t>Encoding rules:</a:t>
            </a:r>
            <a:endParaRPr lang="en-US" altLang="zh-CN" sz="1400" b="1" dirty="0">
              <a:solidFill>
                <a:prstClr val="black">
                  <a:lumMod val="65000"/>
                  <a:lumOff val="35000"/>
                </a:prstClr>
              </a:solidFill>
              <a:latin typeface="宋体" panose="02010600030101010101" pitchFamily="2" charset="-122"/>
              <a:ea typeface="宋体" panose="02010600030101010101" pitchFamily="2" charset="-122"/>
              <a:sym typeface="微软雅黑" panose="020B0503020204020204" pitchFamily="34" charset="-122"/>
            </a:endParaRP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Category fields are one-hot encoded</a:t>
            </a:r>
            <a:endParaRPr lang="zh-CN" altLang="en-US" sz="1400" dirty="0">
              <a:solidFill>
                <a:schemeClr val="tx1">
                  <a:lumMod val="65000"/>
                  <a:lumOff val="35000"/>
                </a:schemeClr>
              </a:solidFill>
              <a:latin typeface="宋体" panose="02010600030101010101" pitchFamily="2" charset="-122"/>
              <a:ea typeface="宋体" panose="02010600030101010101" pitchFamily="2" charset="-122"/>
            </a:endParaRP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Radio questions are one-hot encoded</a:t>
            </a:r>
            <a:endParaRPr lang="zh-CN" altLang="en-US" sz="1400" dirty="0">
              <a:solidFill>
                <a:schemeClr val="tx1">
                  <a:lumMod val="65000"/>
                  <a:lumOff val="35000"/>
                </a:schemeClr>
              </a:solidFill>
              <a:latin typeface="宋体" panose="02010600030101010101" pitchFamily="2" charset="-122"/>
              <a:ea typeface="宋体" panose="02010600030101010101" pitchFamily="2" charset="-122"/>
            </a:endParaRP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Checkbox questions are expanded into multi-hot features</a:t>
            </a:r>
            <a:endParaRPr lang="zh-CN" altLang="en-US" sz="1400" dirty="0">
              <a:solidFill>
                <a:schemeClr val="tx1">
                  <a:lumMod val="65000"/>
                  <a:lumOff val="35000"/>
                </a:schemeClr>
              </a:solidFill>
              <a:latin typeface="宋体" panose="02010600030101010101" pitchFamily="2" charset="-122"/>
              <a:ea typeface="宋体" panose="02010600030101010101" pitchFamily="2" charset="-122"/>
            </a:endParaRPr>
          </a:p>
          <a:p>
            <a:pPr algn="l">
              <a:lnSpc>
                <a:spcPct val="120000"/>
              </a:lnSpc>
              <a:buClrTx/>
              <a:buSzTx/>
              <a:buFontTx/>
            </a:pPr>
            <a:r>
              <a:rPr lang="zh-CN" altLang="en-US" sz="1400" dirty="0">
                <a:solidFill>
                  <a:schemeClr val="tx1">
                    <a:lumMod val="65000"/>
                    <a:lumOff val="35000"/>
                  </a:schemeClr>
                </a:solidFill>
                <a:latin typeface="宋体" panose="02010600030101010101" pitchFamily="2" charset="-122"/>
                <a:ea typeface="宋体" panose="02010600030101010101" pitchFamily="2" charset="-122"/>
              </a:rPr>
              <a:t>• Structural missing markers are preserved as explicit values</a:t>
            </a:r>
            <a:endParaRPr lang="zh-CN" altLang="en-US" sz="1400" dirty="0">
              <a:solidFill>
                <a:schemeClr val="tx1">
                  <a:lumMod val="65000"/>
                  <a:lumOff val="35000"/>
                </a:schemeClr>
              </a:solidFill>
              <a:latin typeface="宋体" panose="02010600030101010101" pitchFamily="2" charset="-122"/>
              <a:ea typeface="宋体" panose="02010600030101010101" pitchFamily="2" charset="-122"/>
            </a:endParaRPr>
          </a:p>
        </p:txBody>
      </p:sp>
      <p:pic>
        <p:nvPicPr>
          <p:cNvPr id="2097157" name="图片 102" descr="C:/Users/hugq/Desktop/微信图片_20240302080713.png微信图片_20240302080713"/>
          <p:cNvPicPr>
            <a:picLocks noChangeAspect="1"/>
          </p:cNvPicPr>
          <p:nvPr>
            <p:custDataLst>
              <p:tags r:id="rId2"/>
            </p:custDataLst>
          </p:nvPr>
        </p:nvPicPr>
        <p:blipFill>
          <a:blip r:embed="rId3"/>
          <a:srcRect t="10177" b="10177"/>
          <a:stretch>
            <a:fillRect/>
          </a:stretch>
        </p:blipFill>
        <p:spPr>
          <a:xfrm>
            <a:off x="4901832" y="143637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4" name="图片 102" descr="C:/Users/hugq/Desktop/微信图片_20240302080713.png微信图片_20240302080713"/>
          <p:cNvPicPr>
            <a:picLocks noChangeAspect="1"/>
          </p:cNvPicPr>
          <p:nvPr>
            <p:custDataLst>
              <p:tags r:id="rId4"/>
            </p:custDataLst>
          </p:nvPr>
        </p:nvPicPr>
        <p:blipFill>
          <a:blip r:embed="rId3"/>
          <a:srcRect t="10177" b="10177"/>
          <a:stretch>
            <a:fillRect/>
          </a:stretch>
        </p:blipFill>
        <p:spPr>
          <a:xfrm>
            <a:off x="4901832" y="267081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5" name="图片 102" descr="C:/Users/hugq/Desktop/微信图片_20240302080713.png微信图片_20240302080713"/>
          <p:cNvPicPr>
            <a:picLocks noChangeAspect="1"/>
          </p:cNvPicPr>
          <p:nvPr>
            <p:custDataLst>
              <p:tags r:id="rId5"/>
            </p:custDataLst>
          </p:nvPr>
        </p:nvPicPr>
        <p:blipFill>
          <a:blip r:embed="rId3"/>
          <a:srcRect t="10177" b="10177"/>
          <a:stretch>
            <a:fillRect/>
          </a:stretch>
        </p:blipFill>
        <p:spPr>
          <a:xfrm>
            <a:off x="5874017" y="454787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6" name="图片 102" descr="C:/Users/hugq/Desktop/微信图片_20240302080713.png微信图片_20240302080713"/>
          <p:cNvPicPr>
            <a:picLocks noChangeAspect="1"/>
          </p:cNvPicPr>
          <p:nvPr>
            <p:custDataLst>
              <p:tags r:id="rId6"/>
            </p:custDataLst>
          </p:nvPr>
        </p:nvPicPr>
        <p:blipFill>
          <a:blip r:embed="rId3"/>
          <a:srcRect t="10177" b="10177"/>
          <a:stretch>
            <a:fillRect/>
          </a:stretch>
        </p:blipFill>
        <p:spPr>
          <a:xfrm>
            <a:off x="5874017" y="5670550"/>
            <a:ext cx="876300" cy="900430"/>
          </a:xfrm>
          <a:prstGeom prst="rect">
            <a:avLst/>
          </a:prstGeom>
          <a:effectLst>
            <a:outerShdw blurRad="50800" dist="127000" dir="21540000" sx="98000" sy="98000" algn="ctr" rotWithShape="0">
              <a:schemeClr val="tx2">
                <a:lumMod val="75000"/>
                <a:alpha val="10000"/>
              </a:schemeClr>
            </a:outerShdw>
          </a:effectLst>
        </p:spPr>
      </p:pic>
      <p:pic>
        <p:nvPicPr>
          <p:cNvPr id="7" name="图片 6"/>
          <p:cNvPicPr/>
          <p:nvPr/>
        </p:nvPicPr>
        <p:blipFill>
          <a:blip r:embed="rId7"/>
          <a:srcRect t="9965"/>
          <a:stretch>
            <a:fillRect/>
          </a:stretch>
        </p:blipFill>
        <p:spPr>
          <a:xfrm>
            <a:off x="1106170" y="1807845"/>
            <a:ext cx="3028315" cy="2739390"/>
          </a:xfrm>
          <a:prstGeom prst="rect">
            <a:avLst/>
          </a:prstGeom>
        </p:spPr>
      </p:pic>
      <p:sp>
        <p:nvSpPr>
          <p:cNvPr id="1048642" name="矩形 13"/>
          <p:cNvSpPr/>
          <p:nvPr/>
        </p:nvSpPr>
        <p:spPr>
          <a:xfrm>
            <a:off x="1079500" y="1795780"/>
            <a:ext cx="3054985" cy="2752090"/>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a:p>
        </p:txBody>
      </p:sp>
      <p:grpSp>
        <p:nvGrpSpPr>
          <p:cNvPr id="58" name="组合 22"/>
          <p:cNvGrpSpPr/>
          <p:nvPr/>
        </p:nvGrpSpPr>
        <p:grpSpPr>
          <a:xfrm>
            <a:off x="1331595" y="1350010"/>
            <a:ext cx="2658745" cy="487045"/>
            <a:chOff x="11273425" y="5331881"/>
            <a:chExt cx="4684734" cy="666084"/>
          </a:xfrm>
        </p:grpSpPr>
        <p:sp>
          <p:nvSpPr>
            <p:cNvPr id="1048646" name="矩形 23"/>
            <p:cNvSpPr/>
            <p:nvPr/>
          </p:nvSpPr>
          <p:spPr>
            <a:xfrm>
              <a:off x="11273425" y="5331881"/>
              <a:ext cx="4684734" cy="666084"/>
            </a:xfrm>
            <a:prstGeom prst="rect">
              <a:avLst/>
            </a:prstGeom>
            <a:solidFill>
              <a:srgbClr val="0B4189"/>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dirty="0"/>
            </a:p>
          </p:txBody>
        </p:sp>
        <p:sp>
          <p:nvSpPr>
            <p:cNvPr id="1048647" name="文本框 24"/>
            <p:cNvSpPr txBox="1"/>
            <p:nvPr/>
          </p:nvSpPr>
          <p:spPr>
            <a:xfrm>
              <a:off x="11492630" y="5409039"/>
              <a:ext cx="4246323" cy="532346"/>
            </a:xfrm>
            <a:prstGeom prst="rect">
              <a:avLst/>
            </a:prstGeom>
            <a:noFill/>
          </p:spPr>
          <p:txBody>
            <a:bodyPr wrap="square" rtlCol="0">
              <a:spAutoFit/>
            </a:bodyPr>
            <a:p>
              <a:pPr algn="ctr"/>
              <a:r>
                <a:rPr lang="en-US" altLang="zh-CN" sz="1940" b="1" dirty="0">
                  <a:solidFill>
                    <a:schemeClr val="bg2"/>
                  </a:solidFill>
                  <a:latin typeface="HYXuanSong 75J" panose="00020600040101010101" charset="-122"/>
                  <a:ea typeface="HYXuanSong 75J" panose="00020600040101010101" charset="-122"/>
                </a:rPr>
                <a:t>Raw feature </a:t>
              </a:r>
              <a:r>
                <a:rPr lang="en-US" altLang="zh-CN" sz="1940" b="1" dirty="0">
                  <a:solidFill>
                    <a:schemeClr val="bg2"/>
                  </a:solidFill>
                  <a:latin typeface="HYXuanSong 75J" panose="00020600040101010101" charset="-122"/>
                  <a:ea typeface="HYXuanSong 75J" panose="00020600040101010101" charset="-122"/>
                </a:rPr>
                <a:t>types</a:t>
              </a:r>
              <a:endParaRPr lang="en-US" altLang="zh-CN" sz="1940" b="1" dirty="0">
                <a:solidFill>
                  <a:schemeClr val="bg2"/>
                </a:solidFill>
                <a:latin typeface="HYXuanSong 75J" panose="00020600040101010101" charset="-122"/>
                <a:ea typeface="HYXuanSong 75J" panose="00020600040101010101" charset="-122"/>
              </a:endParaRPr>
            </a:p>
          </p:txBody>
        </p:sp>
      </p:grpSp>
      <p:pic>
        <p:nvPicPr>
          <p:cNvPr id="9" name="图片 8"/>
          <p:cNvPicPr/>
          <p:nvPr/>
        </p:nvPicPr>
        <p:blipFill>
          <a:blip r:embed="rId8"/>
          <a:stretch>
            <a:fillRect/>
          </a:stretch>
        </p:blipFill>
        <p:spPr>
          <a:xfrm>
            <a:off x="6915150" y="4083685"/>
            <a:ext cx="4326255" cy="2486660"/>
          </a:xfrm>
          <a:prstGeom prst="rect">
            <a:avLst/>
          </a:prstGeom>
        </p:spPr>
      </p:pic>
      <p:sp>
        <p:nvSpPr>
          <p:cNvPr id="1048643" name="矩形 15"/>
          <p:cNvSpPr/>
          <p:nvPr/>
        </p:nvSpPr>
        <p:spPr>
          <a:xfrm>
            <a:off x="6915785" y="4058285"/>
            <a:ext cx="4325620" cy="2512695"/>
          </a:xfrm>
          <a:prstGeom prst="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305" tIns="31652" rIns="63305" bIns="31652" numCol="1" spcCol="0" rtlCol="0" fromWordArt="0" anchor="ctr" anchorCtr="0" forceAA="0" compatLnSpc="1">
            <a:noAutofit/>
          </a:bodyPr>
          <a:p>
            <a:pPr algn="ctr"/>
            <a:endParaRPr lang="zh-CN" altLang="en-US" sz="124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0"/>
                                        </p:tgtEl>
                                        <p:attrNameLst>
                                          <p:attrName>style.visibility</p:attrName>
                                        </p:attrNameLst>
                                      </p:cBhvr>
                                      <p:to>
                                        <p:strVal val="visible"/>
                                      </p:to>
                                    </p:set>
                                    <p:anim calcmode="lin" valueType="num">
                                      <p:cBhvr>
                                        <p:cTn id="13" dur="500" fill="hold"/>
                                        <p:tgtEl>
                                          <p:spTgt spid="60"/>
                                        </p:tgtEl>
                                        <p:attrNameLst>
                                          <p:attrName>ppt_w</p:attrName>
                                        </p:attrNameLst>
                                      </p:cBhvr>
                                      <p:tavLst>
                                        <p:tav tm="0">
                                          <p:val>
                                            <p:fltVal val="0"/>
                                          </p:val>
                                        </p:tav>
                                        <p:tav tm="100000">
                                          <p:val>
                                            <p:strVal val="#ppt_w"/>
                                          </p:val>
                                        </p:tav>
                                      </p:tavLst>
                                    </p:anim>
                                    <p:anim calcmode="lin" valueType="num">
                                      <p:cBhvr>
                                        <p:cTn id="14" dur="500" fill="hold"/>
                                        <p:tgtEl>
                                          <p:spTgt spid="60"/>
                                        </p:tgtEl>
                                        <p:attrNameLst>
                                          <p:attrName>ppt_h</p:attrName>
                                        </p:attrNameLst>
                                      </p:cBhvr>
                                      <p:tavLst>
                                        <p:tav tm="0">
                                          <p:val>
                                            <p:fltVal val="0"/>
                                          </p:val>
                                        </p:tav>
                                        <p:tav tm="100000">
                                          <p:val>
                                            <p:strVal val="#ppt_h"/>
                                          </p:val>
                                        </p:tav>
                                      </p:tavLst>
                                    </p:anim>
                                    <p:animEffect transition="in" filter="fade">
                                      <p:cBhvr>
                                        <p:cTn id="15" dur="500"/>
                                        <p:tgtEl>
                                          <p:spTgt spid="60"/>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p:cTn id="19" dur="500" fill="hold"/>
                                        <p:tgtEl>
                                          <p:spTgt spid="61"/>
                                        </p:tgtEl>
                                        <p:attrNameLst>
                                          <p:attrName>ppt_w</p:attrName>
                                        </p:attrNameLst>
                                      </p:cBhvr>
                                      <p:tavLst>
                                        <p:tav tm="0">
                                          <p:val>
                                            <p:fltVal val="0"/>
                                          </p:val>
                                        </p:tav>
                                        <p:tav tm="100000">
                                          <p:val>
                                            <p:strVal val="#ppt_w"/>
                                          </p:val>
                                        </p:tav>
                                      </p:tavLst>
                                    </p:anim>
                                    <p:anim calcmode="lin" valueType="num">
                                      <p:cBhvr>
                                        <p:cTn id="20" dur="500" fill="hold"/>
                                        <p:tgtEl>
                                          <p:spTgt spid="61"/>
                                        </p:tgtEl>
                                        <p:attrNameLst>
                                          <p:attrName>ppt_h</p:attrName>
                                        </p:attrNameLst>
                                      </p:cBhvr>
                                      <p:tavLst>
                                        <p:tav tm="0">
                                          <p:val>
                                            <p:fltVal val="0"/>
                                          </p:val>
                                        </p:tav>
                                        <p:tav tm="100000">
                                          <p:val>
                                            <p:strVal val="#ppt_h"/>
                                          </p:val>
                                        </p:tav>
                                      </p:tavLst>
                                    </p:anim>
                                    <p:animEffect transition="in" filter="fade">
                                      <p:cBhvr>
                                        <p:cTn id="21" dur="500"/>
                                        <p:tgtEl>
                                          <p:spTgt spid="61"/>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62"/>
                                        </p:tgtEl>
                                        <p:attrNameLst>
                                          <p:attrName>style.visibility</p:attrName>
                                        </p:attrNameLst>
                                      </p:cBhvr>
                                      <p:to>
                                        <p:strVal val="visible"/>
                                      </p:to>
                                    </p:set>
                                    <p:anim calcmode="lin" valueType="num">
                                      <p:cBhvr>
                                        <p:cTn id="25" dur="500" fill="hold"/>
                                        <p:tgtEl>
                                          <p:spTgt spid="62"/>
                                        </p:tgtEl>
                                        <p:attrNameLst>
                                          <p:attrName>ppt_w</p:attrName>
                                        </p:attrNameLst>
                                      </p:cBhvr>
                                      <p:tavLst>
                                        <p:tav tm="0">
                                          <p:val>
                                            <p:fltVal val="0"/>
                                          </p:val>
                                        </p:tav>
                                        <p:tav tm="100000">
                                          <p:val>
                                            <p:strVal val="#ppt_w"/>
                                          </p:val>
                                        </p:tav>
                                      </p:tavLst>
                                    </p:anim>
                                    <p:anim calcmode="lin" valueType="num">
                                      <p:cBhvr>
                                        <p:cTn id="26" dur="500" fill="hold"/>
                                        <p:tgtEl>
                                          <p:spTgt spid="62"/>
                                        </p:tgtEl>
                                        <p:attrNameLst>
                                          <p:attrName>ppt_h</p:attrName>
                                        </p:attrNameLst>
                                      </p:cBhvr>
                                      <p:tavLst>
                                        <p:tav tm="0">
                                          <p:val>
                                            <p:fltVal val="0"/>
                                          </p:val>
                                        </p:tav>
                                        <p:tav tm="100000">
                                          <p:val>
                                            <p:strVal val="#ppt_h"/>
                                          </p:val>
                                        </p:tav>
                                      </p:tavLst>
                                    </p:anim>
                                    <p:animEffect transition="in" filter="fade">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fade">
                                      <p:cBhvr>
                                        <p:cTn id="32" dur="500"/>
                                        <p:tgtEl>
                                          <p:spTgt spid="5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48648"/>
                                        </p:tgtEl>
                                        <p:attrNameLst>
                                          <p:attrName>style.visibility</p:attrName>
                                        </p:attrNameLst>
                                      </p:cBhvr>
                                      <p:to>
                                        <p:strVal val="visible"/>
                                      </p:to>
                                    </p:set>
                                    <p:animEffect transition="in" filter="fade">
                                      <p:cBhvr>
                                        <p:cTn id="35" dur="500"/>
                                        <p:tgtEl>
                                          <p:spTgt spid="104864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48658"/>
                                        </p:tgtEl>
                                        <p:attrNameLst>
                                          <p:attrName>style.visibility</p:attrName>
                                        </p:attrNameLst>
                                      </p:cBhvr>
                                      <p:to>
                                        <p:strVal val="visible"/>
                                      </p:to>
                                    </p:set>
                                    <p:animEffect transition="in" filter="fade">
                                      <p:cBhvr>
                                        <p:cTn id="40" dur="500"/>
                                        <p:tgtEl>
                                          <p:spTgt spid="1048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8" grpId="0"/>
      <p:bldP spid="10486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45605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969000" y="1600835"/>
            <a:ext cx="5427980" cy="199009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Classes:</a:t>
            </a:r>
            <a:endParaRPr lang="en-US" sz="1800" b="1" dirty="0">
              <a:solidFill>
                <a:srgbClr val="1F2329"/>
              </a:solidFill>
              <a:latin typeface="Arial" panose="020B0604020202020204" pitchFamily="34" charset="0"/>
              <a:ea typeface="Noto Sans SC" panose="020B0200000000000000" charset="-122"/>
              <a:cs typeface="Arial" panose="020B0604020202020204" pitchFamily="34" charset="0"/>
            </a:endParaRPr>
          </a:p>
          <a:p>
            <a:pPr marL="0" indent="0" algn="l">
              <a:lnSpc>
                <a:spcPct val="117000"/>
              </a:lnSpc>
            </a:pPr>
            <a:r>
              <a:rPr lang="en-US" altLang="zh-CN" b="0" i="0" u="none" strike="noStrike" dirty="0">
                <a:solidFill>
                  <a:srgbClr val="595959"/>
                </a:solidFill>
                <a:latin typeface="Segoe UI" panose="020B0502040204020203" charset="0"/>
                <a:ea typeface="Songti SC"/>
                <a:cs typeface="Segoe UI" panose="020B0502040204020203" charset="0"/>
                <a:sym typeface="Songti SC"/>
              </a:rPr>
              <a:t>• Everyone                </a:t>
            </a:r>
            <a:r>
              <a:rPr lang="en-US" altLang="zh-CN" dirty="0">
                <a:solidFill>
                  <a:srgbClr val="595959"/>
                </a:solidFill>
                <a:latin typeface="Segoe UI" panose="020B0502040204020203" charset="0"/>
                <a:ea typeface="Songti SC"/>
                <a:cs typeface="Segoe UI" panose="020B0502040204020203" charset="0"/>
                <a:sym typeface="Songti SC"/>
              </a:rPr>
              <a:t>• Teen                </a:t>
            </a:r>
            <a:r>
              <a:rPr lang="en-US" altLang="zh-CN" b="0" i="0" u="none" strike="noStrike" dirty="0">
                <a:solidFill>
                  <a:srgbClr val="595959"/>
                </a:solidFill>
                <a:latin typeface="Segoe UI" panose="020B0502040204020203" charset="0"/>
                <a:ea typeface="Songti SC"/>
                <a:cs typeface="Segoe UI" panose="020B0502040204020203" charset="0"/>
                <a:sym typeface="Songti SC"/>
              </a:rPr>
              <a:t>• Everyone 10+         </a:t>
            </a:r>
            <a:r>
              <a:rPr lang="en-US" altLang="zh-CN" dirty="0">
                <a:solidFill>
                  <a:srgbClr val="595959"/>
                </a:solidFill>
                <a:latin typeface="Segoe UI" panose="020B0502040204020203" charset="0"/>
                <a:ea typeface="Songti SC"/>
                <a:cs typeface="Segoe UI" panose="020B0502040204020203" charset="0"/>
                <a:sym typeface="Songti SC"/>
              </a:rPr>
              <a:t>• Mature 17+            </a:t>
            </a:r>
            <a:r>
              <a:rPr lang="en-US" altLang="zh-CN" b="0" i="0" u="none" strike="noStrike" dirty="0">
                <a:solidFill>
                  <a:srgbClr val="595959"/>
                </a:solidFill>
                <a:latin typeface="Segoe UI" panose="020B0502040204020203" charset="0"/>
                <a:ea typeface="Songti SC"/>
                <a:cs typeface="Segoe UI" panose="020B0502040204020203" charset="0"/>
                <a:sym typeface="Songti SC"/>
              </a:rPr>
              <a:t>• Adults only 18+</a:t>
            </a:r>
            <a:endParaRPr lang="en-US" altLang="zh-CN"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endParaRPr lang="en-US" altLang="zh-CN" b="0" i="0" u="none" strike="noStrike" dirty="0">
              <a:solidFill>
                <a:srgbClr val="595959"/>
              </a:solidFill>
              <a:latin typeface="Segoe UI" panose="020B0502040204020203" charset="0"/>
              <a:ea typeface="Songti SC"/>
              <a:cs typeface="Segoe UI" panose="020B0502040204020203" charset="0"/>
              <a:sym typeface="Songti SC"/>
            </a:endParaRPr>
          </a:p>
        </p:txBody>
      </p:sp>
      <p:sp>
        <p:nvSpPr>
          <p:cNvPr id="13" name="AutoShape 13"/>
          <p:cNvSpPr/>
          <p:nvPr/>
        </p:nvSpPr>
        <p:spPr>
          <a:xfrm>
            <a:off x="5838190" y="3809365"/>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969000" y="3936365"/>
            <a:ext cx="5832475" cy="145224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The distribution is moderately imbalanced, so class weights are also generated for downstream models.</a:t>
            </a:r>
            <a:endParaRPr lang="en-US" sz="18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endParaRPr>
          </a:p>
        </p:txBody>
      </p:sp>
      <p:sp>
        <p:nvSpPr>
          <p:cNvPr id="17" name="AutoShape 2"/>
          <p:cNvSpPr/>
          <p:nvPr/>
        </p:nvSpPr>
        <p:spPr>
          <a:xfrm>
            <a:off x="608965" y="368300"/>
            <a:ext cx="478409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Target Label Distribution</a:t>
            </a:r>
            <a:endPar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endParaRP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745220" y="139700"/>
            <a:ext cx="3726815" cy="1301750"/>
          </a:xfrm>
          <a:prstGeom prst="rect">
            <a:avLst/>
          </a:prstGeom>
        </p:spPr>
      </p:pic>
      <p:sp>
        <p:nvSpPr>
          <p:cNvPr id="22" name="AutoShape 11"/>
          <p:cNvSpPr/>
          <p:nvPr/>
        </p:nvSpPr>
        <p:spPr>
          <a:xfrm>
            <a:off x="507365" y="5105400"/>
            <a:ext cx="4674235" cy="77724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en-US" altLang="zh-CN">
                <a:solidFill>
                  <a:srgbClr val="595959"/>
                </a:solidFill>
                <a:latin typeface="Segoe UI" panose="020B0502040204020203" charset="0"/>
                <a:ea typeface="Noto Sans SC" panose="020B0200000000000000" charset="-122"/>
                <a:cs typeface="Segoe UI" panose="020B0502040204020203" charset="0"/>
              </a:rPr>
              <a:t>The target is a five-class ESRB-style classification problem.</a:t>
            </a:r>
            <a:endParaRPr lang="en-US" altLang="zh-CN">
              <a:solidFill>
                <a:srgbClr val="595959"/>
              </a:solidFill>
              <a:latin typeface="Segoe UI" panose="020B0502040204020203" charset="0"/>
              <a:ea typeface="Noto Sans SC" panose="020B0200000000000000" charset="-122"/>
              <a:cs typeface="Segoe UI" panose="020B0502040204020203" charset="0"/>
            </a:endParaRPr>
          </a:p>
        </p:txBody>
      </p:sp>
      <p:pic>
        <p:nvPicPr>
          <p:cNvPr id="2" name="图片 1"/>
          <p:cNvPicPr/>
          <p:nvPr/>
        </p:nvPicPr>
        <p:blipFill>
          <a:blip r:embed="rId2"/>
          <a:stretch>
            <a:fillRect/>
          </a:stretch>
        </p:blipFill>
        <p:spPr>
          <a:xfrm>
            <a:off x="507365" y="1760855"/>
            <a:ext cx="4572000" cy="2920365"/>
          </a:xfrm>
          <a:prstGeom prst="rect">
            <a:avLst/>
          </a:prstGeom>
        </p:spPr>
      </p:pic>
      <p:sp>
        <p:nvSpPr>
          <p:cNvPr id="4" name="AutoShape 4"/>
          <p:cNvSpPr/>
          <p:nvPr/>
        </p:nvSpPr>
        <p:spPr>
          <a:xfrm>
            <a:off x="507365" y="176085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43710"/>
            <a:ext cx="5842000" cy="78549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969000" y="1505585"/>
            <a:ext cx="5588000" cy="121920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Raw feature columns:   </a:t>
            </a: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165</a:t>
            </a:r>
            <a:endPar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endParaRPr>
          </a:p>
        </p:txBody>
      </p:sp>
      <p:sp>
        <p:nvSpPr>
          <p:cNvPr id="13" name="AutoShape 13"/>
          <p:cNvSpPr/>
          <p:nvPr/>
        </p:nvSpPr>
        <p:spPr>
          <a:xfrm>
            <a:off x="5838190" y="3125470"/>
            <a:ext cx="5842000" cy="848995"/>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965190" y="3011805"/>
            <a:ext cx="5588000" cy="102806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Encoded feature columns: </a:t>
            </a: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rPr>
              <a:t>758</a:t>
            </a:r>
            <a:endPar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Songti SC"/>
            </a:endParaRPr>
          </a:p>
        </p:txBody>
      </p:sp>
      <p:sp>
        <p:nvSpPr>
          <p:cNvPr id="15" name="AutoShape 15"/>
          <p:cNvSpPr/>
          <p:nvPr/>
        </p:nvSpPr>
        <p:spPr>
          <a:xfrm>
            <a:off x="5838190" y="4570730"/>
            <a:ext cx="5842000" cy="1567180"/>
          </a:xfrm>
          <a:prstGeom prst="roundRect">
            <a:avLst>
              <a:gd name="adj" fmla="val 0"/>
            </a:avLst>
          </a:prstGeom>
          <a:solidFill>
            <a:srgbClr val="F5F5F5">
              <a:alpha val="100000"/>
            </a:srgbClr>
          </a:solidFill>
          <a:ln w="12700" cap="flat" cmpd="sng">
            <a:solidFill>
              <a:srgbClr val="AFABA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965190" y="4678045"/>
            <a:ext cx="5588000" cy="13544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The feature space expands because:</a:t>
            </a:r>
            <a:endParaRPr lang="en-US" altLang="zh-CN" sz="1600"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endParaRP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Radio answers become one-hot indicators</a:t>
            </a:r>
            <a:endParaRPr lang="en-US" altLang="zh-CN" sz="1600" dirty="0">
              <a:solidFill>
                <a:srgbClr val="595959"/>
              </a:solidFill>
              <a:latin typeface="Segoe UI" panose="020B0502040204020203" charset="0"/>
              <a:ea typeface="Songti SC"/>
              <a:cs typeface="Segoe UI" panose="020B0502040204020203" charset="0"/>
            </a:endParaRP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Checkbox answers become multiple binary indicators</a:t>
            </a:r>
            <a:endParaRPr lang="en-US" altLang="zh-CN" sz="1600" dirty="0">
              <a:solidFill>
                <a:srgbClr val="595959"/>
              </a:solidFill>
              <a:latin typeface="Segoe UI" panose="020B0502040204020203" charset="0"/>
              <a:ea typeface="Songti SC"/>
              <a:cs typeface="Segoe UI" panose="020B0502040204020203" charset="0"/>
            </a:endParaRPr>
          </a:p>
          <a:p>
            <a:pPr marL="0" indent="0" algn="l">
              <a:lnSpc>
                <a:spcPct val="108000"/>
              </a:lnSpc>
              <a:defRPr/>
            </a:pPr>
            <a:r>
              <a:rPr lang="en-US" altLang="zh-CN" sz="1600" dirty="0">
                <a:solidFill>
                  <a:srgbClr val="595959"/>
                </a:solidFill>
                <a:latin typeface="Segoe UI" panose="020B0502040204020203" charset="0"/>
                <a:ea typeface="Songti SC"/>
                <a:cs typeface="Segoe UI" panose="020B0502040204020203" charset="0"/>
              </a:rPr>
              <a:t>• Missing-state markers are also encoded</a:t>
            </a:r>
            <a:endParaRPr lang="en-US" altLang="zh-CN" sz="1600" dirty="0">
              <a:solidFill>
                <a:srgbClr val="595959"/>
              </a:solidFill>
              <a:latin typeface="Segoe UI" panose="020B0502040204020203" charset="0"/>
              <a:ea typeface="Songti SC"/>
              <a:cs typeface="Segoe UI" panose="020B0502040204020203" charset="0"/>
            </a:endParaRPr>
          </a:p>
        </p:txBody>
      </p:sp>
      <p:sp>
        <p:nvSpPr>
          <p:cNvPr id="17" name="AutoShape 2"/>
          <p:cNvSpPr/>
          <p:nvPr/>
        </p:nvSpPr>
        <p:spPr>
          <a:xfrm>
            <a:off x="554355" y="385445"/>
            <a:ext cx="541083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Feature Space</a:t>
            </a:r>
            <a:endPar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endParaRP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481060" y="139700"/>
            <a:ext cx="3796665" cy="1301750"/>
          </a:xfrm>
          <a:prstGeom prst="rect">
            <a:avLst/>
          </a:prstGeom>
        </p:spPr>
      </p:pic>
      <p:sp>
        <p:nvSpPr>
          <p:cNvPr id="22" name="AutoShape 11"/>
          <p:cNvSpPr/>
          <p:nvPr/>
        </p:nvSpPr>
        <p:spPr>
          <a:xfrm>
            <a:off x="990600" y="5227320"/>
            <a:ext cx="3404235" cy="514350"/>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en-US" altLang="zh-CN" b="1">
                <a:solidFill>
                  <a:srgbClr val="595959"/>
                </a:solidFill>
                <a:latin typeface="Segoe UI" panose="020B0502040204020203" charset="0"/>
                <a:ea typeface="Noto Sans SC" panose="020B0200000000000000" charset="-122"/>
                <a:cs typeface="Segoe UI" panose="020B0502040204020203" charset="0"/>
              </a:rPr>
              <a:t>Matrix Shapes</a:t>
            </a:r>
            <a:endParaRPr lang="en-US" altLang="zh-CN" b="1">
              <a:solidFill>
                <a:srgbClr val="595959"/>
              </a:solidFill>
              <a:latin typeface="Segoe UI" panose="020B0502040204020203" charset="0"/>
              <a:ea typeface="Noto Sans SC" panose="020B0200000000000000" charset="-122"/>
              <a:cs typeface="Segoe UI" panose="020B0502040204020203" charset="0"/>
            </a:endParaRPr>
          </a:p>
        </p:txBody>
      </p:sp>
      <p:pic>
        <p:nvPicPr>
          <p:cNvPr id="2" name="图片 1"/>
          <p:cNvPicPr/>
          <p:nvPr/>
        </p:nvPicPr>
        <p:blipFill>
          <a:blip r:embed="rId2"/>
          <a:stretch>
            <a:fillRect/>
          </a:stretch>
        </p:blipFill>
        <p:spPr>
          <a:xfrm>
            <a:off x="508000" y="1873250"/>
            <a:ext cx="4572635" cy="2893695"/>
          </a:xfrm>
          <a:prstGeom prst="rect">
            <a:avLst/>
          </a:prstGeom>
        </p:spPr>
      </p:pic>
      <p:sp>
        <p:nvSpPr>
          <p:cNvPr id="4" name="AutoShape 4"/>
          <p:cNvSpPr/>
          <p:nvPr/>
        </p:nvSpPr>
        <p:spPr>
          <a:xfrm>
            <a:off x="508000" y="1845945"/>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or 10"/>
          <p:cNvCxnSpPr/>
          <p:nvPr/>
        </p:nvCxnSpPr>
        <p:spPr>
          <a:xfrm flipH="1">
            <a:off x="5393006" y="1515745"/>
            <a:ext cx="4493" cy="5011452"/>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1" name="AutoShape 11"/>
          <p:cNvSpPr/>
          <p:nvPr/>
        </p:nvSpPr>
        <p:spPr>
          <a:xfrm>
            <a:off x="5838190" y="1760855"/>
            <a:ext cx="5842000" cy="156591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969000" y="1934210"/>
            <a:ext cx="5588000" cy="1219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Purpose:</a:t>
            </a:r>
            <a:endParaRPr lang="en-US" altLang="zh-CN" sz="1400" dirty="0">
              <a:latin typeface="Arial" panose="020B0604020202020204" pitchFamily="34" charset="0"/>
              <a:cs typeface="Arial" panose="020B0604020202020204" pitchFamily="34" charset="0"/>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Reduce bias toward majority classes</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Improve learning for smaller classes</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Support models using class_weight="balanced"</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p:txBody>
      </p:sp>
      <p:sp>
        <p:nvSpPr>
          <p:cNvPr id="13" name="AutoShape 13"/>
          <p:cNvSpPr/>
          <p:nvPr/>
        </p:nvSpPr>
        <p:spPr>
          <a:xfrm>
            <a:off x="5838190" y="4038600"/>
            <a:ext cx="5842000" cy="17526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969000" y="4165600"/>
            <a:ext cx="5588000" cy="1452245"/>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b="1" i="0" u="none" strike="noStrike" dirty="0">
                <a:solidFill>
                  <a:srgbClr val="1F2329"/>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  </a:t>
            </a:r>
            <a:r>
              <a:rPr lang="en-US" sz="1800" b="1" dirty="0">
                <a:solidFill>
                  <a:srgbClr val="1F2329"/>
                </a:solidFill>
                <a:latin typeface="Arial" panose="020B0604020202020204" pitchFamily="34" charset="0"/>
                <a:ea typeface="Noto Sans SC" panose="020B0200000000000000" charset="-122"/>
                <a:cs typeface="Arial" panose="020B0604020202020204" pitchFamily="34" charset="0"/>
              </a:rPr>
              <a:t>Final validation checks:</a:t>
            </a:r>
            <a:endParaRPr lang="en-US" altLang="zh-CN" sz="1200" dirty="0">
              <a:latin typeface="Arial" panose="020B0604020202020204" pitchFamily="34" charset="0"/>
              <a:cs typeface="Arial" panose="020B0604020202020204" pitchFamily="34" charset="0"/>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Same feature columns across train, validation, and test</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No missing values in encoded matrices</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No rating leakage</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a:p>
            <a:pPr marL="0" indent="0" algn="l">
              <a:lnSpc>
                <a:spcPct val="117000"/>
              </a:lnSpc>
            </a:pPr>
            <a:r>
              <a:rPr lang="en-US" altLang="zh-CN" sz="1600" b="0" i="0" u="none" strike="noStrike" dirty="0">
                <a:solidFill>
                  <a:srgbClr val="595959"/>
                </a:solidFill>
                <a:latin typeface="Segoe UI" panose="020B0502040204020203" charset="0"/>
                <a:ea typeface="Songti SC"/>
                <a:cs typeface="Segoe UI" panose="020B0502040204020203" charset="0"/>
                <a:sym typeface="Songti SC"/>
              </a:rPr>
              <a:t>• Reproducible split and metadata</a:t>
            </a:r>
            <a:endParaRPr lang="en-US" altLang="zh-CN" sz="1600" b="0" i="0" u="none" strike="noStrike" dirty="0">
              <a:solidFill>
                <a:srgbClr val="595959"/>
              </a:solidFill>
              <a:latin typeface="Segoe UI" panose="020B0502040204020203" charset="0"/>
              <a:ea typeface="Songti SC"/>
              <a:cs typeface="Segoe UI" panose="020B0502040204020203" charset="0"/>
              <a:sym typeface="Songti SC"/>
            </a:endParaRPr>
          </a:p>
        </p:txBody>
      </p:sp>
      <p:sp>
        <p:nvSpPr>
          <p:cNvPr id="17" name="AutoShape 2"/>
          <p:cNvSpPr/>
          <p:nvPr/>
        </p:nvSpPr>
        <p:spPr>
          <a:xfrm>
            <a:off x="635000" y="367665"/>
            <a:ext cx="7983855"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rPr>
              <a:t>Class Imbalance and Final Checks</a:t>
            </a:r>
            <a:endParaRPr lang="en-US" altLang="zh-CN" sz="2400" b="1">
              <a:solidFill>
                <a:srgbClr val="1F2329"/>
              </a:solidFill>
              <a:latin typeface="Arial" panose="020B0604020202020204" pitchFamily="34" charset="0"/>
              <a:ea typeface="Noto Sans SC" panose="020B0200000000000000" charset="-122"/>
              <a:cs typeface="Arial" panose="020B0604020202020204" pitchFamily="34" charset="0"/>
            </a:endParaRPr>
          </a:p>
        </p:txBody>
      </p:sp>
      <p:cxnSp>
        <p:nvCxnSpPr>
          <p:cNvPr id="18" name="Connector 3"/>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9"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420735" y="139700"/>
            <a:ext cx="3771900" cy="1301750"/>
          </a:xfrm>
          <a:prstGeom prst="rect">
            <a:avLst/>
          </a:prstGeom>
        </p:spPr>
      </p:pic>
      <p:sp>
        <p:nvSpPr>
          <p:cNvPr id="22" name="AutoShape 11"/>
          <p:cNvSpPr/>
          <p:nvPr/>
        </p:nvSpPr>
        <p:spPr>
          <a:xfrm>
            <a:off x="507365" y="5338445"/>
            <a:ext cx="4572635" cy="709295"/>
          </a:xfrm>
          <a:prstGeom prst="roundRect">
            <a:avLst>
              <a:gd name="adj" fmla="val 0"/>
            </a:avLst>
          </a:prstGeom>
          <a:solidFill>
            <a:srgbClr val="FFF3E0">
              <a:alpha val="100000"/>
            </a:srgbClr>
          </a:solidFill>
          <a:ln w="12700" cap="flat" cmpd="sng">
            <a:solidFill>
              <a:srgbClr val="FFB300">
                <a:alpha val="50000"/>
              </a:srgbClr>
            </a:solidFill>
            <a:prstDash val="solid"/>
            <a:round/>
          </a:ln>
        </p:spPr>
        <p:txBody>
          <a:bodyPr vert="horz" wrap="square" lIns="63500" tIns="63500" rIns="63500" bIns="63500" rtlCol="0" anchor="ctr"/>
          <a:lstStyle/>
          <a:p>
            <a:pPr algn="ctr">
              <a:defRPr/>
            </a:pPr>
            <a:r>
              <a:rPr lang="zh-CN" altLang="en-US" sz="1400">
                <a:solidFill>
                  <a:srgbClr val="595959"/>
                </a:solidFill>
                <a:latin typeface="Segoe UI" panose="020B0502040204020203" charset="0"/>
                <a:ea typeface="Noto Sans SC" panose="020B0200000000000000" charset="-122"/>
                <a:cs typeface="Segoe UI" panose="020B0502040204020203" charset="0"/>
              </a:rPr>
              <a:t>🛡</a:t>
            </a:r>
            <a:r>
              <a:rPr lang="en-US" altLang="zh-CN" sz="1400">
                <a:solidFill>
                  <a:srgbClr val="595959"/>
                </a:solidFill>
                <a:latin typeface="Segoe UI" panose="020B0502040204020203" charset="0"/>
                <a:ea typeface="Noto Sans SC" panose="020B0200000000000000" charset="-122"/>
                <a:cs typeface="Segoe UI" panose="020B0502040204020203" charset="0"/>
              </a:rPr>
              <a:t>  </a:t>
            </a:r>
            <a:r>
              <a:rPr lang="en-US" altLang="zh-CN" sz="1600">
                <a:solidFill>
                  <a:srgbClr val="595959"/>
                </a:solidFill>
                <a:latin typeface="Segoe UI" panose="020B0502040204020203" charset="0"/>
                <a:ea typeface="Noto Sans SC" panose="020B0200000000000000" charset="-122"/>
                <a:cs typeface="Segoe UI" panose="020B0502040204020203" charset="0"/>
              </a:rPr>
              <a:t>Class weights are generated for Task 5 model training</a:t>
            </a:r>
            <a:endParaRPr lang="en-US" altLang="zh-CN" sz="1600">
              <a:solidFill>
                <a:srgbClr val="595959"/>
              </a:solidFill>
              <a:latin typeface="Segoe UI" panose="020B0502040204020203" charset="0"/>
              <a:ea typeface="Noto Sans SC" panose="020B0200000000000000" charset="-122"/>
              <a:cs typeface="Segoe UI" panose="020B0502040204020203" charset="0"/>
            </a:endParaRPr>
          </a:p>
        </p:txBody>
      </p:sp>
      <p:pic>
        <p:nvPicPr>
          <p:cNvPr id="3" name="图片 2"/>
          <p:cNvPicPr/>
          <p:nvPr/>
        </p:nvPicPr>
        <p:blipFill>
          <a:blip r:embed="rId2"/>
          <a:stretch>
            <a:fillRect/>
          </a:stretch>
        </p:blipFill>
        <p:spPr>
          <a:xfrm>
            <a:off x="508000" y="1837690"/>
            <a:ext cx="4572000" cy="2907030"/>
          </a:xfrm>
          <a:prstGeom prst="rect">
            <a:avLst/>
          </a:prstGeom>
        </p:spPr>
      </p:pic>
      <p:sp>
        <p:nvSpPr>
          <p:cNvPr id="4" name="AutoShape 4"/>
          <p:cNvSpPr/>
          <p:nvPr/>
        </p:nvSpPr>
        <p:spPr>
          <a:xfrm>
            <a:off x="508000" y="1837690"/>
            <a:ext cx="4572000" cy="2921000"/>
          </a:xfrm>
          <a:prstGeom prst="roundRect">
            <a:avLst>
              <a:gd name="adj" fmla="val 0"/>
            </a:avLst>
          </a:prstGeom>
          <a:noFill/>
          <a:ln w="25400" cap="flat" cmpd="sng">
            <a:solidFill>
              <a:srgbClr val="AFABAB">
                <a:alpha val="100000"/>
              </a:srgbClr>
            </a:solidFill>
            <a:prstDash val="solid"/>
            <a:miter lim="8000000"/>
          </a:ln>
        </p:spPr>
        <p:txBody>
          <a:bodyPr vert="horz" wrap="square" lIns="63500" tIns="63500" rIns="63500" bIns="63500" rtlCol="0" anchor="ctr"/>
          <a:lstStyle/>
          <a:p>
            <a:pPr algn="ctr">
              <a:defRPr/>
            </a:pPr>
          </a:p>
        </p:txBody>
      </p:sp>
    </p:spTree>
  </p:cSld>
  <p:clrMapOvr>
    <a:masterClrMapping/>
  </p:clrMapOvr>
</p:sld>
</file>

<file path=ppt/tags/tag1.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2.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3.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4.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5.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6.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7.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8.xml><?xml version="1.0" encoding="utf-8"?>
<p:tagLst xmlns:p="http://schemas.openxmlformats.org/presentationml/2006/main">
  <p:tag name="KSO_WM_DIAGRAM_VIRTUALLY_FRAME" val="{&quot;height&quot;:209.49996775609657,&quot;left&quot;:55.24999027209799,&quot;top&quot;:226.50003224390343,&quot;width&quot;:348.0014367786387}"/>
</p:tagLst>
</file>

<file path=ppt/tags/tag9.xml><?xml version="1.0" encoding="utf-8"?>
<p:tagLst xmlns:p="http://schemas.openxmlformats.org/presentationml/2006/main">
  <p:tag name="KSO_WM_DIAGRAM_VIRTUALLY_FRAME" val="{&quot;height&quot;:260.8499677560966,&quot;left&quot;:55.24999027209799,&quot;top&quot;:175.1500322439034,&quot;width&quot;:357.95000972790206}"/>
</p:tagLst>
</file>

<file path=ppt/tags/tag10.xml><?xml version="1.0" encoding="utf-8"?>
<p:tagLst xmlns:p="http://schemas.openxmlformats.org/presentationml/2006/main">
  <p:tag name="KSO_WM_DIAGRAM_VIRTUALLY_FRAME" val="{&quot;height&quot;:260.8499677560966,&quot;left&quot;:55.24999027209799,&quot;top&quot;:175.1500322439034,&quot;width&quot;:357.95000972790206}"/>
</p:tagLst>
</file>

<file path=ppt/tags/tag11.xml><?xml version="1.0" encoding="utf-8"?>
<p:tagLst xmlns:p="http://schemas.openxmlformats.org/presentationml/2006/main">
  <p:tag name="KSO_WM_DIAGRAM_VIRTUALLY_FRAME" val="{&quot;height&quot;:260.8499677560966,&quot;left&quot;:55.24999027209799,&quot;top&quot;:175.1500322439034,&quot;width&quot;:357.95000972790206}"/>
</p:tagLst>
</file>

<file path=ppt/tags/tag12.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3.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4.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5.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6.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7.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8.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19.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0.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1.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2.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3.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4.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5.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6.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7.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8.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29.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0.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1.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2.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3.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4.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5.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6.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7.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8.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39.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40.xml><?xml version="1.0" encoding="utf-8"?>
<p:tagLst xmlns:p="http://schemas.openxmlformats.org/presentationml/2006/main">
  <p:tag name="KSO_WM_DIAGRAM_VIRTUALLY_FRAME" val="{&quot;height&quot;:416.2720472440945,&quot;left&quot;:-3.52511811023622,&quot;top&quot;:71.5103937007874,&quot;width&quot;:931.6330708661417}"/>
</p:tagLst>
</file>

<file path=ppt/tags/tag41.xml><?xml version="1.0" encoding="utf-8"?>
<p:tagLst xmlns:p="http://schemas.openxmlformats.org/presentationml/2006/main">
  <p:tag name="KSO_WM_DIAGRAM_VIRTUALLY_FRAME" val="{&quot;height&quot;:342.72881889763784,&quot;left&quot;:37.68952755905512,&quot;top&quot;:167.99999999999994,&quot;width&quot;:888.5388188976376}"/>
</p:tagLst>
</file>

<file path=ppt/tags/tag42.xml><?xml version="1.0" encoding="utf-8"?>
<p:tagLst xmlns:p="http://schemas.openxmlformats.org/presentationml/2006/main">
  <p:tag name="KSO_WM_DIAGRAM_VIRTUALLY_FRAME" val="{&quot;height&quot;:342.72881889763784,&quot;left&quot;:37.68952755905512,&quot;top&quot;:167.99999999999994,&quot;width&quot;:888.5388188976376}"/>
</p:tagLst>
</file>

<file path=ppt/tags/tag43.xml><?xml version="1.0" encoding="utf-8"?>
<p:tagLst xmlns:p="http://schemas.openxmlformats.org/presentationml/2006/main">
  <p:tag name="KSO_WM_DIAGRAM_VIRTUALLY_FRAME" val="{&quot;height&quot;:342.72881889763784,&quot;left&quot;:37.68952755905512,&quot;top&quot;:167.99999999999994,&quot;width&quot;:888.5388188976376}"/>
</p:tagLst>
</file>

<file path=ppt/tags/tag44.xml><?xml version="1.0" encoding="utf-8"?>
<p:tagLst xmlns:p="http://schemas.openxmlformats.org/presentationml/2006/main">
  <p:tag name="KSO_WM_DIAGRAM_VIRTUALLY_FRAME" val="{&quot;height&quot;:342.72881889763784,&quot;left&quot;:37.68952755905512,&quot;top&quot;:167.99999999999994,&quot;width&quot;:888.5388188976376}"/>
</p:tagLst>
</file>

<file path=ppt/tags/tag45.xml><?xml version="1.0" encoding="utf-8"?>
<p:tagLst xmlns:p="http://schemas.openxmlformats.org/presentationml/2006/main">
  <p:tag name="COMMONDATA" val="eyJoZGlkIjoiNDk5NWM4NzQyODBjYzI3NzAwNzQ5MGQ2ZDM2ZDcwMj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2636</Words>
  <Application>WPS 演示</Application>
  <PresentationFormat>宽屏</PresentationFormat>
  <Paragraphs>130</Paragraphs>
  <Slides>8</Slides>
  <Notes>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8</vt:i4>
      </vt:variant>
    </vt:vector>
  </HeadingPairs>
  <TitlesOfParts>
    <vt:vector size="26" baseType="lpstr">
      <vt:lpstr>Arial</vt:lpstr>
      <vt:lpstr>宋体</vt:lpstr>
      <vt:lpstr>Wingdings</vt:lpstr>
      <vt:lpstr>Arial</vt:lpstr>
      <vt:lpstr>微软雅黑</vt:lpstr>
      <vt:lpstr>汉仪雅酷黑-85J</vt:lpstr>
      <vt:lpstr>黑体</vt:lpstr>
      <vt:lpstr>Noto Sans SC</vt:lpstr>
      <vt:lpstr>Segoe UI</vt:lpstr>
      <vt:lpstr>Songti SC</vt:lpstr>
      <vt:lpstr>Segoe Print</vt:lpstr>
      <vt:lpstr>Arial Unicode MS</vt:lpstr>
      <vt:lpstr>等线 Light</vt:lpstr>
      <vt:lpstr>等线</vt:lpstr>
      <vt:lpstr>HYXuanSong 75J</vt:lpstr>
      <vt:lpstr>Calibri</vt:lpstr>
      <vt:lpstr>Arial Rounded MT 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Gotcha！</cp:lastModifiedBy>
  <cp:revision>78</cp:revision>
  <dcterms:created xsi:type="dcterms:W3CDTF">2024-02-29T12:43:00Z</dcterms:created>
  <dcterms:modified xsi:type="dcterms:W3CDTF">2026-06-21T12:19:37Z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96B6552A80BB4E7FB2C2FD8EE8FD07FA_12</vt:lpwstr>
  </property>
  <property fmtid="{D5CDD505-2E9C-101B-9397-08002B2CF9AE}" pid="3" name="KSOProductBuildVer">
    <vt:lpwstr>2052-12.1.0.19770</vt:lpwstr>
  </property>
</Properties>
</file>